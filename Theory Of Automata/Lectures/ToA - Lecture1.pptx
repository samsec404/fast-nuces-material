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303" r:id="rId13"/>
    <p:sldId id="271" r:id="rId14"/>
    <p:sldId id="272" r:id="rId15"/>
    <p:sldId id="274" r:id="rId16"/>
    <p:sldId id="304" r:id="rId17"/>
    <p:sldId id="305" r:id="rId18"/>
    <p:sldId id="291" r:id="rId19"/>
    <p:sldId id="306" r:id="rId20"/>
    <p:sldId id="307" r:id="rId21"/>
    <p:sldId id="289" r:id="rId22"/>
    <p:sldId id="308" r:id="rId23"/>
    <p:sldId id="309" r:id="rId24"/>
    <p:sldId id="310" r:id="rId25"/>
    <p:sldId id="312" r:id="rId26"/>
    <p:sldId id="311" r:id="rId27"/>
    <p:sldId id="313" r:id="rId28"/>
  </p:sldIdLst>
  <p:sldSz cx="9144000" cy="6858000" type="screen4x3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83" y="-8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383" units="in"/>
          <inkml:channel name="Y" type="integer" max="16383" units="in"/>
          <inkml:channel name="F" type="integer" max="1023" units="dev"/>
        </inkml:traceFormat>
        <inkml:channelProperties>
          <inkml:channelProperty channel="X" name="resolution" value="999.99994" units="1/in"/>
          <inkml:channelProperty channel="Y" name="resolution" value="999.99994" units="1/in"/>
          <inkml:channelProperty channel="F" name="resolution" value="10E-6" units="1/dev"/>
        </inkml:channelProperties>
      </inkml:inkSource>
      <inkml:timestamp xml:id="ts0" timeString="2012-11-27T05:47:23.88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899 643 1,'-4'0'4,"-2"-2"-2,0 1 1,-1-1 0,-1 0 0,-2-1-1,-1 0-1,-1-1 2,-1 1-1,-1-2-1,0 1 1,-3-2-1,2-1 0,-1 0-1,-1 0 1,1-1 0,-3-1-1,3-2 7,-3 0-7,0-1-1,1-1 7,-3-1-7,2-1 0,-1 0 1,-1-1-1,-2 0 0,0-2 0,1-1 1,-1-1-1,-2-1 1,0-2 0,0 0 0,-2-2 0,0 0 0,0 2-1,1-1 1,1 0 0,0 2 0,0 1 0,0 1 0,4 1 0,-1 0 0,-1 3 0,2 0 0,5 1 0,-1 0-1,1 1 0,-1 1 0,2 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C81B6-0BA1-4022-803F-75298B976DE7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1FC88-E668-4C6D-A934-E028A74FF2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6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90F803D-0239-42C7-B512-6ECA9BD8A74D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558CA77-8FCD-4E2C-9C54-85F0C9EFC4E2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4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599B4-4737-419C-9E1A-6122BB360733}" type="datetimeFigureOut">
              <a:rPr lang="en-US" smtClean="0"/>
              <a:pPr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smtClean="0"/>
              <a:t>Lecture # 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Theory Of Automata</a:t>
            </a:r>
          </a:p>
          <a:p>
            <a:endParaRPr lang="en-US" sz="3800" dirty="0" smtClean="0"/>
          </a:p>
        </p:txBody>
      </p:sp>
    </p:spTree>
    <p:extLst>
      <p:ext uri="{BB962C8B-B14F-4D97-AF65-F5344CB8AC3E}">
        <p14:creationId xmlns:p14="http://schemas.microsoft.com/office/powerpoint/2010/main" val="245774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57200" y="152400"/>
            <a:ext cx="7772400" cy="1470025"/>
          </a:xfrm>
        </p:spPr>
        <p:txBody>
          <a:bodyPr/>
          <a:lstStyle/>
          <a:p>
            <a:pPr algn="ctr"/>
            <a:r>
              <a:rPr lang="en-US" dirty="0" smtClean="0"/>
              <a:t>Text and Reference Material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57200" y="1752600"/>
            <a:ext cx="8077200" cy="4114800"/>
          </a:xfrm>
        </p:spPr>
        <p:txBody>
          <a:bodyPr>
            <a:noAutofit/>
          </a:bodyPr>
          <a:lstStyle/>
          <a:p>
            <a:pPr marL="533400" indent="-533400" algn="l">
              <a:buFont typeface="Monotype Sorts" pitchFamily="2" charset="2"/>
              <a:buAutoNum type="arabicPeriod"/>
            </a:pPr>
            <a:r>
              <a:rPr lang="en-US" sz="3000" dirty="0" smtClean="0">
                <a:solidFill>
                  <a:schemeClr val="tx1"/>
                </a:solidFill>
                <a:cs typeface="Arial" pitchFamily="34" charset="0"/>
              </a:rPr>
              <a:t>Introduction to Computer Theory, by Daniel I. Cohen, John Wiley and Sons, Inc., 1991, Second Edition (as a Text Book)</a:t>
            </a:r>
          </a:p>
          <a:p>
            <a:pPr marL="533400" indent="-533400" algn="l">
              <a:buFont typeface="Monotype Sorts" pitchFamily="2" charset="2"/>
              <a:buAutoNum type="arabicPeriod"/>
            </a:pPr>
            <a:r>
              <a:rPr lang="en-US" sz="3000" dirty="0" smtClean="0">
                <a:solidFill>
                  <a:schemeClr val="tx1"/>
                </a:solidFill>
                <a:cs typeface="Arial" pitchFamily="34" charset="0"/>
              </a:rPr>
              <a:t>Introduction to Languages and Theory of Computation, by J. C. Martin, McGraw Hill Book Co., 1997, Second Edition (for Additional Reading)</a:t>
            </a:r>
          </a:p>
        </p:txBody>
      </p:sp>
    </p:spTree>
    <p:extLst>
      <p:ext uri="{BB962C8B-B14F-4D97-AF65-F5344CB8AC3E}">
        <p14:creationId xmlns:p14="http://schemas.microsoft.com/office/powerpoint/2010/main" val="181858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mtClean="0"/>
              <a:t>What does Theory of automata mean?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4438650"/>
          </a:xfrm>
        </p:spPr>
        <p:txBody>
          <a:bodyPr>
            <a:normAutofit lnSpcReduction="10000"/>
          </a:bodyPr>
          <a:lstStyle/>
          <a:p>
            <a:r>
              <a:rPr lang="en-US" sz="3000" dirty="0" smtClean="0"/>
              <a:t>The word “Theory” means that this subject is a more mathematical subject and less practical. </a:t>
            </a:r>
          </a:p>
          <a:p>
            <a:r>
              <a:rPr lang="en-US" sz="3000" dirty="0" smtClean="0"/>
              <a:t>It is not like your other courses such as programming. However, this subject is the foundation  for many other practical subjects.</a:t>
            </a:r>
          </a:p>
          <a:p>
            <a:r>
              <a:rPr lang="en-US" sz="3000" dirty="0" smtClean="0"/>
              <a:t>Automata is the plural of the word Automaton which means “self-acting”</a:t>
            </a:r>
          </a:p>
          <a:p>
            <a:r>
              <a:rPr lang="en-US" sz="3000" dirty="0" smtClean="0"/>
              <a:t>In general, this subject focuses on the theoretical aspects of computer science. </a:t>
            </a:r>
          </a:p>
          <a:p>
            <a:endParaRPr lang="en-US" sz="3000" dirty="0" smtClean="0"/>
          </a:p>
          <a:p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200649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 of Automa Applications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This subject plays a major role in:</a:t>
            </a:r>
          </a:p>
          <a:p>
            <a:pPr lvl="1"/>
            <a:r>
              <a:rPr lang="en-US" smtClean="0"/>
              <a:t>Theory of Computation</a:t>
            </a:r>
          </a:p>
          <a:p>
            <a:pPr lvl="1"/>
            <a:r>
              <a:rPr lang="en-US" smtClean="0"/>
              <a:t>Compiler Construction</a:t>
            </a:r>
          </a:p>
          <a:p>
            <a:pPr lvl="1"/>
            <a:r>
              <a:rPr lang="en-US" smtClean="0"/>
              <a:t>Parsing</a:t>
            </a:r>
          </a:p>
          <a:p>
            <a:pPr lvl="1"/>
            <a:r>
              <a:rPr lang="en-US" smtClean="0"/>
              <a:t>Formal Verification</a:t>
            </a:r>
          </a:p>
          <a:p>
            <a:pPr lvl="1"/>
            <a:r>
              <a:rPr lang="en-US" smtClean="0"/>
              <a:t>Defining computer languages</a:t>
            </a:r>
          </a:p>
        </p:txBody>
      </p:sp>
    </p:spTree>
    <p:extLst>
      <p:ext uri="{BB962C8B-B14F-4D97-AF65-F5344CB8AC3E}">
        <p14:creationId xmlns:p14="http://schemas.microsoft.com/office/powerpoint/2010/main" val="109415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Types of languages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82000" cy="4876800"/>
          </a:xfrm>
        </p:spPr>
        <p:txBody>
          <a:bodyPr/>
          <a:lstStyle/>
          <a:p>
            <a:r>
              <a:rPr lang="en-US" sz="3000" dirty="0" smtClean="0"/>
              <a:t>There are two types of languages</a:t>
            </a:r>
          </a:p>
          <a:p>
            <a:pPr lvl="1"/>
            <a:r>
              <a:rPr lang="en-US" sz="3000" dirty="0" smtClean="0"/>
              <a:t>	Formal Languages are used as a basis for defining computer languages </a:t>
            </a:r>
          </a:p>
          <a:p>
            <a:pPr lvl="2"/>
            <a:r>
              <a:rPr lang="en-US" sz="2600" dirty="0" smtClean="0"/>
              <a:t>A predefined set of symbols and string </a:t>
            </a:r>
          </a:p>
          <a:p>
            <a:pPr lvl="2"/>
            <a:r>
              <a:rPr lang="en-US" sz="2600" dirty="0" smtClean="0"/>
              <a:t>Formal language theory studies purely syntactical aspects of a language (e.g., word </a:t>
            </a:r>
            <a:r>
              <a:rPr lang="en-US" sz="2600" b="1" dirty="0" err="1" smtClean="0"/>
              <a:t>abcd</a:t>
            </a:r>
            <a:r>
              <a:rPr lang="en-US" sz="2600" dirty="0" smtClean="0"/>
              <a:t>)</a:t>
            </a:r>
            <a:r>
              <a:rPr lang="en-US" sz="3000" dirty="0" smtClean="0"/>
              <a:t>	</a:t>
            </a:r>
          </a:p>
          <a:p>
            <a:pPr lvl="1"/>
            <a:r>
              <a:rPr lang="en-US" sz="3000" dirty="0"/>
              <a:t>Informal Languages  such as English has many different versions. </a:t>
            </a:r>
          </a:p>
        </p:txBody>
      </p:sp>
    </p:spTree>
    <p:extLst>
      <p:ext uri="{BB962C8B-B14F-4D97-AF65-F5344CB8AC3E}">
        <p14:creationId xmlns:p14="http://schemas.microsoft.com/office/powerpoint/2010/main" val="352492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Basic Element of a Formal Language – Alphabets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178800" cy="4171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Definition: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 smtClean="0"/>
              <a:t>	 A finite non-empty set of symbols (letters), is called an alphabet. It is denoted by Greek letter sigma </a:t>
            </a:r>
            <a:r>
              <a:rPr lang="el-GR" dirty="0" smtClean="0"/>
              <a:t>Σ</a:t>
            </a:r>
            <a:r>
              <a:rPr lang="en-US" dirty="0" smtClean="0"/>
              <a:t>.</a:t>
            </a:r>
            <a:endParaRPr lang="el-GR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Example: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 smtClean="0"/>
              <a:t>	 </a:t>
            </a:r>
            <a:r>
              <a:rPr lang="el-GR" dirty="0" smtClean="0"/>
              <a:t>Σ</a:t>
            </a:r>
            <a:r>
              <a:rPr lang="en-US" dirty="0" smtClean="0"/>
              <a:t>={1,2,3}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 smtClean="0"/>
              <a:t>    </a:t>
            </a:r>
            <a:r>
              <a:rPr lang="el-GR" dirty="0" smtClean="0"/>
              <a:t>Σ</a:t>
            </a:r>
            <a:r>
              <a:rPr lang="en-US" dirty="0" smtClean="0"/>
              <a:t>={0,1} //Binary digits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dirty="0" smtClean="0"/>
              <a:t>	 </a:t>
            </a:r>
            <a:r>
              <a:rPr lang="el-GR" dirty="0" smtClean="0"/>
              <a:t>Σ</a:t>
            </a:r>
            <a:r>
              <a:rPr lang="en-US" dirty="0" smtClean="0"/>
              <a:t>={</a:t>
            </a:r>
            <a:r>
              <a:rPr lang="en-US" dirty="0" err="1" smtClean="0"/>
              <a:t>i,j,k</a:t>
            </a:r>
            <a:r>
              <a:rPr lang="en-US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421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Example Computer Languages</a:t>
            </a:r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sz="3000" dirty="0" smtClean="0"/>
              <a:t>C Language</a:t>
            </a:r>
            <a:endParaRPr lang="en-US" sz="2600" dirty="0" smtClean="0"/>
          </a:p>
          <a:p>
            <a:r>
              <a:rPr lang="en-US" sz="3000" dirty="0" smtClean="0"/>
              <a:t>Java Language</a:t>
            </a:r>
          </a:p>
          <a:p>
            <a:r>
              <a:rPr lang="en-US" sz="3000" dirty="0" smtClean="0"/>
              <a:t>C++ </a:t>
            </a:r>
          </a:p>
          <a:p>
            <a:r>
              <a:rPr lang="en-US" sz="3000" dirty="0" smtClean="0"/>
              <a:t>Java</a:t>
            </a:r>
          </a:p>
          <a:p>
            <a:r>
              <a:rPr lang="en-US" sz="3000" dirty="0" smtClean="0"/>
              <a:t>Visual C++</a:t>
            </a:r>
          </a:p>
          <a:p>
            <a:endParaRPr lang="en-US" sz="3000" dirty="0" smtClean="0"/>
          </a:p>
          <a:p>
            <a:pPr lvl="1"/>
            <a:endParaRPr lang="en-US" sz="2600" dirty="0" smtClean="0"/>
          </a:p>
          <a:p>
            <a:pPr>
              <a:buFont typeface="Monotype Sorts" pitchFamily="2" charset="2"/>
              <a:buNone/>
            </a:pPr>
            <a:endParaRPr lang="en-US" sz="3000" dirty="0" smtClean="0"/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0171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are Strings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85950"/>
            <a:ext cx="8305800" cy="4171950"/>
          </a:xfrm>
        </p:spPr>
        <p:txBody>
          <a:bodyPr/>
          <a:lstStyle/>
          <a:p>
            <a:r>
              <a:rPr lang="en-US" sz="3000" dirty="0" smtClean="0"/>
              <a:t>A  String is formed by combining various symbols from an alphabet. </a:t>
            </a:r>
          </a:p>
          <a:p>
            <a:r>
              <a:rPr lang="en-US" sz="3000" dirty="0" smtClean="0"/>
              <a:t>Example: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If </a:t>
            </a:r>
            <a:r>
              <a:rPr lang="el-GR" sz="3000" dirty="0" smtClean="0"/>
              <a:t>Σ</a:t>
            </a:r>
            <a:r>
              <a:rPr lang="en-US" sz="3000" dirty="0" smtClean="0"/>
              <a:t>= {1,0} then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	0, 1, 110011, …..</a:t>
            </a:r>
          </a:p>
          <a:p>
            <a:r>
              <a:rPr lang="en-US" sz="3000" dirty="0" smtClean="0"/>
              <a:t>Similarly, </a:t>
            </a:r>
            <a:r>
              <a:rPr lang="en-US" sz="3000" dirty="0"/>
              <a:t>If </a:t>
            </a:r>
            <a:r>
              <a:rPr lang="el-GR" sz="3000" dirty="0"/>
              <a:t>Σ</a:t>
            </a:r>
            <a:r>
              <a:rPr lang="en-US" sz="3000" dirty="0"/>
              <a:t>= </a:t>
            </a:r>
            <a:r>
              <a:rPr lang="en-US" sz="3000" dirty="0" smtClean="0"/>
              <a:t>{</a:t>
            </a:r>
            <a:r>
              <a:rPr lang="en-US" sz="3000" dirty="0" err="1" smtClean="0"/>
              <a:t>a,b</a:t>
            </a:r>
            <a:r>
              <a:rPr lang="en-US" sz="3000" dirty="0" smtClean="0"/>
              <a:t>} </a:t>
            </a:r>
            <a:r>
              <a:rPr lang="en-US" sz="3000" dirty="0"/>
              <a:t>then</a:t>
            </a:r>
          </a:p>
          <a:p>
            <a:pPr>
              <a:buFont typeface="Monotype Sorts" pitchFamily="2" charset="2"/>
              <a:buNone/>
            </a:pPr>
            <a:r>
              <a:rPr lang="en-US" sz="3000" dirty="0"/>
              <a:t>		</a:t>
            </a:r>
            <a:r>
              <a:rPr lang="en-US" sz="3000" dirty="0" smtClean="0"/>
              <a:t>a, b, </a:t>
            </a:r>
            <a:r>
              <a:rPr lang="en-US" sz="3000" dirty="0" err="1" smtClean="0"/>
              <a:t>abbbbbb</a:t>
            </a:r>
            <a:r>
              <a:rPr lang="en-US" sz="3000" dirty="0" smtClean="0"/>
              <a:t>, </a:t>
            </a:r>
            <a:r>
              <a:rPr lang="en-US" sz="3000" dirty="0" err="1" smtClean="0"/>
              <a:t>aaaabbbbb</a:t>
            </a:r>
            <a:r>
              <a:rPr lang="en-US" sz="3000" dirty="0" smtClean="0"/>
              <a:t>, …..</a:t>
            </a:r>
            <a:endParaRPr lang="en-US" sz="3000" dirty="0"/>
          </a:p>
          <a:p>
            <a:endParaRPr lang="en-US" sz="3000" dirty="0" smtClean="0"/>
          </a:p>
          <a:p>
            <a:pPr>
              <a:buFont typeface="Monotype Sorts" pitchFamily="2" charset="2"/>
              <a:buNone/>
            </a:pPr>
            <a:endParaRPr lang="en-US" sz="3000" dirty="0" smtClean="0"/>
          </a:p>
        </p:txBody>
      </p:sp>
    </p:spTree>
    <p:extLst>
      <p:ext uri="{BB962C8B-B14F-4D97-AF65-F5344CB8AC3E}">
        <p14:creationId xmlns:p14="http://schemas.microsoft.com/office/powerpoint/2010/main" val="4395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 smtClean="0"/>
              <a:t>What is an EMPTY or </a:t>
            </a:r>
            <a:r>
              <a:rPr lang="en-US" u="sng" dirty="0"/>
              <a:t>NULL </a:t>
            </a:r>
            <a:r>
              <a:rPr lang="en-US" u="sng" dirty="0" smtClean="0"/>
              <a:t>String</a:t>
            </a:r>
            <a:endParaRPr lang="en-US" u="sng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85950"/>
            <a:ext cx="8382000" cy="4438650"/>
          </a:xfrm>
        </p:spPr>
        <p:txBody>
          <a:bodyPr>
            <a:normAutofit/>
          </a:bodyPr>
          <a:lstStyle/>
          <a:p>
            <a:r>
              <a:rPr lang="en-US" sz="3000" dirty="0" smtClean="0"/>
              <a:t>A string with no symbol is denoted by (Small Greek letter Lambda) </a:t>
            </a:r>
            <a:r>
              <a:rPr lang="el-GR" sz="3000" dirty="0" smtClean="0"/>
              <a:t>λ</a:t>
            </a:r>
            <a:r>
              <a:rPr lang="en-US" sz="3000" dirty="0" smtClean="0"/>
              <a:t> or (Capital Greek letter Lambda) </a:t>
            </a:r>
            <a:r>
              <a:rPr lang="el-GR" sz="3000" dirty="0" smtClean="0"/>
              <a:t>Λ</a:t>
            </a:r>
            <a:r>
              <a:rPr lang="en-US" sz="3000" dirty="0" smtClean="0"/>
              <a:t>. It is called an empty string or null string.</a:t>
            </a:r>
          </a:p>
          <a:p>
            <a:r>
              <a:rPr lang="en-US" sz="3000" dirty="0" smtClean="0"/>
              <a:t>We will prefer </a:t>
            </a:r>
            <a:r>
              <a:rPr lang="el-GR" sz="3000" dirty="0" smtClean="0"/>
              <a:t>Λ</a:t>
            </a:r>
            <a:r>
              <a:rPr lang="en-US" sz="3000" dirty="0" smtClean="0"/>
              <a:t> in this course. Please don’t confuse it with logical operator ‘and’.</a:t>
            </a:r>
          </a:p>
          <a:p>
            <a:r>
              <a:rPr lang="en-US" sz="3000" dirty="0" smtClean="0"/>
              <a:t>One important thing to note is that we never allow </a:t>
            </a:r>
            <a:r>
              <a:rPr lang="el-GR" sz="3000" dirty="0" smtClean="0"/>
              <a:t>Λ</a:t>
            </a:r>
            <a:r>
              <a:rPr lang="en-US" sz="3000" dirty="0" smtClean="0"/>
              <a:t> to be part of alphabet of a language </a:t>
            </a:r>
            <a:endParaRPr lang="el-GR" sz="3000" dirty="0" smtClean="0"/>
          </a:p>
        </p:txBody>
      </p:sp>
    </p:spTree>
    <p:extLst>
      <p:ext uri="{BB962C8B-B14F-4D97-AF65-F5344CB8AC3E}">
        <p14:creationId xmlns:p14="http://schemas.microsoft.com/office/powerpoint/2010/main" val="326288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are Words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4836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 smtClean="0"/>
              <a:t>Words are strings that belong to some specific language.</a:t>
            </a:r>
          </a:p>
          <a:p>
            <a:pPr>
              <a:lnSpc>
                <a:spcPct val="90000"/>
              </a:lnSpc>
            </a:pPr>
            <a:r>
              <a:rPr lang="en-US" sz="3000" dirty="0" smtClean="0"/>
              <a:t>Thus, all words are strings, but vice versa is not true.</a:t>
            </a:r>
          </a:p>
          <a:p>
            <a:pPr>
              <a:lnSpc>
                <a:spcPct val="90000"/>
              </a:lnSpc>
            </a:pPr>
            <a:endParaRPr lang="en-US" sz="3000" dirty="0" smtClean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dirty="0" smtClean="0"/>
              <a:t>Example: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dirty="0" smtClean="0"/>
              <a:t>		 If </a:t>
            </a:r>
            <a:r>
              <a:rPr lang="el-GR" sz="3000" dirty="0" smtClean="0">
                <a:latin typeface="Arial" pitchFamily="34" charset="0"/>
                <a:cs typeface="Arial" pitchFamily="34" charset="0"/>
              </a:rPr>
              <a:t>Σ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= {a} </a:t>
            </a:r>
            <a:r>
              <a:rPr lang="en-US" sz="3000" dirty="0" smtClean="0"/>
              <a:t>then a language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L</a:t>
            </a:r>
            <a:r>
              <a:rPr lang="en-US" sz="3000" dirty="0" smtClean="0"/>
              <a:t> can be defined as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dirty="0" smtClean="0"/>
              <a:t>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L={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a,aa,aaa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,….} </a:t>
            </a:r>
            <a:r>
              <a:rPr lang="en-US" sz="3000" dirty="0" smtClean="0"/>
              <a:t>where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L</a:t>
            </a:r>
            <a:r>
              <a:rPr lang="en-US" sz="3000" dirty="0" smtClean="0"/>
              <a:t> is a set of words of the language.  Also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a,aa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,… </a:t>
            </a:r>
            <a:r>
              <a:rPr lang="en-US" sz="3000" dirty="0" smtClean="0"/>
              <a:t>are the words of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L</a:t>
            </a:r>
            <a:r>
              <a:rPr lang="en-US" sz="3000" dirty="0" smtClean="0"/>
              <a:t> but not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ab.</a:t>
            </a:r>
          </a:p>
        </p:txBody>
      </p:sp>
    </p:spTree>
    <p:extLst>
      <p:ext uri="{BB962C8B-B14F-4D97-AF65-F5344CB8AC3E}">
        <p14:creationId xmlns:p14="http://schemas.microsoft.com/office/powerpoint/2010/main" val="152444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Defining Alphabets – Guidelines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915400" cy="5334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3000" dirty="0" smtClean="0"/>
          </a:p>
          <a:p>
            <a:pPr>
              <a:lnSpc>
                <a:spcPct val="80000"/>
              </a:lnSpc>
              <a:buNone/>
            </a:pPr>
            <a:r>
              <a:rPr lang="en-US" sz="3000" dirty="0" smtClean="0"/>
              <a:t>The following are three important rules for defining Alphabets for a language:</a:t>
            </a:r>
          </a:p>
          <a:p>
            <a:pPr>
              <a:lnSpc>
                <a:spcPct val="80000"/>
              </a:lnSpc>
              <a:buNone/>
            </a:pPr>
            <a:endParaRPr lang="en-US" sz="3000" dirty="0" smtClean="0"/>
          </a:p>
          <a:p>
            <a:pPr>
              <a:lnSpc>
                <a:spcPct val="80000"/>
              </a:lnSpc>
            </a:pPr>
            <a:r>
              <a:rPr lang="en-US" sz="3000" dirty="0" smtClean="0"/>
              <a:t>Should not contain empty symbol </a:t>
            </a:r>
            <a:r>
              <a:rPr lang="el-GR" sz="3000" dirty="0" smtClean="0"/>
              <a:t>Λ</a:t>
            </a:r>
            <a:r>
              <a:rPr lang="en-US" sz="3000" dirty="0" smtClean="0"/>
              <a:t> </a:t>
            </a:r>
          </a:p>
          <a:p>
            <a:pPr>
              <a:lnSpc>
                <a:spcPct val="80000"/>
              </a:lnSpc>
            </a:pPr>
            <a:r>
              <a:rPr lang="en-US" sz="3000" dirty="0" smtClean="0"/>
              <a:t>Should be finite. Thus, the number of symbols are finite</a:t>
            </a:r>
          </a:p>
          <a:p>
            <a:pPr>
              <a:lnSpc>
                <a:spcPct val="80000"/>
              </a:lnSpc>
            </a:pPr>
            <a:r>
              <a:rPr lang="en-US" sz="3000" dirty="0" smtClean="0"/>
              <a:t>Should not be ambiguous</a:t>
            </a:r>
          </a:p>
        </p:txBody>
      </p:sp>
    </p:spTree>
    <p:extLst>
      <p:ext uri="{BB962C8B-B14F-4D97-AF65-F5344CB8AC3E}">
        <p14:creationId xmlns:p14="http://schemas.microsoft.com/office/powerpoint/2010/main" val="298960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Ambiguity (Cont’d…)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 smtClean="0"/>
              <a:t>Example:  an alphabet may contain letters consisting of group of symbols for example </a:t>
            </a:r>
            <a:r>
              <a:rPr lang="el-GR" dirty="0" smtClean="0"/>
              <a:t>Σ</a:t>
            </a:r>
            <a:r>
              <a:rPr lang="en-US" baseline="-25000" dirty="0" smtClean="0"/>
              <a:t>1</a:t>
            </a:r>
            <a:r>
              <a:rPr lang="en-US" dirty="0" smtClean="0"/>
              <a:t>= {A, </a:t>
            </a:r>
            <a:r>
              <a:rPr lang="en-US" dirty="0" err="1" smtClean="0"/>
              <a:t>aA</a:t>
            </a:r>
            <a:r>
              <a:rPr lang="en-US" dirty="0" smtClean="0"/>
              <a:t>, </a:t>
            </a:r>
            <a:r>
              <a:rPr lang="en-US" dirty="0" err="1" smtClean="0"/>
              <a:t>bab</a:t>
            </a:r>
            <a:r>
              <a:rPr lang="en-US" dirty="0" smtClean="0"/>
              <a:t>, d}.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dirty="0" smtClean="0"/>
          </a:p>
          <a:p>
            <a:pPr>
              <a:lnSpc>
                <a:spcPct val="80000"/>
              </a:lnSpc>
            </a:pPr>
            <a:r>
              <a:rPr lang="en-US" dirty="0" smtClean="0"/>
              <a:t> Now  consider an alphabet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l-GR" dirty="0" smtClean="0"/>
              <a:t>	Σ</a:t>
            </a:r>
            <a:r>
              <a:rPr lang="en-US" baseline="-12000" dirty="0" smtClean="0"/>
              <a:t>2</a:t>
            </a:r>
            <a:r>
              <a:rPr lang="en-US" dirty="0" smtClean="0"/>
              <a:t>= {A, </a:t>
            </a:r>
            <a:r>
              <a:rPr lang="en-US" dirty="0" err="1" smtClean="0"/>
              <a:t>Aa</a:t>
            </a:r>
            <a:r>
              <a:rPr lang="en-US" dirty="0" smtClean="0"/>
              <a:t>, </a:t>
            </a:r>
            <a:r>
              <a:rPr lang="en-US" dirty="0" err="1" smtClean="0"/>
              <a:t>bab</a:t>
            </a:r>
            <a:r>
              <a:rPr lang="en-US" dirty="0" smtClean="0"/>
              <a:t>, d} and a string </a:t>
            </a:r>
            <a:r>
              <a:rPr lang="en-US" dirty="0" err="1" smtClean="0"/>
              <a:t>AababA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4210050"/>
          </a:xfrm>
        </p:spPr>
        <p:txBody>
          <a:bodyPr/>
          <a:lstStyle/>
          <a:p>
            <a:r>
              <a:rPr lang="en-US" sz="3000" dirty="0" smtClean="0"/>
              <a:t>This string can be factored in two different ways </a:t>
            </a:r>
          </a:p>
          <a:p>
            <a:pPr lvl="1"/>
            <a:r>
              <a:rPr lang="en-US" sz="3000" dirty="0" smtClean="0"/>
              <a:t>	(</a:t>
            </a:r>
            <a:r>
              <a:rPr lang="en-US" sz="3000" dirty="0" err="1" smtClean="0"/>
              <a:t>Aa</a:t>
            </a:r>
            <a:r>
              <a:rPr lang="en-US" sz="3000" dirty="0" smtClean="0"/>
              <a:t>), (</a:t>
            </a:r>
            <a:r>
              <a:rPr lang="en-US" sz="3000" dirty="0" err="1" smtClean="0"/>
              <a:t>bab</a:t>
            </a:r>
            <a:r>
              <a:rPr lang="en-US" sz="3000" dirty="0" smtClean="0"/>
              <a:t>), (A)</a:t>
            </a:r>
          </a:p>
          <a:p>
            <a:pPr lvl="1"/>
            <a:r>
              <a:rPr lang="en-US" sz="3000" dirty="0" smtClean="0"/>
              <a:t> (A), (</a:t>
            </a:r>
            <a:r>
              <a:rPr lang="en-US" sz="3000" dirty="0" err="1" smtClean="0"/>
              <a:t>abab</a:t>
            </a:r>
            <a:r>
              <a:rPr lang="en-US" sz="3000" dirty="0" smtClean="0"/>
              <a:t>), (A)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Which shows that the second group cannot be identified as a string, defined over </a:t>
            </a:r>
            <a:r>
              <a:rPr lang="el-GR" sz="3000" dirty="0" smtClean="0"/>
              <a:t>Σ</a:t>
            </a:r>
            <a:r>
              <a:rPr lang="en-US" sz="3000" dirty="0" smtClean="0"/>
              <a:t> = {a, b}.</a:t>
            </a:r>
          </a:p>
          <a:p>
            <a:r>
              <a:rPr lang="en-US" sz="3000" dirty="0" smtClean="0"/>
              <a:t>This is due to ambiguity in </a:t>
            </a:r>
            <a:r>
              <a:rPr lang="en-US" sz="3000" dirty="0"/>
              <a:t>the defined alphabet </a:t>
            </a:r>
            <a:r>
              <a:rPr lang="el-GR" sz="2800" dirty="0" smtClean="0"/>
              <a:t>Σ</a:t>
            </a:r>
            <a:r>
              <a:rPr lang="en-US" sz="2800" baseline="-12000" dirty="0"/>
              <a:t>2</a:t>
            </a:r>
            <a:endParaRPr lang="en-US" sz="3000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Ambiguity (Cont’d…)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54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5029200"/>
          </a:xfrm>
        </p:spPr>
        <p:txBody>
          <a:bodyPr>
            <a:normAutofit/>
          </a:bodyPr>
          <a:lstStyle/>
          <a:p>
            <a:r>
              <a:rPr lang="en-US" b="1" dirty="0" smtClean="0"/>
              <a:t>Why Ambiguity comes</a:t>
            </a:r>
            <a:r>
              <a:rPr lang="en-US" dirty="0" smtClean="0"/>
              <a:t>: A computer program first scans A as a letter belonging to </a:t>
            </a:r>
            <a:r>
              <a:rPr lang="el-GR" dirty="0" smtClean="0"/>
              <a:t>Σ</a:t>
            </a:r>
            <a:r>
              <a:rPr lang="en-US" baseline="-25000" dirty="0" smtClean="0"/>
              <a:t>2</a:t>
            </a:r>
            <a:r>
              <a:rPr lang="en-US" dirty="0" smtClean="0"/>
              <a:t>, while for the second letter, the computer program would not be able to identify</a:t>
            </a:r>
            <a:r>
              <a:rPr lang="en-US" dirty="0"/>
              <a:t> </a:t>
            </a:r>
            <a:r>
              <a:rPr lang="en-US" dirty="0" smtClean="0"/>
              <a:t>the symbols correctly. </a:t>
            </a:r>
          </a:p>
          <a:p>
            <a:r>
              <a:rPr lang="en-US" b="1" dirty="0" smtClean="0"/>
              <a:t>Ambiguity Rule</a:t>
            </a:r>
            <a:r>
              <a:rPr lang="en-US" dirty="0" smtClean="0"/>
              <a:t>:- The Alphabets should be defined in a way that letters consisting of more than one symbols should not start with a letter, already being used by some other letter.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Ambiguity (Cont’d…)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8866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Ambiguity Examples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3000" dirty="0" smtClean="0"/>
              <a:t>Σ</a:t>
            </a:r>
            <a:r>
              <a:rPr lang="en-US" sz="3000" baseline="-25000" dirty="0" smtClean="0"/>
              <a:t>1</a:t>
            </a:r>
            <a:r>
              <a:rPr lang="en-US" sz="3000" dirty="0" smtClean="0"/>
              <a:t>= {A, </a:t>
            </a:r>
            <a:r>
              <a:rPr lang="en-US" sz="3000" dirty="0" err="1" smtClean="0"/>
              <a:t>aA</a:t>
            </a:r>
            <a:r>
              <a:rPr lang="en-US" sz="3000" dirty="0" smtClean="0"/>
              <a:t>, </a:t>
            </a:r>
            <a:r>
              <a:rPr lang="en-US" sz="3000" dirty="0" err="1" smtClean="0"/>
              <a:t>bab</a:t>
            </a:r>
            <a:r>
              <a:rPr lang="en-US" sz="3000" dirty="0" smtClean="0"/>
              <a:t>, d}</a:t>
            </a:r>
          </a:p>
          <a:p>
            <a:r>
              <a:rPr lang="el-GR" sz="3000" dirty="0" smtClean="0"/>
              <a:t>Σ</a:t>
            </a:r>
            <a:r>
              <a:rPr lang="en-US" sz="3000" baseline="-10000" dirty="0" smtClean="0"/>
              <a:t>2</a:t>
            </a:r>
            <a:r>
              <a:rPr lang="en-US" sz="3000" dirty="0" smtClean="0"/>
              <a:t>= {A, </a:t>
            </a:r>
            <a:r>
              <a:rPr lang="en-US" sz="3000" dirty="0" err="1" smtClean="0"/>
              <a:t>Aa</a:t>
            </a:r>
            <a:r>
              <a:rPr lang="en-US" sz="3000" dirty="0" smtClean="0"/>
              <a:t>, </a:t>
            </a:r>
            <a:r>
              <a:rPr lang="en-US" sz="3000" dirty="0" err="1" smtClean="0"/>
              <a:t>bab</a:t>
            </a:r>
            <a:r>
              <a:rPr lang="en-US" sz="3000" dirty="0" smtClean="0"/>
              <a:t>, d}</a:t>
            </a:r>
          </a:p>
          <a:p>
            <a:pPr>
              <a:buFont typeface="Monotype Sorts" pitchFamily="2" charset="2"/>
              <a:buNone/>
            </a:pPr>
            <a:r>
              <a:rPr lang="el-GR" sz="3000" dirty="0" smtClean="0"/>
              <a:t>Σ</a:t>
            </a:r>
            <a:r>
              <a:rPr lang="en-US" sz="3000" baseline="-25000" dirty="0" smtClean="0"/>
              <a:t>1 </a:t>
            </a:r>
            <a:r>
              <a:rPr lang="en-US" sz="3000" dirty="0" smtClean="0"/>
              <a:t>is a valid alphabet while </a:t>
            </a:r>
            <a:r>
              <a:rPr lang="el-GR" sz="3000" dirty="0" smtClean="0"/>
              <a:t>Σ</a:t>
            </a:r>
            <a:r>
              <a:rPr lang="en-US" sz="3000" baseline="-10000" dirty="0" smtClean="0"/>
              <a:t>2 </a:t>
            </a:r>
            <a:r>
              <a:rPr lang="en-US" sz="3000" dirty="0" smtClean="0"/>
              <a:t>is an in-valid alphabet.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Similarly, </a:t>
            </a:r>
          </a:p>
          <a:p>
            <a:r>
              <a:rPr lang="el-GR" sz="3000" dirty="0" smtClean="0"/>
              <a:t>Σ</a:t>
            </a:r>
            <a:r>
              <a:rPr lang="en-US" sz="3000" baseline="-25000" dirty="0" smtClean="0"/>
              <a:t>1</a:t>
            </a:r>
            <a:r>
              <a:rPr lang="en-US" sz="3000" dirty="0" smtClean="0"/>
              <a:t>= {a, </a:t>
            </a:r>
            <a:r>
              <a:rPr lang="en-US" sz="3000" dirty="0" err="1" smtClean="0"/>
              <a:t>ab</a:t>
            </a:r>
            <a:r>
              <a:rPr lang="en-US" sz="3000" dirty="0" smtClean="0"/>
              <a:t>, ac}</a:t>
            </a:r>
          </a:p>
          <a:p>
            <a:r>
              <a:rPr lang="el-GR" sz="3000" dirty="0" smtClean="0"/>
              <a:t>Σ</a:t>
            </a:r>
            <a:r>
              <a:rPr lang="en-US" sz="3000" baseline="-10000" dirty="0" smtClean="0"/>
              <a:t>2</a:t>
            </a:r>
            <a:r>
              <a:rPr lang="en-US" sz="3000" dirty="0" smtClean="0"/>
              <a:t>= {a, </a:t>
            </a:r>
            <a:r>
              <a:rPr lang="en-US" sz="3000" dirty="0" err="1" smtClean="0"/>
              <a:t>ba</a:t>
            </a:r>
            <a:r>
              <a:rPr lang="en-US" sz="3000" dirty="0" smtClean="0"/>
              <a:t>, ca}</a:t>
            </a:r>
          </a:p>
          <a:p>
            <a:pPr>
              <a:buNone/>
            </a:pPr>
            <a:r>
              <a:rPr lang="en-US" sz="3000" dirty="0" smtClean="0"/>
              <a:t>In this case, </a:t>
            </a:r>
            <a:r>
              <a:rPr lang="el-GR" sz="3000" dirty="0" smtClean="0"/>
              <a:t>Σ</a:t>
            </a:r>
            <a:r>
              <a:rPr lang="en-US" sz="3000" baseline="-25000" dirty="0" smtClean="0"/>
              <a:t>1 </a:t>
            </a:r>
            <a:r>
              <a:rPr lang="en-US" sz="3000" dirty="0" smtClean="0"/>
              <a:t>is a invalid alphabet while </a:t>
            </a:r>
            <a:r>
              <a:rPr lang="el-GR" sz="3000" dirty="0" smtClean="0"/>
              <a:t>Σ</a:t>
            </a:r>
            <a:r>
              <a:rPr lang="en-US" sz="3000" baseline="-10000" dirty="0" smtClean="0"/>
              <a:t>2 </a:t>
            </a:r>
            <a:r>
              <a:rPr lang="en-US" sz="3000" dirty="0" smtClean="0"/>
              <a:t>is a valid alphabet.</a:t>
            </a:r>
          </a:p>
          <a:p>
            <a:pPr>
              <a:buFont typeface="Monotype Sorts" pitchFamily="2" charset="2"/>
              <a:buNone/>
            </a:pPr>
            <a:endParaRPr lang="en-US" sz="30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3764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Length of Strings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000" dirty="0" smtClean="0"/>
              <a:t>Definition: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The length of string s, denoted by |s|, is the number of letters/symbols in the string.</a:t>
            </a:r>
          </a:p>
          <a:p>
            <a:r>
              <a:rPr lang="en-US" sz="3000" dirty="0" smtClean="0"/>
              <a:t>Example: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</a:t>
            </a:r>
            <a:r>
              <a:rPr lang="el-GR" sz="3000" dirty="0" smtClean="0"/>
              <a:t>Σ</a:t>
            </a:r>
            <a:r>
              <a:rPr lang="en-US" sz="3000" dirty="0" smtClean="0"/>
              <a:t>={</a:t>
            </a:r>
            <a:r>
              <a:rPr lang="en-US" sz="3000" dirty="0" err="1" smtClean="0"/>
              <a:t>a,b</a:t>
            </a:r>
            <a:r>
              <a:rPr lang="en-US" sz="3000" dirty="0" smtClean="0"/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s=</a:t>
            </a:r>
            <a:r>
              <a:rPr lang="en-US" sz="3000" dirty="0" err="1" smtClean="0"/>
              <a:t>aaabb</a:t>
            </a:r>
            <a:endParaRPr lang="en-US" sz="3000" dirty="0" smtClean="0"/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  |s|=5</a:t>
            </a:r>
            <a:endParaRPr lang="en-US" sz="3000" baseline="-10000" dirty="0" smtClean="0"/>
          </a:p>
        </p:txBody>
      </p:sp>
    </p:spTree>
    <p:extLst>
      <p:ext uri="{BB962C8B-B14F-4D97-AF65-F5344CB8AC3E}">
        <p14:creationId xmlns:p14="http://schemas.microsoft.com/office/powerpoint/2010/main" val="112232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Word Length Example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000" dirty="0" smtClean="0"/>
              <a:t>Example: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 </a:t>
            </a:r>
            <a:r>
              <a:rPr lang="el-GR" sz="3000" dirty="0" smtClean="0"/>
              <a:t>Σ</a:t>
            </a:r>
            <a:r>
              <a:rPr lang="en-US" sz="3000" dirty="0" smtClean="0"/>
              <a:t>= {A, </a:t>
            </a:r>
            <a:r>
              <a:rPr lang="en-US" sz="3000" dirty="0" err="1" smtClean="0"/>
              <a:t>aA</a:t>
            </a:r>
            <a:r>
              <a:rPr lang="en-US" sz="3000" dirty="0" smtClean="0"/>
              <a:t>, </a:t>
            </a:r>
            <a:r>
              <a:rPr lang="en-US" sz="3000" dirty="0" err="1" smtClean="0"/>
              <a:t>bab</a:t>
            </a:r>
            <a:r>
              <a:rPr lang="en-US" sz="3000" dirty="0" smtClean="0"/>
              <a:t>, d}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 s=</a:t>
            </a:r>
            <a:r>
              <a:rPr lang="en-US" sz="3000" dirty="0" err="1" smtClean="0"/>
              <a:t>AaAbabAd</a:t>
            </a:r>
            <a:endParaRPr lang="en-US" sz="3000" dirty="0" smtClean="0"/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 Factoring=(A), (</a:t>
            </a:r>
            <a:r>
              <a:rPr lang="en-US" sz="3000" dirty="0" err="1" smtClean="0"/>
              <a:t>aA</a:t>
            </a:r>
            <a:r>
              <a:rPr lang="en-US" sz="3000" dirty="0" smtClean="0"/>
              <a:t>), (</a:t>
            </a:r>
            <a:r>
              <a:rPr lang="en-US" sz="3000" dirty="0" err="1" smtClean="0"/>
              <a:t>bab</a:t>
            </a:r>
            <a:r>
              <a:rPr lang="en-US" sz="3000" dirty="0" smtClean="0"/>
              <a:t>), </a:t>
            </a:r>
            <a:r>
              <a:rPr lang="en-US" dirty="0" smtClean="0"/>
              <a:t>(A), </a:t>
            </a:r>
            <a:r>
              <a:rPr lang="en-US" sz="3000" dirty="0" smtClean="0"/>
              <a:t> (d)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 |s|=5</a:t>
            </a:r>
          </a:p>
          <a:p>
            <a:r>
              <a:rPr lang="en-US" sz="3000" dirty="0" smtClean="0"/>
              <a:t>One important point to note here is that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aA</a:t>
            </a:r>
            <a:r>
              <a:rPr lang="en-US" sz="3000" dirty="0" smtClean="0"/>
              <a:t> has a length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3000" dirty="0" smtClean="0"/>
              <a:t> and not 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30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7145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Length of strings over n alphabets</a:t>
            </a:r>
          </a:p>
        </p:txBody>
      </p:sp>
      <p:sp>
        <p:nvSpPr>
          <p:cNvPr id="378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3000" b="1" dirty="0" smtClean="0"/>
              <a:t>Formula: </a:t>
            </a:r>
            <a:r>
              <a:rPr lang="en-US" sz="3000" dirty="0" smtClean="0"/>
              <a:t>Number of strings of length ‘m’ defined over   alphabet of ‘n’ letters is </a:t>
            </a:r>
            <a:r>
              <a:rPr lang="en-US" sz="3000" b="1" dirty="0" smtClean="0"/>
              <a:t>n</a:t>
            </a:r>
            <a:r>
              <a:rPr lang="en-US" sz="3000" b="1" baseline="30000" dirty="0" smtClean="0"/>
              <a:t>m</a:t>
            </a:r>
            <a:endParaRPr lang="en-US" sz="3000" b="1" dirty="0" smtClean="0"/>
          </a:p>
          <a:p>
            <a:pPr>
              <a:lnSpc>
                <a:spcPct val="90000"/>
              </a:lnSpc>
            </a:pPr>
            <a:r>
              <a:rPr lang="en-US" sz="3000" dirty="0" smtClean="0"/>
              <a:t>Examples:</a:t>
            </a:r>
          </a:p>
          <a:p>
            <a:pPr lvl="1">
              <a:lnSpc>
                <a:spcPct val="90000"/>
              </a:lnSpc>
            </a:pPr>
            <a:r>
              <a:rPr lang="en-US" sz="3200" dirty="0" smtClean="0"/>
              <a:t>The language of strings of length 2, defined over </a:t>
            </a:r>
            <a:r>
              <a:rPr lang="el-GR" sz="3200" dirty="0" smtClean="0"/>
              <a:t>Σ</a:t>
            </a:r>
            <a:r>
              <a:rPr lang="en-US" sz="3200" dirty="0" smtClean="0"/>
              <a:t>={</a:t>
            </a:r>
            <a:r>
              <a:rPr lang="en-US" sz="3200" dirty="0" err="1" smtClean="0"/>
              <a:t>a,b</a:t>
            </a:r>
            <a:r>
              <a:rPr lang="en-US" sz="3200" dirty="0" smtClean="0"/>
              <a:t>}is L={</a:t>
            </a:r>
            <a:r>
              <a:rPr lang="en-US" sz="3200" dirty="0" err="1" smtClean="0"/>
              <a:t>aa</a:t>
            </a:r>
            <a:r>
              <a:rPr lang="en-US" sz="3200" dirty="0" smtClean="0"/>
              <a:t>, </a:t>
            </a:r>
            <a:r>
              <a:rPr lang="en-US" sz="3200" dirty="0" err="1" smtClean="0"/>
              <a:t>ab</a:t>
            </a:r>
            <a:r>
              <a:rPr lang="en-US" sz="3200" dirty="0" smtClean="0"/>
              <a:t>, </a:t>
            </a:r>
            <a:r>
              <a:rPr lang="en-US" sz="3200" dirty="0" err="1" smtClean="0"/>
              <a:t>ba</a:t>
            </a:r>
            <a:r>
              <a:rPr lang="en-US" sz="3200" dirty="0" smtClean="0"/>
              <a:t>, bb} </a:t>
            </a:r>
            <a:r>
              <a:rPr lang="en-US" sz="3200" i="1" dirty="0" smtClean="0"/>
              <a:t>i.e.</a:t>
            </a:r>
            <a:r>
              <a:rPr lang="en-US" sz="3200" dirty="0" smtClean="0"/>
              <a:t> number of strings = 2</a:t>
            </a:r>
            <a:r>
              <a:rPr lang="en-US" sz="3200" baseline="30000" dirty="0" smtClean="0"/>
              <a:t>2 </a:t>
            </a:r>
          </a:p>
          <a:p>
            <a:pPr lvl="1">
              <a:lnSpc>
                <a:spcPct val="90000"/>
              </a:lnSpc>
            </a:pPr>
            <a:r>
              <a:rPr lang="en-US" sz="3200" dirty="0" smtClean="0"/>
              <a:t>The language of strings of length 3, defined over </a:t>
            </a:r>
            <a:r>
              <a:rPr lang="el-GR" sz="3200" dirty="0" smtClean="0"/>
              <a:t>Σ</a:t>
            </a:r>
            <a:r>
              <a:rPr lang="en-US" sz="3200" dirty="0" smtClean="0"/>
              <a:t>={</a:t>
            </a:r>
            <a:r>
              <a:rPr lang="en-US" sz="3200" dirty="0" err="1" smtClean="0"/>
              <a:t>a,b</a:t>
            </a:r>
            <a:r>
              <a:rPr lang="en-US" sz="3200" dirty="0" smtClean="0"/>
              <a:t>} is L={</a:t>
            </a:r>
            <a:r>
              <a:rPr lang="en-US" sz="3200" dirty="0" err="1" smtClean="0"/>
              <a:t>aaa</a:t>
            </a:r>
            <a:r>
              <a:rPr lang="en-US" sz="3200" dirty="0" smtClean="0"/>
              <a:t>, </a:t>
            </a:r>
            <a:r>
              <a:rPr lang="en-US" sz="3200" dirty="0" err="1" smtClean="0"/>
              <a:t>aab</a:t>
            </a:r>
            <a:r>
              <a:rPr lang="en-US" sz="3200" dirty="0" smtClean="0"/>
              <a:t>, aba, baa, </a:t>
            </a:r>
            <a:r>
              <a:rPr lang="en-US" sz="3200" dirty="0" err="1" smtClean="0"/>
              <a:t>abb</a:t>
            </a:r>
            <a:r>
              <a:rPr lang="en-US" sz="3200" dirty="0" smtClean="0"/>
              <a:t>, </a:t>
            </a:r>
            <a:r>
              <a:rPr lang="en-US" sz="3200" dirty="0" err="1" smtClean="0"/>
              <a:t>bab</a:t>
            </a:r>
            <a:r>
              <a:rPr lang="en-US" sz="3200" dirty="0" smtClean="0"/>
              <a:t>, </a:t>
            </a:r>
            <a:r>
              <a:rPr lang="en-US" sz="3200" dirty="0" err="1" smtClean="0"/>
              <a:t>bba</a:t>
            </a:r>
            <a:r>
              <a:rPr lang="en-US" sz="3200" dirty="0" smtClean="0"/>
              <a:t>, </a:t>
            </a:r>
            <a:r>
              <a:rPr lang="en-US" sz="3200" dirty="0" err="1" smtClean="0"/>
              <a:t>bbb</a:t>
            </a:r>
            <a:r>
              <a:rPr lang="en-US" sz="3200" dirty="0" smtClean="0"/>
              <a:t>} </a:t>
            </a:r>
            <a:r>
              <a:rPr lang="en-US" sz="3200" i="1" dirty="0" smtClean="0"/>
              <a:t>i.e.</a:t>
            </a:r>
            <a:r>
              <a:rPr lang="en-US" sz="3200" dirty="0" smtClean="0"/>
              <a:t> number of strings = 2</a:t>
            </a:r>
            <a:r>
              <a:rPr lang="en-US" sz="3200" baseline="30000" dirty="0" smtClean="0"/>
              <a:t>3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7567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Reverse of a String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000" smtClean="0"/>
              <a:t>Definition:</a:t>
            </a:r>
          </a:p>
          <a:p>
            <a:pPr>
              <a:buFont typeface="Monotype Sorts" pitchFamily="2" charset="2"/>
              <a:buNone/>
            </a:pPr>
            <a:r>
              <a:rPr lang="en-US" sz="3000" smtClean="0"/>
              <a:t>	The reverse of a string s denoted by Rev(s) or  s</a:t>
            </a:r>
            <a:r>
              <a:rPr lang="en-US" sz="3000" baseline="30000" smtClean="0"/>
              <a:t>r</a:t>
            </a:r>
            <a:r>
              <a:rPr lang="en-US" sz="3000" smtClean="0"/>
              <a:t>,  is obtained by writing the letters of s in reverse order.</a:t>
            </a:r>
          </a:p>
          <a:p>
            <a:r>
              <a:rPr lang="en-US" sz="3000" smtClean="0"/>
              <a:t>Example:</a:t>
            </a:r>
          </a:p>
          <a:p>
            <a:pPr>
              <a:buFont typeface="Monotype Sorts" pitchFamily="2" charset="2"/>
              <a:buNone/>
            </a:pPr>
            <a:r>
              <a:rPr lang="en-US" sz="3000" smtClean="0"/>
              <a:t>	If s=abc is a string defined over </a:t>
            </a:r>
            <a:r>
              <a:rPr lang="el-GR" sz="3000" smtClean="0"/>
              <a:t>Σ</a:t>
            </a:r>
            <a:r>
              <a:rPr lang="en-US" sz="3000" smtClean="0"/>
              <a:t>={a,b,c}</a:t>
            </a:r>
          </a:p>
          <a:p>
            <a:pPr>
              <a:buFont typeface="Monotype Sorts" pitchFamily="2" charset="2"/>
              <a:buNone/>
            </a:pPr>
            <a:r>
              <a:rPr lang="en-US" sz="3000" smtClean="0"/>
              <a:t>	  then Rev(s) or s</a:t>
            </a:r>
            <a:r>
              <a:rPr lang="en-US" sz="3000" baseline="30000" smtClean="0"/>
              <a:t>r </a:t>
            </a:r>
            <a:r>
              <a:rPr lang="en-US" sz="3000" smtClean="0"/>
              <a:t>= cba</a:t>
            </a:r>
          </a:p>
        </p:txBody>
      </p:sp>
    </p:spTree>
    <p:extLst>
      <p:ext uri="{BB962C8B-B14F-4D97-AF65-F5344CB8AC3E}">
        <p14:creationId xmlns:p14="http://schemas.microsoft.com/office/powerpoint/2010/main" val="353556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000" dirty="0" smtClean="0"/>
              <a:t>Example: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 </a:t>
            </a:r>
            <a:r>
              <a:rPr lang="el-GR" sz="3000" dirty="0" smtClean="0"/>
              <a:t>Σ</a:t>
            </a:r>
            <a:r>
              <a:rPr lang="en-US" sz="3000" dirty="0" smtClean="0"/>
              <a:t>= {A, </a:t>
            </a:r>
            <a:r>
              <a:rPr lang="en-US" sz="3000" dirty="0" err="1" smtClean="0"/>
              <a:t>aA</a:t>
            </a:r>
            <a:r>
              <a:rPr lang="en-US" sz="3000" dirty="0" smtClean="0"/>
              <a:t>, </a:t>
            </a:r>
            <a:r>
              <a:rPr lang="en-US" sz="3000" dirty="0" err="1" smtClean="0"/>
              <a:t>bab</a:t>
            </a:r>
            <a:r>
              <a:rPr lang="en-US" sz="3000" dirty="0" smtClean="0"/>
              <a:t>, d}</a:t>
            </a:r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 s=</a:t>
            </a:r>
            <a:r>
              <a:rPr lang="en-US" sz="3000" dirty="0" err="1" smtClean="0"/>
              <a:t>AaAbabAd</a:t>
            </a:r>
            <a:endParaRPr lang="en-US" sz="3000" dirty="0" smtClean="0"/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	Rev(s)=</a:t>
            </a:r>
            <a:r>
              <a:rPr lang="en-US" sz="3000" dirty="0" err="1" smtClean="0"/>
              <a:t>dAbabaAA</a:t>
            </a:r>
            <a:r>
              <a:rPr lang="en-US" sz="3000" dirty="0" smtClean="0"/>
              <a:t> </a:t>
            </a:r>
            <a:r>
              <a:rPr lang="en-US" sz="3000" dirty="0" smtClean="0"/>
              <a:t>or  Rev(s</a:t>
            </a:r>
            <a:r>
              <a:rPr lang="en-US" sz="3000" dirty="0" smtClean="0"/>
              <a:t>)= </a:t>
            </a:r>
            <a:r>
              <a:rPr lang="en-US" sz="3000" dirty="0" err="1" smtClean="0"/>
              <a:t>dAbabAaA</a:t>
            </a:r>
            <a:endParaRPr lang="en-US" sz="3000" dirty="0" smtClean="0"/>
          </a:p>
          <a:p>
            <a:pPr>
              <a:buFont typeface="Monotype Sorts" pitchFamily="2" charset="2"/>
              <a:buNone/>
            </a:pPr>
            <a:endParaRPr lang="en-US" sz="3000" dirty="0" smtClean="0"/>
          </a:p>
          <a:p>
            <a:pPr>
              <a:buFont typeface="Monotype Sorts" pitchFamily="2" charset="2"/>
              <a:buNone/>
            </a:pPr>
            <a:r>
              <a:rPr lang="en-US" sz="3000" dirty="0" smtClean="0"/>
              <a:t>Which one is correct?</a:t>
            </a:r>
          </a:p>
        </p:txBody>
      </p:sp>
    </p:spTree>
    <p:extLst>
      <p:ext uri="{BB962C8B-B14F-4D97-AF65-F5344CB8AC3E}">
        <p14:creationId xmlns:p14="http://schemas.microsoft.com/office/powerpoint/2010/main" val="104385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sz="2800" dirty="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sz="3000" b="1" dirty="0" smtClean="0"/>
              <a:t>PALINDROME</a:t>
            </a:r>
            <a:r>
              <a:rPr lang="en-US" sz="3000" dirty="0" smtClean="0"/>
              <a:t>:</a:t>
            </a:r>
          </a:p>
          <a:p>
            <a:pPr marL="533400" indent="-533400"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dirty="0" smtClean="0"/>
              <a:t>	The language consisting of </a:t>
            </a:r>
            <a:r>
              <a:rPr lang="el-GR" sz="3000" dirty="0" smtClean="0"/>
              <a:t>Λ</a:t>
            </a:r>
            <a:r>
              <a:rPr lang="en-US" sz="3000" dirty="0" smtClean="0"/>
              <a:t> and the strings s defined over </a:t>
            </a:r>
            <a:r>
              <a:rPr lang="el-GR" sz="3000" dirty="0" smtClean="0"/>
              <a:t>Σ</a:t>
            </a:r>
            <a:r>
              <a:rPr lang="en-US" sz="3000" dirty="0" smtClean="0"/>
              <a:t>  such that Rev(s)=s.</a:t>
            </a:r>
          </a:p>
          <a:p>
            <a:pPr marL="533400" indent="-533400"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dirty="0" smtClean="0"/>
              <a:t>	It is to be denoted that the words of PALINDROME are called palindromes.</a:t>
            </a:r>
          </a:p>
          <a:p>
            <a:pPr marL="533400" indent="-533400">
              <a:lnSpc>
                <a:spcPct val="90000"/>
              </a:lnSpc>
            </a:pPr>
            <a:r>
              <a:rPr lang="en-US" sz="3000" dirty="0" err="1" smtClean="0"/>
              <a:t>Example:For</a:t>
            </a:r>
            <a:r>
              <a:rPr lang="en-US" sz="3000" dirty="0" smtClean="0"/>
              <a:t> </a:t>
            </a:r>
            <a:r>
              <a:rPr lang="el-GR" sz="3000" dirty="0" smtClean="0"/>
              <a:t>Σ</a:t>
            </a:r>
            <a:r>
              <a:rPr lang="en-US" sz="3000" dirty="0" smtClean="0"/>
              <a:t>={</a:t>
            </a:r>
            <a:r>
              <a:rPr lang="en-US" sz="3000" dirty="0" err="1" smtClean="0"/>
              <a:t>a,b</a:t>
            </a:r>
            <a:r>
              <a:rPr lang="en-US" sz="3000" dirty="0" smtClean="0"/>
              <a:t>}, </a:t>
            </a:r>
          </a:p>
          <a:p>
            <a:pPr marL="533400" indent="-533400"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dirty="0" smtClean="0"/>
              <a:t>	PALINDROME={</a:t>
            </a:r>
            <a:r>
              <a:rPr lang="el-GR" sz="3000" dirty="0" smtClean="0"/>
              <a:t>Λ</a:t>
            </a:r>
            <a:r>
              <a:rPr lang="en-US" sz="3000" dirty="0" smtClean="0"/>
              <a:t> , a, b, aa, bb, </a:t>
            </a:r>
            <a:r>
              <a:rPr lang="en-US" sz="3000" dirty="0" err="1" smtClean="0"/>
              <a:t>aaa</a:t>
            </a:r>
            <a:r>
              <a:rPr lang="en-US" sz="3000" dirty="0" smtClean="0"/>
              <a:t>, aba, </a:t>
            </a:r>
            <a:r>
              <a:rPr lang="en-US" sz="3000" dirty="0" err="1" smtClean="0"/>
              <a:t>bab</a:t>
            </a:r>
            <a:r>
              <a:rPr lang="en-US" sz="3000" dirty="0" smtClean="0"/>
              <a:t>, </a:t>
            </a:r>
            <a:r>
              <a:rPr lang="en-US" sz="3000" dirty="0" err="1" smtClean="0"/>
              <a:t>bbb</a:t>
            </a:r>
            <a:r>
              <a:rPr lang="en-US" sz="3000" dirty="0" smtClean="0"/>
              <a:t>, ...}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371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form a Palindrome String?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strings of length =1:</a:t>
            </a:r>
          </a:p>
          <a:p>
            <a:pPr lvl="1"/>
            <a:r>
              <a:rPr lang="en-US" sz="3200" dirty="0" smtClean="0"/>
              <a:t>Take rev(s) where s is a string</a:t>
            </a:r>
          </a:p>
          <a:p>
            <a:pPr lvl="1"/>
            <a:r>
              <a:rPr lang="en-US" sz="3200" dirty="0" smtClean="0"/>
              <a:t>Example: if s = a then Rev(a) = a</a:t>
            </a:r>
          </a:p>
          <a:p>
            <a:pPr lvl="1"/>
            <a:r>
              <a:rPr lang="en-US" sz="3200" dirty="0" smtClean="0"/>
              <a:t>If s=b then Rev(b) = b</a:t>
            </a:r>
          </a:p>
          <a:p>
            <a:pPr lvl="1"/>
            <a:r>
              <a:rPr lang="en-US" sz="3200" dirty="0" smtClean="0"/>
              <a:t>Similarly, if  </a:t>
            </a:r>
            <a:r>
              <a:rPr lang="el-GR" sz="3200" dirty="0" smtClean="0"/>
              <a:t>Σ</a:t>
            </a:r>
            <a:r>
              <a:rPr lang="en-US" sz="3200" dirty="0" smtClean="0"/>
              <a:t>= {A, </a:t>
            </a:r>
            <a:r>
              <a:rPr lang="en-US" sz="3200" dirty="0" err="1" smtClean="0"/>
              <a:t>aA</a:t>
            </a:r>
            <a:r>
              <a:rPr lang="en-US" sz="3200" dirty="0" smtClean="0"/>
              <a:t>, </a:t>
            </a:r>
            <a:r>
              <a:rPr lang="en-US" sz="3200" dirty="0" err="1" smtClean="0"/>
              <a:t>bab</a:t>
            </a:r>
            <a:r>
              <a:rPr lang="en-US" sz="3200" dirty="0" smtClean="0"/>
              <a:t>, d} and</a:t>
            </a:r>
          </a:p>
          <a:p>
            <a:pPr>
              <a:buFont typeface="Monotype Sorts" pitchFamily="2" charset="2"/>
              <a:buNone/>
            </a:pPr>
            <a:r>
              <a:rPr lang="en-US" dirty="0" smtClean="0"/>
              <a:t>	 s=</a:t>
            </a:r>
            <a:r>
              <a:rPr lang="en-US" dirty="0" err="1" smtClean="0"/>
              <a:t>aA</a:t>
            </a:r>
            <a:r>
              <a:rPr lang="en-US" dirty="0" smtClean="0"/>
              <a:t> then rev(</a:t>
            </a:r>
            <a:r>
              <a:rPr lang="en-US" dirty="0" err="1" smtClean="0"/>
              <a:t>aA</a:t>
            </a:r>
            <a:r>
              <a:rPr lang="en-US" dirty="0" smtClean="0"/>
              <a:t>) = </a:t>
            </a:r>
            <a:r>
              <a:rPr lang="en-US" dirty="0" err="1" smtClean="0"/>
              <a:t>aA</a:t>
            </a:r>
            <a:endParaRPr lang="en-US" dirty="0" smtClean="0"/>
          </a:p>
          <a:p>
            <a:pPr>
              <a:buFont typeface="Monotype Sorts" pitchFamily="2" charset="2"/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form a Palindrome String?...(cont’d 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strings of length &gt;1:</a:t>
            </a:r>
          </a:p>
          <a:p>
            <a:pPr lvl="1"/>
            <a:r>
              <a:rPr lang="en-US" sz="3200" dirty="0" smtClean="0"/>
              <a:t>Take s Rev(s) where s is  string</a:t>
            </a:r>
          </a:p>
          <a:p>
            <a:pPr lvl="1"/>
            <a:r>
              <a:rPr lang="en-US" sz="3200" dirty="0" smtClean="0"/>
              <a:t>Example: if s = </a:t>
            </a:r>
            <a:r>
              <a:rPr lang="en-US" sz="3200" dirty="0" err="1" smtClean="0"/>
              <a:t>ab</a:t>
            </a:r>
            <a:r>
              <a:rPr lang="en-US" sz="3200" dirty="0" smtClean="0"/>
              <a:t> then s Rev(s) = </a:t>
            </a:r>
            <a:r>
              <a:rPr lang="en-US" sz="3200" dirty="0" err="1" smtClean="0"/>
              <a:t>ab</a:t>
            </a:r>
            <a:r>
              <a:rPr lang="en-US" sz="3200" dirty="0" smtClean="0"/>
              <a:t> </a:t>
            </a:r>
            <a:r>
              <a:rPr lang="en-US" sz="3200" dirty="0" err="1" smtClean="0"/>
              <a:t>ba</a:t>
            </a:r>
            <a:r>
              <a:rPr lang="en-US" sz="3200" dirty="0" smtClean="0"/>
              <a:t> is a palindrome</a:t>
            </a:r>
          </a:p>
          <a:p>
            <a:pPr lvl="1"/>
            <a:r>
              <a:rPr lang="en-US" sz="3200" dirty="0" smtClean="0"/>
              <a:t>Similarly, if  </a:t>
            </a:r>
            <a:r>
              <a:rPr lang="el-GR" sz="3200" dirty="0" smtClean="0"/>
              <a:t>Σ</a:t>
            </a:r>
            <a:r>
              <a:rPr lang="en-US" sz="3200" dirty="0" smtClean="0"/>
              <a:t>= {A, </a:t>
            </a:r>
            <a:r>
              <a:rPr lang="en-US" sz="3200" dirty="0" err="1" smtClean="0"/>
              <a:t>abab</a:t>
            </a:r>
            <a:r>
              <a:rPr lang="en-US" sz="3200" dirty="0" smtClean="0"/>
              <a:t>, d}</a:t>
            </a:r>
          </a:p>
          <a:p>
            <a:pPr>
              <a:buFont typeface="Monotype Sorts" pitchFamily="2" charset="2"/>
              <a:buNone/>
            </a:pPr>
            <a:r>
              <a:rPr lang="en-US" dirty="0" smtClean="0"/>
              <a:t>	 s=</a:t>
            </a:r>
            <a:r>
              <a:rPr lang="en-US" dirty="0" err="1" smtClean="0"/>
              <a:t>Aabab</a:t>
            </a:r>
            <a:r>
              <a:rPr lang="en-US" dirty="0" smtClean="0"/>
              <a:t> then s Rev(s) = A </a:t>
            </a:r>
            <a:r>
              <a:rPr lang="en-US" dirty="0" err="1" smtClean="0"/>
              <a:t>abab</a:t>
            </a:r>
            <a:r>
              <a:rPr lang="en-US" dirty="0" smtClean="0"/>
              <a:t> </a:t>
            </a:r>
            <a:r>
              <a:rPr lang="en-US" dirty="0" err="1" smtClean="0"/>
              <a:t>abab</a:t>
            </a:r>
            <a:r>
              <a:rPr lang="en-US" dirty="0" smtClean="0"/>
              <a:t> A which is a palindrome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 of Palindrome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00" y="1524000"/>
            <a:ext cx="9144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If the length of Palindrome is even then:</a:t>
            </a:r>
          </a:p>
          <a:p>
            <a:pPr lvl="1"/>
            <a:r>
              <a:rPr lang="en-US" sz="3200" dirty="0" smtClean="0"/>
              <a:t>s Rev(s) means length of string s is n and thus, there will be 2</a:t>
            </a:r>
            <a:r>
              <a:rPr lang="en-US" sz="3200" baseline="30000" dirty="0" smtClean="0"/>
              <a:t>n </a:t>
            </a:r>
            <a:r>
              <a:rPr lang="en-US" sz="3200" dirty="0" smtClean="0"/>
              <a:t>strings. </a:t>
            </a:r>
          </a:p>
          <a:p>
            <a:pPr lvl="1"/>
            <a:r>
              <a:rPr lang="en-US" sz="3200" dirty="0" smtClean="0"/>
              <a:t>As we know that string is of length n and number of symbols in the alphabet is 2, which shows that there are as many palindromes of length 2n as there are the strings of length n </a:t>
            </a:r>
            <a:r>
              <a:rPr lang="en-US" sz="3200" i="1" dirty="0" smtClean="0"/>
              <a:t>i.e. </a:t>
            </a:r>
            <a:r>
              <a:rPr lang="en-US" sz="3200" dirty="0" smtClean="0"/>
              <a:t>the required number of palindromes are 2</a:t>
            </a:r>
            <a:r>
              <a:rPr lang="en-US" sz="3200" baseline="30000" dirty="0" smtClean="0"/>
              <a:t>n</a:t>
            </a:r>
            <a:r>
              <a:rPr lang="en-US" sz="3200" dirty="0" smtClean="0"/>
              <a:t>.</a:t>
            </a:r>
            <a:r>
              <a:rPr lang="en-US" sz="3200" baseline="30000" dirty="0" smtClean="0"/>
              <a:t> </a:t>
            </a:r>
            <a:endParaRPr lang="en-US" sz="3200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8686800" cy="6400800"/>
          </a:xfrm>
        </p:spPr>
        <p:txBody>
          <a:bodyPr>
            <a:normAutofit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3200" dirty="0" smtClean="0"/>
              <a:t>If the length of Palindrome is odd then:</a:t>
            </a:r>
          </a:p>
          <a:p>
            <a:pPr marL="742950" lvl="2" indent="-342900"/>
            <a:r>
              <a:rPr lang="en-US" sz="3200" dirty="0" smtClean="0"/>
              <a:t>How an odd length palindrome looks like: </a:t>
            </a:r>
          </a:p>
          <a:p>
            <a:pPr marL="1200150" lvl="3" indent="-342900"/>
            <a:r>
              <a:rPr lang="en-US" sz="2800" dirty="0" err="1" smtClean="0"/>
              <a:t>abc</a:t>
            </a:r>
            <a:r>
              <a:rPr lang="en-US" sz="2800" dirty="0" smtClean="0"/>
              <a:t> a </a:t>
            </a:r>
            <a:r>
              <a:rPr lang="en-US" sz="2800" dirty="0" err="1" smtClean="0"/>
              <a:t>cba</a:t>
            </a:r>
            <a:endParaRPr lang="en-US" sz="2800" dirty="0" smtClean="0"/>
          </a:p>
          <a:p>
            <a:pPr marL="1200150" lvl="3" indent="-342900"/>
            <a:r>
              <a:rPr lang="en-US" sz="2800" dirty="0" smtClean="0"/>
              <a:t>Formula: s (symbol from alphabet) Rev(s)</a:t>
            </a:r>
          </a:p>
          <a:p>
            <a:pPr marL="742950" lvl="2" indent="-342900"/>
            <a:r>
              <a:rPr lang="en-US" sz="3200" dirty="0" smtClean="0"/>
              <a:t>For odd length palindrome, string is of length n and symbol from the alphabet which appears in the middle and has a length 1 which is subtracted, plus the Rev(s) which is again of length n. </a:t>
            </a:r>
          </a:p>
          <a:p>
            <a:pPr marL="742950" lvl="2" indent="-342900"/>
            <a:r>
              <a:rPr lang="en-US" sz="3200" dirty="0" smtClean="0"/>
              <a:t>Thus it is </a:t>
            </a:r>
            <a:r>
              <a:rPr lang="en-US" sz="3200" b="1" dirty="0" smtClean="0"/>
              <a:t>2n-1</a:t>
            </a:r>
            <a:r>
              <a:rPr lang="en-US" sz="3200" dirty="0" smtClean="0"/>
              <a:t>. For example:  we have a palindrome </a:t>
            </a:r>
            <a:r>
              <a:rPr lang="en-US" sz="3200" dirty="0" err="1" smtClean="0"/>
              <a:t>abcacba</a:t>
            </a:r>
            <a:r>
              <a:rPr lang="en-US" sz="3200" dirty="0" smtClean="0"/>
              <a:t>. So it is formed from string: </a:t>
            </a:r>
            <a:r>
              <a:rPr lang="en-US" sz="3200" b="1" dirty="0" smtClean="0"/>
              <a:t>s = </a:t>
            </a:r>
            <a:r>
              <a:rPr lang="en-US" sz="3200" b="1" dirty="0" err="1" smtClean="0"/>
              <a:t>abc</a:t>
            </a:r>
            <a:r>
              <a:rPr lang="en-US" sz="3200" b="1" dirty="0" smtClean="0"/>
              <a:t>  a   Rev(</a:t>
            </a:r>
            <a:r>
              <a:rPr lang="en-US" sz="3200" b="1" dirty="0" err="1" smtClean="0"/>
              <a:t>abc</a:t>
            </a:r>
            <a:r>
              <a:rPr lang="en-US" sz="3200" b="1" dirty="0" smtClean="0"/>
              <a:t>)</a:t>
            </a:r>
            <a:br>
              <a:rPr lang="en-US" sz="3200" b="1" dirty="0" smtClean="0"/>
            </a:br>
            <a:r>
              <a:rPr lang="en-US" sz="3200" dirty="0" smtClean="0"/>
              <a:t>thus: </a:t>
            </a:r>
            <a:r>
              <a:rPr lang="en-US" sz="3200" b="1" dirty="0" smtClean="0"/>
              <a:t>n-1 +n = 2n -1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19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08188" y="2568575"/>
              <a:ext cx="323850" cy="231775"/>
            </p14:xfrm>
          </p:contentPart>
        </mc:Choice>
        <mc:Fallback xmlns="">
          <p:pic>
            <p:nvPicPr>
              <p:cNvPr id="819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5309" y="2565696"/>
                <a:ext cx="329248" cy="23717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" indent="-57150">
              <a:buFont typeface="Monotype Sorts" pitchFamily="2" charset="2"/>
              <a:buNone/>
            </a:pPr>
            <a:r>
              <a:rPr lang="en-US" dirty="0" smtClean="0"/>
              <a:t>The no of palindromes in the odd case depends on the alphabets/symbols in the Sigma. Suppose if number is 2 that is  </a:t>
            </a:r>
            <a:r>
              <a:rPr lang="el-GR" dirty="0" smtClean="0"/>
              <a:t>Σ</a:t>
            </a:r>
            <a:r>
              <a:rPr lang="en-US" dirty="0" smtClean="0"/>
              <a:t>= {a, b} then number of palindromes of length 2n-1  with ‘a’ as a middle letter, will be 2</a:t>
            </a:r>
            <a:r>
              <a:rPr lang="en-US" baseline="30000" dirty="0" smtClean="0"/>
              <a:t>n-1</a:t>
            </a:r>
            <a:r>
              <a:rPr lang="en-US" dirty="0" smtClean="0"/>
              <a:t>.</a:t>
            </a:r>
          </a:p>
          <a:p>
            <a:pPr marL="0" indent="0">
              <a:buFont typeface="Monotype Sorts" pitchFamily="2" charset="2"/>
              <a:buNone/>
            </a:pPr>
            <a:r>
              <a:rPr lang="en-US" smtClean="0"/>
              <a:t>Similarly </a:t>
            </a:r>
            <a:r>
              <a:rPr lang="en-US" dirty="0" smtClean="0"/>
              <a:t>the number of palindromes of length 2n-1, with ‘ b ’ as middle letter, will be 2</a:t>
            </a:r>
            <a:r>
              <a:rPr lang="en-US" baseline="30000" dirty="0" smtClean="0"/>
              <a:t>n-1 </a:t>
            </a:r>
            <a:r>
              <a:rPr lang="en-US" dirty="0" smtClean="0"/>
              <a:t>as well. Hence the total number of palindromes of length 2n-1 will be 2</a:t>
            </a:r>
            <a:r>
              <a:rPr lang="en-US" baseline="30000" dirty="0" smtClean="0"/>
              <a:t>n-1 </a:t>
            </a:r>
            <a:r>
              <a:rPr lang="en-US" dirty="0" smtClean="0"/>
              <a:t>+ 2</a:t>
            </a:r>
            <a:r>
              <a:rPr lang="en-US" baseline="30000" dirty="0" smtClean="0"/>
              <a:t>n-1 </a:t>
            </a:r>
            <a:r>
              <a:rPr lang="en-US" dirty="0" smtClean="0"/>
              <a:t>= 2 (2</a:t>
            </a:r>
            <a:r>
              <a:rPr lang="en-US" baseline="30000" dirty="0" smtClean="0"/>
              <a:t>n-1</a:t>
            </a:r>
            <a:r>
              <a:rPr lang="en-US" dirty="0" smtClean="0"/>
              <a:t>)= 2</a:t>
            </a:r>
            <a:r>
              <a:rPr lang="en-US" baseline="30000" dirty="0" smtClean="0"/>
              <a:t>n 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1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 of the word Automata </a:t>
            </a:r>
          </a:p>
          <a:p>
            <a:r>
              <a:rPr lang="en-US" dirty="0" smtClean="0"/>
              <a:t>Types of languages, empty/Null String, Alphabets, words, length of strings, Palindromes</a:t>
            </a:r>
          </a:p>
          <a:p>
            <a:r>
              <a:rPr lang="en-US" dirty="0" smtClean="0"/>
              <a:t>How to form palindromes of even and odd length.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SPELLIVFUVWYY57I" val="466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1097</Words>
  <Application>Microsoft Office PowerPoint</Application>
  <PresentationFormat>On-screen Show (4:3)</PresentationFormat>
  <Paragraphs>154</Paragraphs>
  <Slides>27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Lecture # 1</vt:lpstr>
      <vt:lpstr>Text and Reference Material</vt:lpstr>
      <vt:lpstr>What does Theory of automata mean?</vt:lpstr>
      <vt:lpstr>Theory of Automa Applications</vt:lpstr>
      <vt:lpstr>Types of languages</vt:lpstr>
      <vt:lpstr>Basic Element of a Formal Language – Alphabets</vt:lpstr>
      <vt:lpstr>Example Computer Languages</vt:lpstr>
      <vt:lpstr>What are Strings</vt:lpstr>
      <vt:lpstr>What is an EMPTY or NULL String</vt:lpstr>
      <vt:lpstr>What are Words</vt:lpstr>
      <vt:lpstr>Defining Alphabets – Guidelines</vt:lpstr>
      <vt:lpstr>Ambiguity (Cont’d…)</vt:lpstr>
      <vt:lpstr>Ambiguity (Cont’d…)</vt:lpstr>
      <vt:lpstr>PowerPoint Presentation</vt:lpstr>
      <vt:lpstr> Ambiguity Examples</vt:lpstr>
      <vt:lpstr>Length of Strings</vt:lpstr>
      <vt:lpstr>Word Length Example</vt:lpstr>
      <vt:lpstr>Length of strings over n alphabets</vt:lpstr>
      <vt:lpstr>Reverse of a String</vt:lpstr>
      <vt:lpstr>PowerPoint Presentation</vt:lpstr>
      <vt:lpstr>PowerPoint Presentation</vt:lpstr>
      <vt:lpstr>How to form a Palindrome String?</vt:lpstr>
      <vt:lpstr>How to form a Palindrome String?...(cont’d )</vt:lpstr>
      <vt:lpstr>Length of Palindrome (cont’d)</vt:lpstr>
      <vt:lpstr>PowerPoint Presentation</vt:lpstr>
      <vt:lpstr>PowerPoint Presentation</vt:lpstr>
      <vt:lpstr>Lecture 1 Summary</vt:lpstr>
    </vt:vector>
  </TitlesOfParts>
  <Company>GHAZALA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GHAZALA</dc:creator>
  <cp:lastModifiedBy>Dell</cp:lastModifiedBy>
  <cp:revision>108</cp:revision>
  <dcterms:created xsi:type="dcterms:W3CDTF">2012-02-27T05:45:45Z</dcterms:created>
  <dcterms:modified xsi:type="dcterms:W3CDTF">2023-01-28T17:24:15Z</dcterms:modified>
</cp:coreProperties>
</file>