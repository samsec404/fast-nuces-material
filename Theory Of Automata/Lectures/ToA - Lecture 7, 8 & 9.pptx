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81" r:id="rId2"/>
    <p:sldId id="282" r:id="rId3"/>
    <p:sldId id="314" r:id="rId4"/>
    <p:sldId id="315" r:id="rId5"/>
    <p:sldId id="284" r:id="rId6"/>
    <p:sldId id="285" r:id="rId7"/>
    <p:sldId id="287" r:id="rId8"/>
    <p:sldId id="307" r:id="rId9"/>
    <p:sldId id="319" r:id="rId10"/>
    <p:sldId id="288" r:id="rId11"/>
    <p:sldId id="289" r:id="rId12"/>
    <p:sldId id="320" r:id="rId13"/>
    <p:sldId id="290" r:id="rId14"/>
    <p:sldId id="292" r:id="rId15"/>
    <p:sldId id="321" r:id="rId16"/>
    <p:sldId id="291" r:id="rId17"/>
    <p:sldId id="294" r:id="rId18"/>
    <p:sldId id="293" r:id="rId19"/>
    <p:sldId id="322" r:id="rId20"/>
    <p:sldId id="295" r:id="rId21"/>
    <p:sldId id="296" r:id="rId22"/>
    <p:sldId id="323" r:id="rId23"/>
    <p:sldId id="324" r:id="rId24"/>
    <p:sldId id="325" r:id="rId25"/>
    <p:sldId id="326" r:id="rId26"/>
    <p:sldId id="327" r:id="rId27"/>
    <p:sldId id="328" r:id="rId28"/>
    <p:sldId id="329" r:id="rId29"/>
    <p:sldId id="330" r:id="rId30"/>
    <p:sldId id="331" r:id="rId31"/>
  </p:sldIdLst>
  <p:sldSz cx="9144000" cy="6858000" type="screen4x3"/>
  <p:notesSz cx="7010400" cy="92964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FDEB896D-53E8-4FB9-9440-0C2DEA03C921}" type="datetimeFigureOut">
              <a:rPr lang="en-US" smtClean="0"/>
              <a:t>9/13/2024</a:t>
            </a:fld>
            <a:endParaRPr lang="en-US"/>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103FAA6-6277-4C39-90A4-AA597D479429}" type="slidenum">
              <a:rPr lang="en-US" smtClean="0"/>
              <a:t>‹#›</a:t>
            </a:fld>
            <a:endParaRPr lang="en-US"/>
          </a:p>
        </p:txBody>
      </p:sp>
    </p:spTree>
    <p:extLst>
      <p:ext uri="{BB962C8B-B14F-4D97-AF65-F5344CB8AC3E}">
        <p14:creationId xmlns:p14="http://schemas.microsoft.com/office/powerpoint/2010/main" val="3757897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6383" units="in"/>
          <inkml:channel name="Y" type="integer" max="16383" units="in"/>
          <inkml:channel name="F" type="integer" max="1023" units="dev"/>
        </inkml:traceFormat>
        <inkml:channelProperties>
          <inkml:channelProperty channel="X" name="resolution" value="999.99994" units="1/in"/>
          <inkml:channelProperty channel="Y" name="resolution" value="999.99994" units="1/in"/>
          <inkml:channelProperty channel="F" name="resolution" value="10E-6" units="1/dev"/>
        </inkml:channelProperties>
      </inkml:inkSource>
      <inkml:timestamp xml:id="ts0" timeString="2012-12-06T08:22:13.40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8 1,'0'0'2,"0"-1"0,0-2-1,0 2 1,0 1-1,0-1 0,0 1 0,0 0 0,0-1 0,0 1 0,0 0-1,0-1 0,0 1 0,3 1 0,-3 0 0,0 1 0</inkml:trace>
</inkml:ink>
</file>

<file path=ppt/ink/ink2.xml><?xml version="1.0" encoding="utf-8"?>
<inkml:ink xmlns:inkml="http://www.w3.org/2003/InkML">
  <inkml:definitions>
    <inkml:context xml:id="ctx0">
      <inkml:inkSource xml:id="inkSrc0">
        <inkml:traceFormat>
          <inkml:channel name="X" type="integer" max="16383" units="in"/>
          <inkml:channel name="Y" type="integer" max="16383" units="in"/>
          <inkml:channel name="F" type="integer" max="1023" units="dev"/>
        </inkml:traceFormat>
        <inkml:channelProperties>
          <inkml:channelProperty channel="X" name="resolution" value="999.99994" units="1/in"/>
          <inkml:channelProperty channel="Y" name="resolution" value="999.99994" units="1/in"/>
          <inkml:channelProperty channel="F" name="resolution" value="10E-6" units="1/dev"/>
        </inkml:channelProperties>
      </inkml:inkSource>
      <inkml:timestamp xml:id="ts0" timeString="2012-12-06T08:22:13.69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1 374 1,'0'-3'2,"0"-2"0,0-1 0,-2 3 0,2-3 0,2 1 0,-2 0-1,2 1 0,-2-1 0,2 2 0,0-2 0,0 0 0,0 1-1,0-2 1,4 0 1,-2-1-2,5-1 1,-3-1-1,4-2 1,-1-2 0,3 1-1,1-2 0,-1-1 1,1-1-1,-3-1 0,2 0 0,-1-1 0,-1 2 0,1 1 0,-1 0 0,-2 1 0,1 0 0,-5 2 0,2 3 0,-2-1 1,0 2-1,-2 3 0,0 0 0,1 0 0,-1 1 0,0 0 0,0 1-1,-2 0 1,0 0 0,0 2 0,0 1-1,0 0 0,0 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B30F9ED-6450-4945-847F-4AEBC78815AA}" type="datetimeFigureOut">
              <a:rPr lang="en-US" smtClean="0"/>
              <a:pPr/>
              <a:t>9/13/2024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B8C81CA5-BD8A-48F1-9F67-7907B825837B}" type="slidenum">
              <a:rPr lang="en-US" smtClean="0"/>
              <a:pPr/>
              <a:t>‹#›</a:t>
            </a:fld>
            <a:endParaRPr lang="en-US"/>
          </a:p>
        </p:txBody>
      </p:sp>
    </p:spTree>
    <p:extLst>
      <p:ext uri="{BB962C8B-B14F-4D97-AF65-F5344CB8AC3E}">
        <p14:creationId xmlns:p14="http://schemas.microsoft.com/office/powerpoint/2010/main" val="4054697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6C599B4-4737-419C-9E1A-6122BB360733}"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C599B4-4737-419C-9E1A-6122BB360733}"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C599B4-4737-419C-9E1A-6122BB360733}"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6C599B4-4737-419C-9E1A-6122BB360733}"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6C599B4-4737-419C-9E1A-6122BB360733}" type="datetimeFigureOut">
              <a:rPr lang="en-US" smtClean="0"/>
              <a:pPr/>
              <a:t>9/13/2024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6C599B4-4737-419C-9E1A-6122BB360733}" type="datetimeFigureOut">
              <a:rPr lang="en-US" smtClean="0"/>
              <a:pPr/>
              <a:t>9/13/2024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599B4-4737-419C-9E1A-6122BB360733}" type="datetimeFigureOut">
              <a:rPr lang="en-US" smtClean="0"/>
              <a:pPr/>
              <a:t>9/13/2024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C599B4-4737-419C-9E1A-6122BB360733}"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C599B4-4737-419C-9E1A-6122BB360733}" type="datetimeFigureOut">
              <a:rPr lang="en-US" smtClean="0"/>
              <a:pPr/>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C599B4-4737-419C-9E1A-6122BB360733}"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C599B4-4737-419C-9E1A-6122BB360733}" type="datetimeFigureOut">
              <a:rPr lang="en-US" smtClean="0"/>
              <a:pPr/>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D2A1D3-94CF-4BE8-B9A0-75EFE4C74F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C599B4-4737-419C-9E1A-6122BB360733}" type="datetimeFigureOut">
              <a:rPr lang="en-US" smtClean="0"/>
              <a:pPr/>
              <a:t>9/13/2024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D2A1D3-94CF-4BE8-B9A0-75EFE4C74F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3" Type="http://schemas.openxmlformats.org/officeDocument/2006/relationships/image" Target="../media/image69.emf"/><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15" Type="http://schemas.openxmlformats.org/officeDocument/2006/relationships/image" Target="../media/image70.emf"/><Relationship Id="rId4" Type="http://schemas.openxmlformats.org/officeDocument/2006/relationships/customXml" Target="../ink/ink1.xml"/><Relationship Id="rId1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Kleene’s Theorem</a:t>
            </a:r>
            <a:endParaRPr lang="en-US" dirty="0"/>
          </a:p>
        </p:txBody>
      </p:sp>
      <p:sp>
        <p:nvSpPr>
          <p:cNvPr id="3" name="Content Placeholder 2"/>
          <p:cNvSpPr>
            <a:spLocks noGrp="1"/>
          </p:cNvSpPr>
          <p:nvPr>
            <p:ph idx="1"/>
          </p:nvPr>
        </p:nvSpPr>
        <p:spPr/>
        <p:txBody>
          <a:bodyPr>
            <a:normAutofit lnSpcReduction="10000"/>
          </a:bodyPr>
          <a:lstStyle/>
          <a:p>
            <a:r>
              <a:rPr lang="en-US" dirty="0" smtClean="0"/>
              <a:t>Every Regular Expression can be represented by an FA</a:t>
            </a:r>
          </a:p>
          <a:p>
            <a:r>
              <a:rPr lang="en-US" dirty="0" smtClean="0"/>
              <a:t>We already know that a regular expression has a corresponding FA. However, the difficult part is that a regular expression can be combined with other regular expression through union (sum), concatenation and closure of FA. Thus, we need to devise methods for FA1+FA2, FA1FA2, FA1 Closure. </a:t>
            </a:r>
          </a:p>
          <a:p>
            <a:endParaRPr lang="en-US" dirty="0" smtClean="0"/>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Kleene Theorem </a:t>
            </a:r>
            <a:r>
              <a:rPr lang="en-US" dirty="0" smtClean="0"/>
              <a:t>(</a:t>
            </a:r>
            <a:r>
              <a:rPr lang="en-US" dirty="0" smtClean="0"/>
              <a:t>Union)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If r1+r2 represents a regular expression r3, then FA+FA2 represents an FA3 that correspond to r3. </a:t>
            </a:r>
          </a:p>
          <a:p>
            <a:r>
              <a:rPr lang="en-US" dirty="0" smtClean="0"/>
              <a:t>Start by taking both FA’s initial state and traversing on each input symbol in the respective FA</a:t>
            </a:r>
          </a:p>
          <a:p>
            <a:r>
              <a:rPr lang="en-US" dirty="0" smtClean="0"/>
              <a:t>Since one initial state is allowed in FA, therefore, only one state can be marked as initial state</a:t>
            </a:r>
          </a:p>
          <a:p>
            <a:r>
              <a:rPr lang="en-US" dirty="0" smtClean="0"/>
              <a:t>During the process, any state encountered final, the resultant state will be final. This is due to the fact that multiple final states are allowed in FA.</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a:t>
            </a:r>
            <a:endParaRPr lang="en-US" dirty="0"/>
          </a:p>
        </p:txBody>
      </p:sp>
      <p:sp>
        <p:nvSpPr>
          <p:cNvPr id="3" name="Content Placeholder 2"/>
          <p:cNvSpPr>
            <a:spLocks noGrp="1"/>
          </p:cNvSpPr>
          <p:nvPr>
            <p:ph idx="1"/>
          </p:nvPr>
        </p:nvSpPr>
        <p:spPr/>
        <p:txBody>
          <a:bodyPr/>
          <a:lstStyle/>
          <a:p>
            <a:r>
              <a:rPr lang="en-US" dirty="0" smtClean="0"/>
              <a:t>Find FA1 U FA2 for the following:</a:t>
            </a:r>
          </a:p>
          <a:p>
            <a:endParaRPr lang="en-US"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819400"/>
            <a:ext cx="816763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a:t>
            </a:r>
            <a:endParaRPr lang="en-US" dirty="0"/>
          </a:p>
        </p:txBody>
      </p:sp>
      <p:sp>
        <p:nvSpPr>
          <p:cNvPr id="3" name="Content Placeholder 2"/>
          <p:cNvSpPr>
            <a:spLocks noGrp="1"/>
          </p:cNvSpPr>
          <p:nvPr>
            <p:ph idx="1"/>
          </p:nvPr>
        </p:nvSpPr>
        <p:spPr/>
        <p:txBody>
          <a:bodyPr/>
          <a:lstStyle/>
          <a:p>
            <a:r>
              <a:rPr lang="en-US" dirty="0" smtClean="0"/>
              <a:t>Find FA1 U FA2 for the following:</a:t>
            </a:r>
          </a:p>
          <a:p>
            <a:endParaRPr lang="en-US"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743200"/>
            <a:ext cx="4112837"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97582" y="2549235"/>
            <a:ext cx="3714750" cy="234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818" y="228600"/>
            <a:ext cx="4112837"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4635"/>
            <a:ext cx="3714750" cy="234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Table 4"/>
          <p:cNvGraphicFramePr>
            <a:graphicFrameLocks noGrp="1"/>
          </p:cNvGraphicFramePr>
          <p:nvPr>
            <p:extLst>
              <p:ext uri="{D42A27DB-BD31-4B8C-83A1-F6EECF244321}">
                <p14:modId xmlns:p14="http://schemas.microsoft.com/office/powerpoint/2010/main" val="1228170114"/>
              </p:ext>
            </p:extLst>
          </p:nvPr>
        </p:nvGraphicFramePr>
        <p:xfrm>
          <a:off x="207819" y="2743200"/>
          <a:ext cx="8768541" cy="3810000"/>
        </p:xfrm>
        <a:graphic>
          <a:graphicData uri="http://schemas.openxmlformats.org/drawingml/2006/table">
            <a:tbl>
              <a:tblPr firstRow="1" firstCol="1" bandRow="1">
                <a:tableStyleId>{5C22544A-7EE6-4342-B048-85BDC9FD1C3A}</a:tableStyleId>
              </a:tblPr>
              <a:tblGrid>
                <a:gridCol w="2922847">
                  <a:extLst>
                    <a:ext uri="{9D8B030D-6E8A-4147-A177-3AD203B41FA5}">
                      <a16:colId xmlns="" xmlns:a16="http://schemas.microsoft.com/office/drawing/2014/main" val="20000"/>
                    </a:ext>
                  </a:extLst>
                </a:gridCol>
                <a:gridCol w="2922847">
                  <a:extLst>
                    <a:ext uri="{9D8B030D-6E8A-4147-A177-3AD203B41FA5}">
                      <a16:colId xmlns="" xmlns:a16="http://schemas.microsoft.com/office/drawing/2014/main" val="20001"/>
                    </a:ext>
                  </a:extLst>
                </a:gridCol>
                <a:gridCol w="2922847">
                  <a:extLst>
                    <a:ext uri="{9D8B030D-6E8A-4147-A177-3AD203B41FA5}">
                      <a16:colId xmlns="" xmlns:a16="http://schemas.microsoft.com/office/drawing/2014/main" val="20002"/>
                    </a:ext>
                  </a:extLst>
                </a:gridCol>
              </a:tblGrid>
              <a:tr h="635000">
                <a:tc>
                  <a:txBody>
                    <a:bodyPr/>
                    <a:lstStyle/>
                    <a:p>
                      <a:pPr marL="0" marR="0">
                        <a:lnSpc>
                          <a:spcPct val="115000"/>
                        </a:lnSpc>
                        <a:spcBef>
                          <a:spcPts val="0"/>
                        </a:spcBef>
                        <a:spcAft>
                          <a:spcPts val="0"/>
                        </a:spcAft>
                      </a:pPr>
                      <a:r>
                        <a:rPr lang="en-US" sz="2400" dirty="0">
                          <a:effectLst/>
                        </a:rPr>
                        <a:t>Old States</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a</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b</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635000">
                <a:tc>
                  <a:txBody>
                    <a:bodyPr/>
                    <a:lstStyle/>
                    <a:p>
                      <a:pPr marL="0" marR="0">
                        <a:lnSpc>
                          <a:spcPct val="115000"/>
                        </a:lnSpc>
                        <a:spcBef>
                          <a:spcPts val="0"/>
                        </a:spcBef>
                        <a:spcAft>
                          <a:spcPts val="0"/>
                        </a:spcAft>
                      </a:pPr>
                      <a:r>
                        <a:rPr lang="en-US" sz="2400">
                          <a:effectLst/>
                        </a:rPr>
                        <a:t>z1-≡(x1,y1)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(x2,y2)≡z2</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(x5,y4)≡z3</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635000">
                <a:tc>
                  <a:txBody>
                    <a:bodyPr/>
                    <a:lstStyle/>
                    <a:p>
                      <a:pPr marL="0" marR="0">
                        <a:lnSpc>
                          <a:spcPct val="115000"/>
                        </a:lnSpc>
                        <a:spcBef>
                          <a:spcPts val="0"/>
                        </a:spcBef>
                        <a:spcAft>
                          <a:spcPts val="0"/>
                        </a:spcAft>
                      </a:pPr>
                      <a:r>
                        <a:rPr lang="en-US" sz="2400">
                          <a:effectLst/>
                        </a:rPr>
                        <a:t>z2≡(x2,y2)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(x3,y2)≡ z4</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(x6,y3)≡z5</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635000">
                <a:tc>
                  <a:txBody>
                    <a:bodyPr/>
                    <a:lstStyle/>
                    <a:p>
                      <a:pPr marL="0" marR="0">
                        <a:lnSpc>
                          <a:spcPct val="115000"/>
                        </a:lnSpc>
                        <a:spcBef>
                          <a:spcPts val="0"/>
                        </a:spcBef>
                        <a:spcAft>
                          <a:spcPts val="0"/>
                        </a:spcAft>
                      </a:pPr>
                      <a:r>
                        <a:rPr lang="en-US" sz="2400" dirty="0" smtClean="0">
                          <a:effectLst/>
                        </a:rPr>
                        <a:t>z3+≡</a:t>
                      </a:r>
                      <a:r>
                        <a:rPr lang="en-US" sz="2400" dirty="0">
                          <a:effectLst/>
                        </a:rPr>
                        <a:t>(</a:t>
                      </a:r>
                      <a:r>
                        <a:rPr lang="en-US" sz="2400" dirty="0" smtClean="0">
                          <a:effectLst/>
                        </a:rPr>
                        <a:t>x5,y4)</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(x6,y5)≡ z6</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(x6,y4)≡z7</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635000">
                <a:tc>
                  <a:txBody>
                    <a:bodyPr/>
                    <a:lstStyle/>
                    <a:p>
                      <a:pPr marL="0" marR="0">
                        <a:lnSpc>
                          <a:spcPct val="115000"/>
                        </a:lnSpc>
                        <a:spcBef>
                          <a:spcPts val="0"/>
                        </a:spcBef>
                        <a:spcAft>
                          <a:spcPts val="0"/>
                        </a:spcAft>
                      </a:pPr>
                      <a:r>
                        <a:rPr lang="en-US" sz="2400">
                          <a:effectLst/>
                        </a:rPr>
                        <a:t>z4≡(x3,y2)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(x4,y2)≡ z8</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(x6,y3)≡z5</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635000">
                <a:tc>
                  <a:txBody>
                    <a:bodyPr/>
                    <a:lstStyle/>
                    <a:p>
                      <a:pPr marL="0" marR="0">
                        <a:lnSpc>
                          <a:spcPct val="115000"/>
                        </a:lnSpc>
                        <a:spcBef>
                          <a:spcPts val="0"/>
                        </a:spcBef>
                        <a:spcAft>
                          <a:spcPts val="0"/>
                        </a:spcAft>
                      </a:pPr>
                      <a:r>
                        <a:rPr lang="en-US" sz="2400">
                          <a:effectLst/>
                        </a:rPr>
                        <a:t>z5+≡(x6,y3)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(x6,y2)≡ z9</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(x6,y3)≡z5</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bl>
          </a:graphicData>
        </a:graphic>
      </p:graphicFrame>
      <mc:AlternateContent xmlns:mc="http://schemas.openxmlformats.org/markup-compatibility/2006" xmlns:p14="http://schemas.microsoft.com/office/powerpoint/2010/main">
        <mc:Choice Requires="p14">
          <p:contentPart p14:bwMode="auto" r:id="rId4">
            <p14:nvContentPartPr>
              <p14:cNvPr id="8212" name="Ink 20"/>
              <p14:cNvContentPartPr>
                <a14:cpLocks xmlns:a14="http://schemas.microsoft.com/office/drawing/2010/main" noRot="1" noChangeAspect="1" noEditPoints="1" noChangeArrowheads="1" noChangeShapeType="1"/>
              </p14:cNvContentPartPr>
              <p14:nvPr/>
            </p14:nvContentPartPr>
            <p14:xfrm>
              <a:off x="300038" y="2825750"/>
              <a:ext cx="1587" cy="3175"/>
            </p14:xfrm>
          </p:contentPart>
        </mc:Choice>
        <mc:Fallback xmlns="">
          <p:pic>
            <p:nvPicPr>
              <p:cNvPr id="8212" name="Ink 20"/>
              <p:cNvPicPr>
                <a:picLocks noRot="1" noChangeAspect="1" noEditPoints="1" noChangeArrowheads="1" noChangeShapeType="1"/>
              </p:cNvPicPr>
              <p:nvPr/>
            </p:nvPicPr>
            <p:blipFill>
              <a:blip r:embed="rId13"/>
              <a:stretch>
                <a:fillRect/>
              </a:stretch>
            </p:blipFill>
            <p:spPr>
              <a:xfrm>
                <a:off x="298186" y="2823281"/>
                <a:ext cx="5290" cy="8114"/>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213" name="Ink 21"/>
              <p14:cNvContentPartPr>
                <a14:cpLocks xmlns:a14="http://schemas.microsoft.com/office/drawing/2010/main" noRot="1" noChangeAspect="1" noEditPoints="1" noChangeArrowheads="1" noChangeShapeType="1"/>
              </p14:cNvContentPartPr>
              <p14:nvPr/>
            </p14:nvContentPartPr>
            <p14:xfrm>
              <a:off x="209550" y="3133725"/>
              <a:ext cx="79375" cy="134938"/>
            </p14:xfrm>
          </p:contentPart>
        </mc:Choice>
        <mc:Fallback xmlns="">
          <p:pic>
            <p:nvPicPr>
              <p:cNvPr id="8213" name="Ink 21"/>
              <p:cNvPicPr>
                <a:picLocks noRot="1" noChangeAspect="1" noEditPoints="1" noChangeArrowheads="1" noChangeShapeType="1"/>
              </p:cNvPicPr>
              <p:nvPr/>
            </p:nvPicPr>
            <p:blipFill>
              <a:blip r:embed="rId15"/>
              <a:stretch>
                <a:fillRect/>
              </a:stretch>
            </p:blipFill>
            <p:spPr>
              <a:xfrm>
                <a:off x="206664" y="3130846"/>
                <a:ext cx="85148" cy="140336"/>
              </a:xfrm>
              <a:prstGeom prst="rect">
                <a:avLst/>
              </a:prstGeom>
            </p:spPr>
          </p:pic>
        </mc:Fallback>
      </mc:AlternateContent>
    </p:spTree>
    <p:extLst>
      <p:ext uri="{BB962C8B-B14F-4D97-AF65-F5344CB8AC3E}">
        <p14:creationId xmlns:p14="http://schemas.microsoft.com/office/powerpoint/2010/main" val="7489886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818" y="228600"/>
            <a:ext cx="4112837"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4635"/>
            <a:ext cx="3714750" cy="234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2267269710"/>
              </p:ext>
            </p:extLst>
          </p:nvPr>
        </p:nvGraphicFramePr>
        <p:xfrm>
          <a:off x="207819" y="2514600"/>
          <a:ext cx="8478981" cy="4191000"/>
        </p:xfrm>
        <a:graphic>
          <a:graphicData uri="http://schemas.openxmlformats.org/drawingml/2006/table">
            <a:tbl>
              <a:tblPr firstRow="1" firstCol="1" bandRow="1">
                <a:tableStyleId>{5C22544A-7EE6-4342-B048-85BDC9FD1C3A}</a:tableStyleId>
              </a:tblPr>
              <a:tblGrid>
                <a:gridCol w="2826327">
                  <a:extLst>
                    <a:ext uri="{9D8B030D-6E8A-4147-A177-3AD203B41FA5}">
                      <a16:colId xmlns="" xmlns:a16="http://schemas.microsoft.com/office/drawing/2014/main" val="20000"/>
                    </a:ext>
                  </a:extLst>
                </a:gridCol>
                <a:gridCol w="2826327">
                  <a:extLst>
                    <a:ext uri="{9D8B030D-6E8A-4147-A177-3AD203B41FA5}">
                      <a16:colId xmlns="" xmlns:a16="http://schemas.microsoft.com/office/drawing/2014/main" val="20001"/>
                    </a:ext>
                  </a:extLst>
                </a:gridCol>
                <a:gridCol w="2826327">
                  <a:extLst>
                    <a:ext uri="{9D8B030D-6E8A-4147-A177-3AD203B41FA5}">
                      <a16:colId xmlns="" xmlns:a16="http://schemas.microsoft.com/office/drawing/2014/main" val="20002"/>
                    </a:ext>
                  </a:extLst>
                </a:gridCol>
              </a:tblGrid>
              <a:tr h="698500">
                <a:tc>
                  <a:txBody>
                    <a:bodyPr/>
                    <a:lstStyle/>
                    <a:p>
                      <a:pPr marL="0" marR="0">
                        <a:lnSpc>
                          <a:spcPct val="115000"/>
                        </a:lnSpc>
                        <a:spcBef>
                          <a:spcPts val="0"/>
                        </a:spcBef>
                        <a:spcAft>
                          <a:spcPts val="0"/>
                        </a:spcAft>
                      </a:pPr>
                      <a:r>
                        <a:rPr lang="en-US" sz="2400" dirty="0">
                          <a:effectLst/>
                        </a:rPr>
                        <a:t>Old States</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a</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Reading at b</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698500">
                <a:tc>
                  <a:txBody>
                    <a:bodyPr/>
                    <a:lstStyle/>
                    <a:p>
                      <a:pPr marL="0" marR="0">
                        <a:lnSpc>
                          <a:spcPct val="115000"/>
                        </a:lnSpc>
                        <a:spcBef>
                          <a:spcPts val="0"/>
                        </a:spcBef>
                        <a:spcAft>
                          <a:spcPts val="0"/>
                        </a:spcAft>
                      </a:pPr>
                      <a:r>
                        <a:rPr lang="en-US" sz="2400" dirty="0">
                          <a:effectLst/>
                        </a:rPr>
                        <a:t>z6+≡(x6,y5)</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(x6,y5)≡ z6</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(x6,y4)≡z7</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698500">
                <a:tc>
                  <a:txBody>
                    <a:bodyPr/>
                    <a:lstStyle/>
                    <a:p>
                      <a:pPr marL="0" marR="0">
                        <a:lnSpc>
                          <a:spcPct val="115000"/>
                        </a:lnSpc>
                        <a:spcBef>
                          <a:spcPts val="0"/>
                        </a:spcBef>
                        <a:spcAft>
                          <a:spcPts val="0"/>
                        </a:spcAft>
                      </a:pPr>
                      <a:r>
                        <a:rPr lang="en-US" sz="2400" dirty="0">
                          <a:effectLst/>
                        </a:rPr>
                        <a:t>z7≡(x6,y4)</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(x6,y5)≡ z6</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(x6,y4)≡z7</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698500">
                <a:tc>
                  <a:txBody>
                    <a:bodyPr/>
                    <a:lstStyle/>
                    <a:p>
                      <a:pPr marL="0" marR="0">
                        <a:lnSpc>
                          <a:spcPct val="115000"/>
                        </a:lnSpc>
                        <a:spcBef>
                          <a:spcPts val="0"/>
                        </a:spcBef>
                        <a:spcAft>
                          <a:spcPts val="0"/>
                        </a:spcAft>
                      </a:pPr>
                      <a:r>
                        <a:rPr lang="en-US" sz="2400" dirty="0">
                          <a:effectLst/>
                        </a:rPr>
                        <a:t>z8+≡(x4,y2)</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(x4,y2)≡ z8</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(x4,y3)≡z10</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698500">
                <a:tc>
                  <a:txBody>
                    <a:bodyPr/>
                    <a:lstStyle/>
                    <a:p>
                      <a:pPr marL="0" marR="0">
                        <a:lnSpc>
                          <a:spcPct val="115000"/>
                        </a:lnSpc>
                        <a:spcBef>
                          <a:spcPts val="0"/>
                        </a:spcBef>
                        <a:spcAft>
                          <a:spcPts val="0"/>
                        </a:spcAft>
                      </a:pPr>
                      <a:r>
                        <a:rPr lang="en-US" sz="2400" dirty="0">
                          <a:effectLst/>
                        </a:rPr>
                        <a:t>z9≡(x6,y2)</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(x6,y2)≡ z9</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(x6,y3)≡z5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698500">
                <a:tc>
                  <a:txBody>
                    <a:bodyPr/>
                    <a:lstStyle/>
                    <a:p>
                      <a:pPr marL="0" marR="0">
                        <a:lnSpc>
                          <a:spcPct val="115000"/>
                        </a:lnSpc>
                        <a:spcBef>
                          <a:spcPts val="0"/>
                        </a:spcBef>
                        <a:spcAft>
                          <a:spcPts val="0"/>
                        </a:spcAft>
                      </a:pPr>
                      <a:r>
                        <a:rPr lang="en-US" sz="2400">
                          <a:effectLst/>
                        </a:rPr>
                        <a:t>z10+≡(x4,y3)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(x4,y2)≡ z8</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(x4,y3)≡</a:t>
                      </a:r>
                      <a:r>
                        <a:rPr lang="en-US" sz="2400" dirty="0" smtClean="0">
                          <a:effectLst/>
                        </a:rPr>
                        <a:t>z10</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40941365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759619"/>
            <a:ext cx="82550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1112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Kleene </a:t>
            </a:r>
            <a:r>
              <a:rPr lang="en-US" dirty="0" smtClean="0"/>
              <a:t>Theorem </a:t>
            </a:r>
            <a:r>
              <a:rPr lang="en-US" dirty="0" smtClean="0"/>
              <a:t>(Concatenation)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If r1r2 represents a regular expression r3, then FAFA2 represents an FA3 that should correspond to r3. </a:t>
            </a:r>
          </a:p>
          <a:p>
            <a:r>
              <a:rPr lang="en-US" dirty="0" smtClean="0"/>
              <a:t>Start by taking the first FA’s and traversing on each input symbol in the respective FA. </a:t>
            </a:r>
          </a:p>
          <a:p>
            <a:r>
              <a:rPr lang="en-US" dirty="0" smtClean="0"/>
              <a:t>Since one initial state is allowed in FA, therefore, only one state can be marked as initial state</a:t>
            </a:r>
          </a:p>
          <a:p>
            <a:r>
              <a:rPr lang="en-US" dirty="0" smtClean="0"/>
              <a:t>During the process, any state encountered final,  the resultant state will be final. Further, the second FA will be concatenated through its initial state. The new state will be marked as final. </a:t>
            </a:r>
          </a:p>
          <a:p>
            <a:r>
              <a:rPr lang="en-US" dirty="0" smtClean="0"/>
              <a:t>However, if the final state of the second FA is encountered, it will not be combined with the first FA. </a:t>
            </a:r>
            <a:endParaRPr lang="en-US" dirty="0"/>
          </a:p>
        </p:txBody>
      </p:sp>
    </p:spTree>
    <p:extLst>
      <p:ext uri="{BB962C8B-B14F-4D97-AF65-F5344CB8AC3E}">
        <p14:creationId xmlns:p14="http://schemas.microsoft.com/office/powerpoint/2010/main" val="36727120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(concatenation)</a:t>
            </a:r>
            <a:endParaRPr lang="en-US" dirty="0"/>
          </a:p>
        </p:txBody>
      </p:sp>
      <p:sp>
        <p:nvSpPr>
          <p:cNvPr id="3" name="Content Placeholder 2"/>
          <p:cNvSpPr>
            <a:spLocks noGrp="1"/>
          </p:cNvSpPr>
          <p:nvPr>
            <p:ph idx="1"/>
          </p:nvPr>
        </p:nvSpPr>
        <p:spPr/>
        <p:txBody>
          <a:bodyPr/>
          <a:lstStyle/>
          <a:p>
            <a:r>
              <a:rPr lang="en-US" dirty="0" smtClean="0"/>
              <a:t>Find FA1FA2 for the following:</a:t>
            </a:r>
          </a:p>
          <a:p>
            <a:endParaRPr lang="en-US" dirty="0"/>
          </a:p>
        </p:txBody>
      </p:sp>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3200400"/>
            <a:ext cx="8915400" cy="2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96822958"/>
              </p:ext>
            </p:extLst>
          </p:nvPr>
        </p:nvGraphicFramePr>
        <p:xfrm>
          <a:off x="152400" y="2514600"/>
          <a:ext cx="8900160" cy="4270248"/>
        </p:xfrm>
        <a:graphic>
          <a:graphicData uri="http://schemas.openxmlformats.org/drawingml/2006/table">
            <a:tbl>
              <a:tblPr firstRow="1" firstCol="1" bandRow="1">
                <a:tableStyleId>{5C22544A-7EE6-4342-B048-85BDC9FD1C3A}</a:tableStyleId>
              </a:tblPr>
              <a:tblGrid>
                <a:gridCol w="2966720">
                  <a:extLst>
                    <a:ext uri="{9D8B030D-6E8A-4147-A177-3AD203B41FA5}">
                      <a16:colId xmlns="" xmlns:a16="http://schemas.microsoft.com/office/drawing/2014/main" val="20000"/>
                    </a:ext>
                  </a:extLst>
                </a:gridCol>
                <a:gridCol w="2966720">
                  <a:extLst>
                    <a:ext uri="{9D8B030D-6E8A-4147-A177-3AD203B41FA5}">
                      <a16:colId xmlns="" xmlns:a16="http://schemas.microsoft.com/office/drawing/2014/main" val="20001"/>
                    </a:ext>
                  </a:extLst>
                </a:gridCol>
                <a:gridCol w="2966720">
                  <a:extLst>
                    <a:ext uri="{9D8B030D-6E8A-4147-A177-3AD203B41FA5}">
                      <a16:colId xmlns="" xmlns:a16="http://schemas.microsoft.com/office/drawing/2014/main" val="20002"/>
                    </a:ext>
                  </a:extLst>
                </a:gridCol>
              </a:tblGrid>
              <a:tr h="685800">
                <a:tc>
                  <a:txBody>
                    <a:bodyPr/>
                    <a:lstStyle/>
                    <a:p>
                      <a:pPr marL="0" marR="0">
                        <a:lnSpc>
                          <a:spcPct val="115000"/>
                        </a:lnSpc>
                        <a:spcBef>
                          <a:spcPts val="0"/>
                        </a:spcBef>
                        <a:spcAft>
                          <a:spcPts val="0"/>
                        </a:spcAft>
                      </a:pPr>
                      <a:r>
                        <a:rPr lang="en-US" sz="2400">
                          <a:effectLst/>
                        </a:rPr>
                        <a:t>Old States</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a</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b</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685800">
                <a:tc>
                  <a:txBody>
                    <a:bodyPr/>
                    <a:lstStyle/>
                    <a:p>
                      <a:pPr marL="0" marR="0">
                        <a:lnSpc>
                          <a:spcPct val="115000"/>
                        </a:lnSpc>
                        <a:spcBef>
                          <a:spcPts val="0"/>
                        </a:spcBef>
                        <a:spcAft>
                          <a:spcPts val="0"/>
                        </a:spcAft>
                      </a:pPr>
                      <a:r>
                        <a:rPr lang="en-US" sz="2400" dirty="0">
                          <a:effectLst/>
                        </a:rPr>
                        <a:t>z1-≡q0</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q1≡z2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q1≡z2</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685800">
                <a:tc>
                  <a:txBody>
                    <a:bodyPr/>
                    <a:lstStyle/>
                    <a:p>
                      <a:pPr marL="0" marR="0">
                        <a:lnSpc>
                          <a:spcPct val="115000"/>
                        </a:lnSpc>
                        <a:spcBef>
                          <a:spcPts val="0"/>
                        </a:spcBef>
                        <a:spcAft>
                          <a:spcPts val="0"/>
                        </a:spcAft>
                      </a:pPr>
                      <a:r>
                        <a:rPr lang="en-US" sz="2400">
                          <a:effectLst/>
                        </a:rPr>
                        <a:t>z2≡q1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q3≡z3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(q2,p0)≡z4</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685800">
                <a:tc>
                  <a:txBody>
                    <a:bodyPr/>
                    <a:lstStyle/>
                    <a:p>
                      <a:pPr marL="0" marR="0">
                        <a:lnSpc>
                          <a:spcPct val="115000"/>
                        </a:lnSpc>
                        <a:spcBef>
                          <a:spcPts val="0"/>
                        </a:spcBef>
                        <a:spcAft>
                          <a:spcPts val="0"/>
                        </a:spcAft>
                      </a:pPr>
                      <a:r>
                        <a:rPr lang="en-US" sz="2400">
                          <a:effectLst/>
                        </a:rPr>
                        <a:t>z3≡q3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q3≡z3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q3≡z3</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685800">
                <a:tc>
                  <a:txBody>
                    <a:bodyPr/>
                    <a:lstStyle/>
                    <a:p>
                      <a:pPr marL="0" marR="0">
                        <a:lnSpc>
                          <a:spcPct val="115000"/>
                        </a:lnSpc>
                        <a:spcBef>
                          <a:spcPts val="0"/>
                        </a:spcBef>
                        <a:spcAft>
                          <a:spcPts val="0"/>
                        </a:spcAft>
                      </a:pPr>
                      <a:r>
                        <a:rPr lang="en-US" sz="2400">
                          <a:effectLst/>
                        </a:rPr>
                        <a:t>z4+ ≡ (q2,p0)</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(q2,p0,p1)≡z5</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(q2,p0,p1)≡z5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685800">
                <a:tc>
                  <a:txBody>
                    <a:bodyPr/>
                    <a:lstStyle/>
                    <a:p>
                      <a:pPr marL="0" marR="0">
                        <a:lnSpc>
                          <a:spcPct val="115000"/>
                        </a:lnSpc>
                        <a:spcBef>
                          <a:spcPts val="0"/>
                        </a:spcBef>
                        <a:spcAft>
                          <a:spcPts val="0"/>
                        </a:spcAft>
                      </a:pPr>
                      <a:r>
                        <a:rPr lang="en-US" sz="2400">
                          <a:effectLst/>
                        </a:rPr>
                        <a:t>z5+≡(q2,p0,p1)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(q2,p0,p1,p1</a:t>
                      </a:r>
                      <a:r>
                        <a:rPr lang="en-US" sz="2400" dirty="0" smtClean="0">
                          <a:effectLst/>
                        </a:rPr>
                        <a:t>)= </a:t>
                      </a:r>
                      <a:r>
                        <a:rPr lang="en-US" sz="2400" dirty="0">
                          <a:effectLst/>
                        </a:rPr>
                        <a:t>(q2,p0,p1)≡z5</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(q2,p0,p1,p1</a:t>
                      </a:r>
                      <a:r>
                        <a:rPr lang="en-US" sz="2400" dirty="0" smtClean="0">
                          <a:effectLst/>
                        </a:rPr>
                        <a:t>)= </a:t>
                      </a:r>
                      <a:r>
                        <a:rPr lang="en-US" sz="2400" dirty="0">
                          <a:effectLst/>
                        </a:rPr>
                        <a:t>(q2,p0,p1)≡z5</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bl>
          </a:graphicData>
        </a:graphic>
      </p:graphicFrame>
      <p:pic>
        <p:nvPicPr>
          <p:cNvPr id="4099"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55" y="152400"/>
            <a:ext cx="8915400" cy="2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31112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108" y="1219200"/>
            <a:ext cx="7907867"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46224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(concatenation)</a:t>
            </a:r>
            <a:endParaRPr lang="en-US" dirty="0"/>
          </a:p>
        </p:txBody>
      </p:sp>
      <p:sp>
        <p:nvSpPr>
          <p:cNvPr id="3" name="Content Placeholder 2"/>
          <p:cNvSpPr>
            <a:spLocks noGrp="1"/>
          </p:cNvSpPr>
          <p:nvPr>
            <p:ph idx="1"/>
          </p:nvPr>
        </p:nvSpPr>
        <p:spPr/>
        <p:txBody>
          <a:bodyPr/>
          <a:lstStyle/>
          <a:p>
            <a:r>
              <a:rPr lang="en-US" dirty="0" smtClean="0"/>
              <a:t>Find FA2FA1 for the following:</a:t>
            </a:r>
          </a:p>
          <a:p>
            <a:endParaRPr lang="en-US"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743200"/>
            <a:ext cx="8372475" cy="1968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790682128"/>
              </p:ext>
            </p:extLst>
          </p:nvPr>
        </p:nvGraphicFramePr>
        <p:xfrm>
          <a:off x="297872" y="2353733"/>
          <a:ext cx="8653896" cy="4279266"/>
        </p:xfrm>
        <a:graphic>
          <a:graphicData uri="http://schemas.openxmlformats.org/drawingml/2006/table">
            <a:tbl>
              <a:tblPr firstRow="1" firstCol="1" bandRow="1">
                <a:tableStyleId>{5C22544A-7EE6-4342-B048-85BDC9FD1C3A}</a:tableStyleId>
              </a:tblPr>
              <a:tblGrid>
                <a:gridCol w="2884632">
                  <a:extLst>
                    <a:ext uri="{9D8B030D-6E8A-4147-A177-3AD203B41FA5}">
                      <a16:colId xmlns="" xmlns:a16="http://schemas.microsoft.com/office/drawing/2014/main" val="20000"/>
                    </a:ext>
                  </a:extLst>
                </a:gridCol>
                <a:gridCol w="2884632">
                  <a:extLst>
                    <a:ext uri="{9D8B030D-6E8A-4147-A177-3AD203B41FA5}">
                      <a16:colId xmlns="" xmlns:a16="http://schemas.microsoft.com/office/drawing/2014/main" val="20001"/>
                    </a:ext>
                  </a:extLst>
                </a:gridCol>
                <a:gridCol w="2884632">
                  <a:extLst>
                    <a:ext uri="{9D8B030D-6E8A-4147-A177-3AD203B41FA5}">
                      <a16:colId xmlns="" xmlns:a16="http://schemas.microsoft.com/office/drawing/2014/main" val="20002"/>
                    </a:ext>
                  </a:extLst>
                </a:gridCol>
              </a:tblGrid>
              <a:tr h="419724">
                <a:tc>
                  <a:txBody>
                    <a:bodyPr/>
                    <a:lstStyle/>
                    <a:p>
                      <a:pPr marL="0" marR="0">
                        <a:lnSpc>
                          <a:spcPct val="115000"/>
                        </a:lnSpc>
                        <a:spcBef>
                          <a:spcPts val="0"/>
                        </a:spcBef>
                        <a:spcAft>
                          <a:spcPts val="0"/>
                        </a:spcAft>
                      </a:pPr>
                      <a:r>
                        <a:rPr lang="en-US" sz="2400">
                          <a:effectLst/>
                        </a:rPr>
                        <a:t>Old States</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a</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b</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419724">
                <a:tc>
                  <a:txBody>
                    <a:bodyPr/>
                    <a:lstStyle/>
                    <a:p>
                      <a:pPr marL="0" marR="0">
                        <a:lnSpc>
                          <a:spcPct val="115000"/>
                        </a:lnSpc>
                        <a:spcBef>
                          <a:spcPts val="0"/>
                        </a:spcBef>
                        <a:spcAft>
                          <a:spcPts val="0"/>
                        </a:spcAft>
                      </a:pPr>
                      <a:r>
                        <a:rPr lang="en-US" sz="2400">
                          <a:effectLst/>
                        </a:rPr>
                        <a:t>z1-≡p0</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(p1, q0)≡ z2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(p1, q0)≡ z2</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419724">
                <a:tc>
                  <a:txBody>
                    <a:bodyPr/>
                    <a:lstStyle/>
                    <a:p>
                      <a:pPr marL="0" marR="0">
                        <a:lnSpc>
                          <a:spcPct val="115000"/>
                        </a:lnSpc>
                        <a:spcBef>
                          <a:spcPts val="0"/>
                        </a:spcBef>
                        <a:spcAft>
                          <a:spcPts val="0"/>
                        </a:spcAft>
                      </a:pPr>
                      <a:r>
                        <a:rPr lang="en-US" sz="2400">
                          <a:effectLst/>
                        </a:rPr>
                        <a:t>z2+≡(p1, q0)</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(p1,q0,q1)≡ z3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(p1,q0,q1)≡ z3</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419724">
                <a:tc>
                  <a:txBody>
                    <a:bodyPr/>
                    <a:lstStyle/>
                    <a:p>
                      <a:pPr marL="0" marR="0">
                        <a:lnSpc>
                          <a:spcPct val="115000"/>
                        </a:lnSpc>
                        <a:spcBef>
                          <a:spcPts val="0"/>
                        </a:spcBef>
                        <a:spcAft>
                          <a:spcPts val="0"/>
                        </a:spcAft>
                      </a:pPr>
                      <a:r>
                        <a:rPr lang="en-US" sz="2400">
                          <a:effectLst/>
                        </a:rPr>
                        <a:t>z3+ ≡ (p1,q0,q1)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(p1,q0,q1,q3)≡ z4</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(p1,q0,q1,q2)≡z5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865590">
                <a:tc>
                  <a:txBody>
                    <a:bodyPr/>
                    <a:lstStyle/>
                    <a:p>
                      <a:pPr marL="0" marR="0">
                        <a:lnSpc>
                          <a:spcPct val="115000"/>
                        </a:lnSpc>
                        <a:spcBef>
                          <a:spcPts val="0"/>
                        </a:spcBef>
                        <a:spcAft>
                          <a:spcPts val="0"/>
                        </a:spcAft>
                      </a:pPr>
                      <a:r>
                        <a:rPr lang="en-US" sz="2400">
                          <a:effectLst/>
                        </a:rPr>
                        <a:t>z4+≡ (p1,q0,q1,q3)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 (p1,q0,q1,q3,q3</a:t>
                      </a:r>
                      <a:r>
                        <a:rPr lang="en-US" sz="2400" dirty="0" smtClean="0">
                          <a:effectLst/>
                        </a:rPr>
                        <a:t>)= </a:t>
                      </a:r>
                      <a:r>
                        <a:rPr lang="en-US" sz="2400" dirty="0">
                          <a:effectLst/>
                        </a:rPr>
                        <a:t>(p1,q0,q1,q3)≡z4</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(p1,q0,q1,q2,q3)≡z6</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865590">
                <a:tc>
                  <a:txBody>
                    <a:bodyPr/>
                    <a:lstStyle/>
                    <a:p>
                      <a:pPr marL="0" marR="0">
                        <a:lnSpc>
                          <a:spcPct val="115000"/>
                        </a:lnSpc>
                        <a:spcBef>
                          <a:spcPts val="0"/>
                        </a:spcBef>
                        <a:spcAft>
                          <a:spcPts val="0"/>
                        </a:spcAft>
                      </a:pPr>
                      <a:r>
                        <a:rPr lang="en-US" sz="2400">
                          <a:effectLst/>
                        </a:rPr>
                        <a:t>z5+≡(p1,q0,q1,q2)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(p1,q0,q1,q2,q3)≡z6</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(p1,q0,q1,q2,q2</a:t>
                      </a:r>
                      <a:r>
                        <a:rPr lang="en-US" sz="2400" dirty="0" smtClean="0">
                          <a:effectLst/>
                        </a:rPr>
                        <a:t>)= </a:t>
                      </a:r>
                      <a:r>
                        <a:rPr lang="en-US" sz="2400" dirty="0">
                          <a:effectLst/>
                        </a:rPr>
                        <a:t>(p1,q0,q1,q2)≡z5</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r h="865590">
                <a:tc>
                  <a:txBody>
                    <a:bodyPr/>
                    <a:lstStyle/>
                    <a:p>
                      <a:pPr marL="0" marR="0">
                        <a:lnSpc>
                          <a:spcPct val="115000"/>
                        </a:lnSpc>
                        <a:spcBef>
                          <a:spcPts val="0"/>
                        </a:spcBef>
                        <a:spcAft>
                          <a:spcPts val="0"/>
                        </a:spcAft>
                      </a:pPr>
                      <a:r>
                        <a:rPr lang="en-US" sz="2400">
                          <a:effectLst/>
                        </a:rPr>
                        <a:t>z6+≡(p1,q0,q1,q2,q3)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 (p1,q0,q1,q3,q2,q3</a:t>
                      </a:r>
                      <a:r>
                        <a:rPr lang="en-US" sz="2400" dirty="0" smtClean="0">
                          <a:effectLst/>
                        </a:rPr>
                        <a:t>)=</a:t>
                      </a:r>
                      <a:endParaRPr lang="en-US" sz="2400" dirty="0">
                        <a:effectLst/>
                      </a:endParaRPr>
                    </a:p>
                    <a:p>
                      <a:pPr marL="0" marR="0">
                        <a:lnSpc>
                          <a:spcPct val="115000"/>
                        </a:lnSpc>
                        <a:spcBef>
                          <a:spcPts val="0"/>
                        </a:spcBef>
                        <a:spcAft>
                          <a:spcPts val="0"/>
                        </a:spcAft>
                      </a:pPr>
                      <a:r>
                        <a:rPr lang="en-US" sz="2400" dirty="0">
                          <a:effectLst/>
                        </a:rPr>
                        <a:t>(p1,q0,q1,q2,q3)z6</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(p1,q0,q1,q2,q2,q3</a:t>
                      </a:r>
                      <a:r>
                        <a:rPr lang="en-US" sz="2400" dirty="0" smtClean="0">
                          <a:effectLst/>
                        </a:rPr>
                        <a:t>)=</a:t>
                      </a:r>
                      <a:endParaRPr lang="en-US" sz="2400" dirty="0">
                        <a:effectLst/>
                      </a:endParaRPr>
                    </a:p>
                    <a:p>
                      <a:pPr marL="0" marR="0">
                        <a:lnSpc>
                          <a:spcPct val="115000"/>
                        </a:lnSpc>
                        <a:spcBef>
                          <a:spcPts val="0"/>
                        </a:spcBef>
                        <a:spcAft>
                          <a:spcPts val="0"/>
                        </a:spcAft>
                      </a:pPr>
                      <a:r>
                        <a:rPr lang="en-US" sz="2400" dirty="0">
                          <a:effectLst/>
                        </a:rPr>
                        <a:t>(p1,q0,q1,q2,q3)≡z6</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6"/>
                  </a:ext>
                </a:extLst>
              </a:tr>
            </a:tbl>
          </a:graphicData>
        </a:graphic>
      </p:graphicFrame>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228600"/>
            <a:ext cx="8372475" cy="1968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83733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4205" y="1276350"/>
            <a:ext cx="8101645"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4727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(concatenation)</a:t>
            </a:r>
            <a:endParaRPr lang="en-US" dirty="0"/>
          </a:p>
        </p:txBody>
      </p:sp>
      <p:sp>
        <p:nvSpPr>
          <p:cNvPr id="3" name="Content Placeholder 2"/>
          <p:cNvSpPr>
            <a:spLocks noGrp="1"/>
          </p:cNvSpPr>
          <p:nvPr>
            <p:ph idx="1"/>
          </p:nvPr>
        </p:nvSpPr>
        <p:spPr/>
        <p:txBody>
          <a:bodyPr/>
          <a:lstStyle/>
          <a:p>
            <a:r>
              <a:rPr lang="en-US" dirty="0" smtClean="0"/>
              <a:t>Find FA3FA1 for the following:</a:t>
            </a:r>
          </a:p>
          <a:p>
            <a:endParaRPr lang="en-US" dirty="0"/>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514600"/>
            <a:ext cx="50482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8250" y="2805545"/>
            <a:ext cx="398609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 y="90055"/>
            <a:ext cx="50482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81000"/>
            <a:ext cx="398609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Table 2"/>
          <p:cNvGraphicFramePr>
            <a:graphicFrameLocks noGrp="1"/>
          </p:cNvGraphicFramePr>
          <p:nvPr>
            <p:extLst>
              <p:ext uri="{D42A27DB-BD31-4B8C-83A1-F6EECF244321}">
                <p14:modId xmlns:p14="http://schemas.microsoft.com/office/powerpoint/2010/main" val="2990487185"/>
              </p:ext>
            </p:extLst>
          </p:nvPr>
        </p:nvGraphicFramePr>
        <p:xfrm>
          <a:off x="228599" y="2590800"/>
          <a:ext cx="8862897" cy="4114800"/>
        </p:xfrm>
        <a:graphic>
          <a:graphicData uri="http://schemas.openxmlformats.org/drawingml/2006/table">
            <a:tbl>
              <a:tblPr firstRow="1" firstCol="1" bandRow="1">
                <a:tableStyleId>{5C22544A-7EE6-4342-B048-85BDC9FD1C3A}</a:tableStyleId>
              </a:tblPr>
              <a:tblGrid>
                <a:gridCol w="2954299">
                  <a:extLst>
                    <a:ext uri="{9D8B030D-6E8A-4147-A177-3AD203B41FA5}">
                      <a16:colId xmlns="" xmlns:a16="http://schemas.microsoft.com/office/drawing/2014/main" val="20000"/>
                    </a:ext>
                  </a:extLst>
                </a:gridCol>
                <a:gridCol w="2954299">
                  <a:extLst>
                    <a:ext uri="{9D8B030D-6E8A-4147-A177-3AD203B41FA5}">
                      <a16:colId xmlns="" xmlns:a16="http://schemas.microsoft.com/office/drawing/2014/main" val="20001"/>
                    </a:ext>
                  </a:extLst>
                </a:gridCol>
                <a:gridCol w="2954299">
                  <a:extLst>
                    <a:ext uri="{9D8B030D-6E8A-4147-A177-3AD203B41FA5}">
                      <a16:colId xmlns="" xmlns:a16="http://schemas.microsoft.com/office/drawing/2014/main" val="20002"/>
                    </a:ext>
                  </a:extLst>
                </a:gridCol>
              </a:tblGrid>
              <a:tr h="457200">
                <a:tc>
                  <a:txBody>
                    <a:bodyPr/>
                    <a:lstStyle/>
                    <a:p>
                      <a:pPr marL="0" marR="0">
                        <a:lnSpc>
                          <a:spcPct val="115000"/>
                        </a:lnSpc>
                        <a:spcBef>
                          <a:spcPts val="0"/>
                        </a:spcBef>
                        <a:spcAft>
                          <a:spcPts val="0"/>
                        </a:spcAft>
                      </a:pPr>
                      <a:r>
                        <a:rPr lang="en-US" sz="2400" dirty="0">
                          <a:effectLst/>
                        </a:rPr>
                        <a:t>Old States</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Reading at a</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b</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457200">
                <a:tc>
                  <a:txBody>
                    <a:bodyPr/>
                    <a:lstStyle/>
                    <a:p>
                      <a:pPr marL="0" marR="0">
                        <a:lnSpc>
                          <a:spcPct val="115000"/>
                        </a:lnSpc>
                        <a:spcBef>
                          <a:spcPts val="0"/>
                        </a:spcBef>
                        <a:spcAft>
                          <a:spcPts val="0"/>
                        </a:spcAft>
                      </a:pPr>
                      <a:r>
                        <a:rPr lang="en-US" sz="2400">
                          <a:effectLst/>
                        </a:rPr>
                        <a:t>z1- ≡x1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x2≡ z2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(x5,q0)≡z3</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457200">
                <a:tc>
                  <a:txBody>
                    <a:bodyPr/>
                    <a:lstStyle/>
                    <a:p>
                      <a:pPr marL="0" marR="0">
                        <a:lnSpc>
                          <a:spcPct val="115000"/>
                        </a:lnSpc>
                        <a:spcBef>
                          <a:spcPts val="0"/>
                        </a:spcBef>
                        <a:spcAft>
                          <a:spcPts val="0"/>
                        </a:spcAft>
                      </a:pPr>
                      <a:r>
                        <a:rPr lang="en-US" sz="2400">
                          <a:effectLst/>
                        </a:rPr>
                        <a:t>z2  ≡x2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x3≡ z4</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 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457200">
                <a:tc>
                  <a:txBody>
                    <a:bodyPr/>
                    <a:lstStyle/>
                    <a:p>
                      <a:pPr marL="0" marR="0">
                        <a:lnSpc>
                          <a:spcPct val="115000"/>
                        </a:lnSpc>
                        <a:spcBef>
                          <a:spcPts val="0"/>
                        </a:spcBef>
                        <a:spcAft>
                          <a:spcPts val="0"/>
                        </a:spcAft>
                      </a:pPr>
                      <a:r>
                        <a:rPr lang="en-US" sz="2400" dirty="0">
                          <a:effectLst/>
                        </a:rPr>
                        <a:t>z3+  ≡(x5,q0)</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(x6,q1)≡z6</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(x6,q1)≡z6</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457200">
                <a:tc>
                  <a:txBody>
                    <a:bodyPr/>
                    <a:lstStyle/>
                    <a:p>
                      <a:pPr marL="0" marR="0">
                        <a:lnSpc>
                          <a:spcPct val="115000"/>
                        </a:lnSpc>
                        <a:spcBef>
                          <a:spcPts val="0"/>
                        </a:spcBef>
                        <a:spcAft>
                          <a:spcPts val="0"/>
                        </a:spcAft>
                      </a:pPr>
                      <a:r>
                        <a:rPr lang="en-US" sz="2400">
                          <a:effectLst/>
                        </a:rPr>
                        <a:t>z4  ≡x3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(x4,q0)≡z7</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 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457200">
                <a:tc>
                  <a:txBody>
                    <a:bodyPr/>
                    <a:lstStyle/>
                    <a:p>
                      <a:pPr marL="0" marR="0">
                        <a:lnSpc>
                          <a:spcPct val="115000"/>
                        </a:lnSpc>
                        <a:spcBef>
                          <a:spcPts val="0"/>
                        </a:spcBef>
                        <a:spcAft>
                          <a:spcPts val="0"/>
                        </a:spcAft>
                      </a:pPr>
                      <a:r>
                        <a:rPr lang="en-US" sz="2400">
                          <a:effectLst/>
                        </a:rPr>
                        <a:t>z5  ≡x6</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x6≡z5</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x6≡z5</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r h="457200">
                <a:tc>
                  <a:txBody>
                    <a:bodyPr/>
                    <a:lstStyle/>
                    <a:p>
                      <a:pPr marL="0" marR="0">
                        <a:lnSpc>
                          <a:spcPct val="115000"/>
                        </a:lnSpc>
                        <a:spcBef>
                          <a:spcPts val="0"/>
                        </a:spcBef>
                        <a:spcAft>
                          <a:spcPts val="0"/>
                        </a:spcAft>
                      </a:pPr>
                      <a:r>
                        <a:rPr lang="en-US" sz="2400">
                          <a:effectLst/>
                        </a:rPr>
                        <a:t>z6  ≡( x6,q1)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x6,q3)≡ z8</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x6,q2)≡ z9</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6"/>
                  </a:ext>
                </a:extLst>
              </a:tr>
              <a:tr h="457200">
                <a:tc>
                  <a:txBody>
                    <a:bodyPr/>
                    <a:lstStyle/>
                    <a:p>
                      <a:pPr marL="0" marR="0">
                        <a:lnSpc>
                          <a:spcPct val="115000"/>
                        </a:lnSpc>
                        <a:spcBef>
                          <a:spcPts val="0"/>
                        </a:spcBef>
                        <a:spcAft>
                          <a:spcPts val="0"/>
                        </a:spcAft>
                      </a:pPr>
                      <a:r>
                        <a:rPr lang="en-US" sz="2400">
                          <a:effectLst/>
                        </a:rPr>
                        <a:t>z7+≡( x4,q0)</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x4,q0,q1)≡ z10</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x4,q0,q1)≡ z10</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7"/>
                  </a:ext>
                </a:extLst>
              </a:tr>
              <a:tr h="457200">
                <a:tc>
                  <a:txBody>
                    <a:bodyPr/>
                    <a:lstStyle/>
                    <a:p>
                      <a:pPr marL="0" marR="0">
                        <a:lnSpc>
                          <a:spcPct val="115000"/>
                        </a:lnSpc>
                        <a:spcBef>
                          <a:spcPts val="0"/>
                        </a:spcBef>
                        <a:spcAft>
                          <a:spcPts val="0"/>
                        </a:spcAft>
                      </a:pPr>
                      <a:r>
                        <a:rPr lang="en-US" sz="2400">
                          <a:effectLst/>
                        </a:rPr>
                        <a:t>z8  ≡( x6,q3)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 x6,q3)≡ </a:t>
                      </a:r>
                      <a:r>
                        <a:rPr lang="en-US" sz="2400" dirty="0" smtClean="0">
                          <a:effectLst/>
                        </a:rPr>
                        <a:t>z8</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 x6,q3)≡ z8</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7792393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 y="90055"/>
            <a:ext cx="50482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05400" y="381000"/>
            <a:ext cx="3986096"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2313669576"/>
              </p:ext>
            </p:extLst>
          </p:nvPr>
        </p:nvGraphicFramePr>
        <p:xfrm>
          <a:off x="304801" y="2514600"/>
          <a:ext cx="8758986" cy="4038601"/>
        </p:xfrm>
        <a:graphic>
          <a:graphicData uri="http://schemas.openxmlformats.org/drawingml/2006/table">
            <a:tbl>
              <a:tblPr firstRow="1" firstCol="1" bandRow="1">
                <a:tableStyleId>{5C22544A-7EE6-4342-B048-85BDC9FD1C3A}</a:tableStyleId>
              </a:tblPr>
              <a:tblGrid>
                <a:gridCol w="2919662">
                  <a:extLst>
                    <a:ext uri="{9D8B030D-6E8A-4147-A177-3AD203B41FA5}">
                      <a16:colId xmlns="" xmlns:a16="http://schemas.microsoft.com/office/drawing/2014/main" val="20000"/>
                    </a:ext>
                  </a:extLst>
                </a:gridCol>
                <a:gridCol w="2919662">
                  <a:extLst>
                    <a:ext uri="{9D8B030D-6E8A-4147-A177-3AD203B41FA5}">
                      <a16:colId xmlns="" xmlns:a16="http://schemas.microsoft.com/office/drawing/2014/main" val="20001"/>
                    </a:ext>
                  </a:extLst>
                </a:gridCol>
                <a:gridCol w="2919662">
                  <a:extLst>
                    <a:ext uri="{9D8B030D-6E8A-4147-A177-3AD203B41FA5}">
                      <a16:colId xmlns="" xmlns:a16="http://schemas.microsoft.com/office/drawing/2014/main" val="20002"/>
                    </a:ext>
                  </a:extLst>
                </a:gridCol>
              </a:tblGrid>
              <a:tr h="493304">
                <a:tc>
                  <a:txBody>
                    <a:bodyPr/>
                    <a:lstStyle/>
                    <a:p>
                      <a:pPr marL="0" marR="0">
                        <a:lnSpc>
                          <a:spcPct val="115000"/>
                        </a:lnSpc>
                        <a:spcBef>
                          <a:spcPts val="0"/>
                        </a:spcBef>
                        <a:spcAft>
                          <a:spcPts val="0"/>
                        </a:spcAft>
                      </a:pPr>
                      <a:r>
                        <a:rPr lang="en-US" sz="2400">
                          <a:effectLst/>
                        </a:rPr>
                        <a:t>z9+≡( x6,q2)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x6,q2)≡ z9</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 x6,q2)≡ z9</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493304">
                <a:tc>
                  <a:txBody>
                    <a:bodyPr/>
                    <a:lstStyle/>
                    <a:p>
                      <a:pPr marL="0" marR="0">
                        <a:lnSpc>
                          <a:spcPct val="115000"/>
                        </a:lnSpc>
                        <a:spcBef>
                          <a:spcPts val="0"/>
                        </a:spcBef>
                        <a:spcAft>
                          <a:spcPts val="0"/>
                        </a:spcAft>
                      </a:pPr>
                      <a:r>
                        <a:rPr lang="en-US" sz="2400">
                          <a:effectLst/>
                        </a:rPr>
                        <a:t>z10+ ≡( x4,q0,q1)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(x4,q0,q1,q3)≡ z11</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(x4,q0,q1,q2)≡ z12</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1017331">
                <a:tc>
                  <a:txBody>
                    <a:bodyPr/>
                    <a:lstStyle/>
                    <a:p>
                      <a:pPr marL="0" marR="0">
                        <a:lnSpc>
                          <a:spcPct val="115000"/>
                        </a:lnSpc>
                        <a:spcBef>
                          <a:spcPts val="0"/>
                        </a:spcBef>
                        <a:spcAft>
                          <a:spcPts val="0"/>
                        </a:spcAft>
                      </a:pPr>
                      <a:r>
                        <a:rPr lang="en-US" sz="2400">
                          <a:effectLst/>
                        </a:rPr>
                        <a:t>z11+≡( x4,q0,q1,q3)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(x4,q0,q1,q3,q3</a:t>
                      </a:r>
                      <a:r>
                        <a:rPr lang="en-US" sz="2400" dirty="0" smtClean="0">
                          <a:effectLst/>
                        </a:rPr>
                        <a:t>)= </a:t>
                      </a:r>
                      <a:r>
                        <a:rPr lang="en-US" sz="2400" dirty="0">
                          <a:effectLst/>
                        </a:rPr>
                        <a:t>(x4,q0,q1,q3)≡ z11</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(x4,q0,q1,q2,q3)≡ z13</a:t>
                      </a:r>
                      <a:endParaRPr lang="en-US" sz="24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1017331">
                <a:tc>
                  <a:txBody>
                    <a:bodyPr/>
                    <a:lstStyle/>
                    <a:p>
                      <a:pPr marL="0" marR="0">
                        <a:lnSpc>
                          <a:spcPct val="115000"/>
                        </a:lnSpc>
                        <a:spcBef>
                          <a:spcPts val="0"/>
                        </a:spcBef>
                        <a:spcAft>
                          <a:spcPts val="0"/>
                        </a:spcAft>
                      </a:pPr>
                      <a:r>
                        <a:rPr lang="en-US" sz="2400">
                          <a:effectLst/>
                        </a:rPr>
                        <a:t>z12+≡( x4,q0,q1,q2)</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(x4,q0,q1,q2,q3)≡ z13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(x4,q0,q1,q2,q2</a:t>
                      </a:r>
                      <a:r>
                        <a:rPr lang="en-US" sz="2400" dirty="0" smtClean="0">
                          <a:effectLst/>
                        </a:rPr>
                        <a:t>)=</a:t>
                      </a:r>
                    </a:p>
                    <a:p>
                      <a:pPr marL="0" marR="0">
                        <a:lnSpc>
                          <a:spcPct val="115000"/>
                        </a:lnSpc>
                        <a:spcBef>
                          <a:spcPts val="0"/>
                        </a:spcBef>
                        <a:spcAft>
                          <a:spcPts val="0"/>
                        </a:spcAft>
                      </a:pPr>
                      <a:r>
                        <a:rPr lang="en-US" sz="2400" dirty="0" smtClean="0">
                          <a:effectLst/>
                        </a:rPr>
                        <a:t>(</a:t>
                      </a:r>
                      <a:r>
                        <a:rPr lang="en-US" sz="2400" dirty="0">
                          <a:effectLst/>
                        </a:rPr>
                        <a:t>x4,q0,q1,q2)≡z12</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1017331">
                <a:tc>
                  <a:txBody>
                    <a:bodyPr/>
                    <a:lstStyle/>
                    <a:p>
                      <a:pPr marL="0" marR="0">
                        <a:lnSpc>
                          <a:spcPct val="115000"/>
                        </a:lnSpc>
                        <a:spcBef>
                          <a:spcPts val="0"/>
                        </a:spcBef>
                        <a:spcAft>
                          <a:spcPts val="0"/>
                        </a:spcAft>
                      </a:pPr>
                      <a:r>
                        <a:rPr lang="en-US" sz="2400">
                          <a:effectLst/>
                        </a:rPr>
                        <a:t>z13+≡( x4,q0,q1,q2,q3)</a:t>
                      </a:r>
                      <a:endParaRPr lang="en-US" sz="24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(x4,q0,q1,q3,q2,q3</a:t>
                      </a:r>
                      <a:r>
                        <a:rPr lang="en-US" sz="2400" dirty="0" smtClean="0">
                          <a:effectLst/>
                        </a:rPr>
                        <a:t>)=</a:t>
                      </a:r>
                      <a:endParaRPr lang="en-US" sz="2400" dirty="0">
                        <a:effectLst/>
                      </a:endParaRPr>
                    </a:p>
                    <a:p>
                      <a:pPr marL="0" marR="0">
                        <a:lnSpc>
                          <a:spcPct val="115000"/>
                        </a:lnSpc>
                        <a:spcBef>
                          <a:spcPts val="0"/>
                        </a:spcBef>
                        <a:spcAft>
                          <a:spcPts val="0"/>
                        </a:spcAft>
                      </a:pPr>
                      <a:r>
                        <a:rPr lang="en-US" sz="2400" dirty="0">
                          <a:effectLst/>
                        </a:rPr>
                        <a:t>(x4,q0,q1,q2,q3)≡z13</a:t>
                      </a:r>
                      <a:endParaRPr lang="en-US" sz="24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(x4,q0,q1,q2,q2,q3</a:t>
                      </a:r>
                      <a:r>
                        <a:rPr lang="en-US" sz="2400" dirty="0" smtClean="0">
                          <a:effectLst/>
                        </a:rPr>
                        <a:t>)= </a:t>
                      </a:r>
                      <a:endParaRPr lang="en-US" sz="2400" dirty="0">
                        <a:effectLst/>
                      </a:endParaRPr>
                    </a:p>
                    <a:p>
                      <a:pPr marL="0" marR="0">
                        <a:lnSpc>
                          <a:spcPct val="115000"/>
                        </a:lnSpc>
                        <a:spcBef>
                          <a:spcPts val="0"/>
                        </a:spcBef>
                        <a:spcAft>
                          <a:spcPts val="0"/>
                        </a:spcAft>
                      </a:pPr>
                      <a:r>
                        <a:rPr lang="en-US" sz="2400" dirty="0">
                          <a:effectLst/>
                        </a:rPr>
                        <a:t>(x4,q0,q1,q2,q3)≡z13</a:t>
                      </a:r>
                      <a:endParaRPr lang="en-US" sz="24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38793933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676400"/>
            <a:ext cx="7761905" cy="3457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1006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(concatenation)</a:t>
            </a:r>
            <a:endParaRPr lang="en-US" dirty="0"/>
          </a:p>
        </p:txBody>
      </p:sp>
      <p:sp>
        <p:nvSpPr>
          <p:cNvPr id="3" name="Content Placeholder 2"/>
          <p:cNvSpPr>
            <a:spLocks noGrp="1"/>
          </p:cNvSpPr>
          <p:nvPr>
            <p:ph idx="1"/>
          </p:nvPr>
        </p:nvSpPr>
        <p:spPr/>
        <p:txBody>
          <a:bodyPr/>
          <a:lstStyle/>
          <a:p>
            <a:r>
              <a:rPr lang="en-US" dirty="0" smtClean="0"/>
              <a:t>Find FA3FA2 for the following:</a:t>
            </a:r>
          </a:p>
          <a:p>
            <a:endParaRPr lang="en-US" dirty="0"/>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2971800"/>
            <a:ext cx="50482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66607" y="3415145"/>
            <a:ext cx="402717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150" y="0"/>
            <a:ext cx="5245478" cy="2395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Table 2"/>
          <p:cNvGraphicFramePr>
            <a:graphicFrameLocks noGrp="1"/>
          </p:cNvGraphicFramePr>
          <p:nvPr>
            <p:extLst>
              <p:ext uri="{D42A27DB-BD31-4B8C-83A1-F6EECF244321}">
                <p14:modId xmlns:p14="http://schemas.microsoft.com/office/powerpoint/2010/main" val="1034025594"/>
              </p:ext>
            </p:extLst>
          </p:nvPr>
        </p:nvGraphicFramePr>
        <p:xfrm>
          <a:off x="57151" y="2395105"/>
          <a:ext cx="8885436" cy="4532592"/>
        </p:xfrm>
        <a:graphic>
          <a:graphicData uri="http://schemas.openxmlformats.org/drawingml/2006/table">
            <a:tbl>
              <a:tblPr firstRow="1" firstCol="1" bandRow="1">
                <a:tableStyleId>{5C22544A-7EE6-4342-B048-85BDC9FD1C3A}</a:tableStyleId>
              </a:tblPr>
              <a:tblGrid>
                <a:gridCol w="2961812">
                  <a:extLst>
                    <a:ext uri="{9D8B030D-6E8A-4147-A177-3AD203B41FA5}">
                      <a16:colId xmlns="" xmlns:a16="http://schemas.microsoft.com/office/drawing/2014/main" val="20000"/>
                    </a:ext>
                  </a:extLst>
                </a:gridCol>
                <a:gridCol w="2961812">
                  <a:extLst>
                    <a:ext uri="{9D8B030D-6E8A-4147-A177-3AD203B41FA5}">
                      <a16:colId xmlns="" xmlns:a16="http://schemas.microsoft.com/office/drawing/2014/main" val="20001"/>
                    </a:ext>
                  </a:extLst>
                </a:gridCol>
                <a:gridCol w="2961812">
                  <a:extLst>
                    <a:ext uri="{9D8B030D-6E8A-4147-A177-3AD203B41FA5}">
                      <a16:colId xmlns="" xmlns:a16="http://schemas.microsoft.com/office/drawing/2014/main" val="20002"/>
                    </a:ext>
                  </a:extLst>
                </a:gridCol>
              </a:tblGrid>
              <a:tr h="478944">
                <a:tc>
                  <a:txBody>
                    <a:bodyPr/>
                    <a:lstStyle/>
                    <a:p>
                      <a:pPr marL="0" marR="0">
                        <a:lnSpc>
                          <a:spcPct val="115000"/>
                        </a:lnSpc>
                        <a:spcBef>
                          <a:spcPts val="0"/>
                        </a:spcBef>
                        <a:spcAft>
                          <a:spcPts val="0"/>
                        </a:spcAft>
                      </a:pPr>
                      <a:r>
                        <a:rPr lang="en-US" sz="2000" dirty="0">
                          <a:effectLst/>
                        </a:rPr>
                        <a:t>Old States</a:t>
                      </a:r>
                      <a:endParaRPr lang="en-US" sz="20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Reading at a</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Reading at b</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478944">
                <a:tc>
                  <a:txBody>
                    <a:bodyPr/>
                    <a:lstStyle/>
                    <a:p>
                      <a:pPr marL="0" marR="0">
                        <a:lnSpc>
                          <a:spcPct val="115000"/>
                        </a:lnSpc>
                        <a:spcBef>
                          <a:spcPts val="0"/>
                        </a:spcBef>
                        <a:spcAft>
                          <a:spcPts val="0"/>
                        </a:spcAft>
                      </a:pPr>
                      <a:r>
                        <a:rPr lang="en-US" sz="2000">
                          <a:effectLst/>
                        </a:rPr>
                        <a:t>z1- ≡x1</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x2≡ z2</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(x5,p0)≡ z3</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478944">
                <a:tc>
                  <a:txBody>
                    <a:bodyPr/>
                    <a:lstStyle/>
                    <a:p>
                      <a:pPr marL="0" marR="0">
                        <a:lnSpc>
                          <a:spcPct val="115000"/>
                        </a:lnSpc>
                        <a:spcBef>
                          <a:spcPts val="0"/>
                        </a:spcBef>
                        <a:spcAft>
                          <a:spcPts val="0"/>
                        </a:spcAft>
                      </a:pPr>
                      <a:r>
                        <a:rPr lang="en-US" sz="2000">
                          <a:effectLst/>
                        </a:rPr>
                        <a:t>z2  ≡x2</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x3≡ z4</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x6≡ z5</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478944">
                <a:tc>
                  <a:txBody>
                    <a:bodyPr/>
                    <a:lstStyle/>
                    <a:p>
                      <a:pPr marL="0" marR="0">
                        <a:lnSpc>
                          <a:spcPct val="115000"/>
                        </a:lnSpc>
                        <a:spcBef>
                          <a:spcPts val="0"/>
                        </a:spcBef>
                        <a:spcAft>
                          <a:spcPts val="0"/>
                        </a:spcAft>
                      </a:pPr>
                      <a:r>
                        <a:rPr lang="en-US" sz="2000">
                          <a:effectLst/>
                        </a:rPr>
                        <a:t>z3+≡(x5,p0)</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x6,p1)≡z6</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x6,p1)≡z6</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478944">
                <a:tc>
                  <a:txBody>
                    <a:bodyPr/>
                    <a:lstStyle/>
                    <a:p>
                      <a:pPr marL="0" marR="0">
                        <a:lnSpc>
                          <a:spcPct val="115000"/>
                        </a:lnSpc>
                        <a:spcBef>
                          <a:spcPts val="0"/>
                        </a:spcBef>
                        <a:spcAft>
                          <a:spcPts val="0"/>
                        </a:spcAft>
                      </a:pPr>
                      <a:r>
                        <a:rPr lang="en-US" sz="2000">
                          <a:effectLst/>
                        </a:rPr>
                        <a:t>z4  ≡x3</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x4,p0)≡z7</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x6≡z5</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r h="478944">
                <a:tc>
                  <a:txBody>
                    <a:bodyPr/>
                    <a:lstStyle/>
                    <a:p>
                      <a:pPr marL="0" marR="0">
                        <a:lnSpc>
                          <a:spcPct val="115000"/>
                        </a:lnSpc>
                        <a:spcBef>
                          <a:spcPts val="0"/>
                        </a:spcBef>
                        <a:spcAft>
                          <a:spcPts val="0"/>
                        </a:spcAft>
                      </a:pPr>
                      <a:r>
                        <a:rPr lang="en-US" sz="2000">
                          <a:effectLst/>
                        </a:rPr>
                        <a:t>z5  ≡x6</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x6≡z5</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x6≡z5</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5"/>
                  </a:ext>
                </a:extLst>
              </a:tr>
              <a:tr h="478944">
                <a:tc>
                  <a:txBody>
                    <a:bodyPr/>
                    <a:lstStyle/>
                    <a:p>
                      <a:pPr marL="0" marR="0">
                        <a:lnSpc>
                          <a:spcPct val="115000"/>
                        </a:lnSpc>
                        <a:spcBef>
                          <a:spcPts val="0"/>
                        </a:spcBef>
                        <a:spcAft>
                          <a:spcPts val="0"/>
                        </a:spcAft>
                      </a:pPr>
                      <a:r>
                        <a:rPr lang="en-US" sz="2000">
                          <a:effectLst/>
                        </a:rPr>
                        <a:t>z6+≡( x6,p1)</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x6,p1)≡z6</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x6,p1)≡z6</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6"/>
                  </a:ext>
                </a:extLst>
              </a:tr>
              <a:tr h="478944">
                <a:tc>
                  <a:txBody>
                    <a:bodyPr/>
                    <a:lstStyle/>
                    <a:p>
                      <a:pPr marL="0" marR="0">
                        <a:lnSpc>
                          <a:spcPct val="115000"/>
                        </a:lnSpc>
                        <a:spcBef>
                          <a:spcPts val="0"/>
                        </a:spcBef>
                        <a:spcAft>
                          <a:spcPts val="0"/>
                        </a:spcAft>
                      </a:pPr>
                      <a:r>
                        <a:rPr lang="en-US" sz="2000">
                          <a:effectLst/>
                        </a:rPr>
                        <a:t>z7+≡( x4,p0)</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x4,p0,p1)≡ z8</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 x4,p0,p1)≡ z8</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7"/>
                  </a:ext>
                </a:extLst>
              </a:tr>
              <a:tr h="478944">
                <a:tc>
                  <a:txBody>
                    <a:bodyPr/>
                    <a:lstStyle/>
                    <a:p>
                      <a:pPr marL="0" marR="0">
                        <a:lnSpc>
                          <a:spcPct val="115000"/>
                        </a:lnSpc>
                        <a:spcBef>
                          <a:spcPts val="0"/>
                        </a:spcBef>
                        <a:spcAft>
                          <a:spcPts val="0"/>
                        </a:spcAft>
                      </a:pPr>
                      <a:r>
                        <a:rPr lang="en-US" sz="2000">
                          <a:effectLst/>
                        </a:rPr>
                        <a:t>z8+≡( x4,p0,p1)</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rPr>
                        <a:t>( </a:t>
                      </a:r>
                      <a:r>
                        <a:rPr lang="en-US" sz="2000" dirty="0" smtClean="0">
                          <a:effectLst/>
                        </a:rPr>
                        <a:t>x4,p0,p1,p1)= </a:t>
                      </a:r>
                      <a:r>
                        <a:rPr lang="en-US" sz="2000" dirty="0">
                          <a:effectLst/>
                        </a:rPr>
                        <a:t>( x4,p0,p1)≡z8</a:t>
                      </a:r>
                      <a:endParaRPr lang="en-US" sz="20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rPr>
                        <a:t>( </a:t>
                      </a:r>
                      <a:r>
                        <a:rPr lang="en-US" sz="2000" dirty="0" smtClean="0">
                          <a:effectLst/>
                        </a:rPr>
                        <a:t>x4,p0,p1,p1)= </a:t>
                      </a:r>
                      <a:r>
                        <a:rPr lang="en-US" sz="2000" dirty="0">
                          <a:effectLst/>
                        </a:rPr>
                        <a:t>( x4,p0,p1)≡z8</a:t>
                      </a:r>
                      <a:endParaRPr lang="en-US" sz="20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8"/>
                  </a:ext>
                </a:extLst>
              </a:tr>
            </a:tbl>
          </a:graphicData>
        </a:graphic>
      </p:graphicFrame>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533400"/>
            <a:ext cx="3760987" cy="154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9653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58" y="1581150"/>
            <a:ext cx="9036567"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900241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1143000"/>
          </a:xfrm>
        </p:spPr>
        <p:txBody>
          <a:bodyPr>
            <a:normAutofit/>
          </a:bodyPr>
          <a:lstStyle/>
          <a:p>
            <a:r>
              <a:rPr lang="en-US" dirty="0" smtClean="0"/>
              <a:t>Kleene </a:t>
            </a:r>
            <a:r>
              <a:rPr lang="en-US" dirty="0" smtClean="0"/>
              <a:t>Theorem </a:t>
            </a:r>
            <a:r>
              <a:rPr lang="en-US" dirty="0" smtClean="0"/>
              <a:t>(Closure) </a:t>
            </a:r>
            <a:endParaRPr lang="en-US" dirty="0"/>
          </a:p>
        </p:txBody>
      </p:sp>
      <p:sp>
        <p:nvSpPr>
          <p:cNvPr id="3" name="Content Placeholder 2"/>
          <p:cNvSpPr>
            <a:spLocks noGrp="1"/>
          </p:cNvSpPr>
          <p:nvPr>
            <p:ph idx="1"/>
          </p:nvPr>
        </p:nvSpPr>
        <p:spPr>
          <a:xfrm>
            <a:off x="0" y="1295400"/>
            <a:ext cx="9144000" cy="5334000"/>
          </a:xfrm>
        </p:spPr>
        <p:txBody>
          <a:bodyPr>
            <a:normAutofit fontScale="77500" lnSpcReduction="20000"/>
          </a:bodyPr>
          <a:lstStyle/>
          <a:p>
            <a:r>
              <a:rPr lang="en-US" dirty="0" smtClean="0"/>
              <a:t>If r1 represents a regular expression and r1* the closure of the r1. Similarly, if FA1 corresponds to r1 then FA1* should correspond to closure of r1. </a:t>
            </a:r>
          </a:p>
          <a:p>
            <a:r>
              <a:rPr lang="en-US" dirty="0" smtClean="0"/>
              <a:t>Start by taking the first FA’s and traversing on each input symbol in the respective FA. </a:t>
            </a:r>
          </a:p>
          <a:p>
            <a:r>
              <a:rPr lang="en-US" dirty="0" smtClean="0"/>
              <a:t>Since one initial state is allowed in FA, therefore, only one state can be marked as initial state. Further, the initial state is marked final by default, in order to accommodate NULL string. </a:t>
            </a:r>
          </a:p>
          <a:p>
            <a:r>
              <a:rPr lang="en-US" dirty="0" smtClean="0"/>
              <a:t>During the process, any state found final,  the resultant state will be final. Further, the same FA initial state will be concatenated through its final state. The new state will be marked as final. </a:t>
            </a:r>
          </a:p>
          <a:p>
            <a:r>
              <a:rPr lang="en-US" dirty="0" smtClean="0"/>
              <a:t>The final state of the FA  will always be combined with the initial state of the FA. </a:t>
            </a:r>
            <a:endParaRPr lang="en-US" dirty="0"/>
          </a:p>
        </p:txBody>
      </p:sp>
    </p:spTree>
    <p:extLst>
      <p:ext uri="{BB962C8B-B14F-4D97-AF65-F5344CB8AC3E}">
        <p14:creationId xmlns:p14="http://schemas.microsoft.com/office/powerpoint/2010/main" val="41025631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34636" y="3429000"/>
          <a:ext cx="8763000" cy="2971800"/>
        </p:xfrm>
        <a:graphic>
          <a:graphicData uri="http://schemas.openxmlformats.org/drawingml/2006/table">
            <a:tbl>
              <a:tblPr firstRow="1" firstCol="1" bandRow="1">
                <a:tableStyleId>{5C22544A-7EE6-4342-B048-85BDC9FD1C3A}</a:tableStyleId>
              </a:tblPr>
              <a:tblGrid>
                <a:gridCol w="2921000">
                  <a:extLst>
                    <a:ext uri="{9D8B030D-6E8A-4147-A177-3AD203B41FA5}">
                      <a16:colId xmlns="" xmlns:a16="http://schemas.microsoft.com/office/drawing/2014/main" val="20000"/>
                    </a:ext>
                  </a:extLst>
                </a:gridCol>
                <a:gridCol w="2921000">
                  <a:extLst>
                    <a:ext uri="{9D8B030D-6E8A-4147-A177-3AD203B41FA5}">
                      <a16:colId xmlns="" xmlns:a16="http://schemas.microsoft.com/office/drawing/2014/main" val="20001"/>
                    </a:ext>
                  </a:extLst>
                </a:gridCol>
                <a:gridCol w="2921000">
                  <a:extLst>
                    <a:ext uri="{9D8B030D-6E8A-4147-A177-3AD203B41FA5}">
                      <a16:colId xmlns="" xmlns:a16="http://schemas.microsoft.com/office/drawing/2014/main" val="20002"/>
                    </a:ext>
                  </a:extLst>
                </a:gridCol>
              </a:tblGrid>
              <a:tr h="594360">
                <a:tc>
                  <a:txBody>
                    <a:bodyPr/>
                    <a:lstStyle/>
                    <a:p>
                      <a:pPr marL="0" marR="0">
                        <a:lnSpc>
                          <a:spcPct val="115000"/>
                        </a:lnSpc>
                        <a:spcBef>
                          <a:spcPts val="0"/>
                        </a:spcBef>
                        <a:spcAft>
                          <a:spcPts val="0"/>
                        </a:spcAft>
                      </a:pPr>
                      <a:r>
                        <a:rPr lang="en-US" sz="2400" dirty="0">
                          <a:effectLst/>
                        </a:rPr>
                        <a:t>Old States</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Reading at a</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Reading at b</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594360">
                <a:tc>
                  <a:txBody>
                    <a:bodyPr/>
                    <a:lstStyle/>
                    <a:p>
                      <a:pPr marL="0" marR="0">
                        <a:lnSpc>
                          <a:spcPct val="115000"/>
                        </a:lnSpc>
                        <a:spcBef>
                          <a:spcPts val="0"/>
                        </a:spcBef>
                        <a:spcAft>
                          <a:spcPts val="0"/>
                        </a:spcAft>
                      </a:pPr>
                      <a:r>
                        <a:rPr lang="en-US" sz="2400">
                          <a:effectLst/>
                        </a:rPr>
                        <a:t>z1±≡q0</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q1≡z2</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smtClean="0">
                          <a:effectLst/>
                        </a:rPr>
                        <a:t>q3≡</a:t>
                      </a:r>
                      <a:r>
                        <a:rPr lang="en-US" sz="2400" dirty="0">
                          <a:effectLst/>
                        </a:rPr>
                        <a:t>z3</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594360">
                <a:tc>
                  <a:txBody>
                    <a:bodyPr/>
                    <a:lstStyle/>
                    <a:p>
                      <a:pPr marL="0" marR="0">
                        <a:lnSpc>
                          <a:spcPct val="115000"/>
                        </a:lnSpc>
                        <a:spcBef>
                          <a:spcPts val="0"/>
                        </a:spcBef>
                        <a:spcAft>
                          <a:spcPts val="0"/>
                        </a:spcAft>
                      </a:pPr>
                      <a:r>
                        <a:rPr lang="en-US" sz="2400" dirty="0">
                          <a:effectLst/>
                        </a:rPr>
                        <a:t>z2  ≡q1</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 q0)≡z4</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(q4, q0)≡z5</a:t>
                      </a:r>
                      <a:endParaRPr lang="en-US" sz="240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r h="594360">
                <a:tc>
                  <a:txBody>
                    <a:bodyPr/>
                    <a:lstStyle/>
                    <a:p>
                      <a:pPr marL="0" marR="0">
                        <a:lnSpc>
                          <a:spcPct val="115000"/>
                        </a:lnSpc>
                        <a:spcBef>
                          <a:spcPts val="0"/>
                        </a:spcBef>
                        <a:spcAft>
                          <a:spcPts val="0"/>
                        </a:spcAft>
                      </a:pPr>
                      <a:r>
                        <a:rPr lang="en-US" sz="2400" dirty="0">
                          <a:effectLst/>
                        </a:rPr>
                        <a:t>z3  </a:t>
                      </a:r>
                      <a:r>
                        <a:rPr lang="en-US" sz="2400" dirty="0" smtClean="0">
                          <a:effectLst/>
                        </a:rPr>
                        <a:t>≡q3</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smtClean="0">
                          <a:effectLst/>
                        </a:rPr>
                        <a:t>(q1,q1)≡q1</a:t>
                      </a:r>
                      <a:r>
                        <a:rPr lang="en-US" sz="2400" dirty="0">
                          <a:effectLst/>
                        </a:rPr>
                        <a:t>≡z2</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(q4, </a:t>
                      </a:r>
                      <a:r>
                        <a:rPr lang="en-US" sz="2400" dirty="0" smtClean="0">
                          <a:effectLst/>
                        </a:rPr>
                        <a:t>q0)</a:t>
                      </a:r>
                      <a:r>
                        <a:rPr lang="en-US" sz="2400" dirty="0">
                          <a:effectLst/>
                        </a:rPr>
                        <a:t>≡</a:t>
                      </a:r>
                      <a:r>
                        <a:rPr lang="en-US" sz="2400" dirty="0" smtClean="0">
                          <a:effectLst/>
                        </a:rPr>
                        <a:t>z5</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3"/>
                  </a:ext>
                </a:extLst>
              </a:tr>
              <a:tr h="594360">
                <a:tc>
                  <a:txBody>
                    <a:bodyPr/>
                    <a:lstStyle/>
                    <a:p>
                      <a:pPr marL="0" marR="0">
                        <a:lnSpc>
                          <a:spcPct val="115000"/>
                        </a:lnSpc>
                        <a:spcBef>
                          <a:spcPts val="0"/>
                        </a:spcBef>
                        <a:spcAft>
                          <a:spcPts val="0"/>
                        </a:spcAft>
                      </a:pPr>
                      <a:r>
                        <a:rPr lang="en-US" sz="2400">
                          <a:effectLst/>
                        </a:rPr>
                        <a:t>z4+≡ (q2, q0)</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 q0,q1)≡z6</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a:t>
                      </a:r>
                      <a:r>
                        <a:rPr lang="en-US" sz="2400" dirty="0" smtClean="0">
                          <a:effectLst/>
                        </a:rPr>
                        <a:t>q3,q3)</a:t>
                      </a:r>
                      <a:r>
                        <a:rPr lang="en-US" sz="2400" dirty="0">
                          <a:effectLst/>
                        </a:rPr>
                        <a:t>≡ </a:t>
                      </a:r>
                      <a:r>
                        <a:rPr lang="en-US" sz="2400" dirty="0" smtClean="0">
                          <a:effectLst/>
                        </a:rPr>
                        <a:t>q3≡</a:t>
                      </a:r>
                      <a:r>
                        <a:rPr lang="en-US" sz="2400" dirty="0">
                          <a:effectLst/>
                        </a:rPr>
                        <a:t>z3</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4"/>
                  </a:ext>
                </a:extLst>
              </a:tr>
            </a:tbl>
          </a:graphicData>
        </a:graphic>
      </p:graphicFrame>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228600"/>
            <a:ext cx="4924425" cy="2942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35440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nvPr>
        </p:nvGraphicFramePr>
        <p:xfrm>
          <a:off x="381000" y="3200400"/>
          <a:ext cx="8595360" cy="3429000"/>
        </p:xfrm>
        <a:graphic>
          <a:graphicData uri="http://schemas.openxmlformats.org/drawingml/2006/table">
            <a:tbl>
              <a:tblPr firstRow="1" firstCol="1" bandRow="1">
                <a:tableStyleId>{5C22544A-7EE6-4342-B048-85BDC9FD1C3A}</a:tableStyleId>
              </a:tblPr>
              <a:tblGrid>
                <a:gridCol w="2865120">
                  <a:extLst>
                    <a:ext uri="{9D8B030D-6E8A-4147-A177-3AD203B41FA5}">
                      <a16:colId xmlns="" xmlns:a16="http://schemas.microsoft.com/office/drawing/2014/main" val="20000"/>
                    </a:ext>
                  </a:extLst>
                </a:gridCol>
                <a:gridCol w="2865120">
                  <a:extLst>
                    <a:ext uri="{9D8B030D-6E8A-4147-A177-3AD203B41FA5}">
                      <a16:colId xmlns="" xmlns:a16="http://schemas.microsoft.com/office/drawing/2014/main" val="20001"/>
                    </a:ext>
                  </a:extLst>
                </a:gridCol>
                <a:gridCol w="2865120">
                  <a:extLst>
                    <a:ext uri="{9D8B030D-6E8A-4147-A177-3AD203B41FA5}">
                      <a16:colId xmlns="" xmlns:a16="http://schemas.microsoft.com/office/drawing/2014/main" val="20002"/>
                    </a:ext>
                  </a:extLst>
                </a:gridCol>
              </a:tblGrid>
              <a:tr h="669130">
                <a:tc>
                  <a:txBody>
                    <a:bodyPr/>
                    <a:lstStyle/>
                    <a:p>
                      <a:pPr marL="0" marR="0">
                        <a:lnSpc>
                          <a:spcPct val="115000"/>
                        </a:lnSpc>
                        <a:spcBef>
                          <a:spcPts val="0"/>
                        </a:spcBef>
                        <a:spcAft>
                          <a:spcPts val="0"/>
                        </a:spcAft>
                      </a:pPr>
                      <a:r>
                        <a:rPr lang="en-US" sz="2400" dirty="0">
                          <a:effectLst/>
                        </a:rPr>
                        <a:t>z5+≡ (q4, q0)</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(q1,q1)≡ q1≡z2</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a:t>
                      </a:r>
                      <a:r>
                        <a:rPr lang="en-US" sz="2400" dirty="0" smtClean="0">
                          <a:effectLst/>
                        </a:rPr>
                        <a:t>q4,q0,q3)≡</a:t>
                      </a:r>
                      <a:r>
                        <a:rPr lang="en-US" sz="2400" dirty="0">
                          <a:effectLst/>
                        </a:rPr>
                        <a:t>z7</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1379935">
                <a:tc>
                  <a:txBody>
                    <a:bodyPr/>
                    <a:lstStyle/>
                    <a:p>
                      <a:pPr marL="0" marR="0">
                        <a:lnSpc>
                          <a:spcPct val="115000"/>
                        </a:lnSpc>
                        <a:spcBef>
                          <a:spcPts val="0"/>
                        </a:spcBef>
                        <a:spcAft>
                          <a:spcPts val="0"/>
                        </a:spcAft>
                      </a:pPr>
                      <a:r>
                        <a:rPr lang="en-US" sz="2400" dirty="0">
                          <a:effectLst/>
                        </a:rPr>
                        <a:t>z6+≡ (q2, q0,q1)</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(q2, q0,q1,q2, q0)≡(q2, q0,q1)≡z6</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a:t>
                      </a:r>
                      <a:r>
                        <a:rPr lang="en-US" sz="2400" dirty="0" smtClean="0">
                          <a:effectLst/>
                        </a:rPr>
                        <a:t>q3,q3,q4,q0</a:t>
                      </a:r>
                      <a:r>
                        <a:rPr lang="en-US" sz="2400" dirty="0">
                          <a:effectLst/>
                        </a:rPr>
                        <a:t>)≡(q4,q0,q3)≡z7</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1379935">
                <a:tc>
                  <a:txBody>
                    <a:bodyPr/>
                    <a:lstStyle/>
                    <a:p>
                      <a:pPr marL="0" marR="0">
                        <a:lnSpc>
                          <a:spcPct val="115000"/>
                        </a:lnSpc>
                        <a:spcBef>
                          <a:spcPts val="0"/>
                        </a:spcBef>
                        <a:spcAft>
                          <a:spcPts val="0"/>
                        </a:spcAft>
                      </a:pPr>
                      <a:r>
                        <a:rPr lang="en-US" sz="2400">
                          <a:effectLst/>
                        </a:rPr>
                        <a:t>z7+≡ (q4,q0,q3)</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(q1,q1q1)≡q1≡z2</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a:t>
                      </a:r>
                      <a:r>
                        <a:rPr lang="en-US" sz="2400" dirty="0" smtClean="0">
                          <a:effectLst/>
                        </a:rPr>
                        <a:t>q4,q0,q3,q4,q0</a:t>
                      </a:r>
                      <a:r>
                        <a:rPr lang="en-US" sz="2400" dirty="0">
                          <a:effectLst/>
                        </a:rPr>
                        <a:t>,)≡(q4,q0,q3)≡z7</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bl>
          </a:graphicData>
        </a:graphic>
      </p:graphicFrame>
      <p:sp>
        <p:nvSpPr>
          <p:cNvPr id="5" name="Rectangle 1"/>
          <p:cNvSpPr>
            <a:spLocks noChangeArrowheads="1"/>
          </p:cNvSpPr>
          <p:nvPr/>
        </p:nvSpPr>
        <p:spPr bwMode="auto">
          <a:xfrm>
            <a:off x="1531938" y="33813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228600"/>
            <a:ext cx="4756150" cy="2841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168154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7863" y="1219200"/>
            <a:ext cx="7805587"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48306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nvPr>
        </p:nvGraphicFramePr>
        <p:xfrm>
          <a:off x="762000" y="2857500"/>
          <a:ext cx="7299960" cy="2103120"/>
        </p:xfrm>
        <a:graphic>
          <a:graphicData uri="http://schemas.openxmlformats.org/drawingml/2006/table">
            <a:tbl>
              <a:tblPr firstRow="1" firstCol="1" bandRow="1">
                <a:tableStyleId>{5C22544A-7EE6-4342-B048-85BDC9FD1C3A}</a:tableStyleId>
              </a:tblPr>
              <a:tblGrid>
                <a:gridCol w="2433320">
                  <a:extLst>
                    <a:ext uri="{9D8B030D-6E8A-4147-A177-3AD203B41FA5}">
                      <a16:colId xmlns="" xmlns:a16="http://schemas.microsoft.com/office/drawing/2014/main" val="20000"/>
                    </a:ext>
                  </a:extLst>
                </a:gridCol>
                <a:gridCol w="2433320">
                  <a:extLst>
                    <a:ext uri="{9D8B030D-6E8A-4147-A177-3AD203B41FA5}">
                      <a16:colId xmlns="" xmlns:a16="http://schemas.microsoft.com/office/drawing/2014/main" val="20001"/>
                    </a:ext>
                  </a:extLst>
                </a:gridCol>
                <a:gridCol w="2433320">
                  <a:extLst>
                    <a:ext uri="{9D8B030D-6E8A-4147-A177-3AD203B41FA5}">
                      <a16:colId xmlns="" xmlns:a16="http://schemas.microsoft.com/office/drawing/2014/main" val="20002"/>
                    </a:ext>
                  </a:extLst>
                </a:gridCol>
              </a:tblGrid>
              <a:tr h="303151">
                <a:tc>
                  <a:txBody>
                    <a:bodyPr/>
                    <a:lstStyle/>
                    <a:p>
                      <a:pPr marL="0" marR="0">
                        <a:lnSpc>
                          <a:spcPct val="115000"/>
                        </a:lnSpc>
                        <a:spcBef>
                          <a:spcPts val="0"/>
                        </a:spcBef>
                        <a:spcAft>
                          <a:spcPts val="0"/>
                        </a:spcAft>
                      </a:pPr>
                      <a:r>
                        <a:rPr lang="en-US" sz="2000" dirty="0">
                          <a:effectLst/>
                        </a:rPr>
                        <a:t>Old States</a:t>
                      </a:r>
                      <a:endParaRPr lang="en-US" sz="20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Reading at a</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Reading at b</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0"/>
                  </a:ext>
                </a:extLst>
              </a:tr>
              <a:tr h="303151">
                <a:tc>
                  <a:txBody>
                    <a:bodyPr/>
                    <a:lstStyle/>
                    <a:p>
                      <a:pPr marL="0" marR="0">
                        <a:lnSpc>
                          <a:spcPct val="115000"/>
                        </a:lnSpc>
                        <a:spcBef>
                          <a:spcPts val="0"/>
                        </a:spcBef>
                        <a:spcAft>
                          <a:spcPts val="0"/>
                        </a:spcAft>
                      </a:pPr>
                      <a:r>
                        <a:rPr lang="en-US" sz="2000">
                          <a:effectLst/>
                        </a:rPr>
                        <a:t>z1±≡q0</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q1≡z2</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(q3, q0)≡z3</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1"/>
                  </a:ext>
                </a:extLst>
              </a:tr>
              <a:tr h="303151">
                <a:tc>
                  <a:txBody>
                    <a:bodyPr/>
                    <a:lstStyle/>
                    <a:p>
                      <a:pPr marL="0" marR="0">
                        <a:lnSpc>
                          <a:spcPct val="115000"/>
                        </a:lnSpc>
                        <a:spcBef>
                          <a:spcPts val="0"/>
                        </a:spcBef>
                        <a:spcAft>
                          <a:spcPts val="0"/>
                        </a:spcAft>
                      </a:pPr>
                      <a:r>
                        <a:rPr lang="en-US" sz="2000">
                          <a:effectLst/>
                        </a:rPr>
                        <a:t>z2  ≡q1</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(q2, q0)≡z4</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(q4, q0)≡z5</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2"/>
                  </a:ext>
                </a:extLst>
              </a:tr>
              <a:tr h="303151">
                <a:tc>
                  <a:txBody>
                    <a:bodyPr/>
                    <a:lstStyle/>
                    <a:p>
                      <a:pPr marL="0" marR="0">
                        <a:lnSpc>
                          <a:spcPct val="115000"/>
                        </a:lnSpc>
                        <a:spcBef>
                          <a:spcPts val="0"/>
                        </a:spcBef>
                        <a:spcAft>
                          <a:spcPts val="0"/>
                        </a:spcAft>
                      </a:pPr>
                      <a:r>
                        <a:rPr lang="en-US" sz="2000">
                          <a:effectLst/>
                        </a:rPr>
                        <a:t>z3  ≡(q3, q0)</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(q1,q1)≡q1≡z2</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a:effectLst/>
                        </a:rPr>
                        <a:t>(q4, q0,q1)≡z6</a:t>
                      </a:r>
                      <a:endParaRPr lang="en-US" sz="2000">
                        <a:effectLst/>
                        <a:latin typeface="Calibri"/>
                        <a:ea typeface="Calibri"/>
                        <a:cs typeface="Times New Roman"/>
                      </a:endParaRPr>
                    </a:p>
                  </a:txBody>
                  <a:tcPr marL="68580" marR="68580" marT="0" marB="0"/>
                </a:tc>
                <a:extLst>
                  <a:ext uri="{0D108BD9-81ED-4DB2-BD59-A6C34878D82A}">
                    <a16:rowId xmlns="" xmlns:a16="http://schemas.microsoft.com/office/drawing/2014/main" val="10003"/>
                  </a:ext>
                </a:extLst>
              </a:tr>
              <a:tr h="303151">
                <a:tc>
                  <a:txBody>
                    <a:bodyPr/>
                    <a:lstStyle/>
                    <a:p>
                      <a:pPr marL="0" marR="0">
                        <a:lnSpc>
                          <a:spcPct val="115000"/>
                        </a:lnSpc>
                        <a:spcBef>
                          <a:spcPts val="0"/>
                        </a:spcBef>
                        <a:spcAft>
                          <a:spcPts val="0"/>
                        </a:spcAft>
                      </a:pPr>
                      <a:r>
                        <a:rPr lang="en-US" sz="2000">
                          <a:effectLst/>
                        </a:rPr>
                        <a:t>z4+≡ (q2, q0)</a:t>
                      </a:r>
                      <a:endParaRPr lang="en-US" sz="20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rPr>
                        <a:t>(q2, q0,q1)≡z6</a:t>
                      </a:r>
                      <a:endParaRPr lang="en-US" sz="20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2000" dirty="0">
                          <a:effectLst/>
                        </a:rPr>
                        <a:t>(q3,q3,q0</a:t>
                      </a:r>
                      <a:r>
                        <a:rPr lang="en-US" sz="2000" dirty="0" smtClean="0">
                          <a:effectLst/>
                        </a:rPr>
                        <a:t>)= </a:t>
                      </a:r>
                      <a:r>
                        <a:rPr lang="en-US" sz="2000" dirty="0">
                          <a:effectLst/>
                        </a:rPr>
                        <a:t>(q3,q0)≡z3</a:t>
                      </a:r>
                      <a:endParaRPr lang="en-US" sz="2000" dirty="0">
                        <a:effectLst/>
                        <a:latin typeface="Calibri"/>
                        <a:ea typeface="Calibri"/>
                        <a:cs typeface="Times New Roman"/>
                      </a:endParaRPr>
                    </a:p>
                  </a:txBody>
                  <a:tcPr marL="68580" marR="68580" marT="0" marB="0"/>
                </a:tc>
                <a:extLst>
                  <a:ext uri="{0D108BD9-81ED-4DB2-BD59-A6C34878D82A}">
                    <a16:rowId xmlns="" xmlns:a16="http://schemas.microsoft.com/office/drawing/2014/main" val="10004"/>
                  </a:ext>
                </a:extLst>
              </a:tr>
            </a:tbl>
          </a:graphicData>
        </a:graphic>
      </p:graphicFrame>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152400"/>
            <a:ext cx="433387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26035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Table 3"/>
          <p:cNvGraphicFramePr>
            <a:graphicFrameLocks noGrp="1"/>
          </p:cNvGraphicFramePr>
          <p:nvPr>
            <p:extLst/>
          </p:nvPr>
        </p:nvGraphicFramePr>
        <p:xfrm>
          <a:off x="838200" y="2590800"/>
          <a:ext cx="7985760" cy="2743200"/>
        </p:xfrm>
        <a:graphic>
          <a:graphicData uri="http://schemas.openxmlformats.org/drawingml/2006/table">
            <a:tbl>
              <a:tblPr firstRow="1" firstCol="1" bandRow="1">
                <a:tableStyleId>{5C22544A-7EE6-4342-B048-85BDC9FD1C3A}</a:tableStyleId>
              </a:tblPr>
              <a:tblGrid>
                <a:gridCol w="2661920">
                  <a:extLst>
                    <a:ext uri="{9D8B030D-6E8A-4147-A177-3AD203B41FA5}">
                      <a16:colId xmlns="" xmlns:a16="http://schemas.microsoft.com/office/drawing/2014/main" val="20000"/>
                    </a:ext>
                  </a:extLst>
                </a:gridCol>
                <a:gridCol w="2661920">
                  <a:extLst>
                    <a:ext uri="{9D8B030D-6E8A-4147-A177-3AD203B41FA5}">
                      <a16:colId xmlns="" xmlns:a16="http://schemas.microsoft.com/office/drawing/2014/main" val="20001"/>
                    </a:ext>
                  </a:extLst>
                </a:gridCol>
                <a:gridCol w="2661920">
                  <a:extLst>
                    <a:ext uri="{9D8B030D-6E8A-4147-A177-3AD203B41FA5}">
                      <a16:colId xmlns="" xmlns:a16="http://schemas.microsoft.com/office/drawing/2014/main" val="20002"/>
                    </a:ext>
                  </a:extLst>
                </a:gridCol>
              </a:tblGrid>
              <a:tr h="914400">
                <a:tc>
                  <a:txBody>
                    <a:bodyPr/>
                    <a:lstStyle/>
                    <a:p>
                      <a:pPr marL="0" marR="0">
                        <a:lnSpc>
                          <a:spcPct val="115000"/>
                        </a:lnSpc>
                        <a:spcBef>
                          <a:spcPts val="0"/>
                        </a:spcBef>
                        <a:spcAft>
                          <a:spcPts val="0"/>
                        </a:spcAft>
                      </a:pPr>
                      <a:r>
                        <a:rPr lang="en-US" sz="2400">
                          <a:effectLst/>
                        </a:rPr>
                        <a:t>z5+≡ (q4, q0)</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(q1,q4,q0)≡z7</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(q2,q2)≡q2≡z3</a:t>
                      </a:r>
                      <a:endParaRPr lang="en-US" sz="240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914400">
                <a:tc>
                  <a:txBody>
                    <a:bodyPr/>
                    <a:lstStyle/>
                    <a:p>
                      <a:pPr marL="0" marR="0">
                        <a:lnSpc>
                          <a:spcPct val="115000"/>
                        </a:lnSpc>
                        <a:spcBef>
                          <a:spcPts val="0"/>
                        </a:spcBef>
                        <a:spcAft>
                          <a:spcPts val="0"/>
                        </a:spcAft>
                      </a:pPr>
                      <a:r>
                        <a:rPr lang="en-US" sz="2400">
                          <a:effectLst/>
                        </a:rPr>
                        <a:t>z6+≡ (q3, q0,q2)</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(q1,q1,q4,q0)≡(q1,q4,q0)≡z7</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(q3, q0,q2,q2)≡ (q3, q0,q2)≡z6</a:t>
                      </a:r>
                      <a:endParaRPr lang="en-US" sz="240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r h="914400">
                <a:tc>
                  <a:txBody>
                    <a:bodyPr/>
                    <a:lstStyle/>
                    <a:p>
                      <a:pPr marL="0" marR="0">
                        <a:lnSpc>
                          <a:spcPct val="115000"/>
                        </a:lnSpc>
                        <a:spcBef>
                          <a:spcPts val="0"/>
                        </a:spcBef>
                        <a:spcAft>
                          <a:spcPts val="0"/>
                        </a:spcAft>
                      </a:pPr>
                      <a:r>
                        <a:rPr lang="en-US" sz="2400">
                          <a:effectLst/>
                        </a:rPr>
                        <a:t>z7+≡ (q1,q4,q0)</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a:effectLst/>
                        </a:rPr>
                        <a:t>(q1,q4,q0,q1)≡(q1,q4,q0)≡z7</a:t>
                      </a:r>
                      <a:endParaRPr lang="en-US" sz="240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a:effectLst/>
                        </a:rPr>
                        <a:t>(q3, q0,q2,q2)≡ (q3, q0,q2)≡z6</a:t>
                      </a: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2"/>
                  </a:ext>
                </a:extLst>
              </a:tr>
            </a:tbl>
          </a:graphicData>
        </a:graphic>
      </p:graphicFrame>
    </p:spTree>
    <p:extLst>
      <p:ext uri="{BB962C8B-B14F-4D97-AF65-F5344CB8AC3E}">
        <p14:creationId xmlns:p14="http://schemas.microsoft.com/office/powerpoint/2010/main" val="19116632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0312" y="1828800"/>
            <a:ext cx="8585775"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2517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One special requirement for FA’s having an initial state which has a loop or an in coming transition in the closure results in two different states: One non-final state and other one final. </a:t>
            </a:r>
            <a:endParaRPr lang="en-US" dirty="0"/>
          </a:p>
        </p:txBody>
      </p:sp>
    </p:spTree>
    <p:extLst>
      <p:ext uri="{BB962C8B-B14F-4D97-AF65-F5344CB8AC3E}">
        <p14:creationId xmlns:p14="http://schemas.microsoft.com/office/powerpoint/2010/main" val="8793732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667000" y="1600200"/>
            <a:ext cx="360405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Table 4"/>
          <p:cNvGraphicFramePr>
            <a:graphicFrameLocks noGrp="1"/>
          </p:cNvGraphicFramePr>
          <p:nvPr>
            <p:extLst/>
          </p:nvPr>
        </p:nvGraphicFramePr>
        <p:xfrm>
          <a:off x="609600" y="3657600"/>
          <a:ext cx="7985760" cy="1828800"/>
        </p:xfrm>
        <a:graphic>
          <a:graphicData uri="http://schemas.openxmlformats.org/drawingml/2006/table">
            <a:tbl>
              <a:tblPr firstRow="1" firstCol="1" bandRow="1">
                <a:tableStyleId>{5C22544A-7EE6-4342-B048-85BDC9FD1C3A}</a:tableStyleId>
              </a:tblPr>
              <a:tblGrid>
                <a:gridCol w="2661920">
                  <a:extLst>
                    <a:ext uri="{9D8B030D-6E8A-4147-A177-3AD203B41FA5}">
                      <a16:colId xmlns="" xmlns:a16="http://schemas.microsoft.com/office/drawing/2014/main" val="20000"/>
                    </a:ext>
                  </a:extLst>
                </a:gridCol>
                <a:gridCol w="2661920">
                  <a:extLst>
                    <a:ext uri="{9D8B030D-6E8A-4147-A177-3AD203B41FA5}">
                      <a16:colId xmlns="" xmlns:a16="http://schemas.microsoft.com/office/drawing/2014/main" val="20001"/>
                    </a:ext>
                  </a:extLst>
                </a:gridCol>
                <a:gridCol w="2661920">
                  <a:extLst>
                    <a:ext uri="{9D8B030D-6E8A-4147-A177-3AD203B41FA5}">
                      <a16:colId xmlns="" xmlns:a16="http://schemas.microsoft.com/office/drawing/2014/main" val="20002"/>
                    </a:ext>
                  </a:extLst>
                </a:gridCol>
              </a:tblGrid>
              <a:tr h="914400">
                <a:tc>
                  <a:txBody>
                    <a:bodyPr/>
                    <a:lstStyle/>
                    <a:p>
                      <a:pPr marL="0" marR="0">
                        <a:lnSpc>
                          <a:spcPct val="115000"/>
                        </a:lnSpc>
                        <a:spcBef>
                          <a:spcPts val="0"/>
                        </a:spcBef>
                        <a:spcAft>
                          <a:spcPts val="0"/>
                        </a:spcAft>
                      </a:pPr>
                      <a:r>
                        <a:rPr lang="en-US" sz="2400" dirty="0" smtClean="0">
                          <a:effectLst/>
                        </a:rPr>
                        <a:t>Final Z1≡ x1</a:t>
                      </a:r>
                      <a:endParaRPr lang="en-US" sz="2400" dirty="0">
                        <a:effectLst/>
                        <a:latin typeface="Calibri"/>
                        <a:ea typeface="Times New Roman"/>
                        <a:cs typeface="Times New Roman"/>
                      </a:endParaRPr>
                    </a:p>
                  </a:txBody>
                  <a:tcPr marL="68580" marR="68580" marT="0" marB="0"/>
                </a:tc>
                <a:tc>
                  <a:txBody>
                    <a:bodyPr/>
                    <a:lstStyle/>
                    <a:p>
                      <a:pPr marL="0" marR="0">
                        <a:lnSpc>
                          <a:spcPct val="115000"/>
                        </a:lnSpc>
                        <a:spcBef>
                          <a:spcPts val="0"/>
                        </a:spcBef>
                        <a:spcAft>
                          <a:spcPts val="0"/>
                        </a:spcAft>
                      </a:pPr>
                      <a:r>
                        <a:rPr lang="en-US" sz="2400" dirty="0" smtClean="0">
                          <a:effectLst/>
                        </a:rPr>
                        <a:t>x2≡Z2</a:t>
                      </a:r>
                      <a:endParaRPr lang="en-US" sz="2400" dirty="0">
                        <a:effectLst/>
                        <a:latin typeface="Calibri"/>
                        <a:ea typeface="Times New Roman"/>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400" dirty="0" smtClean="0">
                          <a:effectLst/>
                        </a:rPr>
                        <a:t>x2≡Z2</a:t>
                      </a:r>
                      <a:endParaRPr lang="en-US" sz="2400" dirty="0" smtClean="0">
                        <a:effectLst/>
                        <a:latin typeface="+mn-lt"/>
                        <a:ea typeface="Times New Roman"/>
                        <a:cs typeface="Times New Roman"/>
                      </a:endParaRPr>
                    </a:p>
                    <a:p>
                      <a:pPr marL="0" marR="0">
                        <a:lnSpc>
                          <a:spcPct val="115000"/>
                        </a:lnSpc>
                        <a:spcBef>
                          <a:spcPts val="0"/>
                        </a:spcBef>
                        <a:spcAft>
                          <a:spcPts val="0"/>
                        </a:spcAft>
                      </a:pP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0"/>
                  </a:ext>
                </a:extLst>
              </a:tr>
              <a:tr h="914400">
                <a:tc>
                  <a:txBody>
                    <a:bodyPr/>
                    <a:lstStyle/>
                    <a:p>
                      <a:pPr marL="0" marR="0">
                        <a:lnSpc>
                          <a:spcPct val="115000"/>
                        </a:lnSpc>
                        <a:spcBef>
                          <a:spcPts val="0"/>
                        </a:spcBef>
                        <a:spcAft>
                          <a:spcPts val="0"/>
                        </a:spcAft>
                      </a:pPr>
                      <a:r>
                        <a:rPr lang="en-US" sz="2400" dirty="0" smtClean="0">
                          <a:effectLst/>
                        </a:rPr>
                        <a:t>x2≡Z2</a:t>
                      </a:r>
                      <a:endParaRPr lang="en-US" sz="2400" dirty="0">
                        <a:effectLst/>
                        <a:latin typeface="+mn-lt"/>
                        <a:ea typeface="Times New Roman"/>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400" dirty="0" smtClean="0">
                          <a:effectLst/>
                        </a:rPr>
                        <a:t>x1≡Z1</a:t>
                      </a:r>
                      <a:endParaRPr lang="en-US" sz="2400" dirty="0" smtClean="0">
                        <a:effectLst/>
                        <a:latin typeface="+mn-lt"/>
                        <a:ea typeface="Times New Roman"/>
                        <a:cs typeface="Times New Roman"/>
                      </a:endParaRPr>
                    </a:p>
                    <a:p>
                      <a:pPr marL="0" marR="0">
                        <a:lnSpc>
                          <a:spcPct val="115000"/>
                        </a:lnSpc>
                        <a:spcBef>
                          <a:spcPts val="0"/>
                        </a:spcBef>
                        <a:spcAft>
                          <a:spcPts val="0"/>
                        </a:spcAft>
                      </a:pPr>
                      <a:endParaRPr lang="en-US" sz="2400" dirty="0">
                        <a:effectLst/>
                        <a:latin typeface="Calibri"/>
                        <a:ea typeface="Times New Roman"/>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400" dirty="0" smtClean="0">
                          <a:effectLst/>
                        </a:rPr>
                        <a:t>x1≡Z1</a:t>
                      </a:r>
                      <a:endParaRPr lang="en-US" sz="2400" dirty="0" smtClean="0">
                        <a:effectLst/>
                        <a:latin typeface="+mn-lt"/>
                        <a:ea typeface="Times New Roman"/>
                        <a:cs typeface="Times New Roman"/>
                      </a:endParaRPr>
                    </a:p>
                    <a:p>
                      <a:pPr marL="0" marR="0">
                        <a:lnSpc>
                          <a:spcPct val="115000"/>
                        </a:lnSpc>
                        <a:spcBef>
                          <a:spcPts val="0"/>
                        </a:spcBef>
                        <a:spcAft>
                          <a:spcPts val="0"/>
                        </a:spcAft>
                      </a:pPr>
                      <a:endParaRPr lang="en-US" sz="2400" dirty="0">
                        <a:effectLst/>
                        <a:latin typeface="Calibri"/>
                        <a:ea typeface="Times New Roman"/>
                        <a:cs typeface="Times New Roman"/>
                      </a:endParaRPr>
                    </a:p>
                  </a:txBody>
                  <a:tcPr marL="68580" marR="68580" marT="0" marB="0"/>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3195858026"/>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IRSTADMINISTRATOR@SPELLIVFUVWYY57I" val="466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856</TotalTime>
  <Words>1539</Words>
  <Application>Microsoft Office PowerPoint</Application>
  <PresentationFormat>On-screen Show (4:3)</PresentationFormat>
  <Paragraphs>236</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Times New Roman</vt:lpstr>
      <vt:lpstr>Office Theme</vt:lpstr>
      <vt:lpstr>Kleene’s Theorem</vt:lpstr>
      <vt:lpstr>Kleene Theorem (Union)</vt:lpstr>
      <vt:lpstr>Question</vt:lpstr>
      <vt:lpstr>Question</vt:lpstr>
      <vt:lpstr>PowerPoint Presentation</vt:lpstr>
      <vt:lpstr>PowerPoint Presentation</vt:lpstr>
      <vt:lpstr>PowerPoint Presentation</vt:lpstr>
      <vt:lpstr>Kleene Theorem (Concatenation) </vt:lpstr>
      <vt:lpstr>Question (concatenation)</vt:lpstr>
      <vt:lpstr>PowerPoint Presentation</vt:lpstr>
      <vt:lpstr>PowerPoint Presentation</vt:lpstr>
      <vt:lpstr>Question (concatenation)</vt:lpstr>
      <vt:lpstr>PowerPoint Presentation</vt:lpstr>
      <vt:lpstr>PowerPoint Presentation</vt:lpstr>
      <vt:lpstr>Question (concatenation)</vt:lpstr>
      <vt:lpstr>PowerPoint Presentation</vt:lpstr>
      <vt:lpstr>PowerPoint Presentation</vt:lpstr>
      <vt:lpstr>PowerPoint Presentation</vt:lpstr>
      <vt:lpstr>Question (concatenation)</vt:lpstr>
      <vt:lpstr>PowerPoint Presentation</vt:lpstr>
      <vt:lpstr>PowerPoint Presentation</vt:lpstr>
      <vt:lpstr>Kleene Theorem (Closure)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GHAZALA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GHAZALA</dc:creator>
  <cp:lastModifiedBy>sanaa jeehan</cp:lastModifiedBy>
  <cp:revision>183</cp:revision>
  <cp:lastPrinted>2022-09-19T04:53:38Z</cp:lastPrinted>
  <dcterms:created xsi:type="dcterms:W3CDTF">2012-02-27T05:45:45Z</dcterms:created>
  <dcterms:modified xsi:type="dcterms:W3CDTF">2024-09-13T06:09:05Z</dcterms:modified>
</cp:coreProperties>
</file>