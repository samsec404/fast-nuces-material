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2"/>
  </p:notesMasterIdLst>
  <p:handoutMasterIdLst>
    <p:handoutMasterId r:id="rId63"/>
  </p:handoutMasterIdLst>
  <p:sldIdLst>
    <p:sldId id="330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21" r:id="rId12"/>
    <p:sldId id="422" r:id="rId13"/>
    <p:sldId id="423" r:id="rId14"/>
    <p:sldId id="500" r:id="rId15"/>
    <p:sldId id="261" r:id="rId16"/>
    <p:sldId id="283" r:id="rId17"/>
    <p:sldId id="262" r:id="rId18"/>
    <p:sldId id="501" r:id="rId19"/>
    <p:sldId id="428" r:id="rId20"/>
    <p:sldId id="429" r:id="rId21"/>
    <p:sldId id="431" r:id="rId22"/>
    <p:sldId id="525" r:id="rId23"/>
    <p:sldId id="430" r:id="rId24"/>
    <p:sldId id="432" r:id="rId25"/>
    <p:sldId id="478" r:id="rId26"/>
    <p:sldId id="434" r:id="rId27"/>
    <p:sldId id="471" r:id="rId28"/>
    <p:sldId id="436" r:id="rId29"/>
    <p:sldId id="437" r:id="rId30"/>
    <p:sldId id="516" r:id="rId31"/>
    <p:sldId id="503" r:id="rId32"/>
    <p:sldId id="521" r:id="rId33"/>
    <p:sldId id="353" r:id="rId34"/>
    <p:sldId id="524" r:id="rId35"/>
    <p:sldId id="479" r:id="rId36"/>
    <p:sldId id="473" r:id="rId37"/>
    <p:sldId id="476" r:id="rId38"/>
    <p:sldId id="445" r:id="rId39"/>
    <p:sldId id="446" r:id="rId40"/>
    <p:sldId id="447" r:id="rId41"/>
    <p:sldId id="448" r:id="rId42"/>
    <p:sldId id="518" r:id="rId43"/>
    <p:sldId id="520" r:id="rId44"/>
    <p:sldId id="451" r:id="rId45"/>
    <p:sldId id="496" r:id="rId46"/>
    <p:sldId id="455" r:id="rId47"/>
    <p:sldId id="510" r:id="rId48"/>
    <p:sldId id="457" r:id="rId49"/>
    <p:sldId id="511" r:id="rId50"/>
    <p:sldId id="512" r:id="rId51"/>
    <p:sldId id="513" r:id="rId52"/>
    <p:sldId id="458" r:id="rId53"/>
    <p:sldId id="459" r:id="rId54"/>
    <p:sldId id="460" r:id="rId55"/>
    <p:sldId id="461" r:id="rId56"/>
    <p:sldId id="514" r:id="rId57"/>
    <p:sldId id="462" r:id="rId58"/>
    <p:sldId id="477" r:id="rId59"/>
    <p:sldId id="463" r:id="rId60"/>
    <p:sldId id="467" r:id="rId61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>
      <p:cViewPr varScale="1">
        <p:scale>
          <a:sx n="56" d="100"/>
          <a:sy n="56" d="100"/>
        </p:scale>
        <p:origin x="1278" y="66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60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Return address here means the point in the calling function from where this function was called from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119FC24-A8B9-4091-0747-C61B61E44A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32AD1F6-538E-42F4-84C6-AF10B12B6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7E76EB9-8E4B-658E-DDB8-FF83E4ED48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1FFDD66-EC04-BD72-CF58-406BF998D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D90E80C-9571-7FC1-A199-5A0A0DA6E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5EF10BF-8693-432C-1BEF-5BADF44DE3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63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0561B372-16F6-21C1-3E8D-3282DCF849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FEE63A2-D9A8-477A-BE2A-3B1EA5A368C5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1E176E67-79C2-4FFE-1BB0-B0DA72ACD1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3D9E7E14-041C-C7F9-A3AC-49CBD3A5E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5425"/>
            <a:ext cx="1076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54101" y="1233489"/>
            <a:ext cx="103251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456" y="6613526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618" y="6613526"/>
            <a:ext cx="3617383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1" y="659447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95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68651" y="228601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5687" y="1149349"/>
            <a:ext cx="8422825" cy="4526831"/>
          </a:xfrm>
        </p:spPr>
        <p:txBody>
          <a:bodyPr/>
          <a:lstStyle/>
          <a:p>
            <a:r>
              <a:rPr lang="en-US" altLang="en-US" sz="2400" dirty="0"/>
              <a:t>Process Concept</a:t>
            </a:r>
          </a:p>
          <a:p>
            <a:r>
              <a:rPr lang="en-US" altLang="en-US" sz="2400" dirty="0"/>
              <a:t>Process Scheduling</a:t>
            </a:r>
          </a:p>
          <a:p>
            <a:r>
              <a:rPr lang="en-US" altLang="en-US" sz="2400" dirty="0"/>
              <a:t>Operations on Processes</a:t>
            </a:r>
          </a:p>
          <a:p>
            <a:r>
              <a:rPr lang="en-US" altLang="en-US" sz="2400" dirty="0"/>
              <a:t>Interprocess Communication</a:t>
            </a:r>
          </a:p>
          <a:p>
            <a:r>
              <a:rPr lang="en-US" altLang="en-US" sz="2400" dirty="0"/>
              <a:t>IPC in Shared-Memory Systems</a:t>
            </a:r>
          </a:p>
          <a:p>
            <a:r>
              <a:rPr lang="en-US" altLang="en-US" sz="2400" dirty="0"/>
              <a:t>IPC in Message-Passing Systems</a:t>
            </a:r>
          </a:p>
          <a:p>
            <a:r>
              <a:rPr lang="en-US" altLang="en-US" sz="2400" dirty="0"/>
              <a:t>Examples of IPC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25688" y="1138239"/>
            <a:ext cx="7745412" cy="4530725"/>
          </a:xfrm>
        </p:spPr>
        <p:txBody>
          <a:bodyPr/>
          <a:lstStyle/>
          <a:p>
            <a:r>
              <a:rPr lang="en-US" altLang="en-US" sz="2400" dirty="0"/>
              <a:t>Identify the separate components of a process and illustrate how they are represented and scheduled in an operating system.</a:t>
            </a:r>
          </a:p>
          <a:p>
            <a:r>
              <a:rPr lang="en-US" altLang="en-US" sz="2400" dirty="0"/>
              <a:t>Describe how processes are created and terminated in an operating system, including developing programs using the appropriate system calls that perform these operations.</a:t>
            </a:r>
          </a:p>
          <a:p>
            <a:r>
              <a:rPr lang="en-US" altLang="en-US" sz="2400" dirty="0"/>
              <a:t>Describe and contrast </a:t>
            </a:r>
            <a:r>
              <a:rPr lang="en-US" altLang="en-US" sz="2400" dirty="0" err="1"/>
              <a:t>interprocess</a:t>
            </a:r>
            <a:r>
              <a:rPr lang="en-US" altLang="en-US" sz="2400" dirty="0"/>
              <a:t> communication using shared memory and message passing.</a:t>
            </a:r>
          </a:p>
          <a:p>
            <a:r>
              <a:rPr lang="en-US" altLang="en-US" sz="2400" dirty="0"/>
              <a:t>Design programs that uses pipes and POSIX shared memory to perform </a:t>
            </a:r>
            <a:r>
              <a:rPr lang="en-US" altLang="en-US" sz="2400" dirty="0" err="1"/>
              <a:t>interprocess</a:t>
            </a:r>
            <a:r>
              <a:rPr lang="en-US" altLang="en-US" sz="2400" dirty="0"/>
              <a:t> communication.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222251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4838" y="1206501"/>
            <a:ext cx="11093570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sz="2400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sz="2400" dirty="0"/>
              <a:t>Multiple parts</a:t>
            </a:r>
          </a:p>
          <a:p>
            <a:pPr lvl="1"/>
            <a:r>
              <a:rPr lang="en-US" altLang="en-US" sz="2400" dirty="0"/>
              <a:t>The program code, also called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sz="2400" dirty="0"/>
              <a:t>Current activity including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sz="2400" dirty="0"/>
              <a:t>, processor registers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sz="2400" b="1" dirty="0"/>
              <a:t> </a:t>
            </a:r>
            <a:r>
              <a:rPr lang="en-US" altLang="en-US" sz="2400" dirty="0"/>
              <a:t>containing temporary data</a:t>
            </a:r>
          </a:p>
          <a:p>
            <a:pPr lvl="2"/>
            <a:r>
              <a:rPr lang="en-US" altLang="en-US" sz="2400" dirty="0"/>
              <a:t>Function parameters, return addresses, local variables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sz="2400" b="1" dirty="0"/>
              <a:t> </a:t>
            </a:r>
            <a:r>
              <a:rPr lang="en-US" altLang="en-US" sz="2400" dirty="0"/>
              <a:t>containing global variables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sz="2400" b="1" dirty="0"/>
              <a:t> </a:t>
            </a:r>
            <a:r>
              <a:rPr lang="en-US" altLang="en-US" sz="2400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4181" y="1203325"/>
            <a:ext cx="10420710" cy="4595132"/>
          </a:xfrm>
        </p:spPr>
        <p:txBody>
          <a:bodyPr/>
          <a:lstStyle/>
          <a:p>
            <a:r>
              <a:rPr lang="en-US" altLang="en-US" sz="2400" dirty="0"/>
              <a:t>Program is </a:t>
            </a:r>
            <a:r>
              <a:rPr lang="en-US" altLang="en-US" sz="2400" b="1" dirty="0"/>
              <a:t>passive</a:t>
            </a:r>
            <a:r>
              <a:rPr lang="en-US" altLang="en-US" sz="2400" dirty="0"/>
              <a:t> entity stored on disk 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400" dirty="0"/>
              <a:t>); process is </a:t>
            </a:r>
            <a:r>
              <a:rPr lang="en-US" altLang="en-US" sz="2400" b="1" dirty="0"/>
              <a:t>active</a:t>
            </a:r>
            <a:r>
              <a:rPr lang="en-US" altLang="en-US" sz="2400" b="1" i="1" dirty="0"/>
              <a:t> </a:t>
            </a:r>
          </a:p>
          <a:p>
            <a:pPr lvl="1"/>
            <a:r>
              <a:rPr lang="en-US" altLang="en-US" sz="2400" dirty="0"/>
              <a:t>Program becomes process when an executable file is loaded into memory</a:t>
            </a:r>
          </a:p>
          <a:p>
            <a:r>
              <a:rPr lang="en-US" altLang="en-US" sz="2400" dirty="0"/>
              <a:t>Execution of program started via GUI mouse clicks, command line entry of its name, etc.</a:t>
            </a:r>
          </a:p>
          <a:p>
            <a:r>
              <a:rPr lang="en-US" altLang="en-US" sz="2400" dirty="0"/>
              <a:t>One program can be several processes</a:t>
            </a:r>
          </a:p>
          <a:p>
            <a:pPr lvl="1"/>
            <a:r>
              <a:rPr lang="en-US" altLang="en-US" sz="2400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225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357" y="1093993"/>
            <a:ext cx="3290733" cy="5265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8057" y="196398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336" y="1215101"/>
            <a:ext cx="8773542" cy="4168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489" y="228601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5101" y="1246189"/>
            <a:ext cx="10033000" cy="3254375"/>
          </a:xfrm>
        </p:spPr>
        <p:txBody>
          <a:bodyPr/>
          <a:lstStyle/>
          <a:p>
            <a:r>
              <a:rPr lang="en-US" altLang="en-US" sz="2400" dirty="0"/>
              <a:t>As a process executes, it changes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sz="2400" b="1" dirty="0"/>
              <a:t>New</a:t>
            </a:r>
            <a:r>
              <a:rPr lang="en-US" altLang="en-US" sz="2400" dirty="0"/>
              <a:t>:  The process is being created</a:t>
            </a:r>
          </a:p>
          <a:p>
            <a:pPr lvl="1"/>
            <a:r>
              <a:rPr lang="en-US" altLang="en-US" sz="2400" b="1" dirty="0"/>
              <a:t>Running</a:t>
            </a:r>
            <a:r>
              <a:rPr lang="en-US" altLang="en-US" sz="2400" dirty="0"/>
              <a:t>:  Instructions are being executed</a:t>
            </a:r>
          </a:p>
          <a:p>
            <a:pPr lvl="1"/>
            <a:r>
              <a:rPr lang="en-US" altLang="en-US" sz="2400" b="1" dirty="0"/>
              <a:t>Waiting</a:t>
            </a:r>
            <a:r>
              <a:rPr lang="en-US" altLang="en-US" sz="2400" dirty="0"/>
              <a:t>:  The process is waiting for some event to occur</a:t>
            </a:r>
          </a:p>
          <a:p>
            <a:pPr lvl="1"/>
            <a:r>
              <a:rPr lang="en-US" altLang="en-US" sz="2400" b="1" dirty="0"/>
              <a:t>Ready</a:t>
            </a:r>
            <a:r>
              <a:rPr lang="en-US" altLang="en-US" sz="2400" dirty="0"/>
              <a:t>:  The process is waiting to be assigned to a processor</a:t>
            </a:r>
          </a:p>
          <a:p>
            <a:pPr lvl="1"/>
            <a:r>
              <a:rPr lang="en-US" altLang="en-US" sz="2400" b="1" dirty="0"/>
              <a:t>Terminated</a:t>
            </a:r>
            <a:r>
              <a:rPr lang="en-US" altLang="en-US" sz="2400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3776" y="2286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539" y="1834587"/>
            <a:ext cx="8179932" cy="3188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0814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515" y="1837971"/>
            <a:ext cx="5616122" cy="4417927"/>
          </a:xfrm>
        </p:spPr>
        <p:txBody>
          <a:bodyPr/>
          <a:lstStyle/>
          <a:p>
            <a:r>
              <a:rPr lang="en-US" altLang="en-US" sz="2000" dirty="0"/>
              <a:t>Process state – running, waiting, etc.</a:t>
            </a:r>
          </a:p>
          <a:p>
            <a:r>
              <a:rPr lang="en-US" altLang="en-US" sz="2000" dirty="0"/>
              <a:t>Program counter – location of instruction to next execute</a:t>
            </a:r>
          </a:p>
          <a:p>
            <a:r>
              <a:rPr lang="en-US" altLang="en-US" sz="2000" dirty="0"/>
              <a:t>CPU registers – contents of all process-centric registers</a:t>
            </a:r>
          </a:p>
          <a:p>
            <a:r>
              <a:rPr lang="en-US" altLang="en-US" sz="2000" dirty="0"/>
              <a:t>CPU scheduling information- priorities, scheduling queue pointers</a:t>
            </a:r>
          </a:p>
          <a:p>
            <a:r>
              <a:rPr lang="en-US" altLang="en-US" sz="2000" dirty="0"/>
              <a:t>Memory-management information – memory allocated to the process</a:t>
            </a:r>
          </a:p>
          <a:p>
            <a:r>
              <a:rPr lang="en-US" altLang="en-US" sz="2000" dirty="0"/>
              <a:t>Accounting information – CPU used, clock time elapsed since start, time limits</a:t>
            </a:r>
          </a:p>
          <a:p>
            <a:r>
              <a:rPr lang="en-US" altLang="en-US" sz="20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271" y="1572011"/>
            <a:ext cx="2594013" cy="4215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2014120" y="967481"/>
            <a:ext cx="70471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Information associated with each process(also called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kumimoji="1" lang="en-US" altLang="en-US" sz="2000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20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0884" y="1119416"/>
            <a:ext cx="11059064" cy="4867315"/>
          </a:xfrm>
        </p:spPr>
        <p:txBody>
          <a:bodyPr/>
          <a:lstStyle/>
          <a:p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selects among available processes for next execution on CPU core</a:t>
            </a:r>
          </a:p>
          <a:p>
            <a:r>
              <a:rPr lang="en-US" altLang="en-US" sz="2400" dirty="0"/>
              <a:t>Goal -- Maximize CPU use, quickly switch processes onto CPU core</a:t>
            </a:r>
          </a:p>
          <a:p>
            <a:r>
              <a:rPr lang="en-US" altLang="en-US" sz="2400" dirty="0"/>
              <a:t>Maintains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of processes</a:t>
            </a:r>
          </a:p>
          <a:p>
            <a:pPr lvl="1"/>
            <a:r>
              <a:rPr lang="en-US" altLang="en-US" sz="2400" b="1" kern="1200" dirty="0">
                <a:solidFill>
                  <a:srgbClr val="006699"/>
                </a:solidFill>
              </a:rPr>
              <a:t>Job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</a:rPr>
              <a:t>queue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set of all processes in the system..</a:t>
            </a:r>
          </a:p>
          <a:p>
            <a:pPr lvl="1"/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set of all processes residing in main memory, ready and waiting to execute</a:t>
            </a:r>
          </a:p>
          <a:p>
            <a:pPr lvl="1"/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queues/Device Queues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set of processes waiting for an event (i.e., I/O)</a:t>
            </a:r>
          </a:p>
          <a:p>
            <a:pPr lvl="1"/>
            <a:r>
              <a:rPr lang="en-US" altLang="en-US" sz="2400" dirty="0"/>
              <a:t>Processes migrate among the various queues</a:t>
            </a:r>
          </a:p>
          <a:p>
            <a:pPr marL="0" indent="0"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726" y="349250"/>
            <a:ext cx="7591425" cy="457200"/>
          </a:xfrm>
        </p:spPr>
        <p:txBody>
          <a:bodyPr/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237" y="1252068"/>
            <a:ext cx="8837526" cy="5256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456" y="1138688"/>
            <a:ext cx="8603557" cy="4965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6963" y="22860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956" y="979488"/>
            <a:ext cx="8495071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256" y="1431515"/>
            <a:ext cx="6129886" cy="5009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91B341F-DCC2-9586-FDC8-60B42665E4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Schedulers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20B0308-2F22-309E-5ED9-D309757F3F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52423" y="1404938"/>
            <a:ext cx="10326777" cy="3995198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000000"/>
                </a:solidFill>
              </a:rPr>
              <a:t>Long-term scheduler</a:t>
            </a:r>
            <a:r>
              <a:rPr lang="en-US" altLang="en-US" sz="2400" dirty="0">
                <a:solidFill>
                  <a:srgbClr val="000000"/>
                </a:solidFill>
              </a:rPr>
              <a:t>  </a:t>
            </a:r>
            <a:r>
              <a:rPr lang="en-US" altLang="en-US" sz="2400" dirty="0"/>
              <a:t>(or job scheduler) – selects which processes should be brought into the ready queue</a:t>
            </a:r>
          </a:p>
          <a:p>
            <a:pPr eaLnBrk="1" hangingPunct="1"/>
            <a:r>
              <a:rPr lang="en-US" altLang="en-US" sz="2400" b="1" dirty="0">
                <a:solidFill>
                  <a:srgbClr val="000000"/>
                </a:solidFill>
              </a:rPr>
              <a:t>Short-term scheduler</a:t>
            </a:r>
            <a:r>
              <a:rPr lang="en-US" altLang="en-US" sz="2400" dirty="0">
                <a:solidFill>
                  <a:srgbClr val="000000"/>
                </a:solidFill>
              </a:rPr>
              <a:t>  </a:t>
            </a:r>
            <a:r>
              <a:rPr lang="en-US" altLang="en-US" sz="2400" dirty="0"/>
              <a:t>(or CPU scheduler) – selects which process should be executed next and allocates CPU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4B4959A-9EA9-589F-3E8E-3983D6E0D7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52688" y="277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Addition of Medium-Term Scheduling</a:t>
            </a:r>
          </a:p>
        </p:txBody>
      </p:sp>
      <p:pic>
        <p:nvPicPr>
          <p:cNvPr id="33795" name="Picture 11">
            <a:extLst>
              <a:ext uri="{FF2B5EF4-FFF2-40B4-BE49-F238E27FC236}">
                <a16:creationId xmlns:a16="http://schemas.microsoft.com/office/drawing/2014/main" id="{208A00D4-3EBE-B77D-4484-94CA337D3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991" y="1735062"/>
            <a:ext cx="9319687" cy="3387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C1991A6-8470-F153-7090-9EEB365B03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Schedulers (Cont)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84B06FB-5066-CD48-50D7-5BF2C6D2A8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90626"/>
            <a:ext cx="10769600" cy="457181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Short-term scheduler is invoked very frequently (milliseconds) </a:t>
            </a:r>
            <a:r>
              <a:rPr lang="en-US" altLang="en-US" sz="2400" dirty="0">
                <a:sym typeface="Symbol" panose="05050102010706020507" pitchFamily="18" charset="2"/>
              </a:rPr>
              <a:t> (must be fast)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Long-term scheduler is invoked very infrequently (seconds, minutes)  (may be slow)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The long-term scheduler controls the </a:t>
            </a:r>
            <a:r>
              <a:rPr lang="en-US" altLang="en-US" sz="2400" i="1" dirty="0">
                <a:sym typeface="Symbol" panose="05050102010706020507" pitchFamily="18" charset="2"/>
              </a:rPr>
              <a:t>degree of multiprogramming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Processes can be described as either:</a:t>
            </a:r>
          </a:p>
          <a:p>
            <a:pPr lvl="1" eaLnBrk="1" hangingPunct="1"/>
            <a:r>
              <a:rPr lang="en-US" altLang="en-US" sz="2400" b="1" dirty="0">
                <a:solidFill>
                  <a:srgbClr val="000000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– spends more time doing I/O than computations, many short CPU bursts</a:t>
            </a:r>
          </a:p>
          <a:p>
            <a:pPr lvl="1" eaLnBrk="1" hangingPunct="1"/>
            <a:r>
              <a:rPr lang="en-US" altLang="en-US" sz="2400" b="1" dirty="0">
                <a:solidFill>
                  <a:srgbClr val="000000"/>
                </a:solidFill>
                <a:sym typeface="Symbol" panose="05050102010706020507" pitchFamily="18" charset="2"/>
              </a:rPr>
              <a:t>CPU-bound process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– spends more time doing computations; few very long CPU bursts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7538" y="23177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7699" y="1108074"/>
            <a:ext cx="9765102" cy="4878657"/>
          </a:xfrm>
        </p:spPr>
        <p:txBody>
          <a:bodyPr/>
          <a:lstStyle/>
          <a:p>
            <a:r>
              <a:rPr lang="en-US" altLang="en-US" sz="2400" dirty="0"/>
              <a:t>When CPU switches to another process, the system must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of the old process and load the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for the new process via a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sz="2400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of a process represented in the PCB</a:t>
            </a:r>
          </a:p>
          <a:p>
            <a:r>
              <a:rPr lang="en-US" altLang="en-US" sz="2400" dirty="0"/>
              <a:t>Context-switch time is pure overhead; the system does no useful work while switching</a:t>
            </a:r>
          </a:p>
          <a:p>
            <a:pPr lvl="1"/>
            <a:r>
              <a:rPr lang="en-US" altLang="en-US" sz="2400" dirty="0"/>
              <a:t>The more complex the OS and the PCB </a:t>
            </a:r>
            <a:r>
              <a:rPr lang="en-US" altLang="en-US" sz="2400" dirty="0">
                <a:sym typeface="Wingdings" panose="05000000000000000000" pitchFamily="2" charset="2"/>
              </a:rPr>
              <a:t> the </a:t>
            </a:r>
            <a:r>
              <a:rPr lang="en-US" altLang="en-US" sz="2400" dirty="0"/>
              <a:t>longer the context switch</a:t>
            </a:r>
          </a:p>
          <a:p>
            <a:r>
              <a:rPr lang="en-US" altLang="en-US" sz="2400" dirty="0"/>
              <a:t>Time dependent on hardware support</a:t>
            </a:r>
          </a:p>
          <a:p>
            <a:pPr lvl="1"/>
            <a:r>
              <a:rPr lang="en-US" altLang="en-US" sz="2400" dirty="0"/>
              <a:t>Some hardware provides multiple sets of registers per CPU </a:t>
            </a:r>
            <a:r>
              <a:rPr lang="en-US" altLang="en-US" sz="2400" dirty="0">
                <a:sym typeface="Wingdings" panose="05000000000000000000" pitchFamily="2" charset="2"/>
              </a:rPr>
              <a:t></a:t>
            </a:r>
            <a:r>
              <a:rPr lang="en-US" altLang="en-US" sz="2400" dirty="0"/>
              <a:t> multiple contexts loaded at once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3314" y="1233489"/>
            <a:ext cx="7381875" cy="4448175"/>
          </a:xfrm>
        </p:spPr>
        <p:txBody>
          <a:bodyPr/>
          <a:lstStyle/>
          <a:p>
            <a:r>
              <a:rPr lang="en-US" altLang="en-US" sz="2800" dirty="0"/>
              <a:t>System must provide mechanisms for:</a:t>
            </a:r>
          </a:p>
          <a:p>
            <a:pPr lvl="1"/>
            <a:r>
              <a:rPr lang="en-US" altLang="en-US" sz="2800" dirty="0"/>
              <a:t> Process creation</a:t>
            </a:r>
          </a:p>
          <a:p>
            <a:pPr lvl="1"/>
            <a:r>
              <a:rPr lang="en-US" altLang="en-US" sz="2800" dirty="0"/>
              <a:t> Process termination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1215" y="1169989"/>
            <a:ext cx="10006642" cy="516180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sz="2400" b="1" dirty="0"/>
              <a:t> </a:t>
            </a:r>
            <a:r>
              <a:rPr lang="en-US" altLang="en-US" sz="2400" dirty="0"/>
              <a:t>process create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sz="2400" b="1" dirty="0"/>
              <a:t> </a:t>
            </a:r>
            <a:r>
              <a:rPr lang="en-US" altLang="en-US" sz="2400" dirty="0"/>
              <a:t>processes, which, in turn create other processes, forming a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sz="2400" dirty="0"/>
              <a:t> of processes</a:t>
            </a:r>
            <a:endParaRPr lang="en-US" altLang="en-US" sz="1000" dirty="0"/>
          </a:p>
          <a:p>
            <a:r>
              <a:rPr lang="en-US" altLang="en-US" sz="2400" dirty="0"/>
              <a:t>Generally, process identified and managed via a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sz="2400" dirty="0"/>
              <a:t>)</a:t>
            </a:r>
            <a:endParaRPr lang="en-US" altLang="en-US" sz="1000" dirty="0"/>
          </a:p>
          <a:p>
            <a:r>
              <a:rPr lang="en-US" altLang="en-US" sz="2400" dirty="0"/>
              <a:t>Resource sharing options</a:t>
            </a:r>
          </a:p>
          <a:p>
            <a:pPr lvl="1"/>
            <a:r>
              <a:rPr lang="en-US" altLang="en-US" sz="2400" dirty="0"/>
              <a:t>Parent and children share all resources</a:t>
            </a:r>
          </a:p>
          <a:p>
            <a:pPr lvl="1"/>
            <a:r>
              <a:rPr lang="en-US" altLang="en-US" sz="2400" dirty="0"/>
              <a:t>Children share subset of parent</a:t>
            </a:r>
            <a:r>
              <a:rPr lang="ja-JP" altLang="en-US" sz="2400" dirty="0"/>
              <a:t>’</a:t>
            </a:r>
            <a:r>
              <a:rPr lang="en-US" altLang="ja-JP" sz="2400" dirty="0"/>
              <a:t>s resources</a:t>
            </a:r>
          </a:p>
          <a:p>
            <a:pPr lvl="1"/>
            <a:r>
              <a:rPr lang="en-US" altLang="en-US" sz="2400" dirty="0"/>
              <a:t>Parent and child share no resources</a:t>
            </a:r>
            <a:endParaRPr lang="en-US" altLang="en-US" sz="1000" dirty="0"/>
          </a:p>
          <a:p>
            <a:r>
              <a:rPr lang="en-US" altLang="en-US" sz="2400" dirty="0"/>
              <a:t>Execution options</a:t>
            </a:r>
          </a:p>
          <a:p>
            <a:pPr lvl="1"/>
            <a:r>
              <a:rPr lang="en-US" altLang="en-US" sz="2400" dirty="0"/>
              <a:t>Parent and children execute concurrently</a:t>
            </a:r>
          </a:p>
          <a:p>
            <a:pPr lvl="1"/>
            <a:r>
              <a:rPr lang="en-US" altLang="en-US" sz="2400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3976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9120" y="1012824"/>
            <a:ext cx="10886536" cy="5627688"/>
          </a:xfrm>
        </p:spPr>
        <p:txBody>
          <a:bodyPr/>
          <a:lstStyle/>
          <a:p>
            <a:r>
              <a:rPr lang="en-US" altLang="en-US" sz="2800" dirty="0"/>
              <a:t>Address space</a:t>
            </a:r>
          </a:p>
          <a:p>
            <a:pPr lvl="1"/>
            <a:r>
              <a:rPr lang="en-US" altLang="en-US" sz="2800" dirty="0"/>
              <a:t>Child duplicate of parent</a:t>
            </a:r>
          </a:p>
          <a:p>
            <a:pPr lvl="1"/>
            <a:r>
              <a:rPr lang="en-US" altLang="en-US" sz="2800" dirty="0"/>
              <a:t>Child has a program loaded into it</a:t>
            </a:r>
          </a:p>
          <a:p>
            <a:r>
              <a:rPr lang="en-US" altLang="en-US" sz="2800" dirty="0"/>
              <a:t>UNIX examples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2800" dirty="0"/>
              <a:t>system call creates new process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3200" dirty="0"/>
              <a:t> </a:t>
            </a:r>
            <a:r>
              <a:rPr lang="en-US" altLang="en-US" sz="2800" dirty="0"/>
              <a:t>system call used after a </a:t>
            </a:r>
            <a:r>
              <a:rPr lang="en-US" alt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3200" dirty="0"/>
              <a:t> </a:t>
            </a:r>
            <a:r>
              <a:rPr lang="en-US" altLang="en-US" sz="2800" dirty="0"/>
              <a:t>to replace the process</a:t>
            </a:r>
            <a:r>
              <a:rPr lang="ja-JP" altLang="en-US" sz="2800" dirty="0"/>
              <a:t>’</a:t>
            </a:r>
            <a:r>
              <a:rPr lang="en-US" altLang="ja-JP" sz="2800" dirty="0"/>
              <a:t> memory space with a new program</a:t>
            </a:r>
          </a:p>
          <a:p>
            <a:pPr lvl="1"/>
            <a:r>
              <a:rPr lang="en-US" altLang="en-US" sz="2800" dirty="0"/>
              <a:t>Parent process calls </a:t>
            </a:r>
            <a:r>
              <a:rPr lang="en-US" altLang="en-US" sz="3200" b="1" dirty="0">
                <a:latin typeface="Courier New" panose="02070309020205020404" pitchFamily="49" charset="0"/>
              </a:rPr>
              <a:t>wait()</a:t>
            </a:r>
            <a:r>
              <a:rPr lang="en-US" altLang="en-US" sz="2800" dirty="0"/>
              <a:t>waiting for the child to terminate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3976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2" y="2225615"/>
            <a:ext cx="10925275" cy="1798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9567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0989" y="222251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619" y="1172442"/>
            <a:ext cx="9701682" cy="4814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0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69964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0163" y="22860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239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1638" y="1145234"/>
            <a:ext cx="9284898" cy="4858750"/>
          </a:xfrm>
        </p:spPr>
        <p:txBody>
          <a:bodyPr/>
          <a:lstStyle/>
          <a:p>
            <a:r>
              <a:rPr lang="en-US" altLang="en-US" sz="2400" dirty="0"/>
              <a:t>Process executes last statement and then asks the operating system to delete it using the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800" dirty="0"/>
              <a:t> </a:t>
            </a:r>
            <a:r>
              <a:rPr lang="en-US" altLang="en-US" sz="2400" dirty="0"/>
              <a:t>system call.</a:t>
            </a:r>
          </a:p>
          <a:p>
            <a:pPr lvl="1"/>
            <a:r>
              <a:rPr lang="en-US" altLang="en-US" sz="2400" dirty="0"/>
              <a:t>Returns  status data from child to parent (via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400" dirty="0"/>
              <a:t>)</a:t>
            </a:r>
          </a:p>
          <a:p>
            <a:pPr lvl="1"/>
            <a:r>
              <a:rPr lang="en-US" altLang="en-US" sz="2400" dirty="0"/>
              <a:t>Process</a:t>
            </a:r>
            <a:r>
              <a:rPr lang="ja-JP" altLang="en-US" sz="2400" dirty="0"/>
              <a:t>’</a:t>
            </a:r>
            <a:r>
              <a:rPr lang="en-US" altLang="ja-JP" sz="2400" dirty="0"/>
              <a:t> resources are deallocated by operating system</a:t>
            </a:r>
            <a:endParaRPr lang="en-US" altLang="en-US" sz="2400" dirty="0"/>
          </a:p>
          <a:p>
            <a:r>
              <a:rPr lang="en-US" altLang="en-US" sz="2400" dirty="0"/>
              <a:t>Parent may terminate the execution of children processes  using the </a:t>
            </a:r>
            <a:r>
              <a:rPr lang="en-US" altLang="en-US" sz="2800" b="1" strike="sngStrike" dirty="0">
                <a:solidFill>
                  <a:srgbClr val="FF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800" dirty="0"/>
              <a:t> </a:t>
            </a:r>
            <a:r>
              <a:rPr lang="en-US" altLang="en-US" sz="2400" dirty="0"/>
              <a:t>system call.  Some reasons for doing so:</a:t>
            </a:r>
          </a:p>
          <a:p>
            <a:pPr lvl="1"/>
            <a:r>
              <a:rPr lang="en-US" altLang="en-US" sz="2400" dirty="0"/>
              <a:t>Child has exceeded allocated resources</a:t>
            </a:r>
          </a:p>
          <a:p>
            <a:pPr lvl="1"/>
            <a:r>
              <a:rPr lang="en-US" altLang="en-US" sz="2400" dirty="0"/>
              <a:t>Task assigned to child is no longer required</a:t>
            </a:r>
          </a:p>
          <a:p>
            <a:pPr lvl="1"/>
            <a:r>
              <a:rPr lang="en-US" altLang="en-US" sz="2400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4817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7147" y="660647"/>
            <a:ext cx="10714007" cy="594176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1000" dirty="0"/>
          </a:p>
          <a:p>
            <a:r>
              <a:rPr lang="en-US" altLang="en-US" sz="2400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sz="2400" b="1" dirty="0"/>
              <a:t>cascading termination.  </a:t>
            </a:r>
            <a:r>
              <a:rPr lang="en-US" altLang="en-US" sz="2400" dirty="0"/>
              <a:t>All children, grandchildren, etc.,  are  terminated.</a:t>
            </a:r>
            <a:endParaRPr lang="en-US" altLang="en-US" sz="2400" b="1" dirty="0"/>
          </a:p>
          <a:p>
            <a:pPr lvl="1"/>
            <a:r>
              <a:rPr lang="en-US" altLang="en-US" sz="2400" dirty="0"/>
              <a:t>The termination is initiated by the operating system.</a:t>
            </a:r>
            <a:endParaRPr lang="en-US" altLang="en-US" sz="2400" b="1" dirty="0"/>
          </a:p>
          <a:p>
            <a:r>
              <a:rPr lang="en-US" altLang="en-US" sz="2400" dirty="0"/>
              <a:t>The parent process may wait for termination of a child process by using the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400" dirty="0"/>
              <a:t>system call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sz="2400" dirty="0"/>
              <a:t>The call returns status information and the pid of the terminated process</a:t>
            </a:r>
            <a:endParaRPr lang="en-US" altLang="en-US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sz="2400" dirty="0"/>
              <a:t>If no parent waiting (did not invoke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400" dirty="0"/>
              <a:t>) process is a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sz="2400" dirty="0"/>
              <a:t>If parent terminated without invoking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sz="2400" dirty="0"/>
              <a:t>, process is an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5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9894" y="912574"/>
            <a:ext cx="11542143" cy="4530725"/>
          </a:xfrm>
        </p:spPr>
        <p:txBody>
          <a:bodyPr/>
          <a:lstStyle/>
          <a:p>
            <a:r>
              <a:rPr lang="en-US" altLang="en-US" sz="2400" dirty="0"/>
              <a:t>Processes within a system may be </a:t>
            </a:r>
            <a:r>
              <a:rPr lang="en-US" altLang="en-US" sz="2400" b="1" i="1" dirty="0"/>
              <a:t>independent</a:t>
            </a:r>
            <a:r>
              <a:rPr lang="en-US" altLang="en-US" sz="2400" b="1" dirty="0"/>
              <a:t> </a:t>
            </a:r>
            <a:r>
              <a:rPr lang="en-US" altLang="en-US" sz="2400" dirty="0"/>
              <a:t>or </a:t>
            </a:r>
            <a:r>
              <a:rPr lang="en-US" altLang="en-US" sz="2400" b="1" i="1" dirty="0"/>
              <a:t>cooperating</a:t>
            </a:r>
          </a:p>
          <a:p>
            <a:r>
              <a:rPr lang="en-US" altLang="en-US" sz="2400" dirty="0"/>
              <a:t>Cooperating process can affect or be affected by other processes, including sharing data</a:t>
            </a:r>
          </a:p>
          <a:p>
            <a:r>
              <a:rPr lang="en-US" altLang="en-US" sz="2400" dirty="0"/>
              <a:t>Reasons for cooperating processes:</a:t>
            </a:r>
          </a:p>
          <a:p>
            <a:pPr lvl="1"/>
            <a:r>
              <a:rPr lang="en-US" altLang="en-US" sz="2400" dirty="0"/>
              <a:t>Information sharing</a:t>
            </a:r>
          </a:p>
          <a:p>
            <a:pPr lvl="1"/>
            <a:r>
              <a:rPr lang="en-US" altLang="en-US" sz="2400" dirty="0"/>
              <a:t>Computation speedup</a:t>
            </a:r>
          </a:p>
          <a:p>
            <a:pPr lvl="1"/>
            <a:r>
              <a:rPr lang="en-US" altLang="en-US" sz="2400" dirty="0"/>
              <a:t>Modularity</a:t>
            </a:r>
          </a:p>
          <a:p>
            <a:pPr lvl="1"/>
            <a:r>
              <a:rPr lang="en-US" altLang="en-US" sz="2400" dirty="0"/>
              <a:t>Convenience	</a:t>
            </a:r>
          </a:p>
          <a:p>
            <a:r>
              <a:rPr lang="en-US" altLang="en-US" sz="2400" dirty="0"/>
              <a:t>Cooperating processes need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Two models of IPC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489" y="1150939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934" y="1866900"/>
            <a:ext cx="7236132" cy="4632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0" y="22860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8389" y="1214439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585" y="95581"/>
            <a:ext cx="8426450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7439" y="1233489"/>
            <a:ext cx="7239751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Synchronization is discussed in great details in Chapters 6 &amp; 7.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2127" y="215319"/>
            <a:ext cx="78708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589" y="1144201"/>
            <a:ext cx="7029677" cy="4762529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CD9EC99-8777-7D1B-B33A-62F64F5D5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1" y="228600"/>
            <a:ext cx="2449513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Producer 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3B32C50-437B-96B7-4C8A-49B28ACD7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9576" y="1809751"/>
            <a:ext cx="4283075" cy="4557713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while (true) 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{   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     /*  produce an item and put in            nextProduced  */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      while (count == BUFFER_SIZE)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		; // do nothing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       buffer [in] = nextProduced;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       in = (in + 1) % BUFFER_SIZE;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	       count++;</a:t>
            </a:r>
          </a:p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0000FF"/>
                </a:solidFill>
              </a:rPr>
              <a:t>}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1664A-B907-96DD-33BA-848144D3A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976" y="1438276"/>
            <a:ext cx="4645025" cy="486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endParaRPr kumimoji="1" lang="en-US" sz="2000" kern="0" dirty="0">
              <a:latin typeface="+mn-lt"/>
              <a:ea typeface="ＭＳ Ｐゴシック" charset="-128"/>
            </a:endParaRP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sz="2000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    </a:t>
            </a: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while (true) 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 {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	        while (count == 0)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		        ; // do nothing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		</a:t>
            </a:r>
            <a:r>
              <a:rPr kumimoji="1" lang="en-US" kern="0" dirty="0" err="1">
                <a:solidFill>
                  <a:srgbClr val="0000FF"/>
                </a:solidFill>
                <a:latin typeface="+mn-lt"/>
                <a:ea typeface="ＭＳ Ｐゴシック" charset="-128"/>
              </a:rPr>
              <a:t>nextConsumed</a:t>
            </a: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 =  buffer[out];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		out = (out + 1) % BUFFER_SIZE;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	         count--;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   /*  consume the item in </a:t>
            </a:r>
            <a:r>
              <a:rPr kumimoji="1" lang="en-US" kern="0" dirty="0" err="1">
                <a:solidFill>
                  <a:srgbClr val="0000FF"/>
                </a:solidFill>
                <a:latin typeface="+mn-lt"/>
                <a:ea typeface="ＭＳ Ｐゴシック" charset="-128"/>
              </a:rPr>
              <a:t>nextConsumed</a:t>
            </a: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 */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defRPr/>
            </a:pPr>
            <a:r>
              <a:rPr kumimoji="1" lang="en-US" kern="0" dirty="0">
                <a:solidFill>
                  <a:srgbClr val="0000FF"/>
                </a:solidFill>
                <a:latin typeface="+mn-lt"/>
                <a:ea typeface="ＭＳ Ｐゴシック" charset="-128"/>
              </a:rPr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CA50B3-E15E-B470-B78C-7A388D369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26" y="228600"/>
            <a:ext cx="40163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defRPr/>
            </a:pPr>
            <a:r>
              <a:rPr kumimoji="1" lang="en-US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Consumer</a:t>
            </a:r>
          </a:p>
        </p:txBody>
      </p:sp>
      <p:sp>
        <p:nvSpPr>
          <p:cNvPr id="62470" name="Line 8">
            <a:extLst>
              <a:ext uri="{FF2B5EF4-FFF2-40B4-BE49-F238E27FC236}">
                <a16:creationId xmlns:a16="http://schemas.microsoft.com/office/drawing/2014/main" id="{7D91E499-9947-BCF0-10DD-89F35E7B5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838" y="1565275"/>
            <a:ext cx="0" cy="4705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E579E5-4308-6706-5DB3-F53961860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0" y="914400"/>
            <a:ext cx="5118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D03200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altLang="en-US" sz="2000" kern="0" dirty="0">
                <a:solidFill>
                  <a:schemeClr val="tx1"/>
                </a:solidFill>
              </a:rPr>
              <a:t>Initially in = out = 0;</a:t>
            </a:r>
          </a:p>
        </p:txBody>
      </p:sp>
      <p:cxnSp>
        <p:nvCxnSpPr>
          <p:cNvPr id="62472" name="Straight Connector 2">
            <a:extLst>
              <a:ext uri="{FF2B5EF4-FFF2-40B4-BE49-F238E27FC236}">
                <a16:creationId xmlns:a16="http://schemas.microsoft.com/office/drawing/2014/main" id="{3660BE42-1BBC-0715-380A-5A966EC87E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62114" y="1565275"/>
            <a:ext cx="862488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Race Condition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29640" y="1177926"/>
            <a:ext cx="7685216" cy="51736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interleaving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2223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9825" y="1201739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0476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631" y="1016001"/>
            <a:ext cx="11059064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1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If processes </a:t>
            </a:r>
            <a:r>
              <a:rPr lang="en-US" altLang="en-US" sz="2400" i="1" dirty="0"/>
              <a:t>P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Q</a:t>
            </a:r>
            <a:r>
              <a:rPr lang="en-US" altLang="en-US" sz="2400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Establish a </a:t>
            </a:r>
            <a:r>
              <a:rPr lang="en-US" altLang="en-US" sz="2400" b="1" i="1" dirty="0"/>
              <a:t>communication</a:t>
            </a:r>
            <a:r>
              <a:rPr lang="en-US" altLang="en-US" sz="2400" b="1" dirty="0"/>
              <a:t> </a:t>
            </a:r>
            <a:r>
              <a:rPr lang="en-US" altLang="en-US" sz="2400" b="1" i="1" dirty="0"/>
              <a:t>link</a:t>
            </a:r>
            <a:r>
              <a:rPr lang="en-US" altLang="en-US" sz="2400" b="1" dirty="0"/>
              <a:t> </a:t>
            </a:r>
            <a:r>
              <a:rPr lang="en-US" altLang="en-US" sz="2400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Implementation issues:</a:t>
            </a:r>
          </a:p>
          <a:p>
            <a:pPr lvl="1"/>
            <a:r>
              <a:rPr lang="en-US" altLang="en-US" sz="2400" dirty="0"/>
              <a:t>How are links established?</a:t>
            </a:r>
          </a:p>
          <a:p>
            <a:pPr lvl="1"/>
            <a:r>
              <a:rPr lang="en-US" altLang="en-US" sz="2400" dirty="0"/>
              <a:t>Can a link be associated with more than two processes?</a:t>
            </a:r>
          </a:p>
          <a:p>
            <a:pPr lvl="1"/>
            <a:r>
              <a:rPr lang="en-US" altLang="en-US" sz="2400" dirty="0"/>
              <a:t>How many links can there be between every pair of communicating processes?</a:t>
            </a:r>
          </a:p>
          <a:p>
            <a:pPr lvl="1"/>
            <a:r>
              <a:rPr lang="en-US" altLang="en-US" sz="2400" dirty="0"/>
              <a:t>What is the capacity of a link?</a:t>
            </a:r>
          </a:p>
          <a:p>
            <a:pPr lvl="1"/>
            <a:r>
              <a:rPr lang="en-US" altLang="en-US" sz="2400" dirty="0"/>
              <a:t>Is the size of a message that the link can accommodate fixed or variable?</a:t>
            </a:r>
          </a:p>
          <a:p>
            <a:pPr lvl="1"/>
            <a:r>
              <a:rPr lang="en-US" altLang="en-US" sz="2400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3489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5701" y="785814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10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 Automatic or explicit buffering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76" y="1138239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6176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651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58573" y="141202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650" y="1127126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0985" y="129170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3735" y="1324655"/>
            <a:ext cx="11432459" cy="5104967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0" indent="0">
              <a:buNone/>
            </a:pPr>
            <a:r>
              <a:rPr lang="en-US" dirty="0"/>
              <a:t>	A </a:t>
            </a:r>
            <a:r>
              <a:rPr lang="en-US" b="1" dirty="0"/>
              <a:t>rendezvous</a:t>
            </a:r>
            <a:r>
              <a:rPr lang="en-US" dirty="0"/>
              <a:t> is a synchronization mechanism where </a:t>
            </a:r>
            <a:r>
              <a:rPr lang="en-US" b="1" dirty="0"/>
              <a:t>two (or more) processes/threads must meet at a specific point before continuing</a:t>
            </a:r>
            <a:r>
              <a:rPr lang="en-US" dirty="0"/>
              <a:t>. Each thread waits until the other(s) also reach the rendezvous point. Once </a:t>
            </a:r>
            <a:r>
              <a:rPr lang="en-US" i="1" dirty="0"/>
              <a:t>all</a:t>
            </a:r>
            <a:r>
              <a:rPr lang="en-US" dirty="0"/>
              <a:t> have arrived, they can all proceed. It ensures they </a:t>
            </a:r>
            <a:r>
              <a:rPr lang="en-US" b="1" dirty="0"/>
              <a:t>synchronize at a common point. </a:t>
            </a:r>
            <a:r>
              <a:rPr lang="en-US" dirty="0"/>
              <a:t>This is to make sure threads </a:t>
            </a:r>
            <a:r>
              <a:rPr lang="en-US" b="1" dirty="0"/>
              <a:t>exchange information safely</a:t>
            </a:r>
            <a:r>
              <a:rPr lang="en-US" dirty="0"/>
              <a:t>.</a:t>
            </a: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2360195" y="955323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650" y="1127126"/>
            <a:ext cx="6637338" cy="4530725"/>
          </a:xfrm>
        </p:spPr>
        <p:txBody>
          <a:bodyPr/>
          <a:lstStyle/>
          <a:p>
            <a:r>
              <a:rPr lang="en-US" altLang="en-US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>
                <a:cs typeface="Courier New" panose="02070309020205020404" pitchFamily="49" charset="0"/>
              </a:rPr>
              <a:t>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dirty="0"/>
              <a:t>            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7081" y="129170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000" y="1233489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0789" y="225426"/>
            <a:ext cx="7850187" cy="576263"/>
          </a:xfrm>
        </p:spPr>
        <p:txBody>
          <a:bodyPr/>
          <a:lstStyle/>
          <a:p>
            <a:r>
              <a:rPr lang="en-US" altLang="en-US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9652" y="1233489"/>
            <a:ext cx="10736825" cy="5211556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  <a:p>
            <a:pPr lvl="1"/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dirty="0"/>
              <a:t>Also used to open an existing segment</a:t>
            </a:r>
          </a:p>
          <a:p>
            <a:pPr lvl="1"/>
            <a:r>
              <a:rPr lang="en-US" altLang="en-US" dirty="0"/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           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 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</a:p>
          <a:p>
            <a:pPr lvl="1"/>
            <a:r>
              <a:rPr lang="en-US" altLang="en-US" dirty="0"/>
              <a:t>Reading and writing to shared memory is done by using the pointer returned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2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78075" y="1076326"/>
            <a:ext cx="7645400" cy="4530725"/>
          </a:xfrm>
        </p:spPr>
        <p:txBody>
          <a:bodyPr/>
          <a:lstStyle/>
          <a:p>
            <a:r>
              <a:rPr lang="en-US" altLang="en-US" dirty="0"/>
              <a:t>Mach communication is message based</a:t>
            </a:r>
          </a:p>
          <a:p>
            <a:pPr lvl="1"/>
            <a:r>
              <a:rPr lang="en-US" altLang="en-US" dirty="0"/>
              <a:t>Even system calls are messages</a:t>
            </a:r>
          </a:p>
          <a:p>
            <a:pPr lvl="1"/>
            <a:r>
              <a:rPr lang="en-US" altLang="en-US" dirty="0"/>
              <a:t>Each task gets two ports at creation  - Kernel and Notify</a:t>
            </a:r>
          </a:p>
          <a:p>
            <a:pPr lvl="1"/>
            <a:r>
              <a:rPr lang="en-US" altLang="en-US" dirty="0"/>
              <a:t>Messages are sent and received using the </a:t>
            </a:r>
            <a:r>
              <a:rPr lang="en-US" altLang="en-US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b="1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</a:t>
            </a:r>
          </a:p>
          <a:p>
            <a:pPr lvl="1"/>
            <a:r>
              <a:rPr lang="en-US" altLang="en-US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    </a:t>
            </a:r>
            <a:r>
              <a:rPr lang="en-US" altLang="en-US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/>
              <a:t>Send and receive are flexible; for example four options if mailbox full:</a:t>
            </a:r>
          </a:p>
          <a:p>
            <a:pPr lvl="2"/>
            <a:r>
              <a:rPr lang="en-US" altLang="en-US" dirty="0"/>
              <a:t>Wait indefinitely</a:t>
            </a:r>
          </a:p>
          <a:p>
            <a:pPr lvl="2"/>
            <a:r>
              <a:rPr lang="en-US" altLang="en-US" dirty="0"/>
              <a:t>Wait at most n milliseconds</a:t>
            </a:r>
          </a:p>
          <a:p>
            <a:pPr lvl="2"/>
            <a:r>
              <a:rPr lang="en-US" altLang="en-US" dirty="0"/>
              <a:t>Return immediately</a:t>
            </a:r>
          </a:p>
          <a:p>
            <a:pPr lvl="2"/>
            <a:r>
              <a:rPr lang="en-US" altLang="en-US" dirty="0"/>
              <a:t>Temporarily cache a message</a:t>
            </a:r>
          </a:p>
          <a:p>
            <a:pPr lvl="1"/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3603" y="170671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3951" y="1154114"/>
            <a:ext cx="6950075" cy="4530725"/>
          </a:xfrm>
        </p:spPr>
        <p:txBody>
          <a:bodyPr/>
          <a:lstStyle/>
          <a:p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procedure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/>
            <a:r>
              <a:rPr lang="en-US" altLang="en-US" dirty="0"/>
              <a:t>Only works between processes on the same system</a:t>
            </a:r>
          </a:p>
          <a:p>
            <a:pPr lvl="1"/>
            <a:r>
              <a:rPr lang="en-US" altLang="en-US" dirty="0"/>
              <a:t>Uses ports (like mailboxes) to establish and maintain communication channels</a:t>
            </a:r>
          </a:p>
          <a:p>
            <a:pPr lvl="1"/>
            <a:r>
              <a:rPr lang="en-US" altLang="en-US" dirty="0"/>
              <a:t>Communication works as follows:</a:t>
            </a:r>
          </a:p>
          <a:p>
            <a:pPr lvl="2"/>
            <a:r>
              <a:rPr lang="en-US" altLang="en-US" dirty="0"/>
              <a:t>The client opens a handle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connection</a:t>
            </a:r>
            <a:r>
              <a:rPr lang="en-US" altLang="ja-JP" b="1" dirty="0">
                <a:solidFill>
                  <a:srgbClr val="0000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ja-JP" dirty="0"/>
              <a:t> object.</a:t>
            </a:r>
          </a:p>
          <a:p>
            <a:pPr lvl="2"/>
            <a:r>
              <a:rPr lang="en-US" altLang="en-US" dirty="0"/>
              <a:t>The client sends a connection request.</a:t>
            </a:r>
          </a:p>
          <a:p>
            <a:pPr lvl="2"/>
            <a:r>
              <a:rPr lang="en-US" altLang="en-US" dirty="0"/>
              <a:t>The server creates two private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returns the handle to one of them to the client.</a:t>
            </a:r>
          </a:p>
          <a:p>
            <a:pPr lvl="2"/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9525" y="228601"/>
            <a:ext cx="7810500" cy="576263"/>
          </a:xfrm>
        </p:spPr>
        <p:txBody>
          <a:bodyPr/>
          <a:lstStyle/>
          <a:p>
            <a:r>
              <a:rPr lang="en-US" altLang="en-US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397" y="1218842"/>
            <a:ext cx="8595058" cy="4420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8713" y="1154114"/>
            <a:ext cx="7588250" cy="4530725"/>
          </a:xfrm>
        </p:spPr>
        <p:txBody>
          <a:bodyPr/>
          <a:lstStyle/>
          <a:p>
            <a:r>
              <a:rPr lang="en-US" altLang="en-US"/>
              <a:t>Acts as a conduit allowing two processes to communicate</a:t>
            </a:r>
          </a:p>
          <a:p>
            <a:r>
              <a:rPr lang="en-US" altLang="en-US"/>
              <a:t>Issues:</a:t>
            </a:r>
          </a:p>
          <a:p>
            <a:pPr lvl="1"/>
            <a:r>
              <a:rPr lang="en-US" altLang="en-US"/>
              <a:t>Is communication unidirectional or bidirectional?</a:t>
            </a:r>
          </a:p>
          <a:p>
            <a:pPr lvl="1"/>
            <a:r>
              <a:rPr lang="en-US" altLang="en-US"/>
              <a:t>In the case of two-way communication, is it half or full-duplex?</a:t>
            </a:r>
          </a:p>
          <a:p>
            <a:pPr lvl="1"/>
            <a:r>
              <a:rPr lang="en-US" altLang="en-US"/>
              <a:t>Must there exist a relationship (i.e., </a:t>
            </a:r>
            <a:r>
              <a:rPr lang="en-US" altLang="en-US" b="1" i="1"/>
              <a:t>parent-child</a:t>
            </a:r>
            <a:r>
              <a:rPr lang="en-US" altLang="en-US"/>
              <a:t>) between the communicating processes?</a:t>
            </a:r>
          </a:p>
          <a:p>
            <a:pPr lvl="1"/>
            <a:r>
              <a:rPr lang="en-US" altLang="en-US"/>
              <a:t>Can the pipes be used over a network?</a:t>
            </a:r>
          </a:p>
          <a:p>
            <a:r>
              <a:rPr lang="en-US" altLang="en-US" b="1"/>
              <a:t>Ordinary pipes </a:t>
            </a:r>
            <a:r>
              <a:rPr lang="en-US" altLang="en-US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b="1"/>
              <a:t>Named pipes </a:t>
            </a:r>
            <a:r>
              <a:rPr lang="en-US" altLang="en-US"/>
              <a:t>– can be accessed without a parent-child relationship.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2363" y="1138239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397" y="3429000"/>
            <a:ext cx="5783968" cy="196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7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09825" y="1233489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</a:p>
          <a:p>
            <a:r>
              <a:rPr lang="en-US" altLang="en-US"/>
              <a:t>Communication is bidirectional</a:t>
            </a:r>
          </a:p>
          <a:p>
            <a:r>
              <a:rPr lang="en-US" altLang="en-US"/>
              <a:t>No parent-child relationship is necessary between the communicating processes</a:t>
            </a:r>
          </a:p>
          <a:p>
            <a:r>
              <a:rPr lang="en-US" altLang="en-US"/>
              <a:t>Several processes can use the named pipe for communication</a:t>
            </a:r>
          </a:p>
          <a:p>
            <a:r>
              <a:rPr lang="en-US" altLang="en-US"/>
              <a:t>Provided on both UNIX and Windows systems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0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000" y="1233489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0300" y="1154114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1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88" y="1401236"/>
            <a:ext cx="5954712" cy="405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6866" y="1067594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341" y="803275"/>
            <a:ext cx="5955582" cy="593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763" y="900681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441" y="1270570"/>
            <a:ext cx="5779449" cy="5312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5701" y="1138239"/>
            <a:ext cx="7654925" cy="4867275"/>
          </a:xfrm>
        </p:spPr>
        <p:txBody>
          <a:bodyPr/>
          <a:lstStyle/>
          <a:p>
            <a:r>
              <a:rPr lang="en-US" altLang="en-US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dirty="0"/>
              <a:t>Again uses ports for service differentiation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dirty="0"/>
              <a:t> – client-side proxy for the actual procedure on the server</a:t>
            </a:r>
          </a:p>
          <a:p>
            <a:r>
              <a:rPr lang="en-US" altLang="en-US" dirty="0"/>
              <a:t>The client-side stub locates the server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dirty="0"/>
              <a:t> the parameters</a:t>
            </a:r>
          </a:p>
          <a:p>
            <a:r>
              <a:rPr lang="en-US" altLang="en-US" dirty="0"/>
              <a:t>The server-side stub receives this message, unpacks the marshalled parameters, and performs the procedure on the server</a:t>
            </a:r>
          </a:p>
          <a:p>
            <a:r>
              <a:rPr lang="en-US" altLang="en-US" dirty="0"/>
              <a:t>On Windows, stub code compile from specification written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4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4275" y="969964"/>
            <a:ext cx="7672388" cy="467518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r>
              <a:rPr lang="en-US" altLang="en-US" dirty="0"/>
              <a:t>Remote communication has more failure scenarios than local</a:t>
            </a:r>
          </a:p>
          <a:p>
            <a:pPr lvl="1"/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</a:p>
          <a:p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365" y="898554"/>
            <a:ext cx="4873113" cy="5863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16804</TotalTime>
  <Words>3135</Words>
  <Application>Microsoft Office PowerPoint</Application>
  <PresentationFormat>Widescreen</PresentationFormat>
  <Paragraphs>379</Paragraphs>
  <Slides>60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Arial</vt:lpstr>
      <vt:lpstr>Courier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Process Scheduling</vt:lpstr>
      <vt:lpstr>Ready and Wait Queues</vt:lpstr>
      <vt:lpstr>Representation of Process Scheduling</vt:lpstr>
      <vt:lpstr>CPU Switch From Process to Process</vt:lpstr>
      <vt:lpstr>Schedulers</vt:lpstr>
      <vt:lpstr>Addition of Medium-Term Scheduling</vt:lpstr>
      <vt:lpstr>Schedulers (Cont)</vt:lpstr>
      <vt:lpstr>Context Switch</vt:lpstr>
      <vt:lpstr>Operations on Processes</vt:lpstr>
      <vt:lpstr>Process Creation</vt:lpstr>
      <vt:lpstr>Process Creation (Cont.)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Interprocess Communication</vt:lpstr>
      <vt:lpstr>Communications Models </vt:lpstr>
      <vt:lpstr>Producer-Consumer Problem</vt:lpstr>
      <vt:lpstr>IPC – Shared Memory</vt:lpstr>
      <vt:lpstr>What about Filling all the Buffers?</vt:lpstr>
      <vt:lpstr>Producer </vt:lpstr>
      <vt:lpstr>Race Condition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Producer-Consumer: Message Passing</vt:lpstr>
      <vt:lpstr>Buffering</vt:lpstr>
      <vt:lpstr>Examples of IPC Systems - POSIX</vt:lpstr>
      <vt:lpstr>Examples of IPC Systems - Mach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Usman Ali Shah</cp:lastModifiedBy>
  <cp:revision>364</cp:revision>
  <cp:lastPrinted>2025-09-16T14:35:55Z</cp:lastPrinted>
  <dcterms:created xsi:type="dcterms:W3CDTF">2011-01-13T23:43:38Z</dcterms:created>
  <dcterms:modified xsi:type="dcterms:W3CDTF">2026-02-17T04:36:34Z</dcterms:modified>
</cp:coreProperties>
</file>