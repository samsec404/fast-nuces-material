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4"/>
  </p:notesMasterIdLst>
  <p:handoutMasterIdLst>
    <p:handoutMasterId r:id="rId75"/>
  </p:handoutMasterIdLst>
  <p:sldIdLst>
    <p:sldId id="439" r:id="rId2"/>
    <p:sldId id="440" r:id="rId3"/>
    <p:sldId id="441" r:id="rId4"/>
    <p:sldId id="442" r:id="rId5"/>
    <p:sldId id="443" r:id="rId6"/>
    <p:sldId id="444" r:id="rId7"/>
    <p:sldId id="445" r:id="rId8"/>
    <p:sldId id="446" r:id="rId9"/>
    <p:sldId id="447" r:id="rId10"/>
    <p:sldId id="330" r:id="rId11"/>
    <p:sldId id="347" r:id="rId12"/>
    <p:sldId id="348" r:id="rId13"/>
    <p:sldId id="349" r:id="rId14"/>
    <p:sldId id="350" r:id="rId15"/>
    <p:sldId id="411" r:id="rId16"/>
    <p:sldId id="352" r:id="rId17"/>
    <p:sldId id="448" r:id="rId18"/>
    <p:sldId id="353" r:id="rId19"/>
    <p:sldId id="354" r:id="rId20"/>
    <p:sldId id="421" r:id="rId21"/>
    <p:sldId id="356" r:id="rId22"/>
    <p:sldId id="357" r:id="rId23"/>
    <p:sldId id="438" r:id="rId24"/>
    <p:sldId id="358" r:id="rId25"/>
    <p:sldId id="360" r:id="rId26"/>
    <p:sldId id="359" r:id="rId27"/>
    <p:sldId id="413" r:id="rId28"/>
    <p:sldId id="420" r:id="rId29"/>
    <p:sldId id="361" r:id="rId30"/>
    <p:sldId id="437" r:id="rId31"/>
    <p:sldId id="422" r:id="rId32"/>
    <p:sldId id="423" r:id="rId33"/>
    <p:sldId id="363" r:id="rId34"/>
    <p:sldId id="393" r:id="rId35"/>
    <p:sldId id="364" r:id="rId36"/>
    <p:sldId id="408" r:id="rId37"/>
    <p:sldId id="403" r:id="rId38"/>
    <p:sldId id="404" r:id="rId39"/>
    <p:sldId id="449" r:id="rId40"/>
    <p:sldId id="375" r:id="rId41"/>
    <p:sldId id="426" r:id="rId42"/>
    <p:sldId id="427" r:id="rId43"/>
    <p:sldId id="374" r:id="rId44"/>
    <p:sldId id="429" r:id="rId45"/>
    <p:sldId id="430" r:id="rId46"/>
    <p:sldId id="376" r:id="rId47"/>
    <p:sldId id="450" r:id="rId48"/>
    <p:sldId id="451" r:id="rId49"/>
    <p:sldId id="377" r:id="rId50"/>
    <p:sldId id="378" r:id="rId51"/>
    <p:sldId id="379" r:id="rId52"/>
    <p:sldId id="453" r:id="rId53"/>
    <p:sldId id="380" r:id="rId54"/>
    <p:sldId id="452" r:id="rId55"/>
    <p:sldId id="381" r:id="rId56"/>
    <p:sldId id="366" r:id="rId57"/>
    <p:sldId id="435" r:id="rId58"/>
    <p:sldId id="407" r:id="rId59"/>
    <p:sldId id="384" r:id="rId60"/>
    <p:sldId id="385" r:id="rId61"/>
    <p:sldId id="434" r:id="rId62"/>
    <p:sldId id="424" r:id="rId63"/>
    <p:sldId id="367" r:id="rId64"/>
    <p:sldId id="369" r:id="rId65"/>
    <p:sldId id="370" r:id="rId66"/>
    <p:sldId id="371" r:id="rId67"/>
    <p:sldId id="372" r:id="rId68"/>
    <p:sldId id="436" r:id="rId69"/>
    <p:sldId id="394" r:id="rId70"/>
    <p:sldId id="395" r:id="rId71"/>
    <p:sldId id="396" r:id="rId72"/>
    <p:sldId id="331" r:id="rId73"/>
  </p:sldIdLst>
  <p:sldSz cx="12192000" cy="6858000"/>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58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3" autoAdjust="0"/>
    <p:restoredTop sz="92905" autoAdjust="0"/>
  </p:normalViewPr>
  <p:slideViewPr>
    <p:cSldViewPr snapToGrid="0">
      <p:cViewPr varScale="1">
        <p:scale>
          <a:sx n="56" d="100"/>
          <a:sy n="56" d="100"/>
        </p:scale>
        <p:origin x="1152" y="66"/>
      </p:cViewPr>
      <p:guideLst>
        <p:guide orient="horz" pos="816"/>
        <p:guide pos="58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342900" y="698500"/>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xfrm>
            <a:off x="342900" y="698500"/>
            <a:ext cx="6197600" cy="3486150"/>
          </a:xfrm>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3630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63175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3263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59358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57291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02145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2969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51534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7003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xfrm>
            <a:off x="342900" y="698500"/>
            <a:ext cx="6197600" cy="3486150"/>
          </a:xfrm>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342900" y="696913"/>
            <a:ext cx="61976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342900" y="696913"/>
            <a:ext cx="61976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419100" y="701675"/>
            <a:ext cx="6240463"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US" altLang="en-US" b="1" i="1" dirty="0"/>
              <a:t>Controls</a:t>
            </a:r>
            <a:r>
              <a:rPr lang="en-US" altLang="en-US" dirty="0"/>
              <a:t> and </a:t>
            </a:r>
            <a:r>
              <a:rPr lang="en-US" altLang="en-US" b="1" i="1" dirty="0"/>
              <a:t>coordinates</a:t>
            </a:r>
            <a:r>
              <a:rPr lang="en-US" altLang="en-US" dirty="0"/>
              <a:t> use of </a:t>
            </a:r>
            <a:r>
              <a:rPr lang="en-US" altLang="en-US" b="1" i="1" dirty="0"/>
              <a:t>hardware</a:t>
            </a:r>
            <a:r>
              <a:rPr lang="en-US" altLang="en-US" dirty="0"/>
              <a:t> among various applications and users</a:t>
            </a:r>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US" dirty="0"/>
              <a:t>An operating system is a computer program that acts as an </a:t>
            </a:r>
            <a:r>
              <a:rPr lang="en-US" b="1" i="1" dirty="0"/>
              <a:t>intermediary </a:t>
            </a:r>
            <a:r>
              <a:rPr lang="en-US" dirty="0"/>
              <a:t>between user apps and hardware</a:t>
            </a:r>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US" dirty="0"/>
              <a:t>An operating system </a:t>
            </a:r>
            <a:r>
              <a:rPr lang="en-US" b="1" i="1" dirty="0"/>
              <a:t>controls</a:t>
            </a:r>
            <a:r>
              <a:rPr lang="en-US" dirty="0"/>
              <a:t> the hardware resources and </a:t>
            </a:r>
            <a:r>
              <a:rPr lang="en-US" b="1" i="1" dirty="0"/>
              <a:t>allocates</a:t>
            </a:r>
            <a:r>
              <a:rPr lang="en-US" dirty="0"/>
              <a:t> them to the apps</a:t>
            </a:r>
          </a:p>
          <a:p>
            <a:pPr lvl="2"/>
            <a:r>
              <a:rPr lang="en-US" dirty="0"/>
              <a:t>Acts as a control program</a:t>
            </a:r>
          </a:p>
          <a:p>
            <a:pPr lvl="2"/>
            <a:r>
              <a:rPr lang="en-US" dirty="0"/>
              <a:t>Acts as a resource allocator</a:t>
            </a:r>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r>
              <a:rPr lang="en-US" altLang="en-US" dirty="0"/>
              <a:t>A program that runs continuously from system startup to shutdown - Core of the OS called kernel</a:t>
            </a:r>
          </a:p>
          <a:p>
            <a:pPr marL="228600" marR="0" lvl="0" indent="-228600" algn="l" defTabSz="914400" rtl="0" eaLnBrk="0" fontAlgn="base" latinLnBrk="0" hangingPunct="0">
              <a:lnSpc>
                <a:spcPct val="100000"/>
              </a:lnSpc>
              <a:spcBef>
                <a:spcPct val="30000"/>
              </a:spcBef>
              <a:spcAft>
                <a:spcPct val="0"/>
              </a:spcAft>
              <a:buClrTx/>
              <a:buSzTx/>
              <a:buFontTx/>
              <a:buAutoNum type="arabicPeriod"/>
              <a:tabLst/>
              <a:defRPr/>
            </a:pPr>
            <a:endParaRPr lang="en-US" altLang="en-US" dirty="0"/>
          </a:p>
          <a:p>
            <a:endParaRPr lang="en-US" altLang="en-US"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342900" y="696913"/>
            <a:ext cx="61976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342900" y="696913"/>
            <a:ext cx="61976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User View</a:t>
            </a:r>
          </a:p>
          <a:p>
            <a:pPr lvl="1"/>
            <a:r>
              <a:rPr lang="en-US" altLang="en-US" dirty="0"/>
              <a:t>Most Attention to </a:t>
            </a:r>
            <a:r>
              <a:rPr lang="en-US" altLang="en-US" b="1" i="1" dirty="0"/>
              <a:t>ease-of-use</a:t>
            </a:r>
          </a:p>
          <a:p>
            <a:pPr lvl="1"/>
            <a:r>
              <a:rPr lang="en-US" altLang="en-US" dirty="0"/>
              <a:t>Some attention to </a:t>
            </a:r>
            <a:r>
              <a:rPr lang="en-US" altLang="en-US" b="1" i="1" dirty="0"/>
              <a:t>performance and security</a:t>
            </a:r>
          </a:p>
          <a:p>
            <a:pPr lvl="1"/>
            <a:r>
              <a:rPr lang="en-US" altLang="en-US" dirty="0"/>
              <a:t>No attention to resource utilization</a:t>
            </a:r>
          </a:p>
          <a:p>
            <a:r>
              <a:rPr lang="en-US" altLang="en-US" dirty="0"/>
              <a:t>System View</a:t>
            </a:r>
          </a:p>
          <a:p>
            <a:pPr lvl="1"/>
            <a:r>
              <a:rPr lang="en-US" altLang="en-US" b="1" i="1" dirty="0"/>
              <a:t>Resource allocator </a:t>
            </a:r>
            <a:r>
              <a:rPr lang="en-US" altLang="en-US" dirty="0"/>
              <a:t>for efficient resource utilization</a:t>
            </a:r>
          </a:p>
          <a:p>
            <a:pPr lvl="1"/>
            <a:r>
              <a:rPr lang="en-US" altLang="en-US" dirty="0"/>
              <a:t>Control program managing hardware and apps</a:t>
            </a:r>
          </a:p>
          <a:p>
            <a:endParaRPr lang="en-US" dirty="0"/>
          </a:p>
        </p:txBody>
      </p:sp>
      <p:sp>
        <p:nvSpPr>
          <p:cNvPr id="4" name="Slide Number Placeholder 3"/>
          <p:cNvSpPr>
            <a:spLocks noGrp="1"/>
          </p:cNvSpPr>
          <p:nvPr>
            <p:ph type="sldNum" sz="quarter" idx="5"/>
          </p:nvPr>
        </p:nvSpPr>
        <p:spPr/>
        <p:txBody>
          <a:bodyPr/>
          <a:lstStyle/>
          <a:p>
            <a:pPr>
              <a:defRPr/>
            </a:pPr>
            <a:fld id="{F8DDF7C7-3008-4DC4-9F8B-1490BCFC99E7}" type="slidenum">
              <a:rPr lang="en-US" altLang="en-US" smtClean="0"/>
              <a:pPr>
                <a:defRPr/>
              </a:pPr>
              <a:t>16</a:t>
            </a:fld>
            <a:endParaRPr lang="en-US" altLang="en-US"/>
          </a:p>
        </p:txBody>
      </p:sp>
    </p:spTree>
    <p:extLst>
      <p:ext uri="{BB962C8B-B14F-4D97-AF65-F5344CB8AC3E}">
        <p14:creationId xmlns:p14="http://schemas.microsoft.com/office/powerpoint/2010/main" val="1127346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342900" y="696913"/>
            <a:ext cx="61976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342900" y="696913"/>
            <a:ext cx="61976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dirty="0">
                <a:latin typeface="Times New Roman" panose="02020603050405020304" pitchFamily="18" charset="0"/>
              </a:rPr>
              <a:t>Middleware: ODBC, DirectX in Windows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342900" y="696913"/>
            <a:ext cx="61976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00434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342900" y="696913"/>
            <a:ext cx="61976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342900" y="696913"/>
            <a:ext cx="61976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B2D4756-4523-8ACF-9653-805383D5A312}"/>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83FBC13-442C-2B4F-FD2F-4EA6D195341A}"/>
              </a:ext>
            </a:extLst>
          </p:cNvPr>
          <p:cNvSpPr>
            <a:spLocks noGrp="1" noChangeArrowheads="1"/>
          </p:cNvSpPr>
          <p:nvPr>
            <p:ph type="body" idx="1"/>
          </p:nvPr>
        </p:nvSpPr>
        <p:spPr>
          <a:noFill/>
        </p:spPr>
        <p:txBody>
          <a:bodyPr/>
          <a:lstStyle/>
          <a:p>
            <a:endParaRPr lang="zh-TW"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342900" y="696913"/>
            <a:ext cx="61976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dirty="0">
                <a:latin typeface="Times New Roman" panose="02020603050405020304" pitchFamily="18" charset="0"/>
              </a:rPr>
              <a:t>Interrupt vector table or interrupt descriptor table to map interrupts to specific ISRs in device drivers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BE2D62-DA23-4A1C-BD18-BB29F30D2677}"/>
              </a:ext>
            </a:extLst>
          </p:cNvPr>
          <p:cNvSpPr>
            <a:spLocks noGrp="1" noRot="1" noChangeAspect="1" noChangeArrowheads="1" noTextEdit="1"/>
          </p:cNvSpPr>
          <p:nvPr>
            <p:ph type="sldImg"/>
          </p:nvPr>
        </p:nvSpPr>
        <p:spPr>
          <a:xfrm>
            <a:off x="342900" y="696913"/>
            <a:ext cx="6197600" cy="3486150"/>
          </a:xfrm>
          <a:ln/>
        </p:spPr>
      </p:sp>
      <p:sp>
        <p:nvSpPr>
          <p:cNvPr id="27651" name="Rectangle 3">
            <a:extLst>
              <a:ext uri="{FF2B5EF4-FFF2-40B4-BE49-F238E27FC236}">
                <a16:creationId xmlns:a16="http://schemas.microsoft.com/office/drawing/2014/main" id="{F0FE727F-6BA6-4D29-9307-3BEF0414952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342900" y="696913"/>
            <a:ext cx="61976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dirty="0">
                <a:latin typeface="Times New Roman" panose="02020603050405020304" pitchFamily="18" charset="0"/>
              </a:rPr>
              <a:t>Program counter is a CPU register that holds the address of the next instruction to execute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342900" y="696913"/>
            <a:ext cx="61976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dirty="0">
                <a:latin typeface="Times New Roman" panose="02020603050405020304" pitchFamily="18" charset="0"/>
              </a:rPr>
              <a:t>Maskable vs. Non-Maskable interrupts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342900" y="696913"/>
            <a:ext cx="61976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342900" y="696913"/>
            <a:ext cx="61976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dirty="0">
                <a:latin typeface="Times New Roman" panose="02020603050405020304" pitchFamily="18" charset="0"/>
              </a:rPr>
              <a:t>Idles the CPU in old OSes where there is only one process running at a time</a:t>
            </a:r>
          </a:p>
          <a:p>
            <a:r>
              <a:rPr lang="en-US" altLang="en-US" dirty="0">
                <a:latin typeface="Times New Roman" panose="02020603050405020304" pitchFamily="18" charset="0"/>
              </a:rPr>
              <a:t>Device-status table: type of device, ID of device, state, ID of the process using it</a:t>
            </a:r>
          </a:p>
          <a:p>
            <a:r>
              <a:rPr lang="en-US" altLang="en-US" dirty="0">
                <a:latin typeface="Times New Roman" panose="02020603050405020304" pitchFamily="18" charset="0"/>
              </a:rPr>
              <a:t>Modify entry to include interrupts means that the table is updated after the interrupt has been handled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5D6A5E8-2477-D184-1BAF-1D7E55CEBAE1}"/>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B94C991C-D5CB-990D-A4E9-13E15598E3DF}"/>
              </a:ext>
            </a:extLst>
          </p:cNvPr>
          <p:cNvSpPr>
            <a:spLocks noGrp="1" noChangeArrowheads="1"/>
          </p:cNvSpPr>
          <p:nvPr>
            <p:ph type="body" idx="1"/>
          </p:nvPr>
        </p:nvSpPr>
        <p:spPr>
          <a:noFill/>
        </p:spPr>
        <p:txBody>
          <a:bodyPr/>
          <a:lstStyle/>
          <a:p>
            <a:r>
              <a:rPr lang="en-US" dirty="0"/>
              <a:t>Kernel (PID = 0) is commonly called the </a:t>
            </a:r>
            <a:r>
              <a:rPr lang="en-US" b="1" dirty="0"/>
              <a:t>swapper</a:t>
            </a:r>
            <a:r>
              <a:rPr lang="en-US" dirty="0"/>
              <a:t>, the </a:t>
            </a:r>
            <a:r>
              <a:rPr lang="en-US" b="1" dirty="0"/>
              <a:t>idle task</a:t>
            </a:r>
            <a:r>
              <a:rPr lang="en-US" dirty="0"/>
              <a:t>, or the </a:t>
            </a:r>
            <a:r>
              <a:rPr lang="en-US" b="1" dirty="0"/>
              <a:t>scheduler</a:t>
            </a:r>
          </a:p>
          <a:p>
            <a:r>
              <a:rPr lang="en-US" altLang="zh-TW" b="1" dirty="0">
                <a:latin typeface="Times New Roman" panose="02020603050405020304" pitchFamily="18" charset="0"/>
                <a:ea typeface="ＭＳ Ｐゴシック" panose="020B0600070205080204" pitchFamily="34" charset="-128"/>
              </a:rPr>
              <a:t>Init (PID = 1) initializes other daemons</a:t>
            </a:r>
          </a:p>
          <a:p>
            <a:r>
              <a:rPr lang="en-US" altLang="zh-TW" b="1" dirty="0">
                <a:latin typeface="Times New Roman" panose="02020603050405020304" pitchFamily="18" charset="0"/>
                <a:ea typeface="ＭＳ Ｐゴシック" panose="020B0600070205080204" pitchFamily="34" charset="-128"/>
              </a:rPr>
              <a:t>Init: Old name </a:t>
            </a:r>
            <a:r>
              <a:rPr lang="en-US" altLang="zh-TW" b="1" dirty="0" err="1">
                <a:latin typeface="Times New Roman" panose="02020603050405020304" pitchFamily="18" charset="0"/>
                <a:ea typeface="ＭＳ Ｐゴシック" panose="020B0600070205080204" pitchFamily="34" charset="-128"/>
              </a:rPr>
              <a:t>SysVInit</a:t>
            </a:r>
            <a:r>
              <a:rPr lang="en-US" altLang="zh-TW" b="1" dirty="0">
                <a:latin typeface="Times New Roman" panose="02020603050405020304" pitchFamily="18" charset="0"/>
                <a:ea typeface="ＭＳ Ｐゴシック" panose="020B0600070205080204" pitchFamily="34" charset="-128"/>
              </a:rPr>
              <a:t>, which is renamed as </a:t>
            </a:r>
            <a:r>
              <a:rPr lang="en-US" altLang="zh-TW" b="1" dirty="0" err="1">
                <a:latin typeface="Times New Roman" panose="02020603050405020304" pitchFamily="18" charset="0"/>
                <a:ea typeface="ＭＳ Ｐゴシック" panose="020B0600070205080204" pitchFamily="34" charset="-128"/>
              </a:rPr>
              <a:t>systemd</a:t>
            </a:r>
            <a:r>
              <a:rPr lang="en-US" altLang="zh-TW" b="1" dirty="0">
                <a:latin typeface="Times New Roman" panose="02020603050405020304" pitchFamily="18" charset="0"/>
                <a:ea typeface="ＭＳ Ｐゴシック" panose="020B0600070205080204" pitchFamily="34" charset="-128"/>
              </a:rPr>
              <a:t> in modern Linux distributions</a:t>
            </a:r>
          </a:p>
          <a:p>
            <a:r>
              <a:rPr lang="en-US" altLang="zh-TW" b="1" dirty="0">
                <a:latin typeface="Times New Roman" panose="02020603050405020304" pitchFamily="18" charset="0"/>
                <a:ea typeface="ＭＳ Ｐゴシック" panose="020B0600070205080204" pitchFamily="34" charset="-128"/>
              </a:rPr>
              <a:t>Daemon: A process that runs continuously in background without direct user interaction – like a ghost</a:t>
            </a:r>
          </a:p>
          <a:p>
            <a:endParaRPr lang="en-US" altLang="zh-TW" b="1" dirty="0">
              <a:latin typeface="Times New Roman" panose="02020603050405020304" pitchFamily="18" charset="0"/>
              <a:ea typeface="ＭＳ Ｐゴシック" panose="020B0600070205080204" pitchFamily="34" charset="-128"/>
            </a:endParaRPr>
          </a:p>
          <a:p>
            <a:endParaRPr lang="en-US" altLang="zh-TW" b="1" dirty="0">
              <a:latin typeface="Times New Roman" panose="02020603050405020304" pitchFamily="18" charset="0"/>
              <a:ea typeface="ＭＳ Ｐゴシック" panose="020B0600070205080204" pitchFamily="34" charset="-128"/>
            </a:endParaRPr>
          </a:p>
          <a:p>
            <a:endParaRPr lang="zh-TW" altLang="en-US" dirty="0">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342900" y="696913"/>
            <a:ext cx="61976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342900" y="696913"/>
            <a:ext cx="61976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342900" y="696913"/>
            <a:ext cx="61976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342900" y="696913"/>
            <a:ext cx="61976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342900" y="696913"/>
            <a:ext cx="61976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342900" y="696913"/>
            <a:ext cx="61976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342900" y="696913"/>
            <a:ext cx="61976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342900" y="696913"/>
            <a:ext cx="61976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621909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342900" y="696913"/>
            <a:ext cx="61976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342900" y="696913"/>
            <a:ext cx="61976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342900" y="696913"/>
            <a:ext cx="61976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342900" y="696913"/>
            <a:ext cx="61976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342900" y="696913"/>
            <a:ext cx="61976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342900" y="696913"/>
            <a:ext cx="61976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342900" y="696913"/>
            <a:ext cx="61976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342900" y="696913"/>
            <a:ext cx="61976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908635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342900" y="696913"/>
            <a:ext cx="61976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081151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342900" y="696913"/>
            <a:ext cx="61976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342900" y="696913"/>
            <a:ext cx="61976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342900" y="696913"/>
            <a:ext cx="61976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342900" y="696913"/>
            <a:ext cx="61976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66246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342900" y="696913"/>
            <a:ext cx="61976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342900" y="696913"/>
            <a:ext cx="61976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99301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342900" y="696913"/>
            <a:ext cx="61976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342900" y="696913"/>
            <a:ext cx="61976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342900" y="696913"/>
            <a:ext cx="61976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342900" y="696913"/>
            <a:ext cx="61976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342900" y="696913"/>
            <a:ext cx="61976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342900" y="696913"/>
            <a:ext cx="61976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altLang="en-US" dirty="0">
                <a:latin typeface="Times New Roman" panose="02020603050405020304" pitchFamily="18" charset="0"/>
              </a:rPr>
              <a:t>Protection: Internal focus</a:t>
            </a:r>
          </a:p>
          <a:p>
            <a:r>
              <a:rPr lang="en-US" altLang="en-US" dirty="0">
                <a:latin typeface="Times New Roman" panose="02020603050405020304" pitchFamily="18" charset="0"/>
              </a:rPr>
              <a:t>Security: External focus</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Server, Red Hat Linux Enterprise, Novel Netware (obsolete)</a:t>
            </a:r>
          </a:p>
        </p:txBody>
      </p:sp>
      <p:sp>
        <p:nvSpPr>
          <p:cNvPr id="4" name="Slide Number Placeholder 3"/>
          <p:cNvSpPr>
            <a:spLocks noGrp="1"/>
          </p:cNvSpPr>
          <p:nvPr>
            <p:ph type="sldNum" sz="quarter" idx="5"/>
          </p:nvPr>
        </p:nvSpPr>
        <p:spPr/>
        <p:txBody>
          <a:bodyPr/>
          <a:lstStyle/>
          <a:p>
            <a:pPr>
              <a:defRPr/>
            </a:pPr>
            <a:fld id="{F8DDF7C7-3008-4DC4-9F8B-1490BCFC99E7}" type="slidenum">
              <a:rPr lang="en-US" altLang="en-US" smtClean="0"/>
              <a:pPr>
                <a:defRPr/>
              </a:pPr>
              <a:t>61</a:t>
            </a:fld>
            <a:endParaRPr lang="en-US" altLang="en-US"/>
          </a:p>
        </p:txBody>
      </p:sp>
    </p:spTree>
    <p:extLst>
      <p:ext uri="{BB962C8B-B14F-4D97-AF65-F5344CB8AC3E}">
        <p14:creationId xmlns:p14="http://schemas.microsoft.com/office/powerpoint/2010/main" val="17637484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342900" y="696913"/>
            <a:ext cx="61976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15427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342900" y="696913"/>
            <a:ext cx="61976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342900" y="696913"/>
            <a:ext cx="61976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342900" y="696913"/>
            <a:ext cx="61976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342900" y="696913"/>
            <a:ext cx="61976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68</a:t>
            </a:fld>
            <a:endParaRPr lang="en-US" altLang="en-US" sz="1200"/>
          </a:p>
        </p:txBody>
      </p:sp>
      <p:sp>
        <p:nvSpPr>
          <p:cNvPr id="98307" name="Rectangle 2"/>
          <p:cNvSpPr>
            <a:spLocks noGrp="1" noRot="1" noChangeAspect="1" noChangeArrowheads="1" noTextEdit="1"/>
          </p:cNvSpPr>
          <p:nvPr>
            <p:ph type="sldImg"/>
          </p:nvPr>
        </p:nvSpPr>
        <p:spPr>
          <a:xfrm>
            <a:off x="342900" y="698500"/>
            <a:ext cx="6197600" cy="3486150"/>
          </a:xfrm>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13001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72</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xfrm>
            <a:off x="342900" y="698500"/>
            <a:ext cx="6197600" cy="3486150"/>
          </a:xfrm>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264584" y="2960688"/>
            <a:ext cx="114808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8652933" y="6588126"/>
            <a:ext cx="3617384"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35985" y="6613526"/>
            <a:ext cx="270138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609600" y="27781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1075267" y="1233489"/>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3048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609600" y="860425"/>
            <a:ext cx="107696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3048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3048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5749454" y="6613526"/>
            <a:ext cx="447558" cy="246221"/>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8652933" y="6588126"/>
            <a:ext cx="3617384"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247651" y="6621463"/>
            <a:ext cx="273023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usman.shah@nu.edu.pk"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mailto:iqra.rehman@nu.edu.pk"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mailto:xyz@pwr.nu.edu.pk"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7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1866900" y="1207698"/>
            <a:ext cx="8458200" cy="2542906"/>
          </a:xfrm>
          <a:noFill/>
        </p:spPr>
        <p:txBody>
          <a:bodyPr/>
          <a:lstStyle/>
          <a:p>
            <a:pPr eaLnBrk="1" hangingPunct="1"/>
            <a:r>
              <a:rPr lang="en-US" altLang="en-US" dirty="0"/>
              <a:t>CS2006 – Operating Systems</a:t>
            </a:r>
            <a:br>
              <a:rPr lang="en-US" altLang="en-US" dirty="0"/>
            </a:br>
            <a:r>
              <a:rPr lang="en-US" altLang="en-US" sz="2000" dirty="0"/>
              <a:t>Instructor: Dr. Usman Ali Shah</a:t>
            </a:r>
            <a:br>
              <a:rPr lang="en-US" altLang="en-US" sz="2000" dirty="0"/>
            </a:br>
            <a:r>
              <a:rPr lang="en-US" altLang="en-US" sz="2000" dirty="0"/>
              <a:t>FAST-NUCES, Peshawar</a:t>
            </a:r>
            <a:br>
              <a:rPr lang="en-US" altLang="en-US" sz="2000" dirty="0"/>
            </a:br>
            <a:r>
              <a:rPr lang="en-US" altLang="en-US" sz="2000" dirty="0"/>
              <a:t>Spring 2026</a:t>
            </a:r>
            <a:br>
              <a:rPr lang="en-US" altLang="en-US" sz="2000" dirty="0"/>
            </a:br>
            <a:br>
              <a:rPr lang="en-US" altLang="en-US" sz="2000" dirty="0"/>
            </a:br>
            <a:br>
              <a:rPr lang="en-US" altLang="en-US" sz="2000" dirty="0"/>
            </a:br>
            <a:r>
              <a:rPr lang="en-US" altLang="en-US" sz="2000" dirty="0"/>
              <a:t>Slide Set 1</a:t>
            </a:r>
            <a:endParaRPr lang="en-US" altLang="en-US" dirty="0"/>
          </a:p>
        </p:txBody>
      </p:sp>
    </p:spTree>
    <p:extLst>
      <p:ext uri="{BB962C8B-B14F-4D97-AF65-F5344CB8AC3E}">
        <p14:creationId xmlns:p14="http://schemas.microsoft.com/office/powerpoint/2010/main" val="445579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1981200" y="203201"/>
            <a:ext cx="8034338" cy="576263"/>
          </a:xfrm>
        </p:spPr>
        <p:txBody>
          <a:bodyPr/>
          <a:lstStyle/>
          <a:p>
            <a:pPr eaLnBrk="1" hangingPunct="1"/>
            <a:r>
              <a:rPr lang="en-US" altLang="en-US" dirty="0"/>
              <a:t>The Teacher</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1075267" y="1112718"/>
            <a:ext cx="10972800" cy="5542081"/>
          </a:xfrm>
        </p:spPr>
        <p:txBody>
          <a:bodyPr/>
          <a:lstStyle/>
          <a:p>
            <a:r>
              <a:rPr lang="en-US" sz="2000" dirty="0"/>
              <a:t>Dr. Usman Ali Shah</a:t>
            </a:r>
          </a:p>
          <a:p>
            <a:pPr lvl="1"/>
            <a:r>
              <a:rPr lang="en-US" sz="2000" dirty="0"/>
              <a:t>Assistant Professor</a:t>
            </a:r>
          </a:p>
          <a:p>
            <a:pPr lvl="1"/>
            <a:r>
              <a:rPr lang="en-US" sz="2000" dirty="0"/>
              <a:t>Department of Computer Science, NUCES, Peshawar</a:t>
            </a:r>
          </a:p>
          <a:p>
            <a:r>
              <a:rPr lang="en-US" sz="2000" dirty="0"/>
              <a:t>PhD from UET, Peshawar</a:t>
            </a:r>
          </a:p>
          <a:p>
            <a:r>
              <a:rPr lang="en-US" sz="2000" dirty="0"/>
              <a:t>MS from UET, Taxila</a:t>
            </a:r>
          </a:p>
          <a:p>
            <a:r>
              <a:rPr lang="en-US" sz="2000" dirty="0"/>
              <a:t>In the field since 2004</a:t>
            </a:r>
          </a:p>
          <a:p>
            <a:pPr lvl="1"/>
            <a:r>
              <a:rPr lang="en-US" sz="2000" dirty="0"/>
              <a:t>COMSATS, Wah Cantt</a:t>
            </a:r>
          </a:p>
          <a:p>
            <a:pPr lvl="1"/>
            <a:r>
              <a:rPr lang="en-US" sz="2000" dirty="0"/>
              <a:t>Hazara University, </a:t>
            </a:r>
            <a:r>
              <a:rPr lang="en-US" sz="2000" dirty="0" err="1"/>
              <a:t>Mansehra</a:t>
            </a:r>
            <a:endParaRPr lang="en-US" sz="2000" dirty="0"/>
          </a:p>
          <a:p>
            <a:pPr lvl="1"/>
            <a:r>
              <a:rPr lang="en-US" sz="2000" dirty="0"/>
              <a:t>Pakistan Meteorological Department, Islamabad</a:t>
            </a:r>
          </a:p>
          <a:p>
            <a:pPr lvl="1"/>
            <a:r>
              <a:rPr lang="en-US" sz="2000" dirty="0"/>
              <a:t>Islamia College University, Peshawar</a:t>
            </a:r>
          </a:p>
          <a:p>
            <a:pPr lvl="1"/>
            <a:r>
              <a:rPr lang="en-US" sz="2000" dirty="0"/>
              <a:t>FAST NUCES, Peshawar</a:t>
            </a:r>
          </a:p>
          <a:p>
            <a:r>
              <a:rPr lang="en-US" sz="2000" dirty="0"/>
              <a:t>Office No. 6, Admin Block</a:t>
            </a:r>
          </a:p>
          <a:p>
            <a:r>
              <a:rPr lang="en-US" sz="2000" dirty="0"/>
              <a:t>Email: </a:t>
            </a:r>
            <a:r>
              <a:rPr lang="en-US" sz="2000" dirty="0">
                <a:solidFill>
                  <a:srgbClr val="0070C0"/>
                </a:solidFill>
                <a:hlinkClick r:id="rId3">
                  <a:extLst>
                    <a:ext uri="{A12FA001-AC4F-418D-AE19-62706E023703}">
                      <ahyp:hlinkClr xmlns:ahyp="http://schemas.microsoft.com/office/drawing/2018/hyperlinkcolor" val="tx"/>
                    </a:ext>
                  </a:extLst>
                </a:hlinkClick>
              </a:rPr>
              <a:t>usman.shah@nu.edu.pk</a:t>
            </a:r>
            <a:endParaRPr lang="en-US" sz="2000" dirty="0">
              <a:solidFill>
                <a:srgbClr val="0070C0"/>
              </a:solidFill>
            </a:endParaRPr>
          </a:p>
          <a:p>
            <a:pPr>
              <a:buFont typeface="Monotype Sorts" pitchFamily="-84" charset="2"/>
              <a:buNone/>
            </a:pPr>
            <a:endParaRPr lang="en-US" altLang="en-US" sz="2000" dirty="0"/>
          </a:p>
          <a:p>
            <a:endParaRPr lang="en-US" altLang="en-US" sz="2000" dirty="0"/>
          </a:p>
        </p:txBody>
      </p:sp>
    </p:spTree>
    <p:extLst>
      <p:ext uri="{BB962C8B-B14F-4D97-AF65-F5344CB8AC3E}">
        <p14:creationId xmlns:p14="http://schemas.microsoft.com/office/powerpoint/2010/main" val="431474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1981200" y="203201"/>
            <a:ext cx="8034338" cy="576263"/>
          </a:xfrm>
        </p:spPr>
        <p:txBody>
          <a:bodyPr/>
          <a:lstStyle/>
          <a:p>
            <a:pPr eaLnBrk="1" hangingPunct="1"/>
            <a:r>
              <a:rPr lang="en-US" altLang="en-US" dirty="0"/>
              <a:t>Other Teachers</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1075267" y="1233489"/>
            <a:ext cx="10972800" cy="5201817"/>
          </a:xfrm>
        </p:spPr>
        <p:txBody>
          <a:bodyPr/>
          <a:lstStyle/>
          <a:p>
            <a:r>
              <a:rPr lang="en-US" sz="2400" dirty="0"/>
              <a:t>Lab</a:t>
            </a:r>
            <a:r>
              <a:rPr lang="fr-FR" sz="2400" dirty="0"/>
              <a:t> </a:t>
            </a:r>
            <a:r>
              <a:rPr lang="en-US" sz="2400" dirty="0"/>
              <a:t>Instructor</a:t>
            </a:r>
            <a:r>
              <a:rPr lang="fr-FR" sz="2400" dirty="0"/>
              <a:t>:</a:t>
            </a:r>
          </a:p>
          <a:p>
            <a:pPr lvl="1"/>
            <a:r>
              <a:rPr lang="fr-FR" sz="2400" dirty="0"/>
              <a:t>Ms. </a:t>
            </a:r>
            <a:r>
              <a:rPr lang="fr-FR" sz="2400" dirty="0" err="1"/>
              <a:t>Iqra</a:t>
            </a:r>
            <a:r>
              <a:rPr lang="fr-FR" sz="2400" dirty="0"/>
              <a:t> </a:t>
            </a:r>
            <a:r>
              <a:rPr lang="fr-FR" sz="2400" dirty="0" err="1"/>
              <a:t>Rehman</a:t>
            </a:r>
            <a:endParaRPr lang="fr-FR" sz="2400" dirty="0"/>
          </a:p>
          <a:p>
            <a:pPr lvl="1"/>
            <a:r>
              <a:rPr lang="fr-FR" sz="2400" dirty="0"/>
              <a:t>Email: </a:t>
            </a:r>
            <a:r>
              <a:rPr lang="fr-FR" sz="2400" dirty="0">
                <a:solidFill>
                  <a:srgbClr val="0070C0"/>
                </a:solidFill>
                <a:hlinkClick r:id="rId3">
                  <a:extLst>
                    <a:ext uri="{A12FA001-AC4F-418D-AE19-62706E023703}">
                      <ahyp:hlinkClr xmlns:ahyp="http://schemas.microsoft.com/office/drawing/2018/hyperlinkcolor" val="tx"/>
                    </a:ext>
                  </a:extLst>
                </a:hlinkClick>
              </a:rPr>
              <a:t>iqra.rehman@nu.edu.pk</a:t>
            </a:r>
            <a:endParaRPr lang="fr-FR" sz="2400" dirty="0"/>
          </a:p>
          <a:p>
            <a:r>
              <a:rPr lang="fr-FR" sz="2400" dirty="0" err="1"/>
              <a:t>Teaching</a:t>
            </a:r>
            <a:r>
              <a:rPr lang="fr-FR" sz="2400" dirty="0"/>
              <a:t> Assistant:</a:t>
            </a:r>
          </a:p>
          <a:p>
            <a:pPr lvl="1"/>
            <a:r>
              <a:rPr lang="fr-FR" sz="2400" dirty="0"/>
              <a:t>To </a:t>
            </a:r>
            <a:r>
              <a:rPr lang="fr-FR" sz="2400" dirty="0" err="1"/>
              <a:t>be</a:t>
            </a:r>
            <a:r>
              <a:rPr lang="fr-FR" sz="2400" dirty="0"/>
              <a:t> </a:t>
            </a:r>
            <a:r>
              <a:rPr lang="en-US" sz="2400" dirty="0"/>
              <a:t>announced</a:t>
            </a:r>
            <a:r>
              <a:rPr lang="fr-FR" sz="2400" dirty="0"/>
              <a:t> </a:t>
            </a:r>
            <a:r>
              <a:rPr lang="fr-FR" sz="2400" dirty="0" err="1"/>
              <a:t>later</a:t>
            </a:r>
            <a:endParaRPr lang="fr-FR" sz="2400" dirty="0"/>
          </a:p>
          <a:p>
            <a:endParaRPr lang="fr-FR" sz="2400" dirty="0">
              <a:solidFill>
                <a:srgbClr val="0070C0"/>
              </a:solidFill>
            </a:endParaRPr>
          </a:p>
          <a:p>
            <a:endParaRPr lang="fr-FR" sz="2400" dirty="0"/>
          </a:p>
          <a:p>
            <a:endParaRPr lang="en-US" sz="2400" dirty="0"/>
          </a:p>
          <a:p>
            <a:endParaRPr lang="en-US" sz="2000" dirty="0"/>
          </a:p>
          <a:p>
            <a:pPr>
              <a:buFont typeface="Monotype Sorts" pitchFamily="-84" charset="2"/>
              <a:buNone/>
            </a:pPr>
            <a:endParaRPr lang="en-US" altLang="en-US" sz="2000" dirty="0"/>
          </a:p>
          <a:p>
            <a:endParaRPr lang="en-US" altLang="en-US" sz="2000" dirty="0"/>
          </a:p>
        </p:txBody>
      </p:sp>
    </p:spTree>
    <p:extLst>
      <p:ext uri="{BB962C8B-B14F-4D97-AF65-F5344CB8AC3E}">
        <p14:creationId xmlns:p14="http://schemas.microsoft.com/office/powerpoint/2010/main" val="1553925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1981200" y="203201"/>
            <a:ext cx="8034338" cy="576263"/>
          </a:xfrm>
        </p:spPr>
        <p:txBody>
          <a:bodyPr/>
          <a:lstStyle/>
          <a:p>
            <a:pPr eaLnBrk="1" hangingPunct="1"/>
            <a:r>
              <a:rPr lang="en-US" altLang="en-US" dirty="0"/>
              <a:t>The Course</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574938" y="1233489"/>
            <a:ext cx="10972800" cy="4530725"/>
          </a:xfrm>
        </p:spPr>
        <p:txBody>
          <a:bodyPr/>
          <a:lstStyle/>
          <a:p>
            <a:pPr marL="0" indent="0" algn="ctr">
              <a:buNone/>
            </a:pPr>
            <a:r>
              <a:rPr lang="en-US" altLang="en-US" sz="2400" b="1" dirty="0"/>
              <a:t>Objectives</a:t>
            </a:r>
          </a:p>
          <a:p>
            <a:r>
              <a:rPr lang="en-US" altLang="en-US" sz="2400" dirty="0"/>
              <a:t>To understand fundamental concepts like processes, threads, concurrency, synchronization and inter-process communication (IPC).</a:t>
            </a:r>
          </a:p>
          <a:p>
            <a:r>
              <a:rPr lang="en-US" altLang="en-US" sz="2400" dirty="0"/>
              <a:t>To understand  how operating systems manage hardware resources like CPU, memory and I/O devices</a:t>
            </a:r>
          </a:p>
          <a:p>
            <a:r>
              <a:rPr lang="en-US" altLang="en-US" sz="2400" dirty="0"/>
              <a:t>To develop hands-on expertise in operating system tasks, specifically using Linux commands and system calls.</a:t>
            </a:r>
          </a:p>
          <a:p>
            <a:r>
              <a:rPr lang="en-US" altLang="en-US" sz="2400" dirty="0"/>
              <a:t>To learn how to analyze the performance of different OS features and understand protection / security mechanisms.</a:t>
            </a:r>
          </a:p>
          <a:p>
            <a:endParaRPr lang="en-US" altLang="en-US" sz="2400" dirty="0"/>
          </a:p>
        </p:txBody>
      </p:sp>
    </p:spTree>
    <p:extLst>
      <p:ext uri="{BB962C8B-B14F-4D97-AF65-F5344CB8AC3E}">
        <p14:creationId xmlns:p14="http://schemas.microsoft.com/office/powerpoint/2010/main" val="4201502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1981200" y="203201"/>
            <a:ext cx="8034338" cy="576263"/>
          </a:xfrm>
        </p:spPr>
        <p:txBody>
          <a:bodyPr/>
          <a:lstStyle/>
          <a:p>
            <a:pPr eaLnBrk="1" hangingPunct="1"/>
            <a:r>
              <a:rPr lang="en-US" altLang="en-US" dirty="0"/>
              <a:t>The Course</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764713" y="1233489"/>
            <a:ext cx="10673910" cy="4530725"/>
          </a:xfrm>
        </p:spPr>
        <p:txBody>
          <a:bodyPr/>
          <a:lstStyle/>
          <a:p>
            <a:pPr marL="0" indent="0" algn="ctr">
              <a:buNone/>
            </a:pPr>
            <a:r>
              <a:rPr lang="en-US" altLang="en-US" sz="2400" b="1" dirty="0"/>
              <a:t>Course Learning Outcomes</a:t>
            </a:r>
          </a:p>
          <a:p>
            <a:r>
              <a:rPr lang="en-US" altLang="en-US" sz="2400" b="1" i="1" dirty="0"/>
              <a:t>CLO-1</a:t>
            </a:r>
            <a:r>
              <a:rPr lang="en-US" altLang="en-US" sz="2400" dirty="0"/>
              <a:t>: Understand the characteristics of different structures of the operating systems and identify its core functions.</a:t>
            </a:r>
          </a:p>
          <a:p>
            <a:r>
              <a:rPr lang="en-US" altLang="en-US" sz="2400" b="1" i="1" dirty="0"/>
              <a:t>CLO-2</a:t>
            </a:r>
            <a:r>
              <a:rPr lang="en-US" altLang="en-US" sz="2400" dirty="0"/>
              <a:t>: Analyze and evaluate the algorithms of the core functions of the OS and explain the major performance issues with regard to these core functions.</a:t>
            </a:r>
          </a:p>
          <a:p>
            <a:r>
              <a:rPr lang="en-US" altLang="en-US" sz="2400" b="1" i="1" dirty="0"/>
              <a:t>CLO-3</a:t>
            </a:r>
            <a:r>
              <a:rPr lang="en-US" altLang="en-US" sz="2400" dirty="0"/>
              <a:t>: Demonstrate the knowledge in applying system software and tools available in modern operating systems.</a:t>
            </a:r>
          </a:p>
          <a:p>
            <a:endParaRPr lang="en-US" altLang="en-US" sz="2400" dirty="0"/>
          </a:p>
        </p:txBody>
      </p:sp>
    </p:spTree>
    <p:extLst>
      <p:ext uri="{BB962C8B-B14F-4D97-AF65-F5344CB8AC3E}">
        <p14:creationId xmlns:p14="http://schemas.microsoft.com/office/powerpoint/2010/main" val="1322342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1981200" y="203201"/>
            <a:ext cx="8034338" cy="576263"/>
          </a:xfrm>
        </p:spPr>
        <p:txBody>
          <a:bodyPr/>
          <a:lstStyle/>
          <a:p>
            <a:pPr eaLnBrk="1" hangingPunct="1"/>
            <a:r>
              <a:rPr lang="en-US" altLang="en-US" dirty="0"/>
              <a:t>The Course</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661201" y="1233489"/>
            <a:ext cx="10673910" cy="4530725"/>
          </a:xfrm>
        </p:spPr>
        <p:txBody>
          <a:bodyPr/>
          <a:lstStyle/>
          <a:p>
            <a:pPr marL="0" indent="0" algn="ctr">
              <a:buNone/>
            </a:pPr>
            <a:r>
              <a:rPr lang="en-US" altLang="en-US" sz="2000" b="1" dirty="0"/>
              <a:t>Course Outline</a:t>
            </a:r>
          </a:p>
          <a:p>
            <a:r>
              <a:rPr lang="en-US" altLang="en-US" sz="2000" dirty="0"/>
              <a:t>Operating systems basics</a:t>
            </a:r>
          </a:p>
          <a:p>
            <a:r>
              <a:rPr lang="en-US" altLang="en-US" sz="2000" dirty="0"/>
              <a:t>System calls</a:t>
            </a:r>
          </a:p>
          <a:p>
            <a:r>
              <a:rPr lang="en-US" altLang="en-US" sz="2000" dirty="0"/>
              <a:t>The concept of process, process scheduling and inter-process communication</a:t>
            </a:r>
          </a:p>
          <a:p>
            <a:r>
              <a:rPr lang="en-US" altLang="en-US" sz="2000" dirty="0"/>
              <a:t>Multithreaded programming, multithreading models, threading issues</a:t>
            </a:r>
          </a:p>
          <a:p>
            <a:r>
              <a:rPr lang="en-US" altLang="en-US" sz="2000" dirty="0"/>
              <a:t>Process scheduling algorithms</a:t>
            </a:r>
          </a:p>
          <a:p>
            <a:r>
              <a:rPr lang="en-US" altLang="en-US" sz="2000" dirty="0"/>
              <a:t>Synchronization</a:t>
            </a:r>
          </a:p>
          <a:p>
            <a:r>
              <a:rPr lang="en-US" altLang="en-US" sz="2000" dirty="0"/>
              <a:t>Deadlocks</a:t>
            </a:r>
          </a:p>
          <a:p>
            <a:r>
              <a:rPr lang="en-US" altLang="en-US" sz="2000" dirty="0"/>
              <a:t>Memory management and virtual memory</a:t>
            </a:r>
          </a:p>
          <a:p>
            <a:r>
              <a:rPr lang="en-US" altLang="en-US" sz="2000" dirty="0"/>
              <a:t>File systems</a:t>
            </a:r>
          </a:p>
          <a:p>
            <a:r>
              <a:rPr lang="en-US" altLang="en-US" sz="2000" dirty="0"/>
              <a:t>Virtual machines</a:t>
            </a:r>
          </a:p>
        </p:txBody>
      </p:sp>
    </p:spTree>
    <p:extLst>
      <p:ext uri="{BB962C8B-B14F-4D97-AF65-F5344CB8AC3E}">
        <p14:creationId xmlns:p14="http://schemas.microsoft.com/office/powerpoint/2010/main" val="2792833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1981200" y="203201"/>
            <a:ext cx="8034338" cy="576263"/>
          </a:xfrm>
        </p:spPr>
        <p:txBody>
          <a:bodyPr/>
          <a:lstStyle/>
          <a:p>
            <a:pPr eaLnBrk="1" hangingPunct="1"/>
            <a:r>
              <a:rPr lang="en-US" altLang="en-US" dirty="0"/>
              <a:t>The Course</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730212" y="1233489"/>
            <a:ext cx="10673910" cy="4530725"/>
          </a:xfrm>
        </p:spPr>
        <p:txBody>
          <a:bodyPr/>
          <a:lstStyle/>
          <a:p>
            <a:pPr marL="0" indent="0" algn="ctr">
              <a:buNone/>
            </a:pPr>
            <a:r>
              <a:rPr lang="en-US" altLang="en-US" sz="2400" b="1" dirty="0"/>
              <a:t>Reference Material</a:t>
            </a:r>
          </a:p>
          <a:p>
            <a:r>
              <a:rPr lang="en-US" altLang="en-US" sz="2400" dirty="0"/>
              <a:t>Primary Textbook:</a:t>
            </a:r>
          </a:p>
          <a:p>
            <a:pPr lvl="1"/>
            <a:r>
              <a:rPr lang="en-US" altLang="en-US" sz="2400" dirty="0"/>
              <a:t>Operating Systems Concepts by </a:t>
            </a:r>
            <a:r>
              <a:rPr lang="en-US" altLang="en-US" sz="2400" dirty="0" err="1"/>
              <a:t>Silberschatz</a:t>
            </a:r>
            <a:r>
              <a:rPr lang="en-US" altLang="en-US" sz="2400" dirty="0"/>
              <a:t> - 10th Edition</a:t>
            </a:r>
          </a:p>
          <a:p>
            <a:r>
              <a:rPr lang="en-US" altLang="en-US" sz="2400" dirty="0"/>
              <a:t>Additional Book:</a:t>
            </a:r>
          </a:p>
          <a:p>
            <a:pPr lvl="1"/>
            <a:r>
              <a:rPr lang="en-US" altLang="en-US" sz="2400" dirty="0"/>
              <a:t>Operating Systems: Internals and Design Principles by William Stallings - 9th Edition</a:t>
            </a:r>
          </a:p>
          <a:p>
            <a:r>
              <a:rPr lang="en-US" altLang="en-US" sz="2400" dirty="0"/>
              <a:t>Both uploaded to the GCR</a:t>
            </a:r>
          </a:p>
        </p:txBody>
      </p:sp>
    </p:spTree>
    <p:extLst>
      <p:ext uri="{BB962C8B-B14F-4D97-AF65-F5344CB8AC3E}">
        <p14:creationId xmlns:p14="http://schemas.microsoft.com/office/powerpoint/2010/main" val="2930056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1981200" y="203201"/>
            <a:ext cx="8034338" cy="576263"/>
          </a:xfrm>
        </p:spPr>
        <p:txBody>
          <a:bodyPr/>
          <a:lstStyle/>
          <a:p>
            <a:pPr eaLnBrk="1" hangingPunct="1"/>
            <a:r>
              <a:rPr lang="en-US" altLang="en-US" dirty="0"/>
              <a:t>The Course</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730210" y="1233489"/>
            <a:ext cx="10673910" cy="4530725"/>
          </a:xfrm>
        </p:spPr>
        <p:txBody>
          <a:bodyPr/>
          <a:lstStyle/>
          <a:p>
            <a:pPr marL="0" indent="0" algn="ctr">
              <a:buNone/>
            </a:pPr>
            <a:r>
              <a:rPr lang="en-US" altLang="en-US" sz="2400" b="1" dirty="0"/>
              <a:t>Assessments</a:t>
            </a:r>
          </a:p>
          <a:p>
            <a:pPr marL="0" indent="0" algn="ctr">
              <a:buNone/>
            </a:pPr>
            <a:endParaRPr lang="en-US" altLang="en-US" sz="2400" b="1" dirty="0"/>
          </a:p>
        </p:txBody>
      </p:sp>
      <p:graphicFrame>
        <p:nvGraphicFramePr>
          <p:cNvPr id="6" name="Table 5">
            <a:extLst>
              <a:ext uri="{FF2B5EF4-FFF2-40B4-BE49-F238E27FC236}">
                <a16:creationId xmlns:a16="http://schemas.microsoft.com/office/drawing/2014/main" id="{6506CC8C-0AC2-47C0-A00C-34F87CCC8F9A}"/>
              </a:ext>
            </a:extLst>
          </p:cNvPr>
          <p:cNvGraphicFramePr>
            <a:graphicFrameLocks noGrp="1"/>
          </p:cNvGraphicFramePr>
          <p:nvPr>
            <p:extLst>
              <p:ext uri="{D42A27DB-BD31-4B8C-83A1-F6EECF244321}">
                <p14:modId xmlns:p14="http://schemas.microsoft.com/office/powerpoint/2010/main" val="4073769323"/>
              </p:ext>
            </p:extLst>
          </p:nvPr>
        </p:nvGraphicFramePr>
        <p:xfrm>
          <a:off x="3198495" y="1913438"/>
          <a:ext cx="5795010" cy="1952625"/>
        </p:xfrm>
        <a:graphic>
          <a:graphicData uri="http://schemas.openxmlformats.org/drawingml/2006/table">
            <a:tbl>
              <a:tblPr firstRow="1" firstCol="1" bandRow="1">
                <a:tableStyleId>{5C22544A-7EE6-4342-B048-85BDC9FD1C3A}</a:tableStyleId>
              </a:tblPr>
              <a:tblGrid>
                <a:gridCol w="4232909">
                  <a:extLst>
                    <a:ext uri="{9D8B030D-6E8A-4147-A177-3AD203B41FA5}">
                      <a16:colId xmlns:a16="http://schemas.microsoft.com/office/drawing/2014/main" val="1184172473"/>
                    </a:ext>
                  </a:extLst>
                </a:gridCol>
                <a:gridCol w="1562101">
                  <a:extLst>
                    <a:ext uri="{9D8B030D-6E8A-4147-A177-3AD203B41FA5}">
                      <a16:colId xmlns:a16="http://schemas.microsoft.com/office/drawing/2014/main" val="2871288609"/>
                    </a:ext>
                  </a:extLst>
                </a:gridCol>
              </a:tblGrid>
              <a:tr h="390525">
                <a:tc>
                  <a:txBody>
                    <a:bodyPr/>
                    <a:lstStyle/>
                    <a:p>
                      <a:r>
                        <a:rPr lang="en-US" sz="1800" u="none" kern="100" dirty="0">
                          <a:effectLst/>
                        </a:rPr>
                        <a:t>Formative Assessment</a:t>
                      </a:r>
                      <a:endParaRPr lang="en-CA" sz="1600" u="none" kern="100" dirty="0">
                        <a:effectLst/>
                        <a:latin typeface="Aptos"/>
                        <a:ea typeface="Aptos"/>
                        <a:cs typeface="Times New Roman" panose="02020603050405020304" pitchFamily="18" charset="0"/>
                      </a:endParaRPr>
                    </a:p>
                  </a:txBody>
                  <a:tcPr marL="75438" marR="75438" marT="0" marB="0"/>
                </a:tc>
                <a:tc>
                  <a:txBody>
                    <a:bodyPr/>
                    <a:lstStyle/>
                    <a:p>
                      <a:r>
                        <a:rPr lang="en-US" sz="1800" u="none" kern="100" dirty="0">
                          <a:effectLst/>
                        </a:rPr>
                        <a:t>20%</a:t>
                      </a:r>
                      <a:endParaRPr lang="en-CA" sz="1600" u="none" kern="100" dirty="0">
                        <a:effectLst/>
                        <a:latin typeface="Aptos"/>
                        <a:ea typeface="Aptos"/>
                        <a:cs typeface="Times New Roman" panose="02020603050405020304" pitchFamily="18" charset="0"/>
                      </a:endParaRPr>
                    </a:p>
                  </a:txBody>
                  <a:tcPr marL="75438" marR="75438" marT="0" marB="0"/>
                </a:tc>
                <a:extLst>
                  <a:ext uri="{0D108BD9-81ED-4DB2-BD59-A6C34878D82A}">
                    <a16:rowId xmlns:a16="http://schemas.microsoft.com/office/drawing/2014/main" val="1523563065"/>
                  </a:ext>
                </a:extLst>
              </a:tr>
              <a:tr h="390525">
                <a:tc>
                  <a:txBody>
                    <a:bodyPr/>
                    <a:lstStyle/>
                    <a:p>
                      <a:r>
                        <a:rPr lang="en-US" sz="1800" kern="100" dirty="0">
                          <a:effectLst/>
                        </a:rPr>
                        <a:t>Quizzes</a:t>
                      </a:r>
                      <a:endParaRPr lang="en-CA" sz="1600" kern="100" dirty="0">
                        <a:effectLst/>
                        <a:latin typeface="Aptos"/>
                        <a:ea typeface="Aptos"/>
                        <a:cs typeface="Times New Roman" panose="02020603050405020304" pitchFamily="18" charset="0"/>
                      </a:endParaRPr>
                    </a:p>
                  </a:txBody>
                  <a:tcPr marL="75438" marR="75438" marT="0" marB="0"/>
                </a:tc>
                <a:tc>
                  <a:txBody>
                    <a:bodyPr/>
                    <a:lstStyle/>
                    <a:p>
                      <a:r>
                        <a:rPr lang="en-US" sz="1800" kern="100">
                          <a:effectLst/>
                        </a:rPr>
                        <a:t>10%</a:t>
                      </a:r>
                      <a:endParaRPr lang="en-CA" sz="1600" kern="100">
                        <a:effectLst/>
                        <a:latin typeface="Aptos"/>
                        <a:ea typeface="Aptos"/>
                        <a:cs typeface="Times New Roman" panose="02020603050405020304" pitchFamily="18" charset="0"/>
                      </a:endParaRPr>
                    </a:p>
                  </a:txBody>
                  <a:tcPr marL="75438" marR="75438" marT="0" marB="0"/>
                </a:tc>
                <a:extLst>
                  <a:ext uri="{0D108BD9-81ED-4DB2-BD59-A6C34878D82A}">
                    <a16:rowId xmlns:a16="http://schemas.microsoft.com/office/drawing/2014/main" val="2411759870"/>
                  </a:ext>
                </a:extLst>
              </a:tr>
              <a:tr h="390525">
                <a:tc>
                  <a:txBody>
                    <a:bodyPr/>
                    <a:lstStyle/>
                    <a:p>
                      <a:r>
                        <a:rPr lang="en-US" sz="1800" kern="100" dirty="0">
                          <a:effectLst/>
                        </a:rPr>
                        <a:t>Assignments</a:t>
                      </a:r>
                      <a:endParaRPr lang="en-CA" sz="1600" kern="100" dirty="0">
                        <a:effectLst/>
                        <a:latin typeface="Aptos"/>
                        <a:ea typeface="Aptos"/>
                        <a:cs typeface="Times New Roman" panose="02020603050405020304" pitchFamily="18" charset="0"/>
                      </a:endParaRPr>
                    </a:p>
                  </a:txBody>
                  <a:tcPr marL="75438" marR="75438" marT="0" marB="0"/>
                </a:tc>
                <a:tc>
                  <a:txBody>
                    <a:bodyPr/>
                    <a:lstStyle/>
                    <a:p>
                      <a:r>
                        <a:rPr lang="en-US" sz="1800" kern="100" dirty="0">
                          <a:effectLst/>
                        </a:rPr>
                        <a:t>5%</a:t>
                      </a:r>
                      <a:endParaRPr lang="en-CA" sz="1600" kern="100" dirty="0">
                        <a:effectLst/>
                        <a:latin typeface="Aptos"/>
                        <a:ea typeface="Aptos"/>
                        <a:cs typeface="Times New Roman" panose="02020603050405020304" pitchFamily="18" charset="0"/>
                      </a:endParaRPr>
                    </a:p>
                  </a:txBody>
                  <a:tcPr marL="75438" marR="75438" marT="0" marB="0"/>
                </a:tc>
                <a:extLst>
                  <a:ext uri="{0D108BD9-81ED-4DB2-BD59-A6C34878D82A}">
                    <a16:rowId xmlns:a16="http://schemas.microsoft.com/office/drawing/2014/main" val="3997142482"/>
                  </a:ext>
                </a:extLst>
              </a:tr>
              <a:tr h="390525">
                <a:tc>
                  <a:txBody>
                    <a:bodyPr/>
                    <a:lstStyle/>
                    <a:p>
                      <a:r>
                        <a:rPr lang="en-US" sz="1800" kern="100" dirty="0">
                          <a:effectLst/>
                        </a:rPr>
                        <a:t>Presentation/Project *</a:t>
                      </a:r>
                      <a:endParaRPr lang="en-CA" sz="1600" kern="100" dirty="0">
                        <a:effectLst/>
                        <a:latin typeface="Aptos"/>
                        <a:ea typeface="Aptos"/>
                        <a:cs typeface="Times New Roman" panose="02020603050405020304" pitchFamily="18" charset="0"/>
                      </a:endParaRPr>
                    </a:p>
                  </a:txBody>
                  <a:tcPr marL="75438" marR="75438" marT="0" marB="0"/>
                </a:tc>
                <a:tc>
                  <a:txBody>
                    <a:bodyPr/>
                    <a:lstStyle/>
                    <a:p>
                      <a:r>
                        <a:rPr lang="en-US" sz="1800" kern="100" dirty="0">
                          <a:effectLst/>
                        </a:rPr>
                        <a:t>5%</a:t>
                      </a:r>
                      <a:endParaRPr lang="en-CA" sz="1600" kern="100" dirty="0">
                        <a:effectLst/>
                        <a:latin typeface="Aptos"/>
                        <a:ea typeface="Aptos"/>
                        <a:cs typeface="Times New Roman" panose="02020603050405020304" pitchFamily="18" charset="0"/>
                      </a:endParaRPr>
                    </a:p>
                  </a:txBody>
                  <a:tcPr marL="75438" marR="75438" marT="0" marB="0"/>
                </a:tc>
                <a:extLst>
                  <a:ext uri="{0D108BD9-81ED-4DB2-BD59-A6C34878D82A}">
                    <a16:rowId xmlns:a16="http://schemas.microsoft.com/office/drawing/2014/main" val="387938035"/>
                  </a:ext>
                </a:extLst>
              </a:tr>
              <a:tr h="390525">
                <a:tc>
                  <a:txBody>
                    <a:bodyPr/>
                    <a:lstStyle/>
                    <a:p>
                      <a:r>
                        <a:rPr lang="en-CA" sz="1600" kern="100" dirty="0">
                          <a:effectLst/>
                          <a:latin typeface="Aptos"/>
                          <a:ea typeface="Aptos"/>
                          <a:cs typeface="Times New Roman" panose="02020603050405020304" pitchFamily="18" charset="0"/>
                        </a:rPr>
                        <a:t>* We will finalize it later</a:t>
                      </a:r>
                    </a:p>
                  </a:txBody>
                  <a:tcPr marL="75438" marR="75438" marT="0" marB="0"/>
                </a:tc>
                <a:tc>
                  <a:txBody>
                    <a:bodyPr/>
                    <a:lstStyle/>
                    <a:p>
                      <a:endParaRPr lang="en-CA" sz="1600" kern="100" dirty="0">
                        <a:effectLst/>
                        <a:latin typeface="Aptos"/>
                        <a:ea typeface="Aptos"/>
                        <a:cs typeface="Times New Roman" panose="02020603050405020304" pitchFamily="18" charset="0"/>
                      </a:endParaRPr>
                    </a:p>
                  </a:txBody>
                  <a:tcPr marL="75438" marR="75438" marT="0" marB="0"/>
                </a:tc>
                <a:extLst>
                  <a:ext uri="{0D108BD9-81ED-4DB2-BD59-A6C34878D82A}">
                    <a16:rowId xmlns:a16="http://schemas.microsoft.com/office/drawing/2014/main" val="2031160191"/>
                  </a:ext>
                </a:extLst>
              </a:tr>
            </a:tbl>
          </a:graphicData>
        </a:graphic>
      </p:graphicFrame>
      <p:graphicFrame>
        <p:nvGraphicFramePr>
          <p:cNvPr id="7" name="Table 6">
            <a:extLst>
              <a:ext uri="{FF2B5EF4-FFF2-40B4-BE49-F238E27FC236}">
                <a16:creationId xmlns:a16="http://schemas.microsoft.com/office/drawing/2014/main" id="{2D962694-0AF9-46AE-86AF-88185A4B2D69}"/>
              </a:ext>
            </a:extLst>
          </p:cNvPr>
          <p:cNvGraphicFramePr>
            <a:graphicFrameLocks noGrp="1"/>
          </p:cNvGraphicFramePr>
          <p:nvPr>
            <p:extLst>
              <p:ext uri="{D42A27DB-BD31-4B8C-83A1-F6EECF244321}">
                <p14:modId xmlns:p14="http://schemas.microsoft.com/office/powerpoint/2010/main" val="1572533254"/>
              </p:ext>
            </p:extLst>
          </p:nvPr>
        </p:nvGraphicFramePr>
        <p:xfrm>
          <a:off x="3237778" y="4384924"/>
          <a:ext cx="5755727" cy="1562100"/>
        </p:xfrm>
        <a:graphic>
          <a:graphicData uri="http://schemas.openxmlformats.org/drawingml/2006/table">
            <a:tbl>
              <a:tblPr firstRow="1" firstCol="1" bandRow="1">
                <a:tableStyleId>{5C22544A-7EE6-4342-B048-85BDC9FD1C3A}</a:tableStyleId>
              </a:tblPr>
              <a:tblGrid>
                <a:gridCol w="4155527">
                  <a:extLst>
                    <a:ext uri="{9D8B030D-6E8A-4147-A177-3AD203B41FA5}">
                      <a16:colId xmlns:a16="http://schemas.microsoft.com/office/drawing/2014/main" val="3119877249"/>
                    </a:ext>
                  </a:extLst>
                </a:gridCol>
                <a:gridCol w="1600200">
                  <a:extLst>
                    <a:ext uri="{9D8B030D-6E8A-4147-A177-3AD203B41FA5}">
                      <a16:colId xmlns:a16="http://schemas.microsoft.com/office/drawing/2014/main" val="3994187701"/>
                    </a:ext>
                  </a:extLst>
                </a:gridCol>
              </a:tblGrid>
              <a:tr h="390525">
                <a:tc>
                  <a:txBody>
                    <a:bodyPr/>
                    <a:lstStyle/>
                    <a:p>
                      <a:r>
                        <a:rPr lang="en-US" sz="1800" u="none" kern="100" dirty="0">
                          <a:effectLst/>
                        </a:rPr>
                        <a:t>Summative Assessment</a:t>
                      </a:r>
                      <a:endParaRPr lang="en-CA" sz="1800" u="none" kern="100" dirty="0">
                        <a:effectLst/>
                        <a:latin typeface="Aptos"/>
                        <a:ea typeface="Aptos"/>
                        <a:cs typeface="Times New Roman" panose="02020603050405020304" pitchFamily="18" charset="0"/>
                      </a:endParaRPr>
                    </a:p>
                  </a:txBody>
                  <a:tcPr marL="68580" marR="68580" marT="0" marB="0"/>
                </a:tc>
                <a:tc>
                  <a:txBody>
                    <a:bodyPr/>
                    <a:lstStyle/>
                    <a:p>
                      <a:r>
                        <a:rPr lang="en-US" sz="1800" u="none" kern="100" dirty="0">
                          <a:effectLst/>
                        </a:rPr>
                        <a:t>80%</a:t>
                      </a:r>
                      <a:endParaRPr lang="en-CA" sz="1800" u="none" kern="100" dirty="0">
                        <a:effectLst/>
                        <a:latin typeface="Aptos"/>
                        <a:ea typeface="Aptos"/>
                        <a:cs typeface="Times New Roman" panose="02020603050405020304" pitchFamily="18" charset="0"/>
                      </a:endParaRPr>
                    </a:p>
                  </a:txBody>
                  <a:tcPr marL="68580" marR="68580" marT="0" marB="0"/>
                </a:tc>
                <a:extLst>
                  <a:ext uri="{0D108BD9-81ED-4DB2-BD59-A6C34878D82A}">
                    <a16:rowId xmlns:a16="http://schemas.microsoft.com/office/drawing/2014/main" val="957265383"/>
                  </a:ext>
                </a:extLst>
              </a:tr>
              <a:tr h="390525">
                <a:tc>
                  <a:txBody>
                    <a:bodyPr/>
                    <a:lstStyle/>
                    <a:p>
                      <a:r>
                        <a:rPr lang="en-US" sz="1800" kern="100">
                          <a:effectLst/>
                        </a:rPr>
                        <a:t>Sessional I</a:t>
                      </a:r>
                      <a:endParaRPr lang="en-CA" sz="1800" kern="100">
                        <a:effectLst/>
                        <a:latin typeface="Aptos"/>
                        <a:ea typeface="Aptos"/>
                        <a:cs typeface="Times New Roman" panose="02020603050405020304" pitchFamily="18" charset="0"/>
                      </a:endParaRPr>
                    </a:p>
                  </a:txBody>
                  <a:tcPr marL="68580" marR="68580" marT="0" marB="0"/>
                </a:tc>
                <a:tc>
                  <a:txBody>
                    <a:bodyPr/>
                    <a:lstStyle/>
                    <a:p>
                      <a:r>
                        <a:rPr lang="en-US" sz="1800" kern="100">
                          <a:effectLst/>
                        </a:rPr>
                        <a:t>15%</a:t>
                      </a:r>
                      <a:endParaRPr lang="en-CA" sz="1800" kern="100">
                        <a:effectLst/>
                        <a:latin typeface="Aptos"/>
                        <a:ea typeface="Aptos"/>
                        <a:cs typeface="Times New Roman" panose="02020603050405020304" pitchFamily="18" charset="0"/>
                      </a:endParaRPr>
                    </a:p>
                  </a:txBody>
                  <a:tcPr marL="68580" marR="68580" marT="0" marB="0"/>
                </a:tc>
                <a:extLst>
                  <a:ext uri="{0D108BD9-81ED-4DB2-BD59-A6C34878D82A}">
                    <a16:rowId xmlns:a16="http://schemas.microsoft.com/office/drawing/2014/main" val="168192386"/>
                  </a:ext>
                </a:extLst>
              </a:tr>
              <a:tr h="390525">
                <a:tc>
                  <a:txBody>
                    <a:bodyPr/>
                    <a:lstStyle/>
                    <a:p>
                      <a:r>
                        <a:rPr lang="en-US" sz="1800" kern="100" dirty="0">
                          <a:effectLst/>
                        </a:rPr>
                        <a:t>Sessional II</a:t>
                      </a:r>
                      <a:endParaRPr lang="en-CA" sz="1800" kern="100" dirty="0">
                        <a:effectLst/>
                        <a:latin typeface="Aptos"/>
                        <a:ea typeface="Aptos"/>
                        <a:cs typeface="Times New Roman" panose="02020603050405020304" pitchFamily="18" charset="0"/>
                      </a:endParaRPr>
                    </a:p>
                  </a:txBody>
                  <a:tcPr marL="68580" marR="68580" marT="0" marB="0"/>
                </a:tc>
                <a:tc>
                  <a:txBody>
                    <a:bodyPr/>
                    <a:lstStyle/>
                    <a:p>
                      <a:r>
                        <a:rPr lang="en-US" sz="1800" kern="100" dirty="0">
                          <a:effectLst/>
                        </a:rPr>
                        <a:t>15%</a:t>
                      </a:r>
                      <a:endParaRPr lang="en-CA" sz="1800" kern="100" dirty="0">
                        <a:effectLst/>
                        <a:latin typeface="Aptos"/>
                        <a:ea typeface="Aptos"/>
                        <a:cs typeface="Times New Roman" panose="02020603050405020304" pitchFamily="18" charset="0"/>
                      </a:endParaRPr>
                    </a:p>
                  </a:txBody>
                  <a:tcPr marL="68580" marR="68580" marT="0" marB="0"/>
                </a:tc>
                <a:extLst>
                  <a:ext uri="{0D108BD9-81ED-4DB2-BD59-A6C34878D82A}">
                    <a16:rowId xmlns:a16="http://schemas.microsoft.com/office/drawing/2014/main" val="2463108410"/>
                  </a:ext>
                </a:extLst>
              </a:tr>
              <a:tr h="390525">
                <a:tc>
                  <a:txBody>
                    <a:bodyPr/>
                    <a:lstStyle/>
                    <a:p>
                      <a:r>
                        <a:rPr lang="en-US" sz="1800" kern="100" dirty="0">
                          <a:effectLst/>
                        </a:rPr>
                        <a:t>Final Exams</a:t>
                      </a:r>
                      <a:endParaRPr lang="en-CA" sz="1800" kern="100" dirty="0">
                        <a:effectLst/>
                        <a:latin typeface="Aptos"/>
                        <a:ea typeface="Aptos"/>
                        <a:cs typeface="Times New Roman" panose="02020603050405020304" pitchFamily="18" charset="0"/>
                      </a:endParaRPr>
                    </a:p>
                  </a:txBody>
                  <a:tcPr marL="68580" marR="68580" marT="0" marB="0"/>
                </a:tc>
                <a:tc>
                  <a:txBody>
                    <a:bodyPr/>
                    <a:lstStyle/>
                    <a:p>
                      <a:r>
                        <a:rPr lang="en-US" sz="1800" kern="100" dirty="0">
                          <a:effectLst/>
                        </a:rPr>
                        <a:t>50%</a:t>
                      </a:r>
                      <a:endParaRPr lang="en-CA" sz="1800" kern="100" dirty="0">
                        <a:effectLst/>
                        <a:latin typeface="Aptos"/>
                        <a:ea typeface="Aptos"/>
                        <a:cs typeface="Times New Roman" panose="02020603050405020304" pitchFamily="18" charset="0"/>
                      </a:endParaRPr>
                    </a:p>
                  </a:txBody>
                  <a:tcPr marL="68580" marR="68580" marT="0" marB="0"/>
                </a:tc>
                <a:extLst>
                  <a:ext uri="{0D108BD9-81ED-4DB2-BD59-A6C34878D82A}">
                    <a16:rowId xmlns:a16="http://schemas.microsoft.com/office/drawing/2014/main" val="3312900874"/>
                  </a:ext>
                </a:extLst>
              </a:tr>
            </a:tbl>
          </a:graphicData>
        </a:graphic>
      </p:graphicFrame>
    </p:spTree>
    <p:extLst>
      <p:ext uri="{BB962C8B-B14F-4D97-AF65-F5344CB8AC3E}">
        <p14:creationId xmlns:p14="http://schemas.microsoft.com/office/powerpoint/2010/main" val="88565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1981200" y="203201"/>
            <a:ext cx="8034338" cy="576263"/>
          </a:xfrm>
        </p:spPr>
        <p:txBody>
          <a:bodyPr/>
          <a:lstStyle/>
          <a:p>
            <a:pPr eaLnBrk="1" hangingPunct="1"/>
            <a:r>
              <a:rPr lang="en-US" altLang="en-US" dirty="0"/>
              <a:t>Google Classroom</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730212" y="1233489"/>
            <a:ext cx="10673910" cy="5253575"/>
          </a:xfrm>
        </p:spPr>
        <p:txBody>
          <a:bodyPr/>
          <a:lstStyle/>
          <a:p>
            <a:r>
              <a:rPr lang="en-US" altLang="en-US" sz="2400" dirty="0"/>
              <a:t>All course material will be shared via the official Google Classroom</a:t>
            </a:r>
          </a:p>
          <a:p>
            <a:r>
              <a:rPr lang="en-US" altLang="en-US" sz="2400" dirty="0"/>
              <a:t>Join the GCR using your respective codes</a:t>
            </a:r>
          </a:p>
          <a:p>
            <a:r>
              <a:rPr lang="en-US" altLang="en-US" sz="2400" dirty="0"/>
              <a:t>BCS 4A: 	</a:t>
            </a:r>
            <a:r>
              <a:rPr lang="en-US" altLang="en-US" sz="3200" dirty="0"/>
              <a:t>ldbb7n3l</a:t>
            </a:r>
          </a:p>
          <a:p>
            <a:r>
              <a:rPr lang="en-US" altLang="en-US" sz="2400" dirty="0"/>
              <a:t>BCS 4B: 	</a:t>
            </a:r>
            <a:r>
              <a:rPr lang="en-US" altLang="en-US" sz="3200" dirty="0"/>
              <a:t>puq7lihj</a:t>
            </a:r>
            <a:endParaRPr lang="en-US" altLang="en-US" sz="2400" dirty="0"/>
          </a:p>
          <a:p>
            <a:r>
              <a:rPr lang="en-US" altLang="en-US" sz="2400" dirty="0"/>
              <a:t>BCS 6A: 	</a:t>
            </a:r>
            <a:r>
              <a:rPr lang="en-US" altLang="en-US" sz="3200" dirty="0"/>
              <a:t>d3kpnlxx</a:t>
            </a:r>
          </a:p>
          <a:p>
            <a:r>
              <a:rPr lang="en-US" altLang="en-US" sz="2400" dirty="0"/>
              <a:t>BCS 6B: 	</a:t>
            </a:r>
            <a:r>
              <a:rPr lang="en-US" altLang="en-US" sz="3200" dirty="0"/>
              <a:t>yoyfj4au</a:t>
            </a:r>
            <a:endParaRPr lang="en-US" altLang="en-US" sz="2400" dirty="0"/>
          </a:p>
          <a:p>
            <a:r>
              <a:rPr lang="en-US" altLang="en-US" sz="2400" dirty="0"/>
              <a:t>You are allowed to use only your official email accounts to join GCR</a:t>
            </a:r>
          </a:p>
          <a:p>
            <a:pPr lvl="1"/>
            <a:r>
              <a:rPr lang="en-US" altLang="en-US" sz="2400" dirty="0">
                <a:hlinkClick r:id="rId3"/>
              </a:rPr>
              <a:t>xyz@pwr.nu.edu.pk</a:t>
            </a:r>
            <a:endParaRPr lang="en-US" altLang="en-US" sz="2400" dirty="0"/>
          </a:p>
          <a:p>
            <a:pPr lvl="1"/>
            <a:r>
              <a:rPr lang="en-US" altLang="en-US" sz="2400" dirty="0"/>
              <a:t>Everyone else will be removed</a:t>
            </a:r>
          </a:p>
          <a:p>
            <a:endParaRPr lang="en-US" altLang="en-US" sz="2400" dirty="0"/>
          </a:p>
          <a:p>
            <a:endParaRPr lang="en-US" altLang="en-US" sz="2400" dirty="0"/>
          </a:p>
          <a:p>
            <a:endParaRPr lang="en-US" altLang="en-US" sz="2400" dirty="0"/>
          </a:p>
        </p:txBody>
      </p:sp>
    </p:spTree>
    <p:extLst>
      <p:ext uri="{BB962C8B-B14F-4D97-AF65-F5344CB8AC3E}">
        <p14:creationId xmlns:p14="http://schemas.microsoft.com/office/powerpoint/2010/main" val="3149241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1895475" y="1900238"/>
            <a:ext cx="8458200" cy="1143000"/>
          </a:xfrm>
          <a:noFill/>
        </p:spPr>
        <p:txBody>
          <a:bodyPr/>
          <a:lstStyle/>
          <a:p>
            <a:pPr eaLnBrk="1" hangingPunct="1"/>
            <a:r>
              <a:rPr lang="en-US" altLang="en-US" dirty="0"/>
              <a:t>Chapter 1:  Introduction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1981200" y="203201"/>
            <a:ext cx="8034338" cy="576263"/>
          </a:xfrm>
        </p:spPr>
        <p:txBody>
          <a:bodyPr/>
          <a:lstStyle/>
          <a:p>
            <a:pPr eaLnBrk="1" hangingPunct="1"/>
            <a:r>
              <a:rPr lang="en-US" altLang="en-US"/>
              <a:t>Chapter 1: 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p:txBody>
          <a:bodyPr/>
          <a:lstStyle/>
          <a:p>
            <a:r>
              <a:rPr lang="en-US" altLang="en-US" sz="2400" dirty="0"/>
              <a:t>What Operating Systems Do</a:t>
            </a:r>
          </a:p>
          <a:p>
            <a:r>
              <a:rPr lang="en-US" altLang="en-US" sz="2400" dirty="0"/>
              <a:t>Computer-System Organization</a:t>
            </a:r>
          </a:p>
          <a:p>
            <a:r>
              <a:rPr lang="en-US" altLang="en-US" sz="2400" dirty="0"/>
              <a:t>Computer-System Architecture</a:t>
            </a:r>
          </a:p>
          <a:p>
            <a:r>
              <a:rPr lang="en-US" altLang="en-US" sz="2400" dirty="0"/>
              <a:t>Operating-System Operations</a:t>
            </a:r>
          </a:p>
          <a:p>
            <a:r>
              <a:rPr lang="en-US" altLang="en-US" sz="2400" dirty="0"/>
              <a:t>Resource Management</a:t>
            </a:r>
          </a:p>
          <a:p>
            <a:r>
              <a:rPr lang="en-US" altLang="en-US" sz="2400" dirty="0"/>
              <a:t>Security and Protection</a:t>
            </a:r>
          </a:p>
          <a:p>
            <a:r>
              <a:rPr lang="en-US" altLang="en-US" sz="2400" dirty="0"/>
              <a:t>Kernel Data Structures</a:t>
            </a:r>
          </a:p>
          <a:p>
            <a:endParaRPr lang="en-US"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981200" y="166689"/>
            <a:ext cx="8015288" cy="617537"/>
          </a:xfrm>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1464274" y="1233489"/>
            <a:ext cx="9263452" cy="5457822"/>
          </a:xfrm>
        </p:spPr>
        <p:txBody>
          <a:bodyPr/>
          <a:lstStyle/>
          <a:p>
            <a:r>
              <a:rPr lang="en-US" altLang="en-US" sz="2800" dirty="0"/>
              <a:t>Describe the general organization of a computer system and the role of interrupts</a:t>
            </a:r>
          </a:p>
          <a:p>
            <a:r>
              <a:rPr lang="en-US" altLang="en-US" sz="2800" dirty="0"/>
              <a:t>Describe the components in a modern, multiprocessor computer system</a:t>
            </a:r>
          </a:p>
          <a:p>
            <a:r>
              <a:rPr lang="en-US" altLang="en-US" sz="2800" dirty="0"/>
              <a:t>Illustrate the transition from user mode to kernel mode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2487614" y="198438"/>
            <a:ext cx="7723187" cy="576262"/>
          </a:xfrm>
        </p:spPr>
        <p:txBody>
          <a:bodyPr/>
          <a:lstStyle/>
          <a:p>
            <a:pPr eaLnBrk="1" hangingPunct="1"/>
            <a:r>
              <a:rPr lang="en-US" altLang="en-US"/>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690113" y="1268413"/>
            <a:ext cx="10783019" cy="5028870"/>
          </a:xfrm>
        </p:spPr>
        <p:txBody>
          <a:bodyPr/>
          <a:lstStyle/>
          <a:p>
            <a:r>
              <a:rPr lang="en-US" altLang="en-US" sz="2400" dirty="0"/>
              <a:t>A program that acts as an </a:t>
            </a:r>
            <a:r>
              <a:rPr lang="en-US" altLang="en-US" sz="2400" b="1" i="1" dirty="0"/>
              <a:t>intermediary</a:t>
            </a:r>
            <a:r>
              <a:rPr lang="en-US" altLang="en-US" sz="2400" dirty="0"/>
              <a:t> between a user of a computer and the computer hardware</a:t>
            </a:r>
          </a:p>
          <a:p>
            <a:r>
              <a:rPr lang="en-US" altLang="en-US" sz="2400" dirty="0"/>
              <a:t>Operating system goals:</a:t>
            </a:r>
          </a:p>
          <a:p>
            <a:pPr lvl="1"/>
            <a:r>
              <a:rPr lang="en-US" altLang="en-US" sz="2400" b="1" i="1" dirty="0"/>
              <a:t>Execute</a:t>
            </a:r>
            <a:r>
              <a:rPr lang="en-US" altLang="en-US" sz="2400" dirty="0"/>
              <a:t> user programs and make solving user problems easier</a:t>
            </a:r>
          </a:p>
          <a:p>
            <a:pPr lvl="1"/>
            <a:r>
              <a:rPr lang="en-US" altLang="en-US" sz="2400" dirty="0"/>
              <a:t>Make the computer system </a:t>
            </a:r>
            <a:r>
              <a:rPr lang="en-US" altLang="en-US" sz="2400" b="1" i="1" dirty="0"/>
              <a:t>convenient</a:t>
            </a:r>
            <a:r>
              <a:rPr lang="en-US" altLang="en-US" sz="2400" dirty="0"/>
              <a:t> to use</a:t>
            </a:r>
          </a:p>
          <a:p>
            <a:pPr lvl="1"/>
            <a:r>
              <a:rPr lang="en-US" altLang="en-US" sz="2400" dirty="0"/>
              <a:t>Use the computer hardware in an </a:t>
            </a:r>
            <a:r>
              <a:rPr lang="en-US" altLang="en-US" sz="2400" b="1" i="1" dirty="0"/>
              <a:t>efficient</a:t>
            </a:r>
            <a:r>
              <a:rPr lang="en-US" altLang="en-US" sz="2400" dirty="0"/>
              <a:t> manner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2565400" y="201613"/>
            <a:ext cx="7532688" cy="576262"/>
          </a:xfrm>
        </p:spPr>
        <p:txBody>
          <a:bodyPr/>
          <a:lstStyle/>
          <a:p>
            <a:pPr eaLnBrk="1" hangingPunct="1"/>
            <a:r>
              <a:rPr lang="en-US" altLang="en-US"/>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465825" y="1170406"/>
            <a:ext cx="11266099" cy="5247645"/>
          </a:xfrm>
        </p:spPr>
        <p:txBody>
          <a:bodyPr/>
          <a:lstStyle/>
          <a:p>
            <a:r>
              <a:rPr lang="en-US" altLang="en-US" sz="2400" dirty="0"/>
              <a:t>Computer </a:t>
            </a:r>
            <a:r>
              <a:rPr lang="en-US" altLang="en-US" sz="2400" b="1" i="1" dirty="0"/>
              <a:t>system</a:t>
            </a:r>
            <a:r>
              <a:rPr lang="en-US" altLang="en-US" sz="2400" dirty="0"/>
              <a:t> can be divided into four components:</a:t>
            </a:r>
          </a:p>
          <a:p>
            <a:pPr marL="457200" indent="-457200">
              <a:buFont typeface="+mj-lt"/>
              <a:buAutoNum type="arabicPeriod"/>
            </a:pPr>
            <a:r>
              <a:rPr lang="en-US" altLang="en-US" sz="2400" dirty="0"/>
              <a:t>Hardware – provides basic computing resources</a:t>
            </a:r>
          </a:p>
          <a:p>
            <a:pPr lvl="1"/>
            <a:r>
              <a:rPr lang="en-US" altLang="en-US" sz="2400" dirty="0"/>
              <a:t>CPU, memory, I/O devices</a:t>
            </a:r>
          </a:p>
          <a:p>
            <a:pPr marL="457200" indent="-457200">
              <a:buFont typeface="+mj-lt"/>
              <a:buAutoNum type="arabicPeriod"/>
            </a:pPr>
            <a:r>
              <a:rPr lang="en-US" altLang="en-US" sz="2400" dirty="0"/>
              <a:t>Operating system</a:t>
            </a:r>
          </a:p>
          <a:p>
            <a:pPr lvl="1"/>
            <a:r>
              <a:rPr lang="en-US" altLang="en-US" sz="2400" b="1" i="1" dirty="0"/>
              <a:t>Controls and coordinates </a:t>
            </a:r>
            <a:r>
              <a:rPr lang="en-US" altLang="en-US" sz="2400" dirty="0"/>
              <a:t>the use of hardware among various applications and users</a:t>
            </a:r>
          </a:p>
          <a:p>
            <a:pPr marL="457200" indent="-457200">
              <a:buFont typeface="+mj-lt"/>
              <a:buAutoNum type="arabicPeriod"/>
            </a:pPr>
            <a:r>
              <a:rPr lang="en-US" altLang="en-US" sz="2400" dirty="0"/>
              <a:t>Application programs – define the ways in which the system resources are used to </a:t>
            </a:r>
            <a:r>
              <a:rPr lang="en-US" altLang="en-US" sz="2400" b="1" i="1" dirty="0"/>
              <a:t>solve the computing problems </a:t>
            </a:r>
            <a:r>
              <a:rPr lang="en-US" altLang="en-US" sz="2400" dirty="0"/>
              <a:t>of the users</a:t>
            </a:r>
          </a:p>
          <a:p>
            <a:pPr lvl="1"/>
            <a:r>
              <a:rPr lang="en-US" altLang="en-US" sz="2400" dirty="0"/>
              <a:t>Word processors, compilers, web browsers, databases, video games</a:t>
            </a:r>
          </a:p>
          <a:p>
            <a:pPr marL="457200" indent="-457200">
              <a:buFont typeface="+mj-lt"/>
              <a:buAutoNum type="arabicPeriod"/>
            </a:pPr>
            <a:r>
              <a:rPr lang="en-US" altLang="en-US" sz="2400" dirty="0"/>
              <a:t>Users</a:t>
            </a:r>
          </a:p>
          <a:p>
            <a:pPr lvl="1"/>
            <a:r>
              <a:rPr lang="en-US" altLang="en-US" sz="2400" dirty="0"/>
              <a:t>People, machines, other computers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2565400" y="182563"/>
            <a:ext cx="7645400" cy="576262"/>
          </a:xfrm>
        </p:spPr>
        <p:txBody>
          <a:bodyPr/>
          <a:lstStyle/>
          <a:p>
            <a:pPr eaLnBrk="1" hangingPunct="1"/>
            <a:r>
              <a:rPr lang="en-US" altLang="en-US" sz="280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5512" y="1446117"/>
            <a:ext cx="6243368" cy="4426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1981201"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769130" y="1120776"/>
            <a:ext cx="10945542" cy="5935632"/>
          </a:xfrm>
        </p:spPr>
        <p:txBody>
          <a:bodyPr/>
          <a:lstStyle/>
          <a:p>
            <a:r>
              <a:rPr lang="en-US" altLang="en-US" sz="2800" dirty="0"/>
              <a:t>Depends on the point of view</a:t>
            </a:r>
          </a:p>
          <a:p>
            <a:r>
              <a:rPr lang="en-US" altLang="en-US" sz="2800" dirty="0"/>
              <a:t>Users want convenience, </a:t>
            </a:r>
            <a:r>
              <a:rPr lang="en-US" altLang="en-US" sz="2800" b="1" dirty="0">
                <a:solidFill>
                  <a:srgbClr val="006699"/>
                </a:solidFill>
                <a:latin typeface="+mj-lt"/>
              </a:rPr>
              <a:t>ease of use </a:t>
            </a:r>
            <a:r>
              <a:rPr lang="en-US" altLang="en-US" sz="2800" dirty="0"/>
              <a:t>and</a:t>
            </a:r>
            <a:r>
              <a:rPr lang="en-US" altLang="en-US" sz="2800" b="1" dirty="0">
                <a:solidFill>
                  <a:srgbClr val="3366FF"/>
                </a:solidFill>
              </a:rPr>
              <a:t> </a:t>
            </a:r>
            <a:r>
              <a:rPr lang="en-US" altLang="en-US" sz="2800" b="1" dirty="0">
                <a:solidFill>
                  <a:srgbClr val="006699"/>
                </a:solidFill>
                <a:latin typeface="+mj-lt"/>
              </a:rPr>
              <a:t>good performance </a:t>
            </a:r>
          </a:p>
          <a:p>
            <a:pPr lvl="1"/>
            <a:r>
              <a:rPr lang="en-US" altLang="en-US" sz="2800" dirty="0"/>
              <a:t>Don</a:t>
            </a:r>
            <a:r>
              <a:rPr lang="ja-JP" altLang="en-US" sz="2800" dirty="0"/>
              <a:t>’</a:t>
            </a:r>
            <a:r>
              <a:rPr lang="en-US" altLang="ja-JP" sz="2800" dirty="0"/>
              <a:t>t care about </a:t>
            </a:r>
            <a:r>
              <a:rPr lang="en-US" altLang="ja-JP" sz="2800" b="1" dirty="0">
                <a:solidFill>
                  <a:srgbClr val="006699"/>
                </a:solidFill>
                <a:latin typeface="+mj-lt"/>
              </a:rPr>
              <a:t>resource utilization</a:t>
            </a:r>
          </a:p>
          <a:p>
            <a:r>
              <a:rPr lang="en-US" altLang="en-US" sz="2800" dirty="0"/>
              <a:t>But shared computer such as </a:t>
            </a:r>
            <a:r>
              <a:rPr lang="en-US" altLang="en-US" sz="2800" b="1" dirty="0">
                <a:solidFill>
                  <a:srgbClr val="006699"/>
                </a:solidFill>
                <a:latin typeface="+mj-lt"/>
              </a:rPr>
              <a:t>mainframe</a:t>
            </a:r>
            <a:r>
              <a:rPr lang="en-US" altLang="en-US" sz="2800" dirty="0"/>
              <a:t> or </a:t>
            </a:r>
            <a:r>
              <a:rPr lang="en-US" altLang="en-US" sz="2800" b="1" dirty="0">
                <a:solidFill>
                  <a:srgbClr val="006699"/>
                </a:solidFill>
                <a:latin typeface="+mj-lt"/>
              </a:rPr>
              <a:t>minicomputer</a:t>
            </a:r>
            <a:r>
              <a:rPr lang="en-US" altLang="en-US" sz="2800" dirty="0"/>
              <a:t> must keep all users happy</a:t>
            </a:r>
          </a:p>
          <a:p>
            <a:pPr lvl="1"/>
            <a:r>
              <a:rPr lang="en-US" altLang="en-US" sz="2800" dirty="0"/>
              <a:t>Operating system is a </a:t>
            </a:r>
            <a:r>
              <a:rPr lang="en-US" altLang="en-US" sz="2800" b="1" dirty="0">
                <a:solidFill>
                  <a:srgbClr val="006699"/>
                </a:solidFill>
                <a:latin typeface="+mj-lt"/>
              </a:rPr>
              <a:t>resource allocator </a:t>
            </a:r>
            <a:r>
              <a:rPr lang="en-US" altLang="en-US" sz="2800" dirty="0"/>
              <a:t>and </a:t>
            </a:r>
            <a:r>
              <a:rPr lang="en-US" altLang="en-US" sz="2800" b="1" dirty="0">
                <a:solidFill>
                  <a:srgbClr val="006699"/>
                </a:solidFill>
                <a:latin typeface="+mj-lt"/>
              </a:rPr>
              <a:t>control program </a:t>
            </a:r>
            <a:r>
              <a:rPr lang="en-US" altLang="en-US" sz="2800" dirty="0"/>
              <a:t>making efficient use of HW and managing execution of user programs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1981201"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838141" y="1120776"/>
            <a:ext cx="10255429" cy="5211013"/>
          </a:xfrm>
        </p:spPr>
        <p:txBody>
          <a:bodyPr/>
          <a:lstStyle/>
          <a:p>
            <a:r>
              <a:rPr lang="en-US" altLang="en-US" sz="2400" dirty="0"/>
              <a:t>Users of dedicated systems such as </a:t>
            </a:r>
            <a:r>
              <a:rPr lang="en-US" altLang="en-US" sz="2400" b="1" dirty="0">
                <a:solidFill>
                  <a:srgbClr val="006699"/>
                </a:solidFill>
                <a:latin typeface="+mj-lt"/>
              </a:rPr>
              <a:t>workstations</a:t>
            </a:r>
            <a:r>
              <a:rPr lang="en-US" altLang="en-US" sz="2400" dirty="0"/>
              <a:t> have dedicated resources but frequently use shared resources from </a:t>
            </a:r>
            <a:r>
              <a:rPr lang="en-US" altLang="en-US" sz="2400" b="1" dirty="0">
                <a:solidFill>
                  <a:srgbClr val="006699"/>
                </a:solidFill>
                <a:latin typeface="+mj-lt"/>
              </a:rPr>
              <a:t>servers</a:t>
            </a:r>
          </a:p>
          <a:p>
            <a:r>
              <a:rPr lang="en-US" altLang="en-US" sz="2400" dirty="0">
                <a:solidFill>
                  <a:srgbClr val="000000"/>
                </a:solidFill>
              </a:rPr>
              <a:t>Mobile devices like smartphones and tables are resource poor,  optimized for usability and battery life</a:t>
            </a:r>
          </a:p>
          <a:p>
            <a:pPr lvl="1"/>
            <a:r>
              <a:rPr lang="en-US" altLang="en-US" sz="2400" dirty="0">
                <a:solidFill>
                  <a:srgbClr val="000000"/>
                </a:solidFill>
              </a:rPr>
              <a:t>Mobile user interfaces such as touch screens, voice recognition</a:t>
            </a:r>
          </a:p>
          <a:p>
            <a:r>
              <a:rPr lang="en-US" altLang="en-US" sz="2400" dirty="0">
                <a:solidFill>
                  <a:srgbClr val="000000"/>
                </a:solidFill>
              </a:rPr>
              <a:t>Some computers have little or no user interface, such as embedded computers in devices and automobiles</a:t>
            </a:r>
          </a:p>
          <a:p>
            <a:pPr lvl="1"/>
            <a:r>
              <a:rPr lang="en-US" altLang="en-US" sz="2400" dirty="0">
                <a:solidFill>
                  <a:srgbClr val="000000"/>
                </a:solidFill>
              </a:rPr>
              <a:t>Run primarily without user intervention</a:t>
            </a:r>
          </a:p>
        </p:txBody>
      </p:sp>
    </p:spTree>
    <p:extLst>
      <p:ext uri="{BB962C8B-B14F-4D97-AF65-F5344CB8AC3E}">
        <p14:creationId xmlns:p14="http://schemas.microsoft.com/office/powerpoint/2010/main" val="1221351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2700339" y="195263"/>
            <a:ext cx="7342187" cy="576262"/>
          </a:xfrm>
        </p:spPr>
        <p:txBody>
          <a:bodyPr/>
          <a:lstStyle/>
          <a:p>
            <a:pPr eaLnBrk="1" hangingPunct="1"/>
            <a:r>
              <a:rPr lang="en-US" altLang="en-US"/>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1054700" y="1028701"/>
            <a:ext cx="10590960" cy="5634036"/>
          </a:xfrm>
        </p:spPr>
        <p:txBody>
          <a:bodyPr/>
          <a:lstStyle/>
          <a:p>
            <a:r>
              <a:rPr lang="en-US" altLang="en-US" sz="2800" dirty="0"/>
              <a:t>Term OS covers many roles</a:t>
            </a:r>
          </a:p>
          <a:p>
            <a:pPr lvl="1"/>
            <a:r>
              <a:rPr lang="en-US" altLang="en-US" sz="2800" dirty="0"/>
              <a:t>Because of myriad designs and uses of OSes</a:t>
            </a:r>
          </a:p>
          <a:p>
            <a:pPr lvl="1"/>
            <a:r>
              <a:rPr lang="en-US" altLang="en-US" sz="2800" dirty="0"/>
              <a:t>Present in toasters through ships, spacecraft, game machines, TVs and industrial control systems</a:t>
            </a:r>
          </a:p>
          <a:p>
            <a:pPr lvl="1"/>
            <a:r>
              <a:rPr lang="en-US" altLang="en-US" sz="2800" b="1" i="1" dirty="0"/>
              <a:t>Born</a:t>
            </a:r>
            <a:r>
              <a:rPr lang="en-US" altLang="en-US" sz="2800" dirty="0"/>
              <a:t> when fixed use computers for military became more general purpose and needed resource management and program control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2557464"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396815" y="1247774"/>
            <a:ext cx="11795185" cy="5411787"/>
          </a:xfrm>
        </p:spPr>
        <p:txBody>
          <a:bodyPr/>
          <a:lstStyle/>
          <a:p>
            <a:r>
              <a:rPr lang="en-US" altLang="en-US" sz="2000" dirty="0"/>
              <a:t>No universally accepted definition</a:t>
            </a:r>
          </a:p>
          <a:p>
            <a:r>
              <a:rPr lang="ja-JP" altLang="en-US" sz="2000" dirty="0"/>
              <a:t>“</a:t>
            </a:r>
            <a:r>
              <a:rPr lang="en-US" altLang="ja-JP" sz="2000" dirty="0"/>
              <a:t>Everything a vendor ships when you order an operating system</a:t>
            </a:r>
            <a:r>
              <a:rPr lang="ja-JP" altLang="en-US" sz="2000" dirty="0"/>
              <a:t>”</a:t>
            </a:r>
            <a:r>
              <a:rPr lang="en-US" altLang="ja-JP" sz="2000" dirty="0"/>
              <a:t> is a good approximation</a:t>
            </a:r>
          </a:p>
          <a:p>
            <a:pPr lvl="1"/>
            <a:r>
              <a:rPr lang="en-US" altLang="en-US" sz="2000" dirty="0"/>
              <a:t>But varies wildly</a:t>
            </a:r>
          </a:p>
          <a:p>
            <a:r>
              <a:rPr lang="ja-JP" altLang="en-US" sz="2000" dirty="0"/>
              <a:t>“</a:t>
            </a:r>
            <a:r>
              <a:rPr lang="en-US" altLang="ja-JP" sz="2000" dirty="0"/>
              <a:t>The one program running at all times on the computer</a:t>
            </a:r>
            <a:r>
              <a:rPr lang="ja-JP" altLang="en-US" sz="2000" dirty="0"/>
              <a:t>”</a:t>
            </a:r>
            <a:r>
              <a:rPr lang="en-US" altLang="ja-JP" sz="2000" dirty="0"/>
              <a:t> is the </a:t>
            </a:r>
            <a:r>
              <a:rPr lang="en-US" altLang="ja-JP" sz="2000" b="1" dirty="0">
                <a:solidFill>
                  <a:srgbClr val="006699"/>
                </a:solidFill>
                <a:latin typeface="+mj-lt"/>
              </a:rPr>
              <a:t>kernel, </a:t>
            </a:r>
            <a:r>
              <a:rPr lang="en-US" altLang="ja-JP" sz="2000" dirty="0"/>
              <a:t>part of the operating system</a:t>
            </a:r>
          </a:p>
          <a:p>
            <a:r>
              <a:rPr lang="en-US" altLang="ja-JP" sz="2000" dirty="0"/>
              <a:t>Everything else is either</a:t>
            </a:r>
          </a:p>
          <a:p>
            <a:pPr lvl="1"/>
            <a:r>
              <a:rPr lang="en-US" altLang="ja-JP" sz="2000" dirty="0"/>
              <a:t>A </a:t>
            </a:r>
            <a:r>
              <a:rPr lang="en-US" altLang="ja-JP" sz="2000" b="1" i="1" dirty="0">
                <a:solidFill>
                  <a:srgbClr val="006699"/>
                </a:solidFill>
                <a:latin typeface="+mj-lt"/>
              </a:rPr>
              <a:t>system program</a:t>
            </a:r>
            <a:r>
              <a:rPr lang="en-US" altLang="ja-JP" sz="2000" b="1" dirty="0">
                <a:solidFill>
                  <a:srgbClr val="3366FF"/>
                </a:solidFill>
              </a:rPr>
              <a:t> </a:t>
            </a:r>
            <a:r>
              <a:rPr lang="en-US" altLang="ja-JP" sz="2000" dirty="0"/>
              <a:t>(ships with the operating system, but not part of the kernel) , or</a:t>
            </a:r>
          </a:p>
          <a:p>
            <a:pPr lvl="1"/>
            <a:r>
              <a:rPr lang="en-US" altLang="ja-JP" sz="2000" dirty="0"/>
              <a:t>An </a:t>
            </a:r>
            <a:r>
              <a:rPr lang="en-US" altLang="ja-JP" sz="2000" b="1" i="1" dirty="0">
                <a:solidFill>
                  <a:srgbClr val="006699"/>
                </a:solidFill>
                <a:latin typeface="+mj-lt"/>
              </a:rPr>
              <a:t>application program</a:t>
            </a:r>
            <a:r>
              <a:rPr lang="en-US" altLang="ja-JP" sz="2000" dirty="0"/>
              <a:t>, all programs not associated with the operating system</a:t>
            </a:r>
          </a:p>
          <a:p>
            <a:r>
              <a:rPr lang="en-US" altLang="en-US" sz="2000" dirty="0"/>
              <a:t>Today’s OSes for general purpose and mobile computing also include </a:t>
            </a:r>
            <a:r>
              <a:rPr lang="en-US" altLang="en-US" sz="2000" b="1" i="1" dirty="0">
                <a:solidFill>
                  <a:srgbClr val="006699"/>
                </a:solidFill>
                <a:latin typeface="+mj-lt"/>
              </a:rPr>
              <a:t>middleware</a:t>
            </a:r>
            <a:r>
              <a:rPr lang="en-US" altLang="en-US" sz="2000" dirty="0"/>
              <a:t> – a set of software frameworks that provide additional services to application developers such as databases, multimedia, graphics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816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p>
        </p:txBody>
      </p:sp>
    </p:spTree>
    <p:extLst>
      <p:ext uri="{BB962C8B-B14F-4D97-AF65-F5344CB8AC3E}">
        <p14:creationId xmlns:p14="http://schemas.microsoft.com/office/powerpoint/2010/main" val="818157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2392363" y="214313"/>
            <a:ext cx="7639050" cy="576262"/>
          </a:xfrm>
        </p:spPr>
        <p:txBody>
          <a:bodyPr/>
          <a:lstStyle/>
          <a:p>
            <a:pPr eaLnBrk="1" hangingPunct="1"/>
            <a:r>
              <a:rPr lang="en-US" altLang="en-US"/>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59125" y="1129971"/>
            <a:ext cx="11093569" cy="5410198"/>
          </a:xfrm>
        </p:spPr>
        <p:txBody>
          <a:bodyPr/>
          <a:lstStyle/>
          <a:p>
            <a:r>
              <a:rPr lang="en-US" altLang="en-US" sz="2400" dirty="0"/>
              <a:t>Computer-system operation</a:t>
            </a:r>
          </a:p>
          <a:p>
            <a:pPr lvl="1"/>
            <a:r>
              <a:rPr lang="en-US" altLang="en-US" sz="2400" dirty="0"/>
              <a:t>One or more CPUs, device controllers connect through common </a:t>
            </a:r>
            <a:r>
              <a:rPr lang="en-US" altLang="en-US" sz="2400" b="1" dirty="0">
                <a:solidFill>
                  <a:srgbClr val="006699"/>
                </a:solidFill>
                <a:latin typeface="+mj-lt"/>
              </a:rPr>
              <a:t>bus</a:t>
            </a:r>
            <a:r>
              <a:rPr lang="en-US" altLang="en-US" sz="2400" dirty="0"/>
              <a:t> providing access to shared memory</a:t>
            </a:r>
          </a:p>
          <a:p>
            <a:pPr lvl="1"/>
            <a:r>
              <a:rPr lang="en-US" altLang="en-US" sz="2400" dirty="0"/>
              <a:t>Concurrent execution of CPUs and devices competing for memory cycles</a:t>
            </a:r>
          </a:p>
          <a:p>
            <a:pPr lvl="1"/>
            <a:endParaRPr lang="en-US" altLang="en-US" sz="2400"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7" y="3098801"/>
            <a:ext cx="6791325" cy="3312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2409826" y="220663"/>
            <a:ext cx="7605713" cy="576262"/>
          </a:xfrm>
        </p:spPr>
        <p:txBody>
          <a:bodyPr/>
          <a:lstStyle/>
          <a:p>
            <a:pPr eaLnBrk="1" hangingPunct="1"/>
            <a:r>
              <a:rPr lang="en-US" altLang="en-US"/>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898466" y="1233489"/>
            <a:ext cx="10798953" cy="5403848"/>
          </a:xfrm>
        </p:spPr>
        <p:txBody>
          <a:bodyPr/>
          <a:lstStyle/>
          <a:p>
            <a:r>
              <a:rPr lang="en-US" altLang="en-US" sz="2800" dirty="0"/>
              <a:t>I/O devices and the CPU can execute concurrently</a:t>
            </a:r>
            <a:endParaRPr lang="en-US" altLang="en-US" sz="1050" dirty="0"/>
          </a:p>
          <a:p>
            <a:r>
              <a:rPr lang="en-US" altLang="en-US" sz="2800" dirty="0"/>
              <a:t>Each device controller is in charge of a particular device type</a:t>
            </a:r>
            <a:endParaRPr lang="en-US" altLang="en-US" sz="1050" dirty="0"/>
          </a:p>
          <a:p>
            <a:r>
              <a:rPr lang="en-US" altLang="en-US" sz="2800" dirty="0"/>
              <a:t>Each device controller has a local buffer</a:t>
            </a:r>
          </a:p>
          <a:p>
            <a:r>
              <a:rPr lang="en-US" altLang="en-US" sz="2800" dirty="0"/>
              <a:t>Each device controller type has an operating system </a:t>
            </a:r>
            <a:r>
              <a:rPr lang="en-US" altLang="en-US" sz="2800" b="1" dirty="0">
                <a:solidFill>
                  <a:srgbClr val="006699"/>
                </a:solidFill>
                <a:latin typeface="+mj-lt"/>
              </a:rPr>
              <a:t>device driver</a:t>
            </a:r>
            <a:r>
              <a:rPr lang="en-US" altLang="en-US" sz="2800" dirty="0"/>
              <a:t> to manage it</a:t>
            </a:r>
            <a:endParaRPr lang="en-US" altLang="en-US" sz="1050" dirty="0"/>
          </a:p>
          <a:p>
            <a:r>
              <a:rPr lang="en-US" altLang="en-US" sz="2800" dirty="0"/>
              <a:t>CPU moves data from/to main memory to/from local buffers</a:t>
            </a:r>
            <a:endParaRPr lang="en-US" altLang="en-US" sz="1050" dirty="0"/>
          </a:p>
          <a:p>
            <a:r>
              <a:rPr lang="en-US" altLang="en-US" sz="2800" dirty="0"/>
              <a:t>I/O is from the device to local buffer of controller</a:t>
            </a:r>
            <a:endParaRPr lang="en-US" altLang="en-US" sz="1050" dirty="0"/>
          </a:p>
          <a:p>
            <a:r>
              <a:rPr lang="en-US" altLang="en-US" sz="2800" dirty="0"/>
              <a:t>Device controller informs CPU that it has finished its operation by causing an </a:t>
            </a:r>
            <a:r>
              <a:rPr lang="en-US" altLang="en-US" sz="2800" b="1" dirty="0">
                <a:solidFill>
                  <a:srgbClr val="006699"/>
                </a:solidFill>
                <a:latin typeface="+mj-lt"/>
              </a:rPr>
              <a:t>interrupt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C97EFBA-8B5C-60B7-5DC9-DD8321491B90}"/>
              </a:ext>
            </a:extLst>
          </p:cNvPr>
          <p:cNvSpPr>
            <a:spLocks noGrp="1" noChangeArrowheads="1"/>
          </p:cNvSpPr>
          <p:nvPr>
            <p:ph type="title" idx="4294967295"/>
          </p:nvPr>
        </p:nvSpPr>
        <p:spPr/>
        <p:txBody>
          <a:bodyPr/>
          <a:lstStyle/>
          <a:p>
            <a:pPr eaLnBrk="1" hangingPunct="1"/>
            <a:r>
              <a:rPr lang="en-US" altLang="zh-TW">
                <a:ea typeface="ＭＳ Ｐゴシック" panose="020B0600070205080204" pitchFamily="34" charset="-128"/>
              </a:rPr>
              <a:t>Interrupt-Driven I/O Operation</a:t>
            </a:r>
          </a:p>
        </p:txBody>
      </p:sp>
      <p:sp>
        <p:nvSpPr>
          <p:cNvPr id="27651" name="Rectangle 3">
            <a:extLst>
              <a:ext uri="{FF2B5EF4-FFF2-40B4-BE49-F238E27FC236}">
                <a16:creationId xmlns:a16="http://schemas.microsoft.com/office/drawing/2014/main" id="{B8C5B2C4-ADC5-F2C5-04A8-0D71EAC95781}"/>
              </a:ext>
            </a:extLst>
          </p:cNvPr>
          <p:cNvSpPr>
            <a:spLocks noGrp="1" noChangeArrowheads="1"/>
          </p:cNvSpPr>
          <p:nvPr>
            <p:ph type="body" idx="4294967295"/>
          </p:nvPr>
        </p:nvSpPr>
        <p:spPr>
          <a:xfrm>
            <a:off x="2438399" y="1233489"/>
            <a:ext cx="8965721" cy="5219069"/>
          </a:xfrm>
        </p:spPr>
        <p:txBody>
          <a:bodyPr/>
          <a:lstStyle/>
          <a:p>
            <a:r>
              <a:rPr lang="en-US" altLang="zh-TW" dirty="0">
                <a:ea typeface="ＭＳ Ｐゴシック" panose="020B0600070205080204" pitchFamily="34" charset="-128"/>
              </a:rPr>
              <a:t>Ex: Disk I/O operation</a:t>
            </a:r>
          </a:p>
          <a:p>
            <a:pPr lvl="1"/>
            <a:endParaRPr lang="zh-TW" altLang="en-US" dirty="0">
              <a:ea typeface="ＭＳ Ｐゴシック" panose="020B0600070205080204" pitchFamily="34" charset="-128"/>
            </a:endParaRPr>
          </a:p>
        </p:txBody>
      </p:sp>
      <p:pic>
        <p:nvPicPr>
          <p:cNvPr id="27652" name="Picture 4">
            <a:extLst>
              <a:ext uri="{FF2B5EF4-FFF2-40B4-BE49-F238E27FC236}">
                <a16:creationId xmlns:a16="http://schemas.microsoft.com/office/drawing/2014/main" id="{C29EAFF3-713C-9619-5539-AA0018739B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750" y="2335214"/>
            <a:ext cx="6737350" cy="332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9" name="Line 5">
            <a:extLst>
              <a:ext uri="{FF2B5EF4-FFF2-40B4-BE49-F238E27FC236}">
                <a16:creationId xmlns:a16="http://schemas.microsoft.com/office/drawing/2014/main" id="{10ACBB70-C944-8C25-A12A-CCE4E19F431E}"/>
              </a:ext>
            </a:extLst>
          </p:cNvPr>
          <p:cNvSpPr>
            <a:spLocks noChangeShapeType="1"/>
          </p:cNvSpPr>
          <p:nvPr/>
        </p:nvSpPr>
        <p:spPr bwMode="auto">
          <a:xfrm>
            <a:off x="3683000" y="3975100"/>
            <a:ext cx="762000" cy="0"/>
          </a:xfrm>
          <a:prstGeom prst="line">
            <a:avLst/>
          </a:prstGeom>
          <a:noFill/>
          <a:ln w="9525">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9270" name="Text Box 6">
            <a:extLst>
              <a:ext uri="{FF2B5EF4-FFF2-40B4-BE49-F238E27FC236}">
                <a16:creationId xmlns:a16="http://schemas.microsoft.com/office/drawing/2014/main" id="{34C26E76-99B2-8029-2BE0-E36859CDFD1E}"/>
              </a:ext>
            </a:extLst>
          </p:cNvPr>
          <p:cNvSpPr txBox="1">
            <a:spLocks noChangeArrowheads="1"/>
          </p:cNvSpPr>
          <p:nvPr/>
        </p:nvSpPr>
        <p:spPr bwMode="auto">
          <a:xfrm>
            <a:off x="3924300" y="3619501"/>
            <a:ext cx="469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5000"/>
              </a:spcBef>
              <a:buClr>
                <a:srgbClr val="993300"/>
              </a:buClr>
              <a:buSzPct val="90000"/>
              <a:buFont typeface="Monotype Sorts" charset="2"/>
              <a:buChar char="n"/>
              <a:defRPr kumimoji="1" sz="2400">
                <a:solidFill>
                  <a:schemeClr val="tx1"/>
                </a:solidFill>
                <a:latin typeface="Book Antiqua" panose="02040602050305030304" pitchFamily="18"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000">
                <a:solidFill>
                  <a:schemeClr val="tx1"/>
                </a:solidFill>
                <a:latin typeface="Book Antiqua" panose="02040602050305030304" pitchFamily="18"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Book Antiqua" panose="02040602050305030304" pitchFamily="18"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Book Antiqua" panose="02040602050305030304" pitchFamily="18" charset="0"/>
                <a:ea typeface="ＭＳ Ｐゴシック" panose="020B0600070205080204" pitchFamily="34" charset="-128"/>
              </a:defRPr>
            </a:lvl4pPr>
            <a:lvl5pPr marL="2057400" indent="-228600">
              <a:spcBef>
                <a:spcPct val="35000"/>
              </a:spcBef>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9pPr>
          </a:lstStyle>
          <a:p>
            <a:pPr>
              <a:spcBef>
                <a:spcPct val="50000"/>
              </a:spcBef>
              <a:buClrTx/>
              <a:buSzTx/>
              <a:buFontTx/>
              <a:buNone/>
            </a:pPr>
            <a:r>
              <a:rPr kumimoji="0" lang="en-US" altLang="zh-TW" sz="1800">
                <a:solidFill>
                  <a:srgbClr val="FF3300"/>
                </a:solidFill>
              </a:rPr>
              <a:t>(1)</a:t>
            </a:r>
          </a:p>
        </p:txBody>
      </p:sp>
      <p:sp>
        <p:nvSpPr>
          <p:cNvPr id="139271" name="Line 7">
            <a:extLst>
              <a:ext uri="{FF2B5EF4-FFF2-40B4-BE49-F238E27FC236}">
                <a16:creationId xmlns:a16="http://schemas.microsoft.com/office/drawing/2014/main" id="{C1D6BF34-DB74-1E49-88A7-42BB51227498}"/>
              </a:ext>
            </a:extLst>
          </p:cNvPr>
          <p:cNvSpPr>
            <a:spLocks noChangeShapeType="1"/>
          </p:cNvSpPr>
          <p:nvPr/>
        </p:nvSpPr>
        <p:spPr bwMode="auto">
          <a:xfrm flipV="1">
            <a:off x="5016500" y="3276600"/>
            <a:ext cx="0" cy="546100"/>
          </a:xfrm>
          <a:prstGeom prst="line">
            <a:avLst/>
          </a:prstGeom>
          <a:noFill/>
          <a:ln w="9525">
            <a:solidFill>
              <a:srgbClr val="FF33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9272" name="Text Box 8">
            <a:extLst>
              <a:ext uri="{FF2B5EF4-FFF2-40B4-BE49-F238E27FC236}">
                <a16:creationId xmlns:a16="http://schemas.microsoft.com/office/drawing/2014/main" id="{EB13DD81-2BB2-1270-F94A-71BC67864B4B}"/>
              </a:ext>
            </a:extLst>
          </p:cNvPr>
          <p:cNvSpPr txBox="1">
            <a:spLocks noChangeArrowheads="1"/>
          </p:cNvSpPr>
          <p:nvPr/>
        </p:nvSpPr>
        <p:spPr bwMode="auto">
          <a:xfrm>
            <a:off x="5054600" y="3340101"/>
            <a:ext cx="469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5000"/>
              </a:spcBef>
              <a:buClr>
                <a:srgbClr val="993300"/>
              </a:buClr>
              <a:buSzPct val="90000"/>
              <a:buFont typeface="Monotype Sorts" charset="2"/>
              <a:buChar char="n"/>
              <a:defRPr kumimoji="1" sz="2400">
                <a:solidFill>
                  <a:schemeClr val="tx1"/>
                </a:solidFill>
                <a:latin typeface="Book Antiqua" panose="02040602050305030304" pitchFamily="18"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000">
                <a:solidFill>
                  <a:schemeClr val="tx1"/>
                </a:solidFill>
                <a:latin typeface="Book Antiqua" panose="02040602050305030304" pitchFamily="18"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Book Antiqua" panose="02040602050305030304" pitchFamily="18"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Book Antiqua" panose="02040602050305030304" pitchFamily="18" charset="0"/>
                <a:ea typeface="ＭＳ Ｐゴシック" panose="020B0600070205080204" pitchFamily="34" charset="-128"/>
              </a:defRPr>
            </a:lvl4pPr>
            <a:lvl5pPr marL="2057400" indent="-228600">
              <a:spcBef>
                <a:spcPct val="35000"/>
              </a:spcBef>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9pPr>
          </a:lstStyle>
          <a:p>
            <a:pPr>
              <a:spcBef>
                <a:spcPct val="50000"/>
              </a:spcBef>
              <a:buClrTx/>
              <a:buSzTx/>
              <a:buFontTx/>
              <a:buNone/>
            </a:pPr>
            <a:r>
              <a:rPr kumimoji="0" lang="en-US" altLang="zh-TW" sz="1800">
                <a:solidFill>
                  <a:srgbClr val="FF3300"/>
                </a:solidFill>
              </a:rPr>
              <a:t>(2)</a:t>
            </a:r>
          </a:p>
        </p:txBody>
      </p:sp>
      <p:sp>
        <p:nvSpPr>
          <p:cNvPr id="139273" name="Line 9">
            <a:extLst>
              <a:ext uri="{FF2B5EF4-FFF2-40B4-BE49-F238E27FC236}">
                <a16:creationId xmlns:a16="http://schemas.microsoft.com/office/drawing/2014/main" id="{CEEE16ED-72D4-9165-057F-E0C798F9DB07}"/>
              </a:ext>
            </a:extLst>
          </p:cNvPr>
          <p:cNvSpPr>
            <a:spLocks noChangeShapeType="1"/>
          </p:cNvSpPr>
          <p:nvPr/>
        </p:nvSpPr>
        <p:spPr bwMode="auto">
          <a:xfrm flipH="1">
            <a:off x="3695700" y="4127500"/>
            <a:ext cx="711200" cy="0"/>
          </a:xfrm>
          <a:prstGeom prst="line">
            <a:avLst/>
          </a:prstGeom>
          <a:noFill/>
          <a:ln w="9525">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9274" name="Text Box 10">
            <a:extLst>
              <a:ext uri="{FF2B5EF4-FFF2-40B4-BE49-F238E27FC236}">
                <a16:creationId xmlns:a16="http://schemas.microsoft.com/office/drawing/2014/main" id="{A62BCC58-1D4C-BB47-B93F-D68D23E29696}"/>
              </a:ext>
            </a:extLst>
          </p:cNvPr>
          <p:cNvSpPr txBox="1">
            <a:spLocks noChangeArrowheads="1"/>
          </p:cNvSpPr>
          <p:nvPr/>
        </p:nvSpPr>
        <p:spPr bwMode="auto">
          <a:xfrm>
            <a:off x="3911600" y="4165601"/>
            <a:ext cx="469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5000"/>
              </a:spcBef>
              <a:buClr>
                <a:srgbClr val="993300"/>
              </a:buClr>
              <a:buSzPct val="90000"/>
              <a:buFont typeface="Monotype Sorts" charset="2"/>
              <a:buChar char="n"/>
              <a:defRPr kumimoji="1" sz="2400">
                <a:solidFill>
                  <a:schemeClr val="tx1"/>
                </a:solidFill>
                <a:latin typeface="Book Antiqua" panose="02040602050305030304" pitchFamily="18"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000">
                <a:solidFill>
                  <a:schemeClr val="tx1"/>
                </a:solidFill>
                <a:latin typeface="Book Antiqua" panose="02040602050305030304" pitchFamily="18"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Book Antiqua" panose="02040602050305030304" pitchFamily="18"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Book Antiqua" panose="02040602050305030304" pitchFamily="18" charset="0"/>
                <a:ea typeface="ＭＳ Ｐゴシック" panose="020B0600070205080204" pitchFamily="34" charset="-128"/>
              </a:defRPr>
            </a:lvl4pPr>
            <a:lvl5pPr marL="2057400" indent="-228600">
              <a:spcBef>
                <a:spcPct val="35000"/>
              </a:spcBef>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9pPr>
          </a:lstStyle>
          <a:p>
            <a:pPr>
              <a:spcBef>
                <a:spcPct val="50000"/>
              </a:spcBef>
              <a:buClrTx/>
              <a:buSzTx/>
              <a:buFontTx/>
              <a:buNone/>
            </a:pPr>
            <a:r>
              <a:rPr kumimoji="0" lang="en-US" altLang="zh-TW" sz="1800">
                <a:solidFill>
                  <a:srgbClr val="FF3300"/>
                </a:solidFill>
              </a:rPr>
              <a:t>(3)</a:t>
            </a:r>
          </a:p>
        </p:txBody>
      </p:sp>
      <p:sp>
        <p:nvSpPr>
          <p:cNvPr id="139275" name="Line 11">
            <a:extLst>
              <a:ext uri="{FF2B5EF4-FFF2-40B4-BE49-F238E27FC236}">
                <a16:creationId xmlns:a16="http://schemas.microsoft.com/office/drawing/2014/main" id="{A62588C7-25BF-CB94-AD50-9A4FA695B3FD}"/>
              </a:ext>
            </a:extLst>
          </p:cNvPr>
          <p:cNvSpPr>
            <a:spLocks noChangeShapeType="1"/>
          </p:cNvSpPr>
          <p:nvPr/>
        </p:nvSpPr>
        <p:spPr bwMode="auto">
          <a:xfrm>
            <a:off x="4749800" y="4343400"/>
            <a:ext cx="762000" cy="850900"/>
          </a:xfrm>
          <a:prstGeom prst="line">
            <a:avLst/>
          </a:prstGeom>
          <a:noFill/>
          <a:ln w="9525">
            <a:solidFill>
              <a:srgbClr val="FF33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9276" name="Text Box 12">
            <a:extLst>
              <a:ext uri="{FF2B5EF4-FFF2-40B4-BE49-F238E27FC236}">
                <a16:creationId xmlns:a16="http://schemas.microsoft.com/office/drawing/2014/main" id="{2E0C0D98-E4D8-C8DB-B721-E6372DB9A717}"/>
              </a:ext>
            </a:extLst>
          </p:cNvPr>
          <p:cNvSpPr txBox="1">
            <a:spLocks noChangeArrowheads="1"/>
          </p:cNvSpPr>
          <p:nvPr/>
        </p:nvSpPr>
        <p:spPr bwMode="auto">
          <a:xfrm>
            <a:off x="4686300" y="4711701"/>
            <a:ext cx="469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35000"/>
              </a:spcBef>
              <a:buClr>
                <a:srgbClr val="993300"/>
              </a:buClr>
              <a:buSzPct val="90000"/>
              <a:buFont typeface="Monotype Sorts" charset="2"/>
              <a:buChar char="n"/>
              <a:defRPr kumimoji="1" sz="2400">
                <a:solidFill>
                  <a:schemeClr val="tx1"/>
                </a:solidFill>
                <a:latin typeface="Book Antiqua" panose="02040602050305030304" pitchFamily="18" charset="0"/>
                <a:ea typeface="ＭＳ Ｐゴシック" panose="020B0600070205080204" pitchFamily="34" charset="-128"/>
              </a:defRPr>
            </a:lvl1pPr>
            <a:lvl2pPr marL="742950" indent="-285750">
              <a:spcBef>
                <a:spcPct val="35000"/>
              </a:spcBef>
              <a:buClr>
                <a:srgbClr val="CC6600"/>
              </a:buClr>
              <a:buSzPct val="80000"/>
              <a:buFont typeface="Monotype Sorts" charset="2"/>
              <a:buChar char="l"/>
              <a:defRPr kumimoji="1" sz="2000">
                <a:solidFill>
                  <a:schemeClr val="tx1"/>
                </a:solidFill>
                <a:latin typeface="Book Antiqua" panose="02040602050305030304" pitchFamily="18" charset="0"/>
                <a:ea typeface="ＭＳ Ｐゴシック"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Book Antiqua" panose="02040602050305030304" pitchFamily="18"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Book Antiqua" panose="02040602050305030304" pitchFamily="18" charset="0"/>
                <a:ea typeface="ＭＳ Ｐゴシック" panose="020B0600070205080204" pitchFamily="34" charset="-128"/>
              </a:defRPr>
            </a:lvl4pPr>
            <a:lvl5pPr marL="2057400" indent="-228600">
              <a:spcBef>
                <a:spcPct val="35000"/>
              </a:spcBef>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Book Antiqua" panose="02040602050305030304" pitchFamily="18" charset="0"/>
                <a:ea typeface="ＭＳ Ｐゴシック" panose="020B0600070205080204" pitchFamily="34" charset="-128"/>
              </a:defRPr>
            </a:lvl9pPr>
          </a:lstStyle>
          <a:p>
            <a:pPr>
              <a:spcBef>
                <a:spcPct val="50000"/>
              </a:spcBef>
              <a:buClrTx/>
              <a:buSzTx/>
              <a:buFontTx/>
              <a:buNone/>
            </a:pPr>
            <a:r>
              <a:rPr kumimoji="0" lang="en-US" altLang="zh-TW" sz="1800">
                <a:solidFill>
                  <a:srgbClr val="FF3300"/>
                </a:solidFill>
              </a:rPr>
              <a:t>(4)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9269"/>
                                        </p:tgtEl>
                                        <p:attrNameLst>
                                          <p:attrName>style.visibility</p:attrName>
                                        </p:attrNameLst>
                                      </p:cBhvr>
                                      <p:to>
                                        <p:strVal val="visible"/>
                                      </p:to>
                                    </p:set>
                                    <p:anim calcmode="lin" valueType="num">
                                      <p:cBhvr additive="base">
                                        <p:cTn id="7" dur="500" fill="hold"/>
                                        <p:tgtEl>
                                          <p:spTgt spid="139269"/>
                                        </p:tgtEl>
                                        <p:attrNameLst>
                                          <p:attrName>ppt_x</p:attrName>
                                        </p:attrNameLst>
                                      </p:cBhvr>
                                      <p:tavLst>
                                        <p:tav tm="0">
                                          <p:val>
                                            <p:strVal val="0-#ppt_w/2"/>
                                          </p:val>
                                        </p:tav>
                                        <p:tav tm="100000">
                                          <p:val>
                                            <p:strVal val="#ppt_x"/>
                                          </p:val>
                                        </p:tav>
                                      </p:tavLst>
                                    </p:anim>
                                    <p:anim calcmode="lin" valueType="num">
                                      <p:cBhvr additive="base">
                                        <p:cTn id="8" dur="500" fill="hold"/>
                                        <p:tgtEl>
                                          <p:spTgt spid="13926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9270"/>
                                        </p:tgtEl>
                                        <p:attrNameLst>
                                          <p:attrName>style.visibility</p:attrName>
                                        </p:attrNameLst>
                                      </p:cBhvr>
                                      <p:to>
                                        <p:strVal val="visible"/>
                                      </p:to>
                                    </p:set>
                                    <p:anim calcmode="lin" valueType="num">
                                      <p:cBhvr additive="base">
                                        <p:cTn id="11" dur="500" fill="hold"/>
                                        <p:tgtEl>
                                          <p:spTgt spid="139270"/>
                                        </p:tgtEl>
                                        <p:attrNameLst>
                                          <p:attrName>ppt_x</p:attrName>
                                        </p:attrNameLst>
                                      </p:cBhvr>
                                      <p:tavLst>
                                        <p:tav tm="0">
                                          <p:val>
                                            <p:strVal val="0-#ppt_w/2"/>
                                          </p:val>
                                        </p:tav>
                                        <p:tav tm="100000">
                                          <p:val>
                                            <p:strVal val="#ppt_x"/>
                                          </p:val>
                                        </p:tav>
                                      </p:tavLst>
                                    </p:anim>
                                    <p:anim calcmode="lin" valueType="num">
                                      <p:cBhvr additive="base">
                                        <p:cTn id="12" dur="500" fill="hold"/>
                                        <p:tgtEl>
                                          <p:spTgt spid="139270"/>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39271"/>
                                        </p:tgtEl>
                                        <p:attrNameLst>
                                          <p:attrName>style.visibility</p:attrName>
                                        </p:attrNameLst>
                                      </p:cBhvr>
                                      <p:to>
                                        <p:strVal val="visible"/>
                                      </p:to>
                                    </p:set>
                                    <p:anim calcmode="lin" valueType="num">
                                      <p:cBhvr additive="base">
                                        <p:cTn id="17" dur="500" fill="hold"/>
                                        <p:tgtEl>
                                          <p:spTgt spid="139271"/>
                                        </p:tgtEl>
                                        <p:attrNameLst>
                                          <p:attrName>ppt_x</p:attrName>
                                        </p:attrNameLst>
                                      </p:cBhvr>
                                      <p:tavLst>
                                        <p:tav tm="0">
                                          <p:val>
                                            <p:strVal val="#ppt_x"/>
                                          </p:val>
                                        </p:tav>
                                        <p:tav tm="100000">
                                          <p:val>
                                            <p:strVal val="#ppt_x"/>
                                          </p:val>
                                        </p:tav>
                                      </p:tavLst>
                                    </p:anim>
                                    <p:anim calcmode="lin" valueType="num">
                                      <p:cBhvr additive="base">
                                        <p:cTn id="18" dur="500" fill="hold"/>
                                        <p:tgtEl>
                                          <p:spTgt spid="13927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9272"/>
                                        </p:tgtEl>
                                        <p:attrNameLst>
                                          <p:attrName>style.visibility</p:attrName>
                                        </p:attrNameLst>
                                      </p:cBhvr>
                                      <p:to>
                                        <p:strVal val="visible"/>
                                      </p:to>
                                    </p:set>
                                    <p:anim calcmode="lin" valueType="num">
                                      <p:cBhvr additive="base">
                                        <p:cTn id="21" dur="500" fill="hold"/>
                                        <p:tgtEl>
                                          <p:spTgt spid="139272"/>
                                        </p:tgtEl>
                                        <p:attrNameLst>
                                          <p:attrName>ppt_x</p:attrName>
                                        </p:attrNameLst>
                                      </p:cBhvr>
                                      <p:tavLst>
                                        <p:tav tm="0">
                                          <p:val>
                                            <p:strVal val="#ppt_x"/>
                                          </p:val>
                                        </p:tav>
                                        <p:tav tm="100000">
                                          <p:val>
                                            <p:strVal val="#ppt_x"/>
                                          </p:val>
                                        </p:tav>
                                      </p:tavLst>
                                    </p:anim>
                                    <p:anim calcmode="lin" valueType="num">
                                      <p:cBhvr additive="base">
                                        <p:cTn id="22" dur="500" fill="hold"/>
                                        <p:tgtEl>
                                          <p:spTgt spid="139272"/>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nodeType="clickEffect">
                                  <p:stCondLst>
                                    <p:cond delay="0"/>
                                  </p:stCondLst>
                                  <p:childTnLst>
                                    <p:set>
                                      <p:cBhvr>
                                        <p:cTn id="26" dur="1" fill="hold">
                                          <p:stCondLst>
                                            <p:cond delay="0"/>
                                          </p:stCondLst>
                                        </p:cTn>
                                        <p:tgtEl>
                                          <p:spTgt spid="139273"/>
                                        </p:tgtEl>
                                        <p:attrNameLst>
                                          <p:attrName>style.visibility</p:attrName>
                                        </p:attrNameLst>
                                      </p:cBhvr>
                                      <p:to>
                                        <p:strVal val="visible"/>
                                      </p:to>
                                    </p:set>
                                    <p:anim calcmode="lin" valueType="num">
                                      <p:cBhvr additive="base">
                                        <p:cTn id="27" dur="500" fill="hold"/>
                                        <p:tgtEl>
                                          <p:spTgt spid="139273"/>
                                        </p:tgtEl>
                                        <p:attrNameLst>
                                          <p:attrName>ppt_x</p:attrName>
                                        </p:attrNameLst>
                                      </p:cBhvr>
                                      <p:tavLst>
                                        <p:tav tm="0">
                                          <p:val>
                                            <p:strVal val="1+#ppt_w/2"/>
                                          </p:val>
                                        </p:tav>
                                        <p:tav tm="100000">
                                          <p:val>
                                            <p:strVal val="#ppt_x"/>
                                          </p:val>
                                        </p:tav>
                                      </p:tavLst>
                                    </p:anim>
                                    <p:anim calcmode="lin" valueType="num">
                                      <p:cBhvr additive="base">
                                        <p:cTn id="28" dur="500" fill="hold"/>
                                        <p:tgtEl>
                                          <p:spTgt spid="139273"/>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39274"/>
                                        </p:tgtEl>
                                        <p:attrNameLst>
                                          <p:attrName>style.visibility</p:attrName>
                                        </p:attrNameLst>
                                      </p:cBhvr>
                                      <p:to>
                                        <p:strVal val="visible"/>
                                      </p:to>
                                    </p:set>
                                    <p:anim calcmode="lin" valueType="num">
                                      <p:cBhvr additive="base">
                                        <p:cTn id="31" dur="500" fill="hold"/>
                                        <p:tgtEl>
                                          <p:spTgt spid="139274"/>
                                        </p:tgtEl>
                                        <p:attrNameLst>
                                          <p:attrName>ppt_x</p:attrName>
                                        </p:attrNameLst>
                                      </p:cBhvr>
                                      <p:tavLst>
                                        <p:tav tm="0">
                                          <p:val>
                                            <p:strVal val="1+#ppt_w/2"/>
                                          </p:val>
                                        </p:tav>
                                        <p:tav tm="100000">
                                          <p:val>
                                            <p:strVal val="#ppt_x"/>
                                          </p:val>
                                        </p:tav>
                                      </p:tavLst>
                                    </p:anim>
                                    <p:anim calcmode="lin" valueType="num">
                                      <p:cBhvr additive="base">
                                        <p:cTn id="32" dur="500" fill="hold"/>
                                        <p:tgtEl>
                                          <p:spTgt spid="13927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9" fill="hold" nodeType="clickEffect">
                                  <p:stCondLst>
                                    <p:cond delay="0"/>
                                  </p:stCondLst>
                                  <p:childTnLst>
                                    <p:set>
                                      <p:cBhvr>
                                        <p:cTn id="36" dur="1" fill="hold">
                                          <p:stCondLst>
                                            <p:cond delay="0"/>
                                          </p:stCondLst>
                                        </p:cTn>
                                        <p:tgtEl>
                                          <p:spTgt spid="139275"/>
                                        </p:tgtEl>
                                        <p:attrNameLst>
                                          <p:attrName>style.visibility</p:attrName>
                                        </p:attrNameLst>
                                      </p:cBhvr>
                                      <p:to>
                                        <p:strVal val="visible"/>
                                      </p:to>
                                    </p:set>
                                    <p:anim calcmode="lin" valueType="num">
                                      <p:cBhvr additive="base">
                                        <p:cTn id="37" dur="500" fill="hold"/>
                                        <p:tgtEl>
                                          <p:spTgt spid="139275"/>
                                        </p:tgtEl>
                                        <p:attrNameLst>
                                          <p:attrName>ppt_x</p:attrName>
                                        </p:attrNameLst>
                                      </p:cBhvr>
                                      <p:tavLst>
                                        <p:tav tm="0">
                                          <p:val>
                                            <p:strVal val="0-#ppt_w/2"/>
                                          </p:val>
                                        </p:tav>
                                        <p:tav tm="100000">
                                          <p:val>
                                            <p:strVal val="#ppt_x"/>
                                          </p:val>
                                        </p:tav>
                                      </p:tavLst>
                                    </p:anim>
                                    <p:anim calcmode="lin" valueType="num">
                                      <p:cBhvr additive="base">
                                        <p:cTn id="38" dur="500" fill="hold"/>
                                        <p:tgtEl>
                                          <p:spTgt spid="139275"/>
                                        </p:tgtEl>
                                        <p:attrNameLst>
                                          <p:attrName>ppt_y</p:attrName>
                                        </p:attrNameLst>
                                      </p:cBhvr>
                                      <p:tavLst>
                                        <p:tav tm="0">
                                          <p:val>
                                            <p:strVal val="0-#ppt_h/2"/>
                                          </p:val>
                                        </p:tav>
                                        <p:tav tm="100000">
                                          <p:val>
                                            <p:strVal val="#ppt_y"/>
                                          </p:val>
                                        </p:tav>
                                      </p:tavLst>
                                    </p:anim>
                                  </p:childTnLst>
                                </p:cTn>
                              </p:par>
                              <p:par>
                                <p:cTn id="39" presetID="2" presetClass="entr" presetSubtype="9" fill="hold" grpId="0" nodeType="withEffect">
                                  <p:stCondLst>
                                    <p:cond delay="0"/>
                                  </p:stCondLst>
                                  <p:childTnLst>
                                    <p:set>
                                      <p:cBhvr>
                                        <p:cTn id="40" dur="1" fill="hold">
                                          <p:stCondLst>
                                            <p:cond delay="0"/>
                                          </p:stCondLst>
                                        </p:cTn>
                                        <p:tgtEl>
                                          <p:spTgt spid="139276"/>
                                        </p:tgtEl>
                                        <p:attrNameLst>
                                          <p:attrName>style.visibility</p:attrName>
                                        </p:attrNameLst>
                                      </p:cBhvr>
                                      <p:to>
                                        <p:strVal val="visible"/>
                                      </p:to>
                                    </p:set>
                                    <p:anim calcmode="lin" valueType="num">
                                      <p:cBhvr additive="base">
                                        <p:cTn id="41" dur="500" fill="hold"/>
                                        <p:tgtEl>
                                          <p:spTgt spid="139276"/>
                                        </p:tgtEl>
                                        <p:attrNameLst>
                                          <p:attrName>ppt_x</p:attrName>
                                        </p:attrNameLst>
                                      </p:cBhvr>
                                      <p:tavLst>
                                        <p:tav tm="0">
                                          <p:val>
                                            <p:strVal val="0-#ppt_w/2"/>
                                          </p:val>
                                        </p:tav>
                                        <p:tav tm="100000">
                                          <p:val>
                                            <p:strVal val="#ppt_x"/>
                                          </p:val>
                                        </p:tav>
                                      </p:tavLst>
                                    </p:anim>
                                    <p:anim calcmode="lin" valueType="num">
                                      <p:cBhvr additive="base">
                                        <p:cTn id="42" dur="500" fill="hold"/>
                                        <p:tgtEl>
                                          <p:spTgt spid="13927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0" grpId="0"/>
      <p:bldP spid="139272" grpId="0"/>
      <p:bldP spid="139274" grpId="0"/>
      <p:bldP spid="13927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2470151" y="195263"/>
            <a:ext cx="7591425" cy="576262"/>
          </a:xfrm>
        </p:spPr>
        <p:txBody>
          <a:bodyPr/>
          <a:lstStyle/>
          <a:p>
            <a:pPr eaLnBrk="1" hangingPunct="1"/>
            <a:r>
              <a:rPr lang="en-US" altLang="en-US"/>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810883" y="1207698"/>
            <a:ext cx="10679502" cy="5141343"/>
          </a:xfrm>
        </p:spPr>
        <p:txBody>
          <a:bodyPr/>
          <a:lstStyle/>
          <a:p>
            <a:r>
              <a:rPr lang="en-US" altLang="en-US" sz="2800" dirty="0"/>
              <a:t>Interrupt transfers control to the interrupt service routine generally, through the </a:t>
            </a:r>
            <a:r>
              <a:rPr lang="en-US" altLang="en-US" sz="2800" b="1" dirty="0">
                <a:solidFill>
                  <a:srgbClr val="006699"/>
                </a:solidFill>
                <a:latin typeface="+mj-lt"/>
              </a:rPr>
              <a:t>interrupt vector</a:t>
            </a:r>
            <a:r>
              <a:rPr lang="en-US" altLang="en-US" sz="2800" dirty="0"/>
              <a:t>, which contains the addresses of all the service routines</a:t>
            </a:r>
            <a:endParaRPr lang="en-US" altLang="en-US" sz="1050" dirty="0"/>
          </a:p>
          <a:p>
            <a:r>
              <a:rPr lang="en-US" altLang="en-US" sz="2800" dirty="0"/>
              <a:t>Interrupt architecture must save the address of the interrupted instruction</a:t>
            </a:r>
            <a:endParaRPr lang="en-US" altLang="en-US" sz="1050" i="1" dirty="0"/>
          </a:p>
          <a:p>
            <a:r>
              <a:rPr lang="en-US" altLang="en-US" sz="2800" dirty="0"/>
              <a:t>A </a:t>
            </a:r>
            <a:r>
              <a:rPr lang="en-US" altLang="en-US" sz="2800" b="1" dirty="0">
                <a:solidFill>
                  <a:srgbClr val="006699"/>
                </a:solidFill>
                <a:latin typeface="+mj-lt"/>
              </a:rPr>
              <a:t>trap</a:t>
            </a:r>
            <a:r>
              <a:rPr lang="en-US" altLang="en-US" sz="2800" dirty="0"/>
              <a:t> or </a:t>
            </a:r>
            <a:r>
              <a:rPr lang="en-US" altLang="en-US" sz="2800" b="1" dirty="0">
                <a:solidFill>
                  <a:srgbClr val="006699"/>
                </a:solidFill>
                <a:latin typeface="+mj-lt"/>
              </a:rPr>
              <a:t>exception </a:t>
            </a:r>
            <a:r>
              <a:rPr lang="en-US" altLang="en-US" sz="2800" dirty="0"/>
              <a:t>is a software-generated interrupt caused either by an error or a user request</a:t>
            </a:r>
            <a:endParaRPr lang="en-US" altLang="en-US" sz="1050" dirty="0"/>
          </a:p>
          <a:p>
            <a:r>
              <a:rPr lang="en-US" altLang="en-US" sz="2800" dirty="0"/>
              <a:t>An operating system is </a:t>
            </a:r>
            <a:r>
              <a:rPr lang="en-US" altLang="en-US" sz="2800" b="1" dirty="0">
                <a:solidFill>
                  <a:srgbClr val="006699"/>
                </a:solidFill>
                <a:latin typeface="+mj-lt"/>
              </a:rPr>
              <a:t>interrupt driven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8E0AFA-01CE-41D2-B83F-9F7243CE8C2D}"/>
              </a:ext>
            </a:extLst>
          </p:cNvPr>
          <p:cNvSpPr>
            <a:spLocks noGrp="1" noChangeArrowheads="1"/>
          </p:cNvSpPr>
          <p:nvPr>
            <p:ph type="title" idx="4294967295"/>
          </p:nvPr>
        </p:nvSpPr>
        <p:spPr>
          <a:xfrm>
            <a:off x="1981200" y="195263"/>
            <a:ext cx="8051800" cy="576262"/>
          </a:xfrm>
        </p:spPr>
        <p:txBody>
          <a:bodyPr/>
          <a:lstStyle/>
          <a:p>
            <a:pPr eaLnBrk="1" hangingPunct="1"/>
            <a:r>
              <a:rPr lang="en-US" altLang="en-US"/>
              <a:t>Interrupt Timeline</a:t>
            </a: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963" y="1156008"/>
            <a:ext cx="11268790" cy="4920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2587626" y="-57150"/>
            <a:ext cx="7515225" cy="844550"/>
          </a:xfrm>
        </p:spPr>
        <p:txBody>
          <a:bodyPr/>
          <a:lstStyle/>
          <a:p>
            <a:pPr eaLnBrk="1" hangingPunct="1"/>
            <a:r>
              <a:rPr lang="en-US" altLang="en-US"/>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653143" y="1233491"/>
            <a:ext cx="11074399" cy="3759424"/>
          </a:xfrm>
        </p:spPr>
        <p:txBody>
          <a:bodyPr/>
          <a:lstStyle/>
          <a:p>
            <a:r>
              <a:rPr lang="en-US" altLang="en-US" sz="2400" dirty="0"/>
              <a:t>The operating system preserves the state of the CPU by storing the registers and the </a:t>
            </a:r>
            <a:r>
              <a:rPr lang="en-US" altLang="en-US" sz="2400" b="1" i="1" dirty="0"/>
              <a:t>program counter</a:t>
            </a:r>
          </a:p>
          <a:p>
            <a:r>
              <a:rPr lang="en-US" altLang="en-US" sz="2400" dirty="0"/>
              <a:t>Determines which type of interrupt has occurred:</a:t>
            </a:r>
          </a:p>
          <a:p>
            <a:r>
              <a:rPr lang="en-US" altLang="en-US" sz="2400" dirty="0"/>
              <a:t>Separate segments of code determine what action should be taken for each type of interrupt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1981200" y="214313"/>
            <a:ext cx="8116888" cy="576262"/>
          </a:xfrm>
        </p:spPr>
        <p:txBody>
          <a:bodyPr/>
          <a:lstStyle/>
          <a:p>
            <a:pPr eaLnBrk="1" hangingPunct="1"/>
            <a:r>
              <a:rPr lang="en-US" altLang="en-US"/>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7805" y="947702"/>
            <a:ext cx="5816389" cy="5732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1981201" y="212726"/>
            <a:ext cx="8099425" cy="576263"/>
          </a:xfrm>
        </p:spPr>
        <p:txBody>
          <a:bodyPr/>
          <a:lstStyle/>
          <a:p>
            <a:pPr eaLnBrk="1" hangingPunct="1"/>
            <a:r>
              <a:rPr lang="en-US" altLang="en-US"/>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45390" y="1244601"/>
            <a:ext cx="10731260" cy="4351969"/>
          </a:xfrm>
        </p:spPr>
        <p:txBody>
          <a:bodyPr/>
          <a:lstStyle/>
          <a:p>
            <a:pPr>
              <a:lnSpc>
                <a:spcPct val="90000"/>
              </a:lnSpc>
            </a:pPr>
            <a:r>
              <a:rPr lang="en-US" altLang="en-US" sz="2800" dirty="0"/>
              <a:t>Two methods for handling I/O</a:t>
            </a:r>
          </a:p>
          <a:p>
            <a:pPr lvl="1">
              <a:lnSpc>
                <a:spcPct val="90000"/>
              </a:lnSpc>
            </a:pPr>
            <a:r>
              <a:rPr lang="en-US" altLang="en-US" sz="2800" dirty="0"/>
              <a:t>After I/O starts, control returns to user program only upon I/O completion</a:t>
            </a:r>
          </a:p>
          <a:p>
            <a:pPr lvl="1">
              <a:lnSpc>
                <a:spcPct val="90000"/>
              </a:lnSpc>
            </a:pPr>
            <a:r>
              <a:rPr lang="en-US" altLang="en-US" sz="2800" dirty="0"/>
              <a:t>After I/O starts, control returns to user program without waiting for I/O completion</a:t>
            </a:r>
          </a:p>
        </p:txBody>
      </p:sp>
    </p:spTree>
    <p:extLst>
      <p:ext uri="{BB962C8B-B14F-4D97-AF65-F5344CB8AC3E}">
        <p14:creationId xmlns:p14="http://schemas.microsoft.com/office/powerpoint/2010/main" val="1570063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1981201" y="212726"/>
            <a:ext cx="8099425" cy="576263"/>
          </a:xfrm>
        </p:spPr>
        <p:txBody>
          <a:bodyPr/>
          <a:lstStyle/>
          <a:p>
            <a:pPr eaLnBrk="1" hangingPunct="1"/>
            <a:r>
              <a:rPr lang="en-US" altLang="en-US" dirty="0"/>
              <a:t>I/O Structure </a:t>
            </a:r>
            <a:r>
              <a:rPr lang="en-US" altLang="en-US"/>
              <a:t>(Cont.)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741872" y="1244601"/>
            <a:ext cx="10990053" cy="4528239"/>
          </a:xfrm>
        </p:spPr>
        <p:txBody>
          <a:bodyPr/>
          <a:lstStyle/>
          <a:p>
            <a:pPr>
              <a:lnSpc>
                <a:spcPct val="90000"/>
              </a:lnSpc>
            </a:pPr>
            <a:r>
              <a:rPr lang="en-US" altLang="en-US" sz="2400" dirty="0"/>
              <a:t>After I/O starts, control returns to user program only upon I/O completion</a:t>
            </a:r>
          </a:p>
          <a:p>
            <a:pPr lvl="1">
              <a:lnSpc>
                <a:spcPct val="90000"/>
              </a:lnSpc>
            </a:pPr>
            <a:r>
              <a:rPr lang="en-US" altLang="en-US" sz="2400" dirty="0"/>
              <a:t>Wait instruction idles the CPU until the next interrupt</a:t>
            </a:r>
          </a:p>
          <a:p>
            <a:pPr lvl="1">
              <a:lnSpc>
                <a:spcPct val="90000"/>
              </a:lnSpc>
            </a:pPr>
            <a:r>
              <a:rPr lang="en-US" altLang="en-US" sz="2400" dirty="0"/>
              <a:t>Wait loop (contention for memory access)</a:t>
            </a:r>
          </a:p>
          <a:p>
            <a:pPr lvl="1">
              <a:lnSpc>
                <a:spcPct val="90000"/>
              </a:lnSpc>
            </a:pPr>
            <a:r>
              <a:rPr lang="en-US" altLang="en-US" sz="2400" dirty="0"/>
              <a:t>At most one I/O request is outstanding at a time, no simultaneous I/O processing</a:t>
            </a:r>
          </a:p>
          <a:p>
            <a:pPr>
              <a:lnSpc>
                <a:spcPct val="90000"/>
              </a:lnSpc>
            </a:pPr>
            <a:r>
              <a:rPr lang="en-US" altLang="en-US" sz="2400" dirty="0"/>
              <a:t>After I/O starts, control returns to user program without waiting for I/O completion</a:t>
            </a:r>
          </a:p>
          <a:p>
            <a:pPr lvl="1">
              <a:lnSpc>
                <a:spcPct val="90000"/>
              </a:lnSpc>
            </a:pPr>
            <a:r>
              <a:rPr lang="en-US" altLang="en-US" sz="2400" b="1" dirty="0">
                <a:solidFill>
                  <a:srgbClr val="006699"/>
                </a:solidFill>
                <a:latin typeface="+mj-lt"/>
              </a:rPr>
              <a:t>System call </a:t>
            </a:r>
            <a:r>
              <a:rPr lang="en-US" altLang="en-US" sz="2400" dirty="0"/>
              <a:t>– request to the OS to allow user to wait for I/O completion</a:t>
            </a:r>
          </a:p>
          <a:p>
            <a:pPr lvl="1">
              <a:lnSpc>
                <a:spcPct val="90000"/>
              </a:lnSpc>
            </a:pPr>
            <a:r>
              <a:rPr lang="en-US" altLang="en-US" sz="2400" b="1" dirty="0">
                <a:solidFill>
                  <a:srgbClr val="006699"/>
                </a:solidFill>
                <a:latin typeface="+mj-lt"/>
              </a:rPr>
              <a:t>Device-status table </a:t>
            </a:r>
            <a:r>
              <a:rPr lang="en-US" altLang="en-US" sz="2400" dirty="0"/>
              <a:t>contains entry for each I/O device indicating its type, address, and state</a:t>
            </a:r>
          </a:p>
          <a:p>
            <a:pPr lvl="1">
              <a:lnSpc>
                <a:spcPct val="90000"/>
              </a:lnSpc>
            </a:pPr>
            <a:r>
              <a:rPr lang="en-US" altLang="en-US" sz="2400" dirty="0"/>
              <a:t>OS indexes into I/O device table to determine device status and to modify table entry to include interrupt</a:t>
            </a:r>
          </a:p>
          <a:p>
            <a:pPr lvl="1">
              <a:lnSpc>
                <a:spcPct val="90000"/>
              </a:lnSpc>
            </a:pPr>
            <a:endParaRPr lang="en-US"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F6C605E-DD6E-A42B-592C-89AFF0C8CDB7}"/>
              </a:ext>
            </a:extLst>
          </p:cNvPr>
          <p:cNvSpPr>
            <a:spLocks noGrp="1" noChangeArrowheads="1"/>
          </p:cNvSpPr>
          <p:nvPr>
            <p:ph type="title"/>
          </p:nvPr>
        </p:nvSpPr>
        <p:spPr/>
        <p:txBody>
          <a:bodyPr/>
          <a:lstStyle/>
          <a:p>
            <a:pPr eaLnBrk="1" hangingPunct="1"/>
            <a:r>
              <a:rPr lang="en-US" altLang="zh-TW">
                <a:ea typeface="ＭＳ Ｐゴシック" panose="020B0600070205080204" pitchFamily="34" charset="-128"/>
              </a:rPr>
              <a:t>Computer Startup</a:t>
            </a:r>
          </a:p>
        </p:txBody>
      </p:sp>
      <p:sp>
        <p:nvSpPr>
          <p:cNvPr id="21507" name="Rectangle 3">
            <a:extLst>
              <a:ext uri="{FF2B5EF4-FFF2-40B4-BE49-F238E27FC236}">
                <a16:creationId xmlns:a16="http://schemas.microsoft.com/office/drawing/2014/main" id="{C113BDD5-0FDB-99B4-3501-1958350DBD16}"/>
              </a:ext>
            </a:extLst>
          </p:cNvPr>
          <p:cNvSpPr>
            <a:spLocks noGrp="1" noChangeArrowheads="1"/>
          </p:cNvSpPr>
          <p:nvPr>
            <p:ph type="body" idx="1"/>
          </p:nvPr>
        </p:nvSpPr>
        <p:spPr>
          <a:xfrm>
            <a:off x="322058" y="1043706"/>
            <a:ext cx="11542143" cy="5624511"/>
          </a:xfrm>
        </p:spPr>
        <p:txBody>
          <a:bodyPr/>
          <a:lstStyle/>
          <a:p>
            <a:r>
              <a:rPr lang="en-US" altLang="zh-TW" sz="2400" b="1" dirty="0">
                <a:solidFill>
                  <a:srgbClr val="3366FF"/>
                </a:solidFill>
                <a:ea typeface="ＭＳ Ｐゴシック" panose="020B0600070205080204" pitchFamily="34" charset="-128"/>
              </a:rPr>
              <a:t>Bootstrap program</a:t>
            </a:r>
            <a:r>
              <a:rPr lang="en-US" altLang="zh-TW" sz="2400" dirty="0">
                <a:solidFill>
                  <a:srgbClr val="3366FF"/>
                </a:solidFill>
                <a:ea typeface="ＭＳ Ｐゴシック" panose="020B0600070205080204" pitchFamily="34" charset="-128"/>
              </a:rPr>
              <a:t> </a:t>
            </a:r>
            <a:r>
              <a:rPr lang="en-US" altLang="zh-TW" sz="2400" dirty="0">
                <a:ea typeface="ＭＳ Ｐゴシック" panose="020B0600070205080204" pitchFamily="34" charset="-128"/>
              </a:rPr>
              <a:t>is loaded at power-up or reboot</a:t>
            </a:r>
          </a:p>
          <a:p>
            <a:pPr lvl="1"/>
            <a:r>
              <a:rPr lang="en-US" altLang="zh-TW" sz="2400" dirty="0">
                <a:ea typeface="ＭＳ Ｐゴシック" panose="020B0600070205080204" pitchFamily="34" charset="-128"/>
              </a:rPr>
              <a:t>Typically stored in EEPROM, generally known as </a:t>
            </a:r>
            <a:r>
              <a:rPr lang="en-US" altLang="zh-TW" sz="2400" b="1" dirty="0">
                <a:solidFill>
                  <a:srgbClr val="3366FF"/>
                </a:solidFill>
                <a:ea typeface="ＭＳ Ｐゴシック" panose="020B0600070205080204" pitchFamily="34" charset="-128"/>
              </a:rPr>
              <a:t>firmware</a:t>
            </a:r>
          </a:p>
          <a:p>
            <a:pPr lvl="1"/>
            <a:r>
              <a:rPr lang="en-US" altLang="zh-TW" sz="2400" dirty="0">
                <a:ea typeface="ＭＳ Ｐゴシック" panose="020B0600070205080204" pitchFamily="34" charset="-128"/>
              </a:rPr>
              <a:t>Initializes all aspects of system</a:t>
            </a:r>
          </a:p>
          <a:p>
            <a:pPr lvl="2"/>
            <a:r>
              <a:rPr lang="en-US" altLang="zh-TW" sz="2400" dirty="0">
                <a:ea typeface="ＭＳ Ｐゴシック" panose="020B0600070205080204" pitchFamily="34" charset="-128"/>
              </a:rPr>
              <a:t>CPU registers, device controllers, memory contents etc.</a:t>
            </a:r>
          </a:p>
          <a:p>
            <a:pPr lvl="1"/>
            <a:r>
              <a:rPr lang="en-US" altLang="zh-TW" sz="2400" dirty="0">
                <a:ea typeface="ＭＳ Ｐゴシック" panose="020B0600070205080204" pitchFamily="34" charset="-128"/>
              </a:rPr>
              <a:t>Loads OS kernel and starts executing the first process such as “</a:t>
            </a:r>
            <a:r>
              <a:rPr lang="en-US" altLang="zh-TW" sz="2400" dirty="0" err="1">
                <a:ea typeface="ＭＳ Ｐゴシック" panose="020B0600070205080204" pitchFamily="34" charset="-128"/>
              </a:rPr>
              <a:t>init</a:t>
            </a:r>
            <a:r>
              <a:rPr lang="en-US" altLang="zh-TW" sz="2400" dirty="0">
                <a:ea typeface="ＭＳ Ｐゴシック" panose="020B0600070205080204" pitchFamily="34" charset="-128"/>
              </a:rPr>
              <a:t>” and wait for event to occur.</a:t>
            </a:r>
          </a:p>
          <a:p>
            <a:pPr lvl="1"/>
            <a:r>
              <a:rPr lang="en-US" altLang="zh-TW" sz="2400" dirty="0">
                <a:ea typeface="ＭＳ Ｐゴシック" panose="020B0600070205080204" pitchFamily="34" charset="-128"/>
              </a:rPr>
              <a:t>Occurrence of an event is usually signaled by an </a:t>
            </a:r>
            <a:r>
              <a:rPr lang="en-US" altLang="zh-TW" sz="2400" b="1" dirty="0">
                <a:ea typeface="ＭＳ Ｐゴシック" panose="020B0600070205080204" pitchFamily="34" charset="-128"/>
              </a:rPr>
              <a:t>Interrupt</a:t>
            </a:r>
            <a:r>
              <a:rPr lang="en-US" altLang="zh-TW" sz="2400" dirty="0">
                <a:ea typeface="ＭＳ Ｐゴシック" panose="020B0600070205080204" pitchFamily="34" charset="-128"/>
              </a:rPr>
              <a:t> from either </a:t>
            </a:r>
            <a:r>
              <a:rPr lang="en-US" altLang="zh-TW" sz="2400" u="sng" dirty="0">
                <a:ea typeface="ＭＳ Ｐゴシック" panose="020B0600070205080204" pitchFamily="34" charset="-128"/>
              </a:rPr>
              <a:t>Hardware</a:t>
            </a:r>
            <a:r>
              <a:rPr lang="en-US" altLang="zh-TW" sz="2400" dirty="0">
                <a:ea typeface="ＭＳ Ｐゴシック" panose="020B0600070205080204" pitchFamily="34" charset="-128"/>
              </a:rPr>
              <a:t> or </a:t>
            </a:r>
            <a:r>
              <a:rPr lang="en-US" altLang="zh-TW" sz="2400" u="sng" dirty="0">
                <a:ea typeface="ＭＳ Ｐゴシック" panose="020B0600070205080204" pitchFamily="34" charset="-128"/>
              </a:rPr>
              <a:t>Software</a:t>
            </a:r>
          </a:p>
          <a:p>
            <a:pPr lvl="1"/>
            <a:r>
              <a:rPr lang="en-US" altLang="zh-TW" sz="2400" dirty="0">
                <a:ea typeface="ＭＳ Ｐゴシック" panose="020B0600070205080204" pitchFamily="34" charset="-128"/>
              </a:rPr>
              <a:t>Hardware may trigger an interrupt  by sending </a:t>
            </a:r>
            <a:r>
              <a:rPr lang="en-US" altLang="zh-TW" sz="2400" u="sng" dirty="0">
                <a:ea typeface="ＭＳ Ｐゴシック" panose="020B0600070205080204" pitchFamily="34" charset="-128"/>
              </a:rPr>
              <a:t>signal</a:t>
            </a:r>
            <a:r>
              <a:rPr lang="en-US" altLang="zh-TW" sz="2400" dirty="0">
                <a:ea typeface="ＭＳ Ｐゴシック" panose="020B0600070205080204" pitchFamily="34" charset="-128"/>
              </a:rPr>
              <a:t> to CPU through </a:t>
            </a:r>
            <a:r>
              <a:rPr lang="en-US" altLang="zh-TW" sz="2400" u="sng" dirty="0">
                <a:ea typeface="ＭＳ Ｐゴシック" panose="020B0600070205080204" pitchFamily="34" charset="-128"/>
              </a:rPr>
              <a:t>System Bus</a:t>
            </a:r>
          </a:p>
          <a:p>
            <a:pPr lvl="1"/>
            <a:r>
              <a:rPr lang="en-US" altLang="zh-TW" sz="2400" dirty="0">
                <a:ea typeface="ＭＳ Ｐゴシック" panose="020B0600070205080204" pitchFamily="34" charset="-128"/>
              </a:rPr>
              <a:t>Software may trigger an interrupt (</a:t>
            </a:r>
            <a:r>
              <a:rPr lang="en-US" altLang="zh-TW" sz="2400" i="1" dirty="0">
                <a:ea typeface="ＭＳ Ｐゴシック" panose="020B0600070205080204" pitchFamily="34" charset="-128"/>
              </a:rPr>
              <a:t>trap</a:t>
            </a:r>
            <a:r>
              <a:rPr lang="en-US" altLang="zh-TW" sz="2400" dirty="0">
                <a:ea typeface="ＭＳ Ｐゴシック" panose="020B0600070205080204" pitchFamily="34" charset="-128"/>
              </a:rPr>
              <a:t>) by means of </a:t>
            </a:r>
            <a:r>
              <a:rPr lang="en-US" altLang="zh-TW" sz="2400" u="sng" dirty="0">
                <a:ea typeface="ＭＳ Ｐゴシック" panose="020B0600070205080204" pitchFamily="34" charset="-128"/>
              </a:rPr>
              <a:t>System</a:t>
            </a:r>
            <a:r>
              <a:rPr lang="en-US" altLang="zh-TW" sz="2400" dirty="0">
                <a:ea typeface="ＭＳ Ｐゴシック" panose="020B0600070205080204" pitchFamily="34" charset="-128"/>
              </a:rPr>
              <a:t> or </a:t>
            </a:r>
            <a:r>
              <a:rPr lang="en-US" altLang="zh-TW" sz="2400" u="sng" dirty="0">
                <a:ea typeface="ＭＳ Ｐゴシック" panose="020B0600070205080204" pitchFamily="34" charset="-128"/>
              </a:rPr>
              <a:t>Monitor</a:t>
            </a:r>
            <a:r>
              <a:rPr lang="en-US" altLang="zh-TW" sz="2400" dirty="0">
                <a:ea typeface="ＭＳ Ｐゴシック" panose="020B0600070205080204" pitchFamily="34" charset="-128"/>
              </a:rPr>
              <a:t> call.</a:t>
            </a:r>
          </a:p>
          <a:p>
            <a:pPr lvl="1"/>
            <a:endParaRPr lang="en-US" altLang="zh-TW" sz="2400" u="sng" dirty="0">
              <a:ea typeface="ＭＳ Ｐゴシック" panose="020B0600070205080204" pitchFamily="34"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3668488" y="2888119"/>
            <a:ext cx="5116286" cy="1030738"/>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1981201" y="198438"/>
            <a:ext cx="8080375" cy="576262"/>
          </a:xfrm>
        </p:spPr>
        <p:txBody>
          <a:bodyPr/>
          <a:lstStyle/>
          <a:p>
            <a:pPr eaLnBrk="1" hangingPunct="1"/>
            <a:r>
              <a:rPr lang="en-US" altLang="en-US"/>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989937" y="1035169"/>
            <a:ext cx="10224403" cy="4520241"/>
          </a:xfrm>
        </p:spPr>
        <p:txBody>
          <a:bodyPr/>
          <a:lstStyle/>
          <a:p>
            <a:r>
              <a:rPr lang="en-US" altLang="en-US" sz="2000" dirty="0"/>
              <a:t>Main memory – only large storage media that the CPU can access directly</a:t>
            </a:r>
          </a:p>
          <a:p>
            <a:pPr lvl="1"/>
            <a:r>
              <a:rPr lang="en-US" altLang="en-US" sz="2400" b="1" dirty="0">
                <a:solidFill>
                  <a:srgbClr val="006699"/>
                </a:solidFill>
                <a:latin typeface="+mj-lt"/>
              </a:rPr>
              <a:t>Random access</a:t>
            </a:r>
          </a:p>
          <a:p>
            <a:pPr lvl="1"/>
            <a:r>
              <a:rPr lang="en-US" altLang="en-US" sz="2000" dirty="0"/>
              <a:t>Typically </a:t>
            </a:r>
            <a:r>
              <a:rPr lang="en-US" altLang="en-US" sz="2400" b="1" dirty="0">
                <a:solidFill>
                  <a:srgbClr val="006699"/>
                </a:solidFill>
                <a:latin typeface="+mj-lt"/>
              </a:rPr>
              <a:t>volatile</a:t>
            </a:r>
          </a:p>
          <a:p>
            <a:pPr lvl="1"/>
            <a:r>
              <a:rPr lang="en-US" altLang="en-US" sz="2400" dirty="0"/>
              <a:t>Typically</a:t>
            </a:r>
            <a:r>
              <a:rPr lang="en-US" altLang="en-US" sz="2000" b="1" dirty="0">
                <a:solidFill>
                  <a:srgbClr val="3366FF"/>
                </a:solidFill>
              </a:rPr>
              <a:t> </a:t>
            </a:r>
            <a:r>
              <a:rPr lang="en-US" altLang="en-US" sz="2400" b="1" dirty="0">
                <a:solidFill>
                  <a:srgbClr val="006699"/>
                </a:solidFill>
                <a:latin typeface="+mj-lt"/>
              </a:rPr>
              <a:t>random-access</a:t>
            </a:r>
            <a:r>
              <a:rPr lang="en-US" altLang="en-US" sz="2000" b="1" dirty="0">
                <a:solidFill>
                  <a:srgbClr val="3366FF"/>
                </a:solidFill>
              </a:rPr>
              <a:t> </a:t>
            </a:r>
            <a:r>
              <a:rPr lang="en-US" altLang="en-US" sz="2400" b="1" dirty="0">
                <a:solidFill>
                  <a:srgbClr val="006699"/>
                </a:solidFill>
                <a:latin typeface="+mj-lt"/>
              </a:rPr>
              <a:t>memory</a:t>
            </a:r>
            <a:r>
              <a:rPr lang="en-US" altLang="en-US" sz="2000" b="1" dirty="0">
                <a:solidFill>
                  <a:srgbClr val="3366FF"/>
                </a:solidFill>
              </a:rPr>
              <a:t> </a:t>
            </a:r>
            <a:r>
              <a:rPr lang="en-US" altLang="en-US" sz="2400" dirty="0"/>
              <a:t>in the form of </a:t>
            </a:r>
            <a:r>
              <a:rPr lang="en-US" altLang="en-US" sz="2400" b="1" dirty="0">
                <a:solidFill>
                  <a:srgbClr val="006699"/>
                </a:solidFill>
                <a:latin typeface="+mj-lt"/>
              </a:rPr>
              <a:t>Dynamic Random-access Memory (DRAM)</a:t>
            </a:r>
          </a:p>
          <a:p>
            <a:r>
              <a:rPr lang="en-US" altLang="en-US" sz="2000" dirty="0"/>
              <a:t>Secondary storage – extension of main memory that provides large </a:t>
            </a:r>
            <a:r>
              <a:rPr lang="en-US" altLang="en-US" sz="2400" b="1" dirty="0">
                <a:solidFill>
                  <a:srgbClr val="006699"/>
                </a:solidFill>
                <a:latin typeface="+mj-lt"/>
              </a:rPr>
              <a:t>nonvolatile </a:t>
            </a:r>
            <a:r>
              <a:rPr lang="en-US" altLang="en-US" sz="20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1981201" y="198438"/>
            <a:ext cx="8080375" cy="576262"/>
          </a:xfrm>
        </p:spPr>
        <p:txBody>
          <a:bodyPr/>
          <a:lstStyle/>
          <a:p>
            <a:pPr eaLnBrk="1" hangingPunct="1"/>
            <a:r>
              <a:rPr lang="en-US" altLang="en-US" dirty="0"/>
              <a:t>Storage Structure (Cont.)</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621103" y="1099455"/>
            <a:ext cx="11248844" cy="4732002"/>
          </a:xfrm>
        </p:spPr>
        <p:txBody>
          <a:bodyPr/>
          <a:lstStyle/>
          <a:p>
            <a:r>
              <a:rPr lang="en-US" altLang="en-US" sz="2400" b="1" dirty="0">
                <a:solidFill>
                  <a:srgbClr val="006699"/>
                </a:solidFill>
                <a:latin typeface="+mj-lt"/>
              </a:rPr>
              <a:t>Hard Disk Drives </a:t>
            </a:r>
            <a:r>
              <a:rPr lang="en-US" altLang="en-US" sz="2000" dirty="0"/>
              <a:t>(</a:t>
            </a:r>
            <a:r>
              <a:rPr lang="en-US" altLang="en-US" sz="2400" b="1" dirty="0">
                <a:solidFill>
                  <a:srgbClr val="006699"/>
                </a:solidFill>
                <a:latin typeface="+mj-lt"/>
              </a:rPr>
              <a:t>HDD</a:t>
            </a:r>
            <a:r>
              <a:rPr lang="en-US" altLang="en-US" sz="2000" dirty="0"/>
              <a:t>) – rigid metal or glass platters covered with magnetic recording material </a:t>
            </a:r>
          </a:p>
          <a:p>
            <a:pPr lvl="1"/>
            <a:r>
              <a:rPr lang="en-US" altLang="en-US" sz="2000" dirty="0"/>
              <a:t>Disk surface is logically divided into</a:t>
            </a:r>
            <a:r>
              <a:rPr lang="en-US" altLang="en-US" sz="2400" b="1" dirty="0">
                <a:solidFill>
                  <a:srgbClr val="006699"/>
                </a:solidFill>
                <a:latin typeface="+mj-lt"/>
              </a:rPr>
              <a:t> tracks</a:t>
            </a:r>
            <a:r>
              <a:rPr lang="en-US" altLang="en-US" sz="2000" dirty="0"/>
              <a:t>, which are subdivided into </a:t>
            </a:r>
            <a:r>
              <a:rPr lang="en-US" altLang="en-US" sz="2400" b="1" dirty="0">
                <a:solidFill>
                  <a:srgbClr val="006699"/>
                </a:solidFill>
                <a:latin typeface="+mj-lt"/>
              </a:rPr>
              <a:t>sectors</a:t>
            </a:r>
          </a:p>
          <a:p>
            <a:pPr lvl="1"/>
            <a:r>
              <a:rPr lang="en-US" altLang="en-US" sz="2000" dirty="0"/>
              <a:t>The </a:t>
            </a:r>
            <a:r>
              <a:rPr lang="en-US" altLang="en-US" sz="2400" b="1" dirty="0">
                <a:solidFill>
                  <a:srgbClr val="006699"/>
                </a:solidFill>
                <a:latin typeface="+mj-lt"/>
              </a:rPr>
              <a:t>disk controller </a:t>
            </a:r>
            <a:r>
              <a:rPr lang="en-US" altLang="en-US" sz="2000" dirty="0"/>
              <a:t>determines the logical interaction between the device and the computer </a:t>
            </a:r>
          </a:p>
          <a:p>
            <a:r>
              <a:rPr lang="en-US" altLang="en-US" sz="2400" b="1" dirty="0">
                <a:solidFill>
                  <a:srgbClr val="006699"/>
                </a:solidFill>
                <a:latin typeface="+mj-lt"/>
              </a:rPr>
              <a:t>Non-volatile memory</a:t>
            </a:r>
            <a:r>
              <a:rPr lang="en-US" altLang="en-US" sz="2000" dirty="0"/>
              <a:t> (</a:t>
            </a:r>
            <a:r>
              <a:rPr lang="en-US" altLang="en-US" sz="2400" b="1" dirty="0">
                <a:solidFill>
                  <a:srgbClr val="006699"/>
                </a:solidFill>
                <a:latin typeface="+mj-lt"/>
              </a:rPr>
              <a:t>NVM</a:t>
            </a:r>
            <a:r>
              <a:rPr lang="en-US" altLang="en-US" sz="2000" dirty="0"/>
              <a:t>)</a:t>
            </a:r>
            <a:r>
              <a:rPr lang="en-US" altLang="en-US" sz="2400" b="1" dirty="0">
                <a:solidFill>
                  <a:srgbClr val="006699"/>
                </a:solidFill>
                <a:latin typeface="+mj-lt"/>
              </a:rPr>
              <a:t> </a:t>
            </a:r>
            <a:r>
              <a:rPr lang="en-US" altLang="en-US" sz="2000" dirty="0"/>
              <a:t>devices– faster than hard disks, nonvolatile</a:t>
            </a:r>
          </a:p>
          <a:p>
            <a:pPr lvl="1"/>
            <a:r>
              <a:rPr lang="en-US" altLang="en-US" sz="2000" dirty="0"/>
              <a:t>Various technologies</a:t>
            </a:r>
          </a:p>
          <a:p>
            <a:pPr lvl="1"/>
            <a:r>
              <a:rPr lang="en-US" altLang="en-US" sz="2000" dirty="0"/>
              <a:t>Becoming more popular as capacity and performance increases, price drops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2471739" y="203201"/>
            <a:ext cx="7851775" cy="576263"/>
          </a:xfrm>
        </p:spPr>
        <p:txBody>
          <a:bodyPr/>
          <a:lstStyle/>
          <a:p>
            <a:r>
              <a:rPr lang="en-US" altLang="en-US" sz="3000"/>
              <a:t>Storage Definitions and Notation Review</a:t>
            </a:r>
          </a:p>
        </p:txBody>
      </p:sp>
      <p:pic>
        <p:nvPicPr>
          <p:cNvPr id="38915" name="Picture 3">
            <a:extLst>
              <a:ext uri="{FF2B5EF4-FFF2-40B4-BE49-F238E27FC236}">
                <a16:creationId xmlns:a16="http://schemas.microsoft.com/office/drawing/2014/main" id="{7CEF2D5C-E937-4516-898C-4034833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0AC8D8D-292B-2943-B449-B924F9BB88F3}"/>
              </a:ext>
            </a:extLst>
          </p:cNvPr>
          <p:cNvSpPr/>
          <p:nvPr/>
        </p:nvSpPr>
        <p:spPr bwMode="auto">
          <a:xfrm>
            <a:off x="2366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a:t>
            </a:r>
            <a:r>
              <a:rPr lang="en-US" sz="1400" dirty="0"/>
              <a:t>. A bit can contain one of two</a:t>
            </a:r>
          </a:p>
          <a:p>
            <a:pPr>
              <a:defRPr/>
            </a:pPr>
            <a:r>
              <a:rPr lang="en-US" sz="1400" dirty="0"/>
              <a:t>values, 0 and 1. All other storage in a computer is based on collections of bits.</a:t>
            </a:r>
          </a:p>
          <a:p>
            <a:pPr>
              <a:defRPr/>
            </a:pPr>
            <a:r>
              <a:rPr lang="en-US" sz="1400" dirty="0"/>
              <a:t>Given enough bits, it is amazing how many things a computer can represent:</a:t>
            </a:r>
          </a:p>
          <a:p>
            <a:pPr>
              <a:defRPr/>
            </a:pPr>
            <a:r>
              <a:rPr lang="en-US" sz="1400" dirty="0"/>
              <a:t>numbers, letters, images, movies, sounds, documents, and programs, to name</a:t>
            </a:r>
          </a:p>
          <a:p>
            <a:pPr>
              <a:defRPr/>
            </a:pPr>
            <a:r>
              <a:rPr lang="en-US" sz="1400" dirty="0"/>
              <a:t>a few. A </a:t>
            </a:r>
            <a:r>
              <a:rPr kumimoji="1" lang="en-US" sz="1500" b="1" dirty="0">
                <a:solidFill>
                  <a:srgbClr val="006699"/>
                </a:solidFill>
                <a:latin typeface="+mj-lt"/>
              </a:rPr>
              <a:t>byte</a:t>
            </a:r>
            <a:r>
              <a:rPr lang="en-US" sz="1400" dirty="0"/>
              <a:t> is 8 bits, and on most computers it is the smallest convenient</a:t>
            </a:r>
          </a:p>
          <a:p>
            <a:pPr>
              <a:defRPr/>
            </a:pPr>
            <a:r>
              <a:rPr lang="en-US" sz="1400" dirty="0"/>
              <a:t>chunk of storage. For example, most computers don’t have an instruction to</a:t>
            </a:r>
          </a:p>
          <a:p>
            <a:pPr>
              <a:defRPr/>
            </a:pPr>
            <a:r>
              <a:rPr lang="en-US" sz="1400" dirty="0"/>
              <a:t>move a bit but do have one to move a byte. A less common term is </a:t>
            </a:r>
            <a:r>
              <a:rPr kumimoji="1" lang="en-US" sz="1500" b="1" dirty="0">
                <a:solidFill>
                  <a:srgbClr val="006699"/>
                </a:solidFill>
                <a:latin typeface="+mj-lt"/>
              </a:rPr>
              <a:t>word</a:t>
            </a:r>
            <a:r>
              <a:rPr lang="en-US" sz="1400" dirty="0"/>
              <a:t>,</a:t>
            </a:r>
          </a:p>
          <a:p>
            <a:pPr>
              <a:defRPr/>
            </a:pPr>
            <a:r>
              <a:rPr lang="en-US" sz="1400" dirty="0"/>
              <a:t>which is a given computer architecture’s native unit of data. A word is made</a:t>
            </a:r>
          </a:p>
          <a:p>
            <a:pPr>
              <a:defRPr/>
            </a:pPr>
            <a:r>
              <a:rPr lang="en-US" sz="1400" dirty="0"/>
              <a:t>up of one or more bytes. For example, a computer that has 64-bit registers and</a:t>
            </a:r>
          </a:p>
          <a:p>
            <a:pPr>
              <a:defRPr/>
            </a:pPr>
            <a:r>
              <a:rPr lang="en-US" sz="1400" dirty="0"/>
              <a:t>64-bit memory addressing typically has 64-bit (8-byte) words. A computer</a:t>
            </a:r>
          </a:p>
          <a:p>
            <a:pPr>
              <a:defRPr/>
            </a:pPr>
            <a:r>
              <a:rPr lang="en-US" sz="1400" dirty="0"/>
              <a:t>executes many operations in its native word size rather than a byte at a time.</a:t>
            </a:r>
          </a:p>
          <a:p>
            <a:pPr>
              <a:defRPr/>
            </a:pPr>
            <a:endParaRPr lang="en-US" sz="1400" dirty="0"/>
          </a:p>
          <a:p>
            <a:pPr>
              <a:defRPr/>
            </a:pPr>
            <a:r>
              <a:rPr lang="en-US" sz="1400" dirty="0"/>
              <a:t>Computer storage, along with most computer throughput, is generally</a:t>
            </a:r>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p>
          <a:p>
            <a:pPr>
              <a:defRPr/>
            </a:pPr>
            <a:r>
              <a:rPr lang="en-US" sz="1400" dirty="0"/>
              <a:t>1,024</a:t>
            </a:r>
            <a:r>
              <a:rPr lang="en-US" sz="1400" baseline="30000" dirty="0"/>
              <a:t>3</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1,024</a:t>
            </a:r>
            <a:r>
              <a:rPr lang="en-US" sz="1400" baseline="30000" dirty="0"/>
              <a:t>4</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1,024</a:t>
            </a:r>
            <a:r>
              <a:rPr lang="en-US" sz="1400" baseline="30000" dirty="0"/>
              <a:t>5</a:t>
            </a:r>
          </a:p>
          <a:p>
            <a:pPr>
              <a:defRPr/>
            </a:pPr>
            <a:r>
              <a:rPr lang="en-US" sz="1400" dirty="0"/>
              <a:t>bytes. Computer manufacturers often round off these numbers and say that</a:t>
            </a:r>
          </a:p>
          <a:p>
            <a:pPr>
              <a:defRPr/>
            </a:pPr>
            <a:r>
              <a:rPr lang="en-US" sz="1400" dirty="0"/>
              <a:t>a megabyte is 1 million bytes and a gigabyte is 1 billion bytes. Networking</a:t>
            </a:r>
          </a:p>
          <a:p>
            <a:pPr>
              <a:defRPr/>
            </a:pPr>
            <a:r>
              <a:rPr lang="en-US" sz="1400" dirty="0"/>
              <a:t>measurements are an exception to this general rule; they are given in bits</a:t>
            </a:r>
          </a:p>
          <a:p>
            <a:pPr>
              <a:defRPr/>
            </a:pPr>
            <a:r>
              <a:rPr lang="en-US" sz="1400" dirty="0"/>
              <a:t>(because networks move data a bit at a time).</a:t>
            </a:r>
          </a:p>
          <a:p>
            <a:pPr>
              <a:defRPr/>
            </a:pPr>
            <a:endParaRPr lang="en-US" sz="1400" dirty="0">
              <a:latin typeface="Verdana"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2400301"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638355" y="1124629"/>
            <a:ext cx="10696753" cy="5138148"/>
          </a:xfrm>
        </p:spPr>
        <p:txBody>
          <a:bodyPr/>
          <a:lstStyle/>
          <a:p>
            <a:r>
              <a:rPr lang="en-US" altLang="en-US" sz="2400" dirty="0"/>
              <a:t>Storage systems organized in hierarchy</a:t>
            </a:r>
          </a:p>
          <a:p>
            <a:pPr lvl="1"/>
            <a:r>
              <a:rPr lang="en-US" altLang="en-US" sz="2400" dirty="0"/>
              <a:t>Speed</a:t>
            </a:r>
          </a:p>
          <a:p>
            <a:pPr lvl="1"/>
            <a:r>
              <a:rPr lang="en-US" altLang="en-US" sz="2400" dirty="0"/>
              <a:t>Cost</a:t>
            </a:r>
          </a:p>
          <a:p>
            <a:pPr lvl="1"/>
            <a:r>
              <a:rPr lang="en-US" altLang="en-US" sz="2400" dirty="0"/>
              <a:t>Volatility</a:t>
            </a:r>
          </a:p>
          <a:p>
            <a:r>
              <a:rPr lang="en-US" altLang="en-US" sz="2400" b="1" dirty="0">
                <a:solidFill>
                  <a:srgbClr val="006699"/>
                </a:solidFill>
                <a:latin typeface="+mj-lt"/>
              </a:rPr>
              <a:t>Caching</a:t>
            </a:r>
            <a:r>
              <a:rPr lang="en-US" altLang="en-US" sz="2400" dirty="0"/>
              <a:t> – copying information into faster storage system; main memory can be viewed as a cache for secondary storage</a:t>
            </a:r>
          </a:p>
          <a:p>
            <a:r>
              <a:rPr lang="en-US" altLang="en-US" sz="2400" b="1" dirty="0">
                <a:solidFill>
                  <a:srgbClr val="006699"/>
                </a:solidFill>
                <a:latin typeface="+mj-lt"/>
              </a:rPr>
              <a:t>Device Driver </a:t>
            </a:r>
            <a:r>
              <a:rPr lang="en-US" altLang="en-US" sz="2400" dirty="0"/>
              <a:t>for each device controller to manage I/O</a:t>
            </a:r>
          </a:p>
          <a:p>
            <a:pPr lvl="1"/>
            <a:r>
              <a:rPr lang="en-US" altLang="en-US" sz="2400" dirty="0"/>
              <a:t>Provides uniform interface between controller and kernel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1981201"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614" y="1455739"/>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2544764" y="212726"/>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1356852" y="1233489"/>
            <a:ext cx="9615948" cy="4621621"/>
          </a:xfrm>
        </p:spPr>
        <p:txBody>
          <a:bodyPr/>
          <a:lstStyle/>
          <a:p>
            <a:r>
              <a:rPr lang="en-US" altLang="en-US" sz="2400" dirty="0"/>
              <a:t>Used for high-speed I/O devices able to transmit information at close to memory speeds</a:t>
            </a:r>
          </a:p>
          <a:p>
            <a:endParaRPr lang="en-US" altLang="en-US" sz="2400" dirty="0"/>
          </a:p>
          <a:p>
            <a:r>
              <a:rPr lang="en-US" altLang="en-US" sz="2400" dirty="0"/>
              <a:t>Device controller transfers blocks of data from buffer storage directly to main memory without CPU intervention</a:t>
            </a:r>
          </a:p>
          <a:p>
            <a:endParaRPr lang="en-US" altLang="en-US" sz="2400" dirty="0"/>
          </a:p>
          <a:p>
            <a:r>
              <a:rPr lang="en-US" altLang="en-US" sz="2400" dirty="0"/>
              <a:t>Only one interrupt is generated per block, rather than the one interrupt per byte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2359025" y="212726"/>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9158341" y="5526137"/>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dirty="0">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2375" y="958057"/>
            <a:ext cx="6866090" cy="5476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4600141" y="2913631"/>
            <a:ext cx="5116286" cy="1030738"/>
          </a:xfrm>
        </p:spPr>
        <p:txBody>
          <a:bodyPr/>
          <a:lstStyle/>
          <a:p>
            <a:pPr marL="457200" lvl="1" indent="0">
              <a:buNone/>
            </a:pPr>
            <a:r>
              <a:rPr lang="en-US" altLang="en-US" sz="3200" b="1" dirty="0">
                <a:solidFill>
                  <a:srgbClr val="006699"/>
                </a:solidFill>
                <a:latin typeface="+mj-lt"/>
              </a:rPr>
              <a:t>OS Operations</a:t>
            </a:r>
          </a:p>
        </p:txBody>
      </p:sp>
    </p:spTree>
    <p:extLst>
      <p:ext uri="{BB962C8B-B14F-4D97-AF65-F5344CB8AC3E}">
        <p14:creationId xmlns:p14="http://schemas.microsoft.com/office/powerpoint/2010/main" val="3655249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2419350" y="195263"/>
            <a:ext cx="7670800" cy="576262"/>
          </a:xfrm>
        </p:spPr>
        <p:txBody>
          <a:bodyPr/>
          <a:lstStyle/>
          <a:p>
            <a:pPr eaLnBrk="1" hangingPunct="1"/>
            <a:r>
              <a:rPr lang="en-US" altLang="en-US"/>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633046" y="1154113"/>
            <a:ext cx="11306908" cy="5508624"/>
          </a:xfrm>
        </p:spPr>
        <p:txBody>
          <a:bodyPr/>
          <a:lstStyle/>
          <a:p>
            <a:pPr>
              <a:lnSpc>
                <a:spcPct val="90000"/>
              </a:lnSpc>
            </a:pPr>
            <a:r>
              <a:rPr lang="en-US" altLang="en-US" sz="2400" dirty="0"/>
              <a:t>Bootstrap program – simple code to initialize the system, load the kernel</a:t>
            </a:r>
          </a:p>
          <a:p>
            <a:pPr>
              <a:lnSpc>
                <a:spcPct val="90000"/>
              </a:lnSpc>
            </a:pPr>
            <a:r>
              <a:rPr lang="en-US" altLang="en-US" sz="2400" dirty="0"/>
              <a:t>Kernel loads</a:t>
            </a:r>
          </a:p>
          <a:p>
            <a:pPr>
              <a:lnSpc>
                <a:spcPct val="90000"/>
              </a:lnSpc>
            </a:pPr>
            <a:r>
              <a:rPr lang="en-US" altLang="en-US" sz="2400" dirty="0"/>
              <a:t>Starts </a:t>
            </a:r>
            <a:r>
              <a:rPr lang="en-US" altLang="en-US" sz="2400" b="1" dirty="0">
                <a:solidFill>
                  <a:srgbClr val="006699"/>
                </a:solidFill>
                <a:latin typeface="+mj-lt"/>
              </a:rPr>
              <a:t>system daemons </a:t>
            </a:r>
            <a:r>
              <a:rPr lang="en-US" altLang="en-US" sz="2400" dirty="0"/>
              <a:t>(services provided outside of the kernel)</a:t>
            </a:r>
          </a:p>
          <a:p>
            <a:pPr>
              <a:lnSpc>
                <a:spcPct val="90000"/>
              </a:lnSpc>
            </a:pPr>
            <a:r>
              <a:rPr lang="en-US" altLang="en-US" sz="2400" dirty="0"/>
              <a:t>Kernel</a:t>
            </a:r>
            <a:r>
              <a:rPr lang="en-US" altLang="en-US" sz="2400" b="1" dirty="0">
                <a:solidFill>
                  <a:srgbClr val="3366FF"/>
                </a:solidFill>
              </a:rPr>
              <a:t> </a:t>
            </a:r>
            <a:r>
              <a:rPr lang="en-US" altLang="en-US" sz="2400" b="1" dirty="0">
                <a:solidFill>
                  <a:srgbClr val="006699"/>
                </a:solidFill>
                <a:latin typeface="+mj-lt"/>
              </a:rPr>
              <a:t>interrupt driven </a:t>
            </a:r>
            <a:r>
              <a:rPr lang="en-US" altLang="en-US" sz="2400" dirty="0"/>
              <a:t>(hardware and software)</a:t>
            </a:r>
          </a:p>
          <a:p>
            <a:pPr lvl="1">
              <a:lnSpc>
                <a:spcPct val="90000"/>
              </a:lnSpc>
            </a:pPr>
            <a:r>
              <a:rPr lang="en-US" altLang="en-US" sz="2400" dirty="0"/>
              <a:t>Hardware interrupt by one of the devices </a:t>
            </a:r>
          </a:p>
          <a:p>
            <a:pPr lvl="1">
              <a:lnSpc>
                <a:spcPct val="90000"/>
              </a:lnSpc>
            </a:pPr>
            <a:r>
              <a:rPr lang="en-US" altLang="en-US" sz="2400" dirty="0"/>
              <a:t>Software interrupt (</a:t>
            </a:r>
            <a:r>
              <a:rPr lang="en-US" altLang="en-US" sz="2400" b="1" dirty="0">
                <a:solidFill>
                  <a:srgbClr val="006699"/>
                </a:solidFill>
                <a:latin typeface="+mj-lt"/>
              </a:rPr>
              <a:t>exception</a:t>
            </a:r>
            <a:r>
              <a:rPr lang="en-US" altLang="en-US" sz="2400" b="1" dirty="0">
                <a:solidFill>
                  <a:srgbClr val="3366FF"/>
                </a:solidFill>
              </a:rPr>
              <a:t> </a:t>
            </a:r>
            <a:r>
              <a:rPr lang="en-US" altLang="en-US" sz="2400" dirty="0"/>
              <a:t>or </a:t>
            </a:r>
            <a:r>
              <a:rPr lang="en-US" altLang="en-US" sz="2400" b="1" dirty="0">
                <a:solidFill>
                  <a:srgbClr val="006699"/>
                </a:solidFill>
                <a:latin typeface="+mj-lt"/>
              </a:rPr>
              <a:t>trap</a:t>
            </a:r>
            <a:r>
              <a:rPr lang="en-US" altLang="en-US" sz="2400" dirty="0"/>
              <a:t>):</a:t>
            </a:r>
          </a:p>
          <a:p>
            <a:pPr lvl="2">
              <a:lnSpc>
                <a:spcPct val="90000"/>
              </a:lnSpc>
            </a:pPr>
            <a:r>
              <a:rPr lang="en-US" altLang="en-US" sz="2400" dirty="0"/>
              <a:t>Software error (e.g., division by zero)</a:t>
            </a:r>
            <a:endParaRPr lang="en-US" altLang="en-US" sz="2400" b="1" dirty="0">
              <a:solidFill>
                <a:srgbClr val="3366FF"/>
              </a:solidFill>
            </a:endParaRPr>
          </a:p>
          <a:p>
            <a:pPr lvl="2">
              <a:lnSpc>
                <a:spcPct val="90000"/>
              </a:lnSpc>
            </a:pPr>
            <a:r>
              <a:rPr lang="en-US" altLang="en-US" sz="2400" dirty="0"/>
              <a:t>Request for operating system service – </a:t>
            </a:r>
            <a:r>
              <a:rPr lang="en-US" altLang="en-US" sz="2400" b="1" dirty="0">
                <a:solidFill>
                  <a:srgbClr val="006699"/>
                </a:solidFill>
                <a:latin typeface="+mj-lt"/>
              </a:rPr>
              <a:t>system call</a:t>
            </a:r>
          </a:p>
          <a:p>
            <a:pPr lvl="2">
              <a:lnSpc>
                <a:spcPct val="90000"/>
              </a:lnSpc>
            </a:pPr>
            <a:r>
              <a:rPr lang="en-US" altLang="en-US" sz="2400" dirty="0"/>
              <a:t>Other process problems include infinite loop, processes modifying each other or the operating system</a:t>
            </a:r>
          </a:p>
          <a:p>
            <a:pPr lvl="1">
              <a:lnSpc>
                <a:spcPct val="90000"/>
              </a:lnSpc>
            </a:pPr>
            <a:endParaRPr lang="en-US" alt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2593976"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1071653" y="835025"/>
            <a:ext cx="9547186" cy="5193986"/>
          </a:xfrm>
        </p:spPr>
        <p:txBody>
          <a:bodyPr/>
          <a:lstStyle/>
          <a:p>
            <a:pPr>
              <a:lnSpc>
                <a:spcPct val="90000"/>
              </a:lnSpc>
              <a:buFont typeface="Monotype Sorts" pitchFamily="-84" charset="2"/>
              <a:buNone/>
            </a:pPr>
            <a:endParaRPr lang="en-US" altLang="en-US" sz="2400" dirty="0"/>
          </a:p>
          <a:p>
            <a:pPr>
              <a:lnSpc>
                <a:spcPct val="90000"/>
              </a:lnSpc>
            </a:pPr>
            <a:r>
              <a:rPr lang="en-US" altLang="en-US" sz="2400" dirty="0"/>
              <a:t>Single user cannot always keep CPU and I/O devices busy </a:t>
            </a:r>
          </a:p>
          <a:p>
            <a:pPr>
              <a:lnSpc>
                <a:spcPct val="90000"/>
              </a:lnSpc>
            </a:pPr>
            <a:r>
              <a:rPr lang="en-US" altLang="en-US" sz="2400" dirty="0"/>
              <a:t>Multiprogramming organizes jobs (code and data) so CPU always has one to execute</a:t>
            </a:r>
          </a:p>
          <a:p>
            <a:pPr>
              <a:lnSpc>
                <a:spcPct val="90000"/>
              </a:lnSpc>
            </a:pPr>
            <a:r>
              <a:rPr lang="en-US" altLang="en-US" sz="2400" dirty="0"/>
              <a:t>A subset of total jobs in system is kept in memory</a:t>
            </a:r>
          </a:p>
          <a:p>
            <a:pPr>
              <a:lnSpc>
                <a:spcPct val="90000"/>
              </a:lnSpc>
            </a:pPr>
            <a:r>
              <a:rPr lang="en-US" altLang="en-US" sz="2400" dirty="0"/>
              <a:t>One job selected and run via </a:t>
            </a:r>
            <a:r>
              <a:rPr lang="en-US" altLang="en-US" sz="2400" b="1" dirty="0">
                <a:solidFill>
                  <a:srgbClr val="006699"/>
                </a:solidFill>
                <a:latin typeface="+mj-lt"/>
              </a:rPr>
              <a:t>job scheduling</a:t>
            </a:r>
          </a:p>
          <a:p>
            <a:pPr>
              <a:lnSpc>
                <a:spcPct val="90000"/>
              </a:lnSpc>
            </a:pPr>
            <a:r>
              <a:rPr lang="en-US" altLang="en-US" sz="2400" dirty="0"/>
              <a:t>When job has to wait (for I/O for example), OS switches to another job</a:t>
            </a:r>
          </a:p>
          <a:p>
            <a:pPr lvl="1">
              <a:lnSpc>
                <a:spcPct val="90000"/>
              </a:lnSpc>
            </a:pPr>
            <a:endParaRPr lang="en-US" altLang="en-US" sz="2400" dirty="0"/>
          </a:p>
        </p:txBody>
      </p:sp>
    </p:spTree>
    <p:extLst>
      <p:ext uri="{BB962C8B-B14F-4D97-AF65-F5344CB8AC3E}">
        <p14:creationId xmlns:p14="http://schemas.microsoft.com/office/powerpoint/2010/main" val="387765787"/>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2593976"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1283110" y="835027"/>
            <a:ext cx="9601200" cy="5551025"/>
          </a:xfrm>
        </p:spPr>
        <p:txBody>
          <a:bodyPr/>
          <a:lstStyle/>
          <a:p>
            <a:pPr>
              <a:lnSpc>
                <a:spcPct val="90000"/>
              </a:lnSpc>
              <a:buFont typeface="Monotype Sorts" pitchFamily="-84" charset="2"/>
              <a:buNone/>
            </a:pPr>
            <a:endParaRPr lang="en-US" altLang="en-US" sz="2400" dirty="0"/>
          </a:p>
          <a:p>
            <a:pPr>
              <a:lnSpc>
                <a:spcPct val="90000"/>
              </a:lnSpc>
            </a:pPr>
            <a:r>
              <a:rPr lang="en-US" altLang="en-US" sz="2400" dirty="0"/>
              <a:t>A logical extension of Batch systems– the CPU switches jobs so frequently that users can interact with each job while it is running, creating </a:t>
            </a:r>
            <a:r>
              <a:rPr lang="en-US" altLang="en-US" sz="2400" b="1" dirty="0">
                <a:solidFill>
                  <a:srgbClr val="006699"/>
                </a:solidFill>
                <a:latin typeface="+mj-lt"/>
              </a:rPr>
              <a:t>interactive</a:t>
            </a:r>
            <a:r>
              <a:rPr lang="en-US" altLang="en-US" sz="2400" dirty="0"/>
              <a:t> computing</a:t>
            </a:r>
          </a:p>
          <a:p>
            <a:pPr lvl="1">
              <a:lnSpc>
                <a:spcPct val="90000"/>
              </a:lnSpc>
            </a:pPr>
            <a:r>
              <a:rPr lang="en-US" altLang="en-US" sz="2400" b="1" dirty="0">
                <a:solidFill>
                  <a:srgbClr val="006699"/>
                </a:solidFill>
                <a:latin typeface="+mj-lt"/>
              </a:rPr>
              <a:t>Response time </a:t>
            </a:r>
            <a:r>
              <a:rPr lang="en-US" altLang="en-US" sz="2400" dirty="0"/>
              <a:t>should be &lt; 1 second</a:t>
            </a:r>
          </a:p>
          <a:p>
            <a:pPr lvl="1">
              <a:lnSpc>
                <a:spcPct val="90000"/>
              </a:lnSpc>
            </a:pPr>
            <a:r>
              <a:rPr lang="en-US" altLang="en-US" sz="2400" dirty="0"/>
              <a:t>Each user has at least one program executing in memory </a:t>
            </a:r>
            <a:r>
              <a:rPr lang="en-US" altLang="en-US" sz="2400" dirty="0">
                <a:sym typeface="Wingdings 3" panose="05040102010807070707" pitchFamily="18" charset="2"/>
              </a:rPr>
              <a:t> </a:t>
            </a:r>
            <a:r>
              <a:rPr lang="en-US" altLang="en-US" sz="2400" b="1" dirty="0">
                <a:solidFill>
                  <a:srgbClr val="006699"/>
                </a:solidFill>
                <a:latin typeface="+mj-lt"/>
                <a:sym typeface="Wingdings 3" panose="05040102010807070707" pitchFamily="18" charset="2"/>
              </a:rPr>
              <a:t>process</a:t>
            </a:r>
          </a:p>
          <a:p>
            <a:pPr lvl="1">
              <a:lnSpc>
                <a:spcPct val="90000"/>
              </a:lnSpc>
            </a:pPr>
            <a:r>
              <a:rPr lang="en-US" altLang="en-US" sz="2400" dirty="0">
                <a:sym typeface="Wingdings 3" panose="05040102010807070707" pitchFamily="18" charset="2"/>
              </a:rPr>
              <a:t>If several jobs ready to run at the same time  </a:t>
            </a:r>
            <a:r>
              <a:rPr lang="en-US" altLang="en-US" sz="2400" b="1" dirty="0">
                <a:solidFill>
                  <a:srgbClr val="006699"/>
                </a:solidFill>
                <a:latin typeface="+mj-lt"/>
                <a:sym typeface="Wingdings 3" panose="05040102010807070707" pitchFamily="18" charset="2"/>
              </a:rPr>
              <a:t>CPU scheduling</a:t>
            </a:r>
          </a:p>
          <a:p>
            <a:pPr lvl="1">
              <a:lnSpc>
                <a:spcPct val="90000"/>
              </a:lnSpc>
            </a:pPr>
            <a:r>
              <a:rPr lang="en-US" altLang="en-US" sz="2400" dirty="0">
                <a:sym typeface="Wingdings 3" panose="05040102010807070707" pitchFamily="18" charset="2"/>
              </a:rPr>
              <a:t>If processes don</a:t>
            </a:r>
            <a:r>
              <a:rPr lang="ja-JP" altLang="en-US" sz="2400" dirty="0">
                <a:sym typeface="Wingdings 3" panose="05040102010807070707" pitchFamily="18" charset="2"/>
              </a:rPr>
              <a:t>’</a:t>
            </a:r>
            <a:r>
              <a:rPr lang="en-US" altLang="ja-JP" sz="2400" dirty="0">
                <a:sym typeface="Wingdings 3" panose="05040102010807070707" pitchFamily="18" charset="2"/>
              </a:rPr>
              <a:t>t fit in memory, </a:t>
            </a:r>
            <a:r>
              <a:rPr lang="en-US" altLang="ja-JP" sz="2400" b="1" dirty="0">
                <a:solidFill>
                  <a:srgbClr val="006699"/>
                </a:solidFill>
                <a:latin typeface="+mj-lt"/>
                <a:sym typeface="Wingdings 3" panose="05040102010807070707" pitchFamily="18" charset="2"/>
              </a:rPr>
              <a:t>swapping</a:t>
            </a:r>
            <a:r>
              <a:rPr lang="en-US" altLang="ja-JP" sz="2400" dirty="0">
                <a:sym typeface="Wingdings 3" panose="05040102010807070707" pitchFamily="18" charset="2"/>
              </a:rPr>
              <a:t> moves them in and out to run</a:t>
            </a:r>
          </a:p>
          <a:p>
            <a:pPr lvl="1">
              <a:lnSpc>
                <a:spcPct val="90000"/>
              </a:lnSpc>
            </a:pPr>
            <a:r>
              <a:rPr lang="en-US" altLang="en-US" sz="2400" b="1" dirty="0">
                <a:solidFill>
                  <a:srgbClr val="006699"/>
                </a:solidFill>
                <a:latin typeface="+mj-lt"/>
                <a:sym typeface="Wingdings 3" panose="05040102010807070707" pitchFamily="18" charset="2"/>
              </a:rPr>
              <a:t>Virtual memory </a:t>
            </a:r>
            <a:r>
              <a:rPr lang="en-US" altLang="en-US" sz="2400" dirty="0">
                <a:sym typeface="Wingdings 3" panose="05040102010807070707" pitchFamily="18" charset="2"/>
              </a:rPr>
              <a:t>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2557463" y="198438"/>
            <a:ext cx="8229600" cy="576262"/>
          </a:xfrm>
        </p:spPr>
        <p:txBody>
          <a:bodyPr/>
          <a:lstStyle/>
          <a:p>
            <a:pPr eaLnBrk="1" hangingPunct="1"/>
            <a:r>
              <a:rPr lang="en-US" altLang="en-US" sz="280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0341" y="1253861"/>
            <a:ext cx="3174640" cy="5019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2703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1032386" y="1116649"/>
            <a:ext cx="10397613" cy="4624701"/>
          </a:xfrm>
        </p:spPr>
        <p:txBody>
          <a:bodyPr/>
          <a:lstStyle/>
          <a:p>
            <a:pPr>
              <a:lnSpc>
                <a:spcPct val="90000"/>
              </a:lnSpc>
            </a:pPr>
            <a:r>
              <a:rPr lang="en-US" altLang="en-US" sz="2400" b="1" dirty="0">
                <a:solidFill>
                  <a:srgbClr val="006699"/>
                </a:solidFill>
                <a:latin typeface="+mj-lt"/>
              </a:rPr>
              <a:t>Dual-mode</a:t>
            </a:r>
            <a:r>
              <a:rPr lang="en-US" altLang="en-US" sz="2400" b="1" dirty="0">
                <a:solidFill>
                  <a:srgbClr val="3366FF"/>
                </a:solidFill>
              </a:rPr>
              <a:t> </a:t>
            </a:r>
            <a:r>
              <a:rPr lang="en-US" altLang="en-US" sz="2400" dirty="0"/>
              <a:t>operation allows OS to protect itself and other system components</a:t>
            </a:r>
          </a:p>
          <a:p>
            <a:pPr lvl="1">
              <a:lnSpc>
                <a:spcPct val="90000"/>
              </a:lnSpc>
            </a:pPr>
            <a:r>
              <a:rPr lang="en-US" altLang="en-US" sz="2400" b="1" dirty="0">
                <a:solidFill>
                  <a:srgbClr val="006699"/>
                </a:solidFill>
                <a:latin typeface="+mj-lt"/>
              </a:rPr>
              <a:t>User mode </a:t>
            </a:r>
            <a:r>
              <a:rPr lang="en-US" altLang="en-US" sz="2400" dirty="0"/>
              <a:t>and </a:t>
            </a:r>
            <a:r>
              <a:rPr lang="en-US" altLang="en-US" sz="2400" b="1" dirty="0">
                <a:solidFill>
                  <a:srgbClr val="006699"/>
                </a:solidFill>
                <a:latin typeface="+mj-lt"/>
              </a:rPr>
              <a:t>kernel mode </a:t>
            </a:r>
          </a:p>
          <a:p>
            <a:pPr>
              <a:lnSpc>
                <a:spcPct val="90000"/>
              </a:lnSpc>
            </a:pPr>
            <a:r>
              <a:rPr lang="en-US" altLang="en-US" sz="2400" b="1" dirty="0">
                <a:solidFill>
                  <a:srgbClr val="006699"/>
                </a:solidFill>
                <a:latin typeface="+mj-lt"/>
              </a:rPr>
              <a:t>Mode bit </a:t>
            </a:r>
            <a:r>
              <a:rPr lang="en-US" altLang="en-US" sz="2400" dirty="0"/>
              <a:t>provided by hardware </a:t>
            </a:r>
          </a:p>
          <a:p>
            <a:pPr lvl="1">
              <a:lnSpc>
                <a:spcPct val="90000"/>
              </a:lnSpc>
            </a:pPr>
            <a:r>
              <a:rPr lang="en-US" altLang="en-US" sz="2400" dirty="0"/>
              <a:t>Provides ability to distinguish when system is running user code or kernel code.</a:t>
            </a:r>
          </a:p>
          <a:p>
            <a:pPr lvl="1">
              <a:lnSpc>
                <a:spcPct val="90000"/>
              </a:lnSpc>
            </a:pPr>
            <a:r>
              <a:rPr lang="en-US" altLang="en-US" sz="2400" dirty="0"/>
              <a:t>When a user is running </a:t>
            </a:r>
            <a:r>
              <a:rPr lang="en-US" altLang="en-US" sz="2400" dirty="0">
                <a:sym typeface="Wingdings 3" panose="05040102010807070707" pitchFamily="18" charset="2"/>
              </a:rPr>
              <a:t> </a:t>
            </a:r>
            <a:r>
              <a:rPr lang="en-US" altLang="en-US" sz="2400" dirty="0">
                <a:sym typeface="Wingdings" panose="05000000000000000000" pitchFamily="2" charset="2"/>
              </a:rPr>
              <a:t>mode bit is “user”</a:t>
            </a:r>
          </a:p>
          <a:p>
            <a:pPr lvl="1">
              <a:lnSpc>
                <a:spcPct val="90000"/>
              </a:lnSpc>
            </a:pPr>
            <a:r>
              <a:rPr lang="en-US" altLang="en-US" sz="2400" dirty="0"/>
              <a:t>When kernel code is executing </a:t>
            </a:r>
            <a:r>
              <a:rPr lang="en-US" altLang="en-US" sz="2400" dirty="0">
                <a:sym typeface="Wingdings 3" panose="05040102010807070707" pitchFamily="18" charset="2"/>
              </a:rPr>
              <a:t> </a:t>
            </a:r>
            <a:r>
              <a:rPr lang="en-US" altLang="en-US" sz="2400" dirty="0">
                <a:sym typeface="Wingdings" panose="05000000000000000000" pitchFamily="2" charset="2"/>
              </a:rPr>
              <a:t>mode bit is “kernel”</a:t>
            </a:r>
          </a:p>
          <a:p>
            <a:pPr>
              <a:lnSpc>
                <a:spcPct val="90000"/>
              </a:lnSpc>
            </a:pPr>
            <a:r>
              <a:rPr lang="en-US" altLang="en-US" sz="2400" dirty="0">
                <a:sym typeface="Wingdings" panose="05000000000000000000" pitchFamily="2" charset="2"/>
              </a:rPr>
              <a:t>How do we guarantee that user does not explicitly set the mode bit to “kernel”?</a:t>
            </a:r>
          </a:p>
          <a:p>
            <a:pPr lvl="1">
              <a:lnSpc>
                <a:spcPct val="90000"/>
              </a:lnSpc>
            </a:pPr>
            <a:r>
              <a:rPr lang="en-US" altLang="en-US" sz="2400" dirty="0"/>
              <a:t>System call changes mode to kernel, return from call resets it to user</a:t>
            </a:r>
          </a:p>
          <a:p>
            <a:pPr>
              <a:lnSpc>
                <a:spcPct val="90000"/>
              </a:lnSpc>
            </a:pPr>
            <a:r>
              <a:rPr lang="en-US" altLang="en-US" sz="2400" dirty="0"/>
              <a:t>Some instructions designated as </a:t>
            </a:r>
            <a:r>
              <a:rPr lang="en-US" altLang="en-US" sz="2400" b="1" dirty="0">
                <a:solidFill>
                  <a:srgbClr val="006699"/>
                </a:solidFill>
                <a:latin typeface="+mj-lt"/>
              </a:rPr>
              <a:t>privileged</a:t>
            </a:r>
            <a:r>
              <a:rPr lang="en-US" altLang="en-US" sz="2400"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2406650" y="136525"/>
            <a:ext cx="7924800" cy="647700"/>
          </a:xfrm>
        </p:spPr>
        <p:txBody>
          <a:bodyPr/>
          <a:lstStyle/>
          <a:p>
            <a:pPr eaLnBrk="1" hangingPunct="1"/>
            <a:r>
              <a:rPr lang="en-US" altLang="en-US"/>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278" y="1788571"/>
            <a:ext cx="11051444" cy="3280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843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2406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580292" y="1060451"/>
            <a:ext cx="10884877" cy="5516195"/>
          </a:xfrm>
        </p:spPr>
        <p:txBody>
          <a:bodyPr/>
          <a:lstStyle/>
          <a:p>
            <a:r>
              <a:rPr lang="en-US" altLang="en-US" sz="2800" dirty="0"/>
              <a:t>Timer to prevent infinite loop (or process hogging resources)</a:t>
            </a:r>
          </a:p>
          <a:p>
            <a:pPr lvl="1"/>
            <a:r>
              <a:rPr lang="en-US" altLang="en-US" sz="2800" dirty="0"/>
              <a:t>Timer is set to interrupt the computer after some time period</a:t>
            </a:r>
          </a:p>
          <a:p>
            <a:pPr lvl="1"/>
            <a:r>
              <a:rPr lang="en-US" altLang="en-US" sz="2800" dirty="0"/>
              <a:t>Keep a counter that is decremented by the physical clock</a:t>
            </a:r>
          </a:p>
          <a:p>
            <a:pPr lvl="1"/>
            <a:r>
              <a:rPr lang="en-US" altLang="en-US" sz="2800" dirty="0"/>
              <a:t>Operating system set the counter (privileged instruction)</a:t>
            </a:r>
          </a:p>
          <a:p>
            <a:pPr lvl="1"/>
            <a:r>
              <a:rPr lang="en-US" altLang="en-US" sz="2800" dirty="0"/>
              <a:t>When counter zero generate an interrupt</a:t>
            </a:r>
          </a:p>
          <a:p>
            <a:pPr lvl="1"/>
            <a:r>
              <a:rPr lang="en-US" altLang="en-US" sz="2800" dirty="0"/>
              <a:t>Set up before scheduling process to regain control or terminate program that exceeds allotted time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3668488" y="2888119"/>
            <a:ext cx="5545850" cy="1030738"/>
          </a:xfrm>
        </p:spPr>
        <p:txBody>
          <a:bodyPr/>
          <a:lstStyle/>
          <a:p>
            <a:pPr marL="457200" lvl="1" indent="0">
              <a:buNone/>
            </a:pPr>
            <a:r>
              <a:rPr lang="en-US" altLang="en-US" sz="3200" b="1" dirty="0">
                <a:solidFill>
                  <a:srgbClr val="006699"/>
                </a:solidFill>
                <a:latin typeface="+mj-lt"/>
              </a:rPr>
              <a:t>Resource Management</a:t>
            </a:r>
          </a:p>
        </p:txBody>
      </p:sp>
    </p:spTree>
    <p:extLst>
      <p:ext uri="{BB962C8B-B14F-4D97-AF65-F5344CB8AC3E}">
        <p14:creationId xmlns:p14="http://schemas.microsoft.com/office/powerpoint/2010/main" val="2387474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2613026"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589935" y="1001349"/>
            <a:ext cx="11371007" cy="5105400"/>
          </a:xfrm>
        </p:spPr>
        <p:txBody>
          <a:bodyPr/>
          <a:lstStyle/>
          <a:p>
            <a:pPr>
              <a:lnSpc>
                <a:spcPct val="90000"/>
              </a:lnSpc>
            </a:pPr>
            <a:r>
              <a:rPr lang="en-US" altLang="en-US" sz="3200" dirty="0"/>
              <a:t>A process is a program in execution. It is a unit of work within the system. Program is a </a:t>
            </a:r>
            <a:r>
              <a:rPr lang="en-US" altLang="en-US" sz="3200" b="1" i="1" dirty="0"/>
              <a:t>passive entity;</a:t>
            </a:r>
            <a:r>
              <a:rPr lang="en-US" altLang="en-US" sz="3200" dirty="0"/>
              <a:t> process is </a:t>
            </a:r>
            <a:r>
              <a:rPr lang="en-US" altLang="en-US" sz="3200" dirty="0">
                <a:solidFill>
                  <a:srgbClr val="000000"/>
                </a:solidFill>
              </a:rPr>
              <a:t>an </a:t>
            </a:r>
            <a:r>
              <a:rPr lang="en-US" altLang="en-US" sz="3200" b="1" i="1" dirty="0">
                <a:solidFill>
                  <a:srgbClr val="000000"/>
                </a:solidFill>
              </a:rPr>
              <a:t>active entity</a:t>
            </a:r>
            <a:r>
              <a:rPr lang="en-US" altLang="en-US" sz="3200" dirty="0"/>
              <a:t>.</a:t>
            </a:r>
          </a:p>
          <a:p>
            <a:pPr>
              <a:lnSpc>
                <a:spcPct val="90000"/>
              </a:lnSpc>
            </a:pPr>
            <a:r>
              <a:rPr lang="en-US" altLang="en-US" sz="3200" dirty="0"/>
              <a:t>Process needs resources to accomplish its task</a:t>
            </a:r>
          </a:p>
          <a:p>
            <a:pPr lvl="1">
              <a:lnSpc>
                <a:spcPct val="90000"/>
              </a:lnSpc>
            </a:pPr>
            <a:r>
              <a:rPr lang="en-US" altLang="en-US" sz="3200" dirty="0"/>
              <a:t>CPU, memory, I/O, files</a:t>
            </a:r>
          </a:p>
          <a:p>
            <a:pPr lvl="1">
              <a:lnSpc>
                <a:spcPct val="90000"/>
              </a:lnSpc>
            </a:pPr>
            <a:r>
              <a:rPr lang="en-US" altLang="en-US" sz="3200" dirty="0"/>
              <a:t>Initialization data</a:t>
            </a:r>
          </a:p>
          <a:p>
            <a:pPr>
              <a:lnSpc>
                <a:spcPct val="90000"/>
              </a:lnSpc>
            </a:pPr>
            <a:r>
              <a:rPr lang="en-US" altLang="en-US" sz="3200" dirty="0"/>
              <a:t>Process termination requires reclaim of any reusable resources</a:t>
            </a:r>
          </a:p>
        </p:txBody>
      </p:sp>
    </p:spTree>
    <p:extLst>
      <p:ext uri="{BB962C8B-B14F-4D97-AF65-F5344CB8AC3E}">
        <p14:creationId xmlns:p14="http://schemas.microsoft.com/office/powerpoint/2010/main" val="732756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2613026"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589935" y="1001349"/>
            <a:ext cx="11371007" cy="5105400"/>
          </a:xfrm>
        </p:spPr>
        <p:txBody>
          <a:bodyPr/>
          <a:lstStyle/>
          <a:p>
            <a:pPr>
              <a:lnSpc>
                <a:spcPct val="90000"/>
              </a:lnSpc>
            </a:pPr>
            <a:r>
              <a:rPr lang="en-US" altLang="en-US" sz="2800" dirty="0"/>
              <a:t>Single-threaded process has one </a:t>
            </a:r>
            <a:r>
              <a:rPr lang="en-US" altLang="en-US" sz="2800" b="1" dirty="0">
                <a:solidFill>
                  <a:srgbClr val="006699"/>
                </a:solidFill>
                <a:latin typeface="+mj-lt"/>
              </a:rPr>
              <a:t>program counter </a:t>
            </a:r>
            <a:r>
              <a:rPr lang="en-US" altLang="en-US" sz="2800" dirty="0"/>
              <a:t>specifying location of next instruction to execute</a:t>
            </a:r>
          </a:p>
          <a:p>
            <a:pPr lvl="1">
              <a:lnSpc>
                <a:spcPct val="90000"/>
              </a:lnSpc>
            </a:pPr>
            <a:r>
              <a:rPr lang="en-US" altLang="en-US" sz="2800" dirty="0"/>
              <a:t>Process executes instructions sequentially, one at a time, until completion</a:t>
            </a:r>
          </a:p>
          <a:p>
            <a:pPr>
              <a:lnSpc>
                <a:spcPct val="90000"/>
              </a:lnSpc>
            </a:pPr>
            <a:r>
              <a:rPr lang="en-US" altLang="en-US" sz="2800" dirty="0"/>
              <a:t>Multi-threaded process has one program counter per thread</a:t>
            </a:r>
          </a:p>
          <a:p>
            <a:pPr>
              <a:lnSpc>
                <a:spcPct val="90000"/>
              </a:lnSpc>
            </a:pPr>
            <a:r>
              <a:rPr lang="en-US" altLang="en-US" sz="2800" dirty="0"/>
              <a:t>Typically system has many processes, some user, some operating system running concurrently on one or more CPUs</a:t>
            </a:r>
          </a:p>
          <a:p>
            <a:pPr lvl="1">
              <a:lnSpc>
                <a:spcPct val="90000"/>
              </a:lnSpc>
            </a:pPr>
            <a:r>
              <a:rPr lang="en-US" altLang="en-US" sz="2800" dirty="0"/>
              <a:t>Concurrency by multiplexing the CPUs among the processes / threads</a:t>
            </a:r>
          </a:p>
          <a:p>
            <a:pPr>
              <a:lnSpc>
                <a:spcPct val="90000"/>
              </a:lnSpc>
              <a:buFont typeface="Monotype Sorts" pitchFamily="-84" charset="2"/>
              <a:buNone/>
            </a:pPr>
            <a:endParaRPr lang="en-US" alt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2652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2409825" y="1780562"/>
            <a:ext cx="7670800" cy="4035425"/>
          </a:xfrm>
        </p:spPr>
        <p:txBody>
          <a:bodyPr/>
          <a:lstStyle/>
          <a:p>
            <a:pPr>
              <a:buFont typeface="Monotype Sorts" pitchFamily="-84" charset="2"/>
              <a:buNone/>
            </a:pPr>
            <a:r>
              <a:rPr lang="en-US" altLang="en-US" sz="2400" dirty="0"/>
              <a:t>     </a:t>
            </a:r>
          </a:p>
          <a:p>
            <a:r>
              <a:rPr lang="en-US" altLang="en-US" sz="2400" dirty="0"/>
              <a:t>Creating and deleting both user and system processes</a:t>
            </a:r>
          </a:p>
          <a:p>
            <a:r>
              <a:rPr lang="en-US" altLang="en-US" sz="2400" dirty="0"/>
              <a:t>Suspending and resuming processes</a:t>
            </a:r>
          </a:p>
          <a:p>
            <a:r>
              <a:rPr lang="en-US" altLang="en-US" sz="2400" dirty="0"/>
              <a:t>Providing mechanisms for process synchronization</a:t>
            </a:r>
          </a:p>
          <a:p>
            <a:r>
              <a:rPr lang="en-US" altLang="en-US" sz="2400" dirty="0"/>
              <a:t>Providing mechanisms for process communication</a:t>
            </a:r>
          </a:p>
          <a:p>
            <a:r>
              <a:rPr lang="en-US" altLang="en-US" sz="2400" dirty="0"/>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2325688" y="1238250"/>
            <a:ext cx="7670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sz="2400" dirty="0"/>
              <a:t>The operating system is responsible for the following activities in connection with process management: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2614614" y="212726"/>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422032" y="967155"/>
            <a:ext cx="11769968" cy="5433646"/>
          </a:xfrm>
        </p:spPr>
        <p:txBody>
          <a:bodyPr/>
          <a:lstStyle/>
          <a:p>
            <a:r>
              <a:rPr lang="en-US" altLang="en-US" sz="2800" dirty="0"/>
              <a:t>To execute a program all (or part) of the instructions must be in memory</a:t>
            </a:r>
          </a:p>
          <a:p>
            <a:r>
              <a:rPr lang="en-US" altLang="en-US" sz="2800" dirty="0"/>
              <a:t>All  (or part) of the data that is needed by the program must be in memory</a:t>
            </a:r>
          </a:p>
          <a:p>
            <a:r>
              <a:rPr lang="en-US" altLang="en-US" sz="2800" dirty="0"/>
              <a:t>Memory management determines what is in memory and when</a:t>
            </a:r>
          </a:p>
          <a:p>
            <a:pPr lvl="1"/>
            <a:r>
              <a:rPr lang="en-US" altLang="en-US" sz="2800" dirty="0"/>
              <a:t>Optimizing CPU utilization and computer response to users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2614614" y="212726"/>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422032" y="967155"/>
            <a:ext cx="11769968" cy="5433646"/>
          </a:xfrm>
        </p:spPr>
        <p:txBody>
          <a:bodyPr/>
          <a:lstStyle/>
          <a:p>
            <a:r>
              <a:rPr lang="en-US" altLang="en-US" sz="3200" dirty="0"/>
              <a:t>Memory management activities</a:t>
            </a:r>
          </a:p>
          <a:p>
            <a:pPr lvl="1"/>
            <a:r>
              <a:rPr lang="en-US" altLang="en-US" sz="3200" dirty="0"/>
              <a:t>Keeping track of which parts of memory are currently being used and by whom</a:t>
            </a:r>
          </a:p>
          <a:p>
            <a:pPr lvl="1"/>
            <a:r>
              <a:rPr lang="en-US" altLang="en-US" sz="3200" dirty="0"/>
              <a:t>Deciding which processes (or parts thereof) and data to move into and out of memory</a:t>
            </a:r>
          </a:p>
          <a:p>
            <a:pPr lvl="1"/>
            <a:r>
              <a:rPr lang="en-US" altLang="en-US" sz="3200" dirty="0"/>
              <a:t>Allocating and deallocating memory space as needed</a:t>
            </a:r>
          </a:p>
          <a:p>
            <a:pPr lvl="1">
              <a:buFont typeface="Monotype Sorts" pitchFamily="-84" charset="2"/>
              <a:buNone/>
            </a:pPr>
            <a:endParaRPr lang="en-US" altLang="en-US" sz="3200" dirty="0"/>
          </a:p>
        </p:txBody>
      </p:sp>
    </p:spTree>
    <p:extLst>
      <p:ext uri="{BB962C8B-B14F-4D97-AF65-F5344CB8AC3E}">
        <p14:creationId xmlns:p14="http://schemas.microsoft.com/office/powerpoint/2010/main" val="19361581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2652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530942" y="1001664"/>
            <a:ext cx="11415252" cy="4992688"/>
          </a:xfrm>
        </p:spPr>
        <p:txBody>
          <a:bodyPr/>
          <a:lstStyle/>
          <a:p>
            <a:pPr>
              <a:lnSpc>
                <a:spcPct val="90000"/>
              </a:lnSpc>
            </a:pPr>
            <a:r>
              <a:rPr lang="en-US" altLang="en-US" sz="3200" dirty="0"/>
              <a:t>OS provides uniform, logical view of information storage</a:t>
            </a:r>
          </a:p>
          <a:p>
            <a:pPr lvl="1">
              <a:lnSpc>
                <a:spcPct val="90000"/>
              </a:lnSpc>
            </a:pPr>
            <a:r>
              <a:rPr lang="en-US" altLang="en-US" sz="3200" dirty="0"/>
              <a:t>Abstracts physical properties to logical storage unit  - </a:t>
            </a:r>
            <a:r>
              <a:rPr lang="en-US" altLang="en-US" sz="3200" b="1" dirty="0">
                <a:solidFill>
                  <a:srgbClr val="006699"/>
                </a:solidFill>
                <a:latin typeface="+mj-lt"/>
              </a:rPr>
              <a:t>file</a:t>
            </a:r>
          </a:p>
          <a:p>
            <a:pPr lvl="1">
              <a:lnSpc>
                <a:spcPct val="90000"/>
              </a:lnSpc>
            </a:pPr>
            <a:r>
              <a:rPr lang="en-US" altLang="en-US" sz="3200" dirty="0"/>
              <a:t>Each medium is controlled by device (i.e., disk drive, tape drive)</a:t>
            </a:r>
          </a:p>
          <a:p>
            <a:pPr lvl="2">
              <a:lnSpc>
                <a:spcPct val="90000"/>
              </a:lnSpc>
            </a:pPr>
            <a:r>
              <a:rPr lang="en-US" altLang="en-US" sz="3200" dirty="0"/>
              <a:t>Varying properties include access speed, capacity, data-transfer rate, access method (sequential or random)</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2652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530942" y="1001664"/>
            <a:ext cx="11415252" cy="4992688"/>
          </a:xfrm>
        </p:spPr>
        <p:txBody>
          <a:bodyPr/>
          <a:lstStyle/>
          <a:p>
            <a:pPr>
              <a:lnSpc>
                <a:spcPct val="90000"/>
              </a:lnSpc>
            </a:pPr>
            <a:r>
              <a:rPr lang="en-US" altLang="en-US" sz="2800" dirty="0"/>
              <a:t>File-System management</a:t>
            </a:r>
          </a:p>
          <a:p>
            <a:pPr lvl="1">
              <a:lnSpc>
                <a:spcPct val="90000"/>
              </a:lnSpc>
            </a:pPr>
            <a:r>
              <a:rPr lang="en-US" altLang="en-US" sz="2800" dirty="0"/>
              <a:t>Files usually organized into directories</a:t>
            </a:r>
          </a:p>
          <a:p>
            <a:pPr lvl="1">
              <a:lnSpc>
                <a:spcPct val="90000"/>
              </a:lnSpc>
            </a:pPr>
            <a:r>
              <a:rPr lang="en-US" altLang="en-US" sz="2800" dirty="0"/>
              <a:t>Access control on most systems to determine who can access what</a:t>
            </a:r>
          </a:p>
          <a:p>
            <a:pPr lvl="1">
              <a:lnSpc>
                <a:spcPct val="90000"/>
              </a:lnSpc>
            </a:pPr>
            <a:r>
              <a:rPr lang="en-US" altLang="en-US" sz="2800" dirty="0"/>
              <a:t>OS activities include</a:t>
            </a:r>
          </a:p>
          <a:p>
            <a:pPr lvl="2">
              <a:lnSpc>
                <a:spcPct val="90000"/>
              </a:lnSpc>
            </a:pPr>
            <a:r>
              <a:rPr lang="en-US" altLang="en-US" sz="2800" dirty="0"/>
              <a:t>Creating and deleting files and directories</a:t>
            </a:r>
          </a:p>
          <a:p>
            <a:pPr lvl="2">
              <a:lnSpc>
                <a:spcPct val="90000"/>
              </a:lnSpc>
            </a:pPr>
            <a:r>
              <a:rPr lang="en-US" altLang="en-US" sz="2800" dirty="0"/>
              <a:t>Primitives to manipulate files and directories</a:t>
            </a:r>
          </a:p>
          <a:p>
            <a:pPr lvl="2">
              <a:lnSpc>
                <a:spcPct val="90000"/>
              </a:lnSpc>
            </a:pPr>
            <a:r>
              <a:rPr lang="en-US" altLang="en-US" sz="2800" dirty="0"/>
              <a:t>Mapping files onto secondary storage</a:t>
            </a:r>
          </a:p>
          <a:p>
            <a:pPr lvl="2">
              <a:lnSpc>
                <a:spcPct val="90000"/>
              </a:lnSpc>
            </a:pPr>
            <a:r>
              <a:rPr lang="en-US" altLang="en-US" sz="2800" dirty="0"/>
              <a:t>Backup files onto stable (non-volatile) storage media</a:t>
            </a:r>
          </a:p>
        </p:txBody>
      </p:sp>
    </p:spTree>
    <p:extLst>
      <p:ext uri="{BB962C8B-B14F-4D97-AF65-F5344CB8AC3E}">
        <p14:creationId xmlns:p14="http://schemas.microsoft.com/office/powerpoint/2010/main" val="19040867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2855914" y="203201"/>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99651" y="976928"/>
            <a:ext cx="10869561" cy="5677871"/>
          </a:xfrm>
        </p:spPr>
        <p:txBody>
          <a:bodyPr/>
          <a:lstStyle/>
          <a:p>
            <a:r>
              <a:rPr lang="en-US" altLang="en-US" sz="2400" dirty="0"/>
              <a:t>Usually disks used to store data that does not fit in main memory or data that must be kept for a </a:t>
            </a:r>
            <a:r>
              <a:rPr lang="ja-JP" altLang="en-US" sz="2400" dirty="0"/>
              <a:t>“</a:t>
            </a:r>
            <a:r>
              <a:rPr lang="en-US" altLang="ja-JP" sz="2400" dirty="0"/>
              <a:t>long</a:t>
            </a:r>
            <a:r>
              <a:rPr lang="ja-JP" altLang="en-US" sz="2400" dirty="0"/>
              <a:t>”</a:t>
            </a:r>
            <a:r>
              <a:rPr lang="en-US" altLang="ja-JP" sz="2400" dirty="0"/>
              <a:t> period of time</a:t>
            </a:r>
          </a:p>
          <a:p>
            <a:r>
              <a:rPr lang="en-US" altLang="en-US" sz="2400" dirty="0"/>
              <a:t>Proper management is of central importance</a:t>
            </a:r>
          </a:p>
          <a:p>
            <a:r>
              <a:rPr lang="en-US" altLang="en-US" sz="2400" dirty="0"/>
              <a:t>Entire speed of computer operation hinges on disk subsystem and its algorithms</a:t>
            </a:r>
          </a:p>
          <a:p>
            <a:r>
              <a:rPr lang="en-US" altLang="en-US" sz="2400" dirty="0"/>
              <a:t>OS activities</a:t>
            </a:r>
          </a:p>
          <a:p>
            <a:pPr lvl="1"/>
            <a:r>
              <a:rPr lang="en-US" altLang="en-US" sz="2400" dirty="0"/>
              <a:t>Mounting and unmounting</a:t>
            </a:r>
          </a:p>
          <a:p>
            <a:pPr lvl="1"/>
            <a:r>
              <a:rPr lang="en-US" altLang="en-US" sz="2400" dirty="0"/>
              <a:t>Free-space management</a:t>
            </a:r>
          </a:p>
          <a:p>
            <a:pPr lvl="1"/>
            <a:r>
              <a:rPr lang="en-US" altLang="en-US" sz="2400" dirty="0"/>
              <a:t>Storage allocation</a:t>
            </a:r>
          </a:p>
          <a:p>
            <a:pPr lvl="1"/>
            <a:r>
              <a:rPr lang="en-US" altLang="en-US" sz="2400" dirty="0"/>
              <a:t>Disk scheduling</a:t>
            </a:r>
          </a:p>
          <a:p>
            <a:pPr lvl="1"/>
            <a:r>
              <a:rPr lang="en-US" altLang="en-US" sz="2400" dirty="0"/>
              <a:t>Partitioning</a:t>
            </a:r>
          </a:p>
          <a:p>
            <a:pPr lvl="1"/>
            <a:r>
              <a:rPr lang="en-US" altLang="en-US" sz="2400" dirty="0"/>
              <a:t>Protection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1981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1091381" y="1203992"/>
            <a:ext cx="10397612" cy="5093569"/>
          </a:xfrm>
        </p:spPr>
        <p:txBody>
          <a:bodyPr/>
          <a:lstStyle/>
          <a:p>
            <a:r>
              <a:rPr lang="en-US" altLang="en-US" sz="2400" dirty="0"/>
              <a:t>Important principle, performed at many levels in a computer (in hardware, operating system, software)</a:t>
            </a:r>
          </a:p>
          <a:p>
            <a:r>
              <a:rPr lang="en-US" altLang="en-US" sz="2400" dirty="0"/>
              <a:t>Information in use copied from slower to faster storage temporarily</a:t>
            </a:r>
          </a:p>
          <a:p>
            <a:r>
              <a:rPr lang="en-US" altLang="en-US" sz="2400" dirty="0"/>
              <a:t>Faster storage (cache) checked first to determine if information is there</a:t>
            </a:r>
          </a:p>
          <a:p>
            <a:pPr lvl="1"/>
            <a:r>
              <a:rPr lang="en-US" altLang="en-US" sz="2400" dirty="0"/>
              <a:t>If it is, information used directly from the cache (fast)</a:t>
            </a:r>
          </a:p>
          <a:p>
            <a:pPr lvl="1"/>
            <a:r>
              <a:rPr lang="en-US" altLang="en-US" sz="2400" dirty="0"/>
              <a:t>If not, data copied to cache and used there</a:t>
            </a:r>
          </a:p>
          <a:p>
            <a:r>
              <a:rPr lang="en-US" altLang="en-US" sz="2400" dirty="0"/>
              <a:t>Cache smaller than storage being cached</a:t>
            </a:r>
          </a:p>
          <a:p>
            <a:pPr lvl="1"/>
            <a:r>
              <a:rPr lang="en-US" altLang="en-US" sz="2400" dirty="0"/>
              <a:t>Cache management important design problem</a:t>
            </a:r>
          </a:p>
          <a:p>
            <a:pPr lvl="1"/>
            <a:r>
              <a:rPr lang="en-US" altLang="en-US" sz="2400" dirty="0"/>
              <a:t>Cache size and replacement policy</a:t>
            </a:r>
          </a:p>
          <a:p>
            <a:pPr>
              <a:buFont typeface="Monotype Sorts" pitchFamily="-84" charset="2"/>
              <a:buNone/>
            </a:pPr>
            <a:endParaRPr lang="en-US"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2357439"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737419" y="1159951"/>
            <a:ext cx="11017046" cy="5093365"/>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a:t>
            </a:r>
          </a:p>
          <a:p>
            <a:pPr>
              <a:buFont typeface="Monotype Sorts" pitchFamily="-84" charset="2"/>
              <a:buNone/>
              <a:defRPr/>
            </a:pPr>
            <a:endParaRPr lang="en-US" dirty="0">
              <a:ea typeface="ＭＳ Ｐゴシック" charset="0"/>
              <a:cs typeface="ＭＳ Ｐゴシック" charset="0"/>
            </a:endParaRPr>
          </a:p>
          <a:p>
            <a:pPr>
              <a:buFont typeface="Monotype Sorts" pitchFamily="-84" charset="2"/>
              <a:buNone/>
              <a:defRPr/>
            </a:pPr>
            <a:endParaRPr lang="en-US" dirty="0">
              <a:ea typeface="ＭＳ Ｐゴシック" charset="0"/>
              <a:cs typeface="ＭＳ Ｐゴシック" charset="0"/>
            </a:endParaRPr>
          </a:p>
          <a:p>
            <a:pPr>
              <a:buFont typeface="Monotype Sorts" pitchFamily="-84" charset="2"/>
              <a:buNone/>
              <a:defRPr/>
            </a:pPr>
            <a:endParaRPr lang="en-US" dirty="0">
              <a:ea typeface="ＭＳ Ｐゴシック" charset="0"/>
              <a:cs typeface="ＭＳ Ｐゴシック" charset="0"/>
            </a:endParaRPr>
          </a:p>
          <a:p>
            <a:pPr>
              <a:buFont typeface="Monotype Sorts" pitchFamily="-84" charset="2"/>
              <a:buNone/>
              <a:defRPr/>
            </a:pPr>
            <a:r>
              <a:rPr lang="en-US" sz="2400" dirty="0">
                <a:ea typeface="ＭＳ Ｐゴシック" charset="0"/>
                <a:cs typeface="ＭＳ Ｐゴシック" charset="0"/>
              </a:rPr>
              <a:t>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293" y="1159951"/>
            <a:ext cx="10635297" cy="4464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2789696"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1091380" y="1106129"/>
            <a:ext cx="10427109" cy="5309419"/>
          </a:xfrm>
        </p:spPr>
        <p:txBody>
          <a:bodyPr/>
          <a:lstStyle/>
          <a:p>
            <a:r>
              <a:rPr lang="en-US" altLang="en-US" sz="2400" dirty="0"/>
              <a:t>Multitasking environments must be careful to use most recent value, no matter where it is stored in the storage hierarchy</a:t>
            </a:r>
            <a:br>
              <a:rPr lang="en-US" altLang="en-US" sz="2400" dirty="0"/>
            </a:br>
            <a:br>
              <a:rPr lang="en-US" altLang="en-US" sz="2400" dirty="0"/>
            </a:br>
            <a:br>
              <a:rPr lang="en-US" altLang="en-US" sz="2400" dirty="0"/>
            </a:br>
            <a:br>
              <a:rPr lang="en-US" altLang="en-US" sz="2400" dirty="0"/>
            </a:br>
            <a:endParaRPr lang="en-US" altLang="en-US" sz="2400" dirty="0"/>
          </a:p>
          <a:p>
            <a:r>
              <a:rPr lang="en-US" altLang="en-US" sz="2400" dirty="0"/>
              <a:t>Multiprocessor environment must provide </a:t>
            </a:r>
            <a:r>
              <a:rPr lang="en-US" altLang="en-US" sz="2400" b="1" dirty="0">
                <a:solidFill>
                  <a:srgbClr val="006699"/>
                </a:solidFill>
                <a:latin typeface="+mj-lt"/>
              </a:rPr>
              <a:t>cache coherency </a:t>
            </a:r>
            <a:r>
              <a:rPr lang="en-US" altLang="en-US" sz="2400" dirty="0"/>
              <a:t>in hardware such that all CPUs have the most recent value in their cache</a:t>
            </a:r>
          </a:p>
          <a:p>
            <a:r>
              <a:rPr lang="en-US" altLang="en-US" sz="2400" dirty="0"/>
              <a:t>Distributed environment situation even more complex</a:t>
            </a:r>
          </a:p>
          <a:p>
            <a:pPr lvl="1"/>
            <a:r>
              <a:rPr lang="en-US" altLang="en-US" sz="2400" dirty="0"/>
              <a:t>Several copies of a datum can exist</a:t>
            </a:r>
          </a:p>
          <a:p>
            <a:pPr lvl="1"/>
            <a:r>
              <a:rPr lang="en-US" altLang="en-US" sz="2400" dirty="0"/>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0817" y="2120260"/>
            <a:ext cx="9048233" cy="1109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1981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1076632" y="1169989"/>
            <a:ext cx="10441858" cy="5098076"/>
          </a:xfrm>
        </p:spPr>
        <p:txBody>
          <a:bodyPr/>
          <a:lstStyle/>
          <a:p>
            <a:r>
              <a:rPr lang="en-US" altLang="en-US" sz="2400" dirty="0"/>
              <a:t>One purpose of OS is to hide peculiarities of hardware devices from the user</a:t>
            </a:r>
          </a:p>
          <a:p>
            <a:r>
              <a:rPr lang="en-US" altLang="en-US" sz="2400" dirty="0"/>
              <a:t>I/O subsystem responsible for</a:t>
            </a:r>
          </a:p>
          <a:p>
            <a:pPr lvl="1"/>
            <a:r>
              <a:rPr lang="en-US" altLang="en-US" sz="2400"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sz="2400" dirty="0"/>
              <a:t>General device-driver interface</a:t>
            </a:r>
          </a:p>
          <a:p>
            <a:pPr lvl="1"/>
            <a:r>
              <a:rPr lang="en-US" altLang="en-US" sz="2400" dirty="0"/>
              <a:t>Drivers for specific hardware devices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2546351"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736447" y="997515"/>
            <a:ext cx="11135032" cy="5183187"/>
          </a:xfrm>
        </p:spPr>
        <p:txBody>
          <a:bodyPr/>
          <a:lstStyle/>
          <a:p>
            <a:pPr>
              <a:lnSpc>
                <a:spcPct val="90000"/>
              </a:lnSpc>
            </a:pPr>
            <a:r>
              <a:rPr lang="en-US" altLang="en-US" sz="2400" b="1" dirty="0">
                <a:solidFill>
                  <a:srgbClr val="006699"/>
                </a:solidFill>
                <a:latin typeface="+mj-lt"/>
              </a:rPr>
              <a:t>Protection</a:t>
            </a:r>
            <a:r>
              <a:rPr lang="en-US" altLang="en-US" sz="2400" b="1" dirty="0">
                <a:solidFill>
                  <a:srgbClr val="3366FF"/>
                </a:solidFill>
              </a:rPr>
              <a:t> </a:t>
            </a:r>
            <a:r>
              <a:rPr lang="en-US" altLang="en-US" sz="2400" dirty="0"/>
              <a:t>– any mechanism for controlling access of processes or users to resources defined by the OS</a:t>
            </a:r>
          </a:p>
          <a:p>
            <a:pPr>
              <a:lnSpc>
                <a:spcPct val="90000"/>
              </a:lnSpc>
            </a:pPr>
            <a:r>
              <a:rPr lang="en-US" altLang="en-US" sz="2400" b="1" dirty="0">
                <a:solidFill>
                  <a:srgbClr val="006699"/>
                </a:solidFill>
                <a:latin typeface="+mj-lt"/>
              </a:rPr>
              <a:t>Security</a:t>
            </a:r>
            <a:r>
              <a:rPr lang="en-US" altLang="en-US" sz="2400" b="1" dirty="0">
                <a:solidFill>
                  <a:srgbClr val="3366FF"/>
                </a:solidFill>
              </a:rPr>
              <a:t> </a:t>
            </a:r>
            <a:r>
              <a:rPr lang="en-US" altLang="en-US" sz="2400" dirty="0"/>
              <a:t>– defense of the system against internal and external attacks</a:t>
            </a:r>
          </a:p>
          <a:p>
            <a:pPr lvl="1">
              <a:lnSpc>
                <a:spcPct val="90000"/>
              </a:lnSpc>
            </a:pPr>
            <a:r>
              <a:rPr lang="en-US" altLang="en-US" sz="2400" dirty="0"/>
              <a:t>Huge range, including denial-of-service, worms, viruses, identity theft, theft of service</a:t>
            </a:r>
          </a:p>
          <a:p>
            <a:pPr>
              <a:lnSpc>
                <a:spcPct val="90000"/>
              </a:lnSpc>
            </a:pPr>
            <a:r>
              <a:rPr lang="en-US" altLang="en-US" sz="2400" dirty="0"/>
              <a:t>Systems generally first distinguish among users, to determine who can do what</a:t>
            </a:r>
          </a:p>
          <a:p>
            <a:pPr lvl="1">
              <a:lnSpc>
                <a:spcPct val="90000"/>
              </a:lnSpc>
            </a:pPr>
            <a:r>
              <a:rPr lang="en-US" altLang="en-US" sz="2400" dirty="0"/>
              <a:t>User identities (</a:t>
            </a:r>
            <a:r>
              <a:rPr lang="en-US" altLang="en-US" sz="2400" b="1" dirty="0">
                <a:solidFill>
                  <a:srgbClr val="006699"/>
                </a:solidFill>
                <a:latin typeface="+mj-lt"/>
              </a:rPr>
              <a:t>user IDs</a:t>
            </a:r>
            <a:r>
              <a:rPr lang="en-US" altLang="en-US" sz="2400" dirty="0"/>
              <a:t>, security IDs) include name and associated number, one per user</a:t>
            </a:r>
          </a:p>
          <a:p>
            <a:pPr lvl="1">
              <a:lnSpc>
                <a:spcPct val="90000"/>
              </a:lnSpc>
            </a:pPr>
            <a:r>
              <a:rPr lang="en-US" altLang="en-US" sz="2400" dirty="0"/>
              <a:t>User ID then associated with all files, processes of that user to determine access control</a:t>
            </a:r>
          </a:p>
          <a:p>
            <a:pPr lvl="1">
              <a:lnSpc>
                <a:spcPct val="90000"/>
              </a:lnSpc>
            </a:pPr>
            <a:r>
              <a:rPr lang="en-US" altLang="en-US" sz="2400" dirty="0"/>
              <a:t>Group identifier (</a:t>
            </a:r>
            <a:r>
              <a:rPr lang="en-US" altLang="en-US" sz="2400" b="1" dirty="0">
                <a:solidFill>
                  <a:srgbClr val="006699"/>
                </a:solidFill>
                <a:latin typeface="+mj-lt"/>
              </a:rPr>
              <a:t>group ID</a:t>
            </a:r>
            <a:r>
              <a:rPr lang="en-US" altLang="en-US" sz="2400" dirty="0"/>
              <a:t>) allows set of users to be defined and controls managed, then also associated with each process, file</a:t>
            </a:r>
          </a:p>
          <a:p>
            <a:pPr lvl="1">
              <a:lnSpc>
                <a:spcPct val="90000"/>
              </a:lnSpc>
            </a:pPr>
            <a:r>
              <a:rPr lang="en-US" altLang="en-US" sz="2400" b="1" dirty="0">
                <a:solidFill>
                  <a:srgbClr val="006699"/>
                </a:solidFill>
                <a:latin typeface="+mj-lt"/>
              </a:rPr>
              <a:t>Privilege escalation </a:t>
            </a:r>
            <a:r>
              <a:rPr lang="en-US" altLang="en-US" sz="2400" dirty="0"/>
              <a:t>allows user to change to effective ID with more rights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2436814"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943897" y="1092201"/>
            <a:ext cx="10825316" cy="5367593"/>
          </a:xfrm>
        </p:spPr>
        <p:txBody>
          <a:bodyPr/>
          <a:lstStyle/>
          <a:p>
            <a:r>
              <a:rPr lang="en-US" altLang="en-US" sz="2400" dirty="0"/>
              <a:t>Collection of separate, possibly heterogeneous, systems networked together</a:t>
            </a:r>
          </a:p>
          <a:p>
            <a:pPr lvl="1"/>
            <a:r>
              <a:rPr lang="en-US" altLang="en-US" sz="2400" b="1" dirty="0">
                <a:solidFill>
                  <a:srgbClr val="006699"/>
                </a:solidFill>
                <a:latin typeface="+mj-lt"/>
              </a:rPr>
              <a:t>Network</a:t>
            </a:r>
            <a:r>
              <a:rPr lang="en-US" altLang="en-US" sz="2400" dirty="0"/>
              <a:t> is a communications path, </a:t>
            </a:r>
            <a:r>
              <a:rPr lang="en-US" altLang="en-US" sz="2400" b="1" dirty="0">
                <a:solidFill>
                  <a:srgbClr val="006699"/>
                </a:solidFill>
                <a:latin typeface="+mj-lt"/>
              </a:rPr>
              <a:t>TCP/IP </a:t>
            </a:r>
            <a:r>
              <a:rPr lang="en-US" altLang="en-US" sz="2400" dirty="0"/>
              <a:t>most common</a:t>
            </a:r>
          </a:p>
          <a:p>
            <a:pPr lvl="2"/>
            <a:r>
              <a:rPr lang="en-US" altLang="en-US" sz="2400" b="1" dirty="0">
                <a:solidFill>
                  <a:srgbClr val="006699"/>
                </a:solidFill>
                <a:latin typeface="+mj-lt"/>
              </a:rPr>
              <a:t>Local Area Network </a:t>
            </a:r>
            <a:r>
              <a:rPr lang="en-US" altLang="en-US" sz="2400" dirty="0"/>
              <a:t>(</a:t>
            </a:r>
            <a:r>
              <a:rPr lang="en-US" altLang="en-US" sz="2400" b="1" dirty="0">
                <a:solidFill>
                  <a:srgbClr val="006699"/>
                </a:solidFill>
                <a:latin typeface="+mj-lt"/>
              </a:rPr>
              <a:t>LAN</a:t>
            </a:r>
            <a:r>
              <a:rPr lang="en-US" altLang="en-US" sz="2400" dirty="0"/>
              <a:t>)</a:t>
            </a:r>
          </a:p>
          <a:p>
            <a:pPr lvl="2"/>
            <a:r>
              <a:rPr lang="en-US" altLang="en-US" sz="2400" b="1" dirty="0">
                <a:solidFill>
                  <a:srgbClr val="006699"/>
                </a:solidFill>
                <a:latin typeface="+mj-lt"/>
              </a:rPr>
              <a:t>Wide Area Network </a:t>
            </a:r>
            <a:r>
              <a:rPr lang="en-US" altLang="en-US" sz="2400" dirty="0"/>
              <a:t>(</a:t>
            </a:r>
            <a:r>
              <a:rPr lang="en-US" altLang="en-US" sz="2400" b="1" dirty="0">
                <a:solidFill>
                  <a:srgbClr val="006699"/>
                </a:solidFill>
                <a:latin typeface="+mj-lt"/>
              </a:rPr>
              <a:t>WAN</a:t>
            </a:r>
            <a:r>
              <a:rPr lang="en-US" altLang="en-US" sz="2400" dirty="0"/>
              <a:t>)</a:t>
            </a:r>
          </a:p>
          <a:p>
            <a:pPr lvl="2"/>
            <a:r>
              <a:rPr lang="en-US" altLang="en-US" sz="2400" b="1" dirty="0">
                <a:solidFill>
                  <a:srgbClr val="006699"/>
                </a:solidFill>
                <a:latin typeface="+mj-lt"/>
              </a:rPr>
              <a:t>Metropolitan Area Network </a:t>
            </a:r>
            <a:r>
              <a:rPr lang="en-US" altLang="en-US" sz="2400" dirty="0"/>
              <a:t>(</a:t>
            </a:r>
            <a:r>
              <a:rPr lang="en-US" altLang="en-US" sz="2400" b="1" dirty="0">
                <a:solidFill>
                  <a:srgbClr val="006699"/>
                </a:solidFill>
                <a:latin typeface="+mj-lt"/>
              </a:rPr>
              <a:t>MAN</a:t>
            </a:r>
            <a:r>
              <a:rPr lang="en-US" altLang="en-US" sz="2400" dirty="0"/>
              <a:t>)</a:t>
            </a:r>
          </a:p>
          <a:p>
            <a:pPr lvl="2"/>
            <a:r>
              <a:rPr lang="en-US" altLang="en-US" sz="2400" b="1" dirty="0">
                <a:solidFill>
                  <a:srgbClr val="006699"/>
                </a:solidFill>
                <a:latin typeface="+mj-lt"/>
              </a:rPr>
              <a:t>Personal Area Network </a:t>
            </a:r>
            <a:r>
              <a:rPr lang="en-US" altLang="en-US" sz="2400" dirty="0"/>
              <a:t>(</a:t>
            </a:r>
            <a:r>
              <a:rPr lang="en-US" altLang="en-US" sz="2400" b="1" dirty="0">
                <a:solidFill>
                  <a:srgbClr val="006699"/>
                </a:solidFill>
                <a:latin typeface="+mj-lt"/>
              </a:rPr>
              <a:t>PAN</a:t>
            </a:r>
            <a:r>
              <a:rPr lang="en-US" altLang="en-US" sz="2400" dirty="0"/>
              <a:t>)</a:t>
            </a:r>
          </a:p>
          <a:p>
            <a:r>
              <a:rPr lang="en-US" altLang="en-US" sz="2400" b="1" dirty="0">
                <a:solidFill>
                  <a:srgbClr val="006699"/>
                </a:solidFill>
                <a:latin typeface="+mj-lt"/>
              </a:rPr>
              <a:t>Network Operating System </a:t>
            </a:r>
            <a:r>
              <a:rPr lang="en-US" altLang="en-US" sz="2400" dirty="0"/>
              <a:t>provides features between systems across network</a:t>
            </a:r>
          </a:p>
          <a:p>
            <a:pPr lvl="1"/>
            <a:r>
              <a:rPr lang="en-US" altLang="en-US" sz="2400" dirty="0"/>
              <a:t>Communication scheme allows systems to exchange messages</a:t>
            </a:r>
          </a:p>
          <a:p>
            <a:pPr lvl="1"/>
            <a:r>
              <a:rPr lang="en-US" altLang="en-US" sz="2400" dirty="0"/>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3200400" y="2888119"/>
            <a:ext cx="6660776" cy="1030738"/>
          </a:xfrm>
        </p:spPr>
        <p:txBody>
          <a:bodyPr/>
          <a:lstStyle/>
          <a:p>
            <a:pPr marL="457200" lvl="1" indent="0">
              <a:buNone/>
            </a:pPr>
            <a:r>
              <a:rPr lang="en-US" altLang="en-US" sz="3200" b="1" dirty="0">
                <a:solidFill>
                  <a:srgbClr val="006699"/>
                </a:solidFill>
                <a:latin typeface="+mj-lt"/>
              </a:rPr>
              <a:t>Computer System Architecture</a:t>
            </a:r>
          </a:p>
        </p:txBody>
      </p:sp>
    </p:spTree>
    <p:extLst>
      <p:ext uri="{BB962C8B-B14F-4D97-AF65-F5344CB8AC3E}">
        <p14:creationId xmlns:p14="http://schemas.microsoft.com/office/powerpoint/2010/main" val="6304112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2624139"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471948" y="903240"/>
            <a:ext cx="11503741" cy="5807277"/>
          </a:xfrm>
        </p:spPr>
        <p:txBody>
          <a:bodyPr/>
          <a:lstStyle/>
          <a:p>
            <a:r>
              <a:rPr lang="en-US" altLang="en-US" sz="2400" dirty="0"/>
              <a:t>Most systems use a single general-purpose processor</a:t>
            </a:r>
          </a:p>
          <a:p>
            <a:pPr lvl="1"/>
            <a:r>
              <a:rPr lang="en-US" altLang="en-US" sz="2400" dirty="0"/>
              <a:t>Most systems have special-purpose processors as well</a:t>
            </a:r>
          </a:p>
          <a:p>
            <a:r>
              <a:rPr lang="en-US" altLang="en-US" sz="2400" b="1" dirty="0">
                <a:solidFill>
                  <a:srgbClr val="006699"/>
                </a:solidFill>
                <a:latin typeface="+mj-lt"/>
              </a:rPr>
              <a:t>Multiprocessors</a:t>
            </a:r>
            <a:r>
              <a:rPr lang="en-US" altLang="en-US" sz="2400" dirty="0">
                <a:solidFill>
                  <a:srgbClr val="3366FF"/>
                </a:solidFill>
              </a:rPr>
              <a:t> </a:t>
            </a:r>
            <a:r>
              <a:rPr lang="en-US" altLang="en-US" sz="2400" dirty="0"/>
              <a:t>systems growing in use and importance</a:t>
            </a:r>
          </a:p>
          <a:p>
            <a:pPr lvl="1"/>
            <a:r>
              <a:rPr lang="en-US" altLang="en-US" sz="2400" dirty="0"/>
              <a:t>Also known as </a:t>
            </a:r>
            <a:r>
              <a:rPr lang="en-US" altLang="en-US" sz="2400" b="1" dirty="0">
                <a:solidFill>
                  <a:srgbClr val="006699"/>
                </a:solidFill>
                <a:latin typeface="+mj-lt"/>
              </a:rPr>
              <a:t>parallel systems</a:t>
            </a:r>
            <a:r>
              <a:rPr lang="en-US" altLang="en-US" sz="2400" dirty="0"/>
              <a:t>, </a:t>
            </a:r>
            <a:r>
              <a:rPr lang="en-US" altLang="en-US" sz="2400" b="1" dirty="0">
                <a:solidFill>
                  <a:srgbClr val="006699"/>
                </a:solidFill>
                <a:latin typeface="+mj-lt"/>
              </a:rPr>
              <a:t>tightly-coupled systems</a:t>
            </a:r>
          </a:p>
          <a:p>
            <a:pPr lvl="1"/>
            <a:r>
              <a:rPr lang="en-US" altLang="en-US" sz="2400" dirty="0"/>
              <a:t>Advantages include:</a:t>
            </a:r>
          </a:p>
          <a:p>
            <a:pPr marL="1200150" lvl="2" indent="-342900">
              <a:buFont typeface="Arial" panose="020B0604020202020204" pitchFamily="34" charset="0"/>
              <a:buAutoNum type="arabicPeriod"/>
            </a:pPr>
            <a:r>
              <a:rPr lang="en-US" altLang="en-US" sz="2400"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sz="2400" b="1" dirty="0">
                <a:solidFill>
                  <a:srgbClr val="006699"/>
                </a:solidFill>
                <a:latin typeface="+mj-lt"/>
              </a:rPr>
              <a:t>Economy of scale</a:t>
            </a:r>
          </a:p>
          <a:p>
            <a:pPr marL="1200150" lvl="2" indent="-342900">
              <a:buFont typeface="Arial" panose="020B0604020202020204" pitchFamily="34" charset="0"/>
              <a:buAutoNum type="arabicPeriod"/>
            </a:pPr>
            <a:r>
              <a:rPr lang="en-US" altLang="en-US" sz="2400" b="1" dirty="0">
                <a:solidFill>
                  <a:srgbClr val="006699"/>
                </a:solidFill>
                <a:latin typeface="+mj-lt"/>
              </a:rPr>
              <a:t>Increased reliability </a:t>
            </a:r>
            <a:r>
              <a:rPr lang="en-US" altLang="en-US" sz="2400" dirty="0"/>
              <a:t>– graceful degradation or fault tolerance</a:t>
            </a:r>
          </a:p>
          <a:p>
            <a:pPr lvl="1"/>
            <a:r>
              <a:rPr lang="en-US" altLang="en-US" sz="2400" dirty="0"/>
              <a:t>Two types:</a:t>
            </a:r>
          </a:p>
          <a:p>
            <a:pPr marL="1200150" lvl="2" indent="-342900">
              <a:buFont typeface="Arial" panose="020B0604020202020204" pitchFamily="34" charset="0"/>
              <a:buAutoNum type="arabicPeriod"/>
            </a:pPr>
            <a:r>
              <a:rPr lang="en-US" altLang="en-US" sz="2400" b="1" dirty="0">
                <a:solidFill>
                  <a:srgbClr val="006699"/>
                </a:solidFill>
                <a:latin typeface="+mj-lt"/>
              </a:rPr>
              <a:t>Asymmetric Multiprocessing</a:t>
            </a:r>
            <a:r>
              <a:rPr lang="en-US" altLang="en-US" sz="2400" b="1" dirty="0">
                <a:solidFill>
                  <a:srgbClr val="3366FF"/>
                </a:solidFill>
              </a:rPr>
              <a:t> </a:t>
            </a:r>
            <a:r>
              <a:rPr lang="en-US" altLang="en-US" sz="2400" dirty="0"/>
              <a:t>– each processor is assigned a specie task.</a:t>
            </a:r>
          </a:p>
          <a:p>
            <a:pPr marL="1200150" lvl="2" indent="-342900">
              <a:buFont typeface="Arial" panose="020B0604020202020204" pitchFamily="34" charset="0"/>
              <a:buAutoNum type="arabicPeriod"/>
            </a:pPr>
            <a:r>
              <a:rPr lang="en-US" altLang="en-US" sz="2400" b="1" dirty="0">
                <a:solidFill>
                  <a:srgbClr val="006699"/>
                </a:solidFill>
                <a:latin typeface="+mj-lt"/>
              </a:rPr>
              <a:t>Symmetric Multiprocessing </a:t>
            </a:r>
            <a:r>
              <a:rPr lang="en-US" altLang="en-US" sz="2400" dirty="0"/>
              <a:t>– each processor performs all tasks</a:t>
            </a:r>
          </a:p>
          <a:p>
            <a:pPr marL="1200150" lvl="2" indent="-342900">
              <a:buNone/>
            </a:pPr>
            <a:endParaRPr lang="en-US" altLang="en-US" sz="2400" dirty="0">
              <a:solidFill>
                <a:srgbClr val="3366FF"/>
              </a:solidFill>
            </a:endParaRPr>
          </a:p>
        </p:txBody>
      </p:sp>
    </p:spTree>
    <p:extLst>
      <p:ext uri="{BB962C8B-B14F-4D97-AF65-F5344CB8AC3E}">
        <p14:creationId xmlns:p14="http://schemas.microsoft.com/office/powerpoint/2010/main" val="42345177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2463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3800" y="1262011"/>
            <a:ext cx="6842432" cy="5180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1981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2378076" y="960592"/>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7070" y="2177364"/>
            <a:ext cx="4986711" cy="4445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1981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a:xfrm>
            <a:off x="752168" y="1233489"/>
            <a:ext cx="11295899" cy="5049324"/>
          </a:xfrm>
        </p:spPr>
        <p:txBody>
          <a:bodyPr/>
          <a:lstStyle/>
          <a:p>
            <a:r>
              <a:rPr lang="en-US" altLang="en-US" sz="2400" dirty="0"/>
              <a:t>Like multiprocessor systems, but multiple systems working together</a:t>
            </a:r>
          </a:p>
          <a:p>
            <a:pPr lvl="1"/>
            <a:r>
              <a:rPr lang="en-US" altLang="en-US" sz="2400" dirty="0"/>
              <a:t>Usually sharing storage via a </a:t>
            </a:r>
            <a:r>
              <a:rPr lang="en-US" altLang="en-US" sz="2400" b="1" dirty="0">
                <a:solidFill>
                  <a:srgbClr val="006699"/>
                </a:solidFill>
                <a:latin typeface="+mj-lt"/>
              </a:rPr>
              <a:t>storage-area network </a:t>
            </a:r>
            <a:r>
              <a:rPr lang="en-US" altLang="en-US" sz="2400" dirty="0"/>
              <a:t>(</a:t>
            </a:r>
            <a:r>
              <a:rPr lang="en-US" altLang="en-US" sz="2400" b="1" dirty="0">
                <a:solidFill>
                  <a:srgbClr val="006699"/>
                </a:solidFill>
                <a:latin typeface="+mj-lt"/>
              </a:rPr>
              <a:t>SAN</a:t>
            </a:r>
            <a:r>
              <a:rPr lang="en-US" altLang="en-US" sz="2400" dirty="0"/>
              <a:t>)</a:t>
            </a:r>
          </a:p>
          <a:p>
            <a:pPr lvl="1"/>
            <a:r>
              <a:rPr lang="en-US" altLang="en-US" sz="2400" dirty="0"/>
              <a:t>Provides a </a:t>
            </a:r>
            <a:r>
              <a:rPr lang="en-US" altLang="en-US" sz="2400" b="1" dirty="0">
                <a:solidFill>
                  <a:srgbClr val="006699"/>
                </a:solidFill>
                <a:latin typeface="+mj-lt"/>
              </a:rPr>
              <a:t>high-availability</a:t>
            </a:r>
            <a:r>
              <a:rPr lang="en-US" altLang="en-US" sz="2400" b="1" dirty="0"/>
              <a:t> </a:t>
            </a:r>
            <a:r>
              <a:rPr lang="en-US" altLang="en-US" sz="2400" dirty="0"/>
              <a:t>service which survives failures</a:t>
            </a:r>
          </a:p>
          <a:p>
            <a:pPr lvl="2"/>
            <a:r>
              <a:rPr lang="en-US" altLang="en-US" sz="2400" b="1" dirty="0">
                <a:solidFill>
                  <a:srgbClr val="006699"/>
                </a:solidFill>
                <a:latin typeface="+mj-lt"/>
              </a:rPr>
              <a:t>Asymmetric clustering </a:t>
            </a:r>
            <a:r>
              <a:rPr lang="en-US" altLang="en-US" sz="2400" dirty="0"/>
              <a:t>has one machine in hot-standby mode</a:t>
            </a:r>
          </a:p>
          <a:p>
            <a:pPr lvl="2"/>
            <a:r>
              <a:rPr lang="en-US" altLang="en-US" sz="2400" b="1" dirty="0">
                <a:solidFill>
                  <a:srgbClr val="006699"/>
                </a:solidFill>
                <a:latin typeface="+mj-lt"/>
              </a:rPr>
              <a:t>Symmetric clustering </a:t>
            </a:r>
            <a:r>
              <a:rPr lang="en-US" altLang="en-US" sz="2400" dirty="0"/>
              <a:t>has multiple nodes running applications, monitoring each other</a:t>
            </a:r>
          </a:p>
          <a:p>
            <a:pPr lvl="1"/>
            <a:r>
              <a:rPr lang="en-US" altLang="en-US" sz="2400" dirty="0"/>
              <a:t>Some clusters are for </a:t>
            </a:r>
            <a:r>
              <a:rPr lang="en-US" altLang="en-US" sz="2400" b="1" dirty="0">
                <a:solidFill>
                  <a:srgbClr val="006699"/>
                </a:solidFill>
                <a:latin typeface="+mj-lt"/>
              </a:rPr>
              <a:t>high-performance computing </a:t>
            </a:r>
            <a:r>
              <a:rPr lang="en-US" altLang="en-US" sz="2400" dirty="0"/>
              <a:t>(</a:t>
            </a:r>
            <a:r>
              <a:rPr lang="en-US" altLang="en-US" sz="2400" b="1" dirty="0">
                <a:solidFill>
                  <a:srgbClr val="006699"/>
                </a:solidFill>
                <a:latin typeface="+mj-lt"/>
              </a:rPr>
              <a:t>HPC</a:t>
            </a:r>
            <a:r>
              <a:rPr lang="en-US" altLang="en-US" sz="2400" dirty="0"/>
              <a:t>)</a:t>
            </a:r>
          </a:p>
          <a:p>
            <a:pPr lvl="2"/>
            <a:r>
              <a:rPr lang="en-US" altLang="en-US" sz="2400" dirty="0"/>
              <a:t>Applications must be written to use </a:t>
            </a:r>
            <a:r>
              <a:rPr lang="en-US" altLang="en-US" sz="2400" b="1" dirty="0">
                <a:solidFill>
                  <a:srgbClr val="006699"/>
                </a:solidFill>
                <a:latin typeface="+mj-lt"/>
              </a:rPr>
              <a:t>parallelization</a:t>
            </a:r>
          </a:p>
          <a:p>
            <a:pPr lvl="1"/>
            <a:r>
              <a:rPr lang="en-US" altLang="en-US" sz="2400" dirty="0"/>
              <a:t>Some have</a:t>
            </a:r>
            <a:r>
              <a:rPr lang="en-US" altLang="en-US" sz="2400" b="1" dirty="0">
                <a:solidFill>
                  <a:srgbClr val="3366FF"/>
                </a:solidFill>
              </a:rPr>
              <a:t> </a:t>
            </a:r>
            <a:r>
              <a:rPr lang="en-US" altLang="en-US" sz="2400" b="1" dirty="0">
                <a:solidFill>
                  <a:srgbClr val="006699"/>
                </a:solidFill>
                <a:latin typeface="+mj-lt"/>
              </a:rPr>
              <a:t>distributed lock manager </a:t>
            </a:r>
            <a:r>
              <a:rPr lang="en-US" altLang="en-US" sz="2400" dirty="0"/>
              <a:t>(</a:t>
            </a:r>
            <a:r>
              <a:rPr lang="en-US" altLang="en-US" sz="2400" b="1" dirty="0">
                <a:solidFill>
                  <a:srgbClr val="006699"/>
                </a:solidFill>
                <a:latin typeface="+mj-lt"/>
              </a:rPr>
              <a:t>DLM</a:t>
            </a:r>
            <a:r>
              <a:rPr lang="en-US" altLang="en-US" sz="2400" dirty="0"/>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1981201"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6656" y="1926252"/>
            <a:ext cx="7197128" cy="3692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152400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1993900" y="2736850"/>
            <a:ext cx="8267700" cy="609600"/>
          </a:xfrm>
        </p:spPr>
        <p:txBody>
          <a:bodyPr/>
          <a:lstStyle/>
          <a:p>
            <a:pPr>
              <a:defRPr/>
            </a:pPr>
            <a:r>
              <a:rPr lang="en-US" altLang="en-US" dirty="0">
                <a:effectLst>
                  <a:outerShdw blurRad="38100" dist="38100" dir="2700000" algn="tl">
                    <a:srgbClr val="C0C0C0"/>
                  </a:outerShdw>
                </a:effectLst>
              </a:rPr>
              <a:t>Kernel Data Structure</a:t>
            </a:r>
          </a:p>
        </p:txBody>
      </p:sp>
      <p:sp>
        <p:nvSpPr>
          <p:cNvPr id="11267" name="Rectangle 3"/>
          <p:cNvSpPr>
            <a:spLocks noChangeArrowheads="1"/>
          </p:cNvSpPr>
          <p:nvPr/>
        </p:nvSpPr>
        <p:spPr bwMode="auto">
          <a:xfrm>
            <a:off x="2946400" y="2851151"/>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24414396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1981200" y="220663"/>
            <a:ext cx="8229600" cy="576262"/>
          </a:xfrm>
        </p:spPr>
        <p:txBody>
          <a:bodyPr/>
          <a:lstStyle/>
          <a:p>
            <a:r>
              <a:rPr lang="en-US" altLang="en-US"/>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a:xfrm>
            <a:off x="634181" y="1233489"/>
            <a:ext cx="11413886" cy="5403848"/>
          </a:xfrm>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51151"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11464" y="3632201"/>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55901"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1981200" y="217488"/>
            <a:ext cx="8229600" cy="576262"/>
          </a:xfrm>
        </p:spPr>
        <p:txBody>
          <a:bodyPr/>
          <a:lstStyle/>
          <a:p>
            <a:r>
              <a:rPr lang="en-US" altLang="en-US"/>
              <a:t>Kernel Data Structures</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2330450" y="958645"/>
            <a:ext cx="6208866" cy="1879805"/>
          </a:xfrm>
        </p:spPr>
        <p:txBody>
          <a:bodyPr/>
          <a:lstStyle/>
          <a:p>
            <a:r>
              <a:rPr lang="en-US" altLang="en-US" sz="2000" b="1" dirty="0">
                <a:solidFill>
                  <a:srgbClr val="3366FF"/>
                </a:solidFill>
              </a:rPr>
              <a:t>Binary search tree</a:t>
            </a:r>
            <a:br>
              <a:rPr lang="en-US" altLang="en-US" sz="2000" dirty="0"/>
            </a:br>
            <a:r>
              <a:rPr lang="en-US" altLang="en-US" sz="2000" dirty="0"/>
              <a:t>left &lt;= right</a:t>
            </a:r>
          </a:p>
          <a:p>
            <a:pPr lvl="1"/>
            <a:r>
              <a:rPr lang="en-US" altLang="en-US" sz="2000" dirty="0"/>
              <a:t>Search performance is </a:t>
            </a:r>
            <a:r>
              <a:rPr lang="en-US" altLang="en-US" sz="2000" i="1" dirty="0"/>
              <a:t>O(n)</a:t>
            </a:r>
          </a:p>
          <a:p>
            <a:pPr lvl="1"/>
            <a:r>
              <a:rPr lang="en-US" altLang="en-US" sz="2000" b="1" dirty="0">
                <a:solidFill>
                  <a:srgbClr val="3366FF"/>
                </a:solidFill>
              </a:rPr>
              <a:t>Balanced binary search tree </a:t>
            </a:r>
            <a:r>
              <a:rPr lang="en-US" altLang="en-US" sz="2000" dirty="0"/>
              <a:t>is </a:t>
            </a:r>
            <a:r>
              <a:rPr lang="en-US" altLang="en-US" sz="2000" i="1" dirty="0"/>
              <a:t>O(log n)</a:t>
            </a:r>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pPr>
              <a:buFont typeface="Monotype Sorts" pitchFamily="-84" charset="2"/>
              <a:buNone/>
            </a:pPr>
            <a:endParaRPr lang="en-US" altLang="en-US" sz="2000" dirty="0"/>
          </a:p>
          <a:p>
            <a:endParaRPr lang="en-US" altLang="en-US" sz="2000" dirty="0"/>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59162" y="2979739"/>
            <a:ext cx="4239495" cy="330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1981200" y="217488"/>
            <a:ext cx="8229600" cy="576262"/>
          </a:xfrm>
        </p:spPr>
        <p:txBody>
          <a:bodyPr/>
          <a:lstStyle/>
          <a:p>
            <a:r>
              <a:rPr lang="en-US" altLang="en-US"/>
              <a:t>Kernel Data Structures</a:t>
            </a:r>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1430595" y="1233488"/>
            <a:ext cx="9807676" cy="4983162"/>
          </a:xfrm>
        </p:spPr>
        <p:txBody>
          <a:bodyPr/>
          <a:lstStyle/>
          <a:p>
            <a:r>
              <a:rPr lang="en-US" altLang="en-US" sz="1800" b="1" dirty="0">
                <a:solidFill>
                  <a:srgbClr val="3366FF"/>
                </a:solidFill>
              </a:rPr>
              <a:t>Hash function </a:t>
            </a:r>
            <a:r>
              <a:rPr lang="en-US" altLang="en-US" sz="1800" dirty="0"/>
              <a:t>can create a</a:t>
            </a:r>
            <a:r>
              <a:rPr lang="en-US" altLang="en-US" sz="1800" b="1" dirty="0">
                <a:solidFill>
                  <a:srgbClr val="3366FF"/>
                </a:solidFill>
              </a:rPr>
              <a:t> hash map</a:t>
            </a:r>
          </a:p>
          <a:p>
            <a:endParaRPr lang="en-US" altLang="en-US" sz="1800" b="1" i="1" dirty="0">
              <a:solidFill>
                <a:srgbClr val="3366FF"/>
              </a:solidFill>
            </a:endParaRPr>
          </a:p>
          <a:p>
            <a:endParaRPr lang="en-US" altLang="en-US" sz="1800" b="1" i="1" dirty="0">
              <a:solidFill>
                <a:srgbClr val="3366FF"/>
              </a:solidFill>
            </a:endParaRPr>
          </a:p>
          <a:p>
            <a:endParaRPr lang="en-US" altLang="en-US" sz="1800" b="1" i="1" dirty="0">
              <a:solidFill>
                <a:srgbClr val="3366FF"/>
              </a:solidFill>
            </a:endParaRPr>
          </a:p>
          <a:p>
            <a:endParaRPr lang="en-US" altLang="en-US" sz="1800" b="1" i="1" dirty="0">
              <a:solidFill>
                <a:srgbClr val="3366FF"/>
              </a:solidFill>
            </a:endParaRPr>
          </a:p>
          <a:p>
            <a:endParaRPr lang="en-US" altLang="en-US" sz="1800" b="1" i="1" dirty="0">
              <a:solidFill>
                <a:srgbClr val="3366FF"/>
              </a:solidFill>
            </a:endParaRPr>
          </a:p>
          <a:p>
            <a:endParaRPr lang="en-US" altLang="en-US" sz="1800" b="1" i="1" dirty="0">
              <a:solidFill>
                <a:srgbClr val="3366FF"/>
              </a:solidFill>
            </a:endParaRPr>
          </a:p>
          <a:p>
            <a:pPr>
              <a:buFont typeface="Monotype Sorts" pitchFamily="-84" charset="2"/>
              <a:buNone/>
            </a:pPr>
            <a:endParaRPr lang="en-US" altLang="en-US" sz="1800" b="1" i="1" dirty="0">
              <a:solidFill>
                <a:srgbClr val="3366FF"/>
              </a:solidFill>
            </a:endParaRPr>
          </a:p>
          <a:p>
            <a:pPr>
              <a:buFont typeface="Monotype Sorts" pitchFamily="-84" charset="2"/>
              <a:buNone/>
            </a:pPr>
            <a:endParaRPr lang="en-US" altLang="en-US" sz="1800" b="1" i="1" dirty="0">
              <a:solidFill>
                <a:srgbClr val="3366FF"/>
              </a:solidFill>
            </a:endParaRPr>
          </a:p>
          <a:p>
            <a:r>
              <a:rPr lang="en-US" altLang="en-US" sz="2000" b="1" dirty="0">
                <a:solidFill>
                  <a:srgbClr val="3366FF"/>
                </a:solidFill>
              </a:rPr>
              <a:t>Bitmap</a:t>
            </a:r>
            <a:r>
              <a:rPr lang="en-US" altLang="en-US" sz="2000" dirty="0"/>
              <a:t> – string of </a:t>
            </a:r>
            <a:r>
              <a:rPr lang="en-US" altLang="en-US" sz="2000" i="1" dirty="0"/>
              <a:t>n</a:t>
            </a:r>
            <a:r>
              <a:rPr lang="en-US" altLang="en-US" sz="2000" dirty="0"/>
              <a:t> binary digits representing the status of </a:t>
            </a:r>
            <a:r>
              <a:rPr lang="en-US" altLang="en-US" sz="2000" i="1" dirty="0"/>
              <a:t>n</a:t>
            </a:r>
            <a:r>
              <a:rPr lang="en-US" altLang="en-US" sz="2000" dirty="0"/>
              <a:t> items</a:t>
            </a:r>
          </a:p>
          <a:p>
            <a:r>
              <a:rPr lang="en-US" altLang="en-US" sz="2000" dirty="0"/>
              <a:t>Linux data structures defined in </a:t>
            </a:r>
            <a:r>
              <a:rPr lang="en-US" altLang="en-US" sz="2000" b="1" i="1" dirty="0"/>
              <a:t>include</a:t>
            </a:r>
            <a:r>
              <a:rPr lang="en-US" altLang="en-US" sz="2000" dirty="0"/>
              <a:t> files </a:t>
            </a:r>
            <a:r>
              <a:rPr lang="en-US" altLang="en-US" sz="2000" dirty="0">
                <a:latin typeface="Courier New" panose="02070309020205020404" pitchFamily="49" charset="0"/>
                <a:cs typeface="Courier New" panose="02070309020205020404" pitchFamily="49" charset="0"/>
              </a:rPr>
              <a:t>&lt;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list.h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kfifo.h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rbtree.h</a:t>
            </a:r>
            <a:r>
              <a:rPr lang="en-US" altLang="en-US" sz="2000" dirty="0">
                <a:latin typeface="Courier New" panose="02070309020205020404" pitchFamily="49" charset="0"/>
                <a:cs typeface="Courier New" panose="02070309020205020404" pitchFamily="49" charset="0"/>
              </a:rPr>
              <a:t>&gt;</a:t>
            </a:r>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pPr>
              <a:buFont typeface="Monotype Sorts" pitchFamily="-84" charset="2"/>
              <a:buNone/>
            </a:pPr>
            <a:endParaRPr lang="en-US" altLang="en-US" dirty="0"/>
          </a:p>
          <a:p>
            <a:endParaRPr lang="en-US" altLang="en-US" dirty="0"/>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26390" y="1762919"/>
            <a:ext cx="6647558" cy="2676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12475</TotalTime>
  <Words>3861</Words>
  <Application>Microsoft Office PowerPoint</Application>
  <PresentationFormat>Widescreen</PresentationFormat>
  <Paragraphs>510</Paragraphs>
  <Slides>72</Slides>
  <Notes>66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72</vt:i4>
      </vt:variant>
    </vt:vector>
  </HeadingPairs>
  <TitlesOfParts>
    <vt:vector size="83" baseType="lpstr">
      <vt:lpstr>Aptos</vt:lpstr>
      <vt:lpstr>Arial</vt:lpstr>
      <vt:lpstr>Book Antiqua</vt:lpstr>
      <vt:lpstr>Courier New</vt:lpstr>
      <vt:lpstr>Helvetica</vt:lpstr>
      <vt:lpstr>Monotype Sorts</vt:lpstr>
      <vt:lpstr>Times New Roman</vt:lpstr>
      <vt:lpstr>Verdana</vt:lpstr>
      <vt:lpstr>Webdings</vt:lpstr>
      <vt:lpstr>Wingdings</vt:lpstr>
      <vt:lpstr>os-8</vt:lpstr>
      <vt:lpstr>CS2006 – Operating Systems Instructor: Dr. Usman Ali Shah FAST-NUCES, Peshawar Spring 2026   Slide Set 1</vt:lpstr>
      <vt:lpstr>The Teacher</vt:lpstr>
      <vt:lpstr>Other Teachers</vt:lpstr>
      <vt:lpstr>The Course</vt:lpstr>
      <vt:lpstr>The Course</vt:lpstr>
      <vt:lpstr>The Course</vt:lpstr>
      <vt:lpstr>The Course</vt:lpstr>
      <vt:lpstr>The Course</vt:lpstr>
      <vt:lpstr>Google Classroom</vt:lpstr>
      <vt:lpstr>Chapter 1:  Introduction</vt:lpstr>
      <vt:lpstr>Chapter 1: Introduction</vt:lpstr>
      <vt:lpstr>Objectives</vt:lpstr>
      <vt:lpstr>What is an Operating System?</vt:lpstr>
      <vt:lpstr>Computer System Structure</vt:lpstr>
      <vt:lpstr>Abstract View of Components of Computer</vt:lpstr>
      <vt:lpstr>What Operating Systems Do</vt:lpstr>
      <vt:lpstr>What Operating Systems Do</vt:lpstr>
      <vt:lpstr>Defining Operating Systems</vt:lpstr>
      <vt:lpstr>Operating System Definition</vt:lpstr>
      <vt:lpstr>PowerPoint Presentation</vt:lpstr>
      <vt:lpstr>Computer System Organization</vt:lpstr>
      <vt:lpstr>Computer-System Operation</vt:lpstr>
      <vt:lpstr>Interrupt-Driven I/O Operation</vt:lpstr>
      <vt:lpstr>Common Functions of Interrupts</vt:lpstr>
      <vt:lpstr>Interrupt Timeline</vt:lpstr>
      <vt:lpstr>Interrupt Handling</vt:lpstr>
      <vt:lpstr>Interrupt-drive I/O Cycle</vt:lpstr>
      <vt:lpstr>I/O Structure</vt:lpstr>
      <vt:lpstr>I/O Structure (Cont.)</vt:lpstr>
      <vt:lpstr>Computer Startup</vt:lpstr>
      <vt:lpstr>PowerPoint Presentation</vt:lpstr>
      <vt:lpstr>Storage Structure</vt:lpstr>
      <vt:lpstr>Storage Structure (Cont.)</vt:lpstr>
      <vt:lpstr>Storage Definitions and Notation Review</vt:lpstr>
      <vt:lpstr>Storage Hierarchy</vt:lpstr>
      <vt:lpstr>Storage-Device Hierarchy</vt:lpstr>
      <vt:lpstr>Direct Memory Access Structure</vt:lpstr>
      <vt:lpstr>How a Modern Computer Works</vt:lpstr>
      <vt:lpstr>PowerPoint Presentation</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PowerPoint Presentation</vt:lpstr>
      <vt:lpstr>Process Management</vt:lpstr>
      <vt:lpstr>Process Management</vt:lpstr>
      <vt:lpstr>Process Management Activities</vt:lpstr>
      <vt:lpstr>Memory Management</vt:lpstr>
      <vt:lpstr>Memory Management</vt:lpstr>
      <vt:lpstr>File-system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Distributed Systems</vt:lpstr>
      <vt:lpstr>PowerPoint Presentation</vt:lpstr>
      <vt:lpstr>Computer-System Architecture</vt:lpstr>
      <vt:lpstr>Symmetric Multiprocessing Architecture</vt:lpstr>
      <vt:lpstr>Dual-Core Design</vt:lpstr>
      <vt:lpstr>Clustered Systems</vt:lpstr>
      <vt:lpstr>Clustered Systems</vt:lpstr>
      <vt:lpstr>Kernel Data Structure</vt:lpstr>
      <vt:lpstr>Kernel Data Structures</vt:lpstr>
      <vt:lpstr>Kernel Data Structures</vt:lpstr>
      <vt:lpstr>Kernel Data Structures</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Usman Ali Shah</cp:lastModifiedBy>
  <cp:revision>300</cp:revision>
  <cp:lastPrinted>2001-06-14T13:58:17Z</cp:lastPrinted>
  <dcterms:created xsi:type="dcterms:W3CDTF">2011-01-13T23:43:38Z</dcterms:created>
  <dcterms:modified xsi:type="dcterms:W3CDTF">2026-01-18T05:01:11Z</dcterms:modified>
</cp:coreProperties>
</file>