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21"/>
  </p:notesMasterIdLst>
  <p:sldIdLst>
    <p:sldId id="506" r:id="rId2"/>
    <p:sldId id="507" r:id="rId3"/>
    <p:sldId id="508" r:id="rId4"/>
    <p:sldId id="509" r:id="rId5"/>
    <p:sldId id="510" r:id="rId6"/>
    <p:sldId id="511" r:id="rId7"/>
    <p:sldId id="512" r:id="rId8"/>
    <p:sldId id="513" r:id="rId9"/>
    <p:sldId id="514" r:id="rId10"/>
    <p:sldId id="515" r:id="rId11"/>
    <p:sldId id="516" r:id="rId12"/>
    <p:sldId id="520" r:id="rId13"/>
    <p:sldId id="517" r:id="rId14"/>
    <p:sldId id="518" r:id="rId15"/>
    <p:sldId id="473" r:id="rId16"/>
    <p:sldId id="519" r:id="rId17"/>
    <p:sldId id="475" r:id="rId18"/>
    <p:sldId id="477" r:id="rId19"/>
    <p:sldId id="493" r:id="rId20"/>
  </p:sldIdLst>
  <p:sldSz cx="9144000" cy="6858000" type="screen4x3"/>
  <p:notesSz cx="7315200" cy="9601200"/>
  <p:defaultTextStyle>
    <a:defPPr>
      <a:defRPr lang="en-US"/>
    </a:defPPr>
    <a:lvl1pPr marL="0" algn="l" defTabSz="9143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6" algn="l" defTabSz="9143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1" algn="l" defTabSz="9143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27" algn="l" defTabSz="9143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3" algn="l" defTabSz="9143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78" algn="l" defTabSz="9143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54" algn="l" defTabSz="9143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31" algn="l" defTabSz="9143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06" algn="l" defTabSz="9143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1A39881-8B82-4742-9F9B-6C23D446555D}">
          <p14:sldIdLst>
            <p14:sldId id="506"/>
            <p14:sldId id="507"/>
            <p14:sldId id="508"/>
            <p14:sldId id="509"/>
            <p14:sldId id="510"/>
            <p14:sldId id="511"/>
            <p14:sldId id="512"/>
            <p14:sldId id="513"/>
            <p14:sldId id="514"/>
            <p14:sldId id="515"/>
            <p14:sldId id="516"/>
            <p14:sldId id="520"/>
            <p14:sldId id="517"/>
            <p14:sldId id="518"/>
            <p14:sldId id="473"/>
            <p14:sldId id="519"/>
            <p14:sldId id="475"/>
            <p14:sldId id="477"/>
            <p14:sldId id="4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man Ali Shah" initials="UAS" lastIdx="1" clrIdx="0">
    <p:extLst>
      <p:ext uri="{19B8F6BF-5375-455C-9EA6-DF929625EA0E}">
        <p15:presenceInfo xmlns:p15="http://schemas.microsoft.com/office/powerpoint/2012/main" userId="Usman Ali Sha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362" autoAdjust="0"/>
  </p:normalViewPr>
  <p:slideViewPr>
    <p:cSldViewPr>
      <p:cViewPr varScale="1">
        <p:scale>
          <a:sx n="60" d="100"/>
          <a:sy n="60" d="100"/>
        </p:scale>
        <p:origin x="1668" y="72"/>
      </p:cViewPr>
      <p:guideLst>
        <p:guide orient="horz" pos="216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8"/>
            <a:ext cx="3169920" cy="481727"/>
          </a:xfrm>
          <a:prstGeom prst="rect">
            <a:avLst/>
          </a:prstGeom>
        </p:spPr>
        <p:txBody>
          <a:bodyPr vert="horz" lIns="96548" tIns="48276" rIns="96548" bIns="4827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0" y="8"/>
            <a:ext cx="3169920" cy="481727"/>
          </a:xfrm>
          <a:prstGeom prst="rect">
            <a:avLst/>
          </a:prstGeom>
        </p:spPr>
        <p:txBody>
          <a:bodyPr vert="horz" lIns="96548" tIns="48276" rIns="96548" bIns="48276" rtlCol="0"/>
          <a:lstStyle>
            <a:lvl1pPr algn="r">
              <a:defRPr sz="1300"/>
            </a:lvl1pPr>
          </a:lstStyle>
          <a:p>
            <a:fld id="{454032CB-2987-4BC3-93D6-ED877F581AB5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8600" y="1201738"/>
            <a:ext cx="4318000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48" tIns="48276" rIns="96548" bIns="4827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620583"/>
            <a:ext cx="5852160" cy="3780473"/>
          </a:xfrm>
          <a:prstGeom prst="rect">
            <a:avLst/>
          </a:prstGeom>
        </p:spPr>
        <p:txBody>
          <a:bodyPr vert="horz" lIns="96548" tIns="48276" rIns="96548" bIns="4827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83"/>
            <a:ext cx="3169920" cy="481726"/>
          </a:xfrm>
          <a:prstGeom prst="rect">
            <a:avLst/>
          </a:prstGeom>
        </p:spPr>
        <p:txBody>
          <a:bodyPr vert="horz" lIns="96548" tIns="48276" rIns="96548" bIns="4827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0" y="9119483"/>
            <a:ext cx="3169920" cy="481726"/>
          </a:xfrm>
          <a:prstGeom prst="rect">
            <a:avLst/>
          </a:prstGeom>
        </p:spPr>
        <p:txBody>
          <a:bodyPr vert="horz" lIns="96548" tIns="48276" rIns="96548" bIns="48276" rtlCol="0" anchor="b"/>
          <a:lstStyle>
            <a:lvl1pPr algn="r">
              <a:defRPr sz="1300"/>
            </a:lvl1pPr>
          </a:lstStyle>
          <a:p>
            <a:fld id="{5369F37A-86A5-4AB7-BE40-57788AC08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8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6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1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27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3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78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54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31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06" algn="l" defTabSz="9143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8"/>
            <a:ext cx="7848600" cy="1927225"/>
          </a:xfrm>
        </p:spPr>
        <p:txBody>
          <a:bodyPr anchor="b">
            <a:noAutofit/>
          </a:bodyPr>
          <a:lstStyle>
            <a:lvl1pPr>
              <a:defRPr sz="5401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5DF4F-0CFE-48A5-BCAB-9F110EBC20DA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1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86C3-8CAB-4053-B332-E358CE2AC654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29000" y="18289"/>
            <a:ext cx="2590800" cy="32918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88936" y="-1"/>
            <a:ext cx="1066800" cy="329184"/>
          </a:xfrm>
        </p:spPr>
        <p:txBody>
          <a:bodyPr/>
          <a:lstStyle>
            <a:lvl1pPr algn="r">
              <a:defRPr b="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45457ED-696A-46D6-89F3-EE0304072C82}"/>
              </a:ext>
            </a:extLst>
          </p:cNvPr>
          <p:cNvSpPr txBox="1">
            <a:spLocks/>
          </p:cNvSpPr>
          <p:nvPr userDrawn="1"/>
        </p:nvSpPr>
        <p:spPr>
          <a:xfrm>
            <a:off x="8458200" y="-1"/>
            <a:ext cx="685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dirty="0"/>
              <a:t>of  19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2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9"/>
            <a:ext cx="7772400" cy="1500188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1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3pPr>
            <a:lvl4pPr marL="13716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7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8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9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59FB8-5E00-41B0-83FE-8E40EB69F19B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3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03F97-6E29-4B4D-B41F-63C0BCD127E9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88936" y="1"/>
            <a:ext cx="1066800" cy="329184"/>
          </a:xfrm>
        </p:spPr>
        <p:txBody>
          <a:bodyPr/>
          <a:lstStyle>
            <a:lvl1pPr algn="r">
              <a:defRPr b="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D9E7FE-D960-49DA-B53D-BA9497B42D5A}"/>
              </a:ext>
            </a:extLst>
          </p:cNvPr>
          <p:cNvSpPr txBox="1"/>
          <p:nvPr userDrawn="1"/>
        </p:nvSpPr>
        <p:spPr>
          <a:xfrm>
            <a:off x="8458208" y="17422"/>
            <a:ext cx="681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of  53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2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13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6" indent="0">
              <a:buNone/>
              <a:defRPr sz="1601" b="1"/>
            </a:lvl4pPr>
            <a:lvl5pPr marL="1828846" indent="0">
              <a:buNone/>
              <a:defRPr sz="1601" b="1"/>
            </a:lvl5pPr>
            <a:lvl6pPr marL="2286060" indent="0">
              <a:buNone/>
              <a:defRPr sz="1601" b="1"/>
            </a:lvl6pPr>
            <a:lvl7pPr marL="2743270" indent="0">
              <a:buNone/>
              <a:defRPr sz="1601" b="1"/>
            </a:lvl7pPr>
            <a:lvl8pPr marL="3200482" indent="0">
              <a:buNone/>
              <a:defRPr sz="1601" b="1"/>
            </a:lvl8pPr>
            <a:lvl9pPr marL="3657694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3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1"/>
            </a:lvl4pPr>
            <a:lvl5pPr>
              <a:defRPr sz="1601"/>
            </a:lvl5pPr>
            <a:lvl6pPr>
              <a:defRPr sz="1601"/>
            </a:lvl6pPr>
            <a:lvl7pPr>
              <a:defRPr sz="1601"/>
            </a:lvl7pPr>
            <a:lvl8pPr>
              <a:defRPr sz="1601"/>
            </a:lvl8pPr>
            <a:lvl9pPr>
              <a:defRPr sz="16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2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13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6" indent="0">
              <a:buNone/>
              <a:defRPr sz="1601" b="1"/>
            </a:lvl4pPr>
            <a:lvl5pPr marL="1828846" indent="0">
              <a:buNone/>
              <a:defRPr sz="1601" b="1"/>
            </a:lvl5pPr>
            <a:lvl6pPr marL="2286060" indent="0">
              <a:buNone/>
              <a:defRPr sz="1601" b="1"/>
            </a:lvl6pPr>
            <a:lvl7pPr marL="2743270" indent="0">
              <a:buNone/>
              <a:defRPr sz="1601" b="1"/>
            </a:lvl7pPr>
            <a:lvl8pPr marL="3200482" indent="0">
              <a:buNone/>
              <a:defRPr sz="1601" b="1"/>
            </a:lvl8pPr>
            <a:lvl9pPr marL="3657694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3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1"/>
            </a:lvl4pPr>
            <a:lvl5pPr>
              <a:defRPr sz="1601"/>
            </a:lvl5pPr>
            <a:lvl6pPr>
              <a:defRPr sz="1601"/>
            </a:lvl6pPr>
            <a:lvl7pPr>
              <a:defRPr sz="1601"/>
            </a:lvl7pPr>
            <a:lvl8pPr>
              <a:defRPr sz="1601"/>
            </a:lvl8pPr>
            <a:lvl9pPr>
              <a:defRPr sz="16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C998A-C473-4C5C-BA85-160178DC86F1}" type="datetime1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20" y="4045825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A7F7E-09C3-44BD-BA72-029763F595AA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0E758-BFBD-4B18-9FAC-735380A40A6E}" type="datetime1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792082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6" y="2130560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13" indent="0">
              <a:buNone/>
              <a:defRPr sz="1199"/>
            </a:lvl2pPr>
            <a:lvl3pPr marL="914423" indent="0">
              <a:buNone/>
              <a:defRPr sz="1000"/>
            </a:lvl3pPr>
            <a:lvl4pPr marL="1371636" indent="0">
              <a:buNone/>
              <a:defRPr sz="900"/>
            </a:lvl4pPr>
            <a:lvl5pPr marL="1828846" indent="0">
              <a:buNone/>
              <a:defRPr sz="900"/>
            </a:lvl5pPr>
            <a:lvl6pPr marL="2286060" indent="0">
              <a:buNone/>
              <a:defRPr sz="900"/>
            </a:lvl6pPr>
            <a:lvl7pPr marL="2743270" indent="0">
              <a:buNone/>
              <a:defRPr sz="900"/>
            </a:lvl7pPr>
            <a:lvl8pPr marL="3200482" indent="0">
              <a:buNone/>
              <a:defRPr sz="900"/>
            </a:lvl8pPr>
            <a:lvl9pPr marL="365769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65C5B-4C3B-457F-96FC-6BFF1161D57B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11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1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5" y="838205"/>
            <a:ext cx="5904391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13" indent="0">
              <a:buNone/>
              <a:defRPr sz="2800"/>
            </a:lvl2pPr>
            <a:lvl3pPr marL="914423" indent="0">
              <a:buNone/>
              <a:defRPr sz="2400"/>
            </a:lvl3pPr>
            <a:lvl4pPr marL="1371636" indent="0">
              <a:buNone/>
              <a:defRPr sz="2000"/>
            </a:lvl4pPr>
            <a:lvl5pPr marL="1828846" indent="0">
              <a:buNone/>
              <a:defRPr sz="2000"/>
            </a:lvl5pPr>
            <a:lvl6pPr marL="2286060" indent="0">
              <a:buNone/>
              <a:defRPr sz="2000"/>
            </a:lvl6pPr>
            <a:lvl7pPr marL="2743270" indent="0">
              <a:buNone/>
              <a:defRPr sz="2000"/>
            </a:lvl7pPr>
            <a:lvl8pPr marL="3200482" indent="0">
              <a:buNone/>
              <a:defRPr sz="2000"/>
            </a:lvl8pPr>
            <a:lvl9pPr marL="3657694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13" indent="0">
              <a:buNone/>
              <a:defRPr sz="1199"/>
            </a:lvl2pPr>
            <a:lvl3pPr marL="914423" indent="0">
              <a:buNone/>
              <a:defRPr sz="1000"/>
            </a:lvl3pPr>
            <a:lvl4pPr marL="1371636" indent="0">
              <a:buNone/>
              <a:defRPr sz="900"/>
            </a:lvl4pPr>
            <a:lvl5pPr marL="1828846" indent="0">
              <a:buNone/>
              <a:defRPr sz="900"/>
            </a:lvl5pPr>
            <a:lvl6pPr marL="2286060" indent="0">
              <a:buNone/>
              <a:defRPr sz="900"/>
            </a:lvl6pPr>
            <a:lvl7pPr marL="2743270" indent="0">
              <a:buNone/>
              <a:defRPr sz="900"/>
            </a:lvl7pPr>
            <a:lvl8pPr marL="3200482" indent="0">
              <a:buNone/>
              <a:defRPr sz="900"/>
            </a:lvl8pPr>
            <a:lvl9pPr marL="365769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394DF-E5A0-4197-A083-3460200152A4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F2A03-D76B-4A90-8025-DA9255E817C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62F2-82C6-42CB-9C88-68CFCB53D875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8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2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9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9">
                <a:solidFill>
                  <a:srgbClr val="FFFFFF"/>
                </a:solidFill>
              </a:defRPr>
            </a:lvl1pPr>
          </a:lstStyle>
          <a:p>
            <a:fld id="{90D1580B-87BB-4B0E-A5C0-86C4F2C07895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9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9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9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23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5" indent="-182885" algn="l" defTabSz="914423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3" indent="-182885" algn="l" defTabSz="914423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37" indent="-182885" algn="l" defTabSz="914423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64" indent="-182885" algn="l" defTabSz="914423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1" kern="1200">
          <a:solidFill>
            <a:schemeClr val="tx1"/>
          </a:solidFill>
          <a:latin typeface="+mn-lt"/>
          <a:ea typeface="+mn-ea"/>
          <a:cs typeface="+mn-cs"/>
        </a:defRPr>
      </a:lvl4pPr>
      <a:lvl5pPr marL="1188749" indent="-137162" algn="l" defTabSz="914423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36" indent="-182885" algn="l" defTabSz="914423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519" indent="-182885" algn="l" defTabSz="914423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404" indent="-182885" algn="l" defTabSz="914423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89" indent="-182885" algn="l" defTabSz="914423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6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7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Memory management – UNOFFICIAL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Storing processes in main memory</a:t>
            </a:r>
          </a:p>
        </p:txBody>
      </p:sp>
    </p:spTree>
    <p:extLst>
      <p:ext uri="{BB962C8B-B14F-4D97-AF65-F5344CB8AC3E}">
        <p14:creationId xmlns:p14="http://schemas.microsoft.com/office/powerpoint/2010/main" val="1024455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/>
          <a:lstStyle/>
          <a:p>
            <a:r>
              <a:rPr lang="en-US" dirty="0"/>
              <a:t>Memory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/>
              <a:t>To take advantage of multiprogramming and multitasking, a continuous supply of ready processes is needed</a:t>
            </a:r>
          </a:p>
          <a:p>
            <a:r>
              <a:rPr lang="en-US" dirty="0"/>
              <a:t>Memory management is required to</a:t>
            </a:r>
          </a:p>
          <a:p>
            <a:pPr lvl="1"/>
            <a:r>
              <a:rPr lang="en-US" dirty="0"/>
              <a:t>Ensure a smooth </a:t>
            </a:r>
            <a:r>
              <a:rPr lang="en-US" b="1" i="1" dirty="0"/>
              <a:t>movement</a:t>
            </a:r>
            <a:r>
              <a:rPr lang="en-US" dirty="0"/>
              <a:t> of processes from secondary storage to main memory</a:t>
            </a:r>
          </a:p>
          <a:p>
            <a:pPr lvl="1"/>
            <a:r>
              <a:rPr lang="en-US" b="1" i="1" dirty="0"/>
              <a:t>Sharing</a:t>
            </a:r>
            <a:r>
              <a:rPr lang="en-US" dirty="0"/>
              <a:t> of main memory among multiple processes in a systematic way</a:t>
            </a:r>
          </a:p>
          <a:p>
            <a:pPr lvl="1"/>
            <a:r>
              <a:rPr lang="en-US" b="1" i="1" dirty="0"/>
              <a:t>Efficient</a:t>
            </a:r>
            <a:r>
              <a:rPr lang="en-US" dirty="0"/>
              <a:t> memory access for processes running on CPU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939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/>
          <a:lstStyle/>
          <a:p>
            <a:r>
              <a:rPr lang="en-US" dirty="0"/>
              <a:t>Memory Management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/>
              <a:t>Sharing</a:t>
            </a:r>
          </a:p>
          <a:p>
            <a:r>
              <a:rPr lang="en-US" dirty="0"/>
              <a:t>Protection</a:t>
            </a:r>
          </a:p>
          <a:p>
            <a:r>
              <a:rPr lang="en-US" dirty="0"/>
              <a:t>Logical Addressing</a:t>
            </a:r>
          </a:p>
          <a:p>
            <a:r>
              <a:rPr lang="en-US" dirty="0"/>
              <a:t>Physical Addressing</a:t>
            </a:r>
          </a:p>
          <a:p>
            <a:r>
              <a:rPr lang="en-US" dirty="0"/>
              <a:t>Relocation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176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/>
          <a:lstStyle/>
          <a:p>
            <a:r>
              <a:rPr lang="en-US" dirty="0"/>
              <a:t>Memory Management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r>
              <a:rPr lang="en-US" b="1" i="1" dirty="0"/>
              <a:t>Sharing</a:t>
            </a:r>
          </a:p>
          <a:p>
            <a:pPr lvl="1"/>
            <a:r>
              <a:rPr lang="en-US" dirty="0"/>
              <a:t>Processes should be allowed to use each other’s data legally through IPC</a:t>
            </a:r>
          </a:p>
          <a:p>
            <a:r>
              <a:rPr lang="en-US" b="1" dirty="0"/>
              <a:t>Protection</a:t>
            </a:r>
          </a:p>
          <a:p>
            <a:pPr lvl="1"/>
            <a:r>
              <a:rPr lang="en-US" dirty="0"/>
              <a:t>Processes should not be allowed to use each other’s data without proper permissions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234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/>
          <a:lstStyle/>
          <a:p>
            <a:r>
              <a:rPr lang="en-US" dirty="0"/>
              <a:t>Memory Management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r>
              <a:rPr lang="en-US" b="1" i="1" dirty="0"/>
              <a:t>Logical Addressing</a:t>
            </a:r>
          </a:p>
          <a:p>
            <a:pPr lvl="1"/>
            <a:r>
              <a:rPr lang="en-US" dirty="0"/>
              <a:t>Logical addresses are used by the CPU during the execution of a process</a:t>
            </a:r>
          </a:p>
          <a:p>
            <a:pPr lvl="1"/>
            <a:r>
              <a:rPr lang="en-US" dirty="0"/>
              <a:t>They are relative to the beginning of a process in memory</a:t>
            </a:r>
          </a:p>
          <a:p>
            <a:r>
              <a:rPr lang="en-US" b="1" i="1" dirty="0"/>
              <a:t>Physical Addressing</a:t>
            </a:r>
          </a:p>
          <a:p>
            <a:pPr lvl="1"/>
            <a:r>
              <a:rPr lang="en-US" dirty="0"/>
              <a:t>Physical addresses are actual / absolute addresses relative to the beginning of the main memory</a:t>
            </a:r>
          </a:p>
          <a:p>
            <a:pPr lvl="1"/>
            <a:r>
              <a:rPr lang="en-US" dirty="0"/>
              <a:t>Main memory requires these addresses to access different parts of a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123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/>
          <a:lstStyle/>
          <a:p>
            <a:r>
              <a:rPr lang="en-US" dirty="0"/>
              <a:t>Memory Management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4876800"/>
          </a:xfrm>
        </p:spPr>
        <p:txBody>
          <a:bodyPr>
            <a:normAutofit/>
          </a:bodyPr>
          <a:lstStyle/>
          <a:p>
            <a:r>
              <a:rPr lang="en-US" b="1" i="1" dirty="0"/>
              <a:t>Relocation</a:t>
            </a:r>
          </a:p>
          <a:p>
            <a:pPr lvl="1"/>
            <a:r>
              <a:rPr lang="en-US" dirty="0"/>
              <a:t>Translation of logical addresses into physical addresses</a:t>
            </a:r>
          </a:p>
          <a:p>
            <a:pPr lvl="1"/>
            <a:r>
              <a:rPr lang="en-US" dirty="0"/>
              <a:t>In simple terms,</a:t>
            </a:r>
          </a:p>
          <a:p>
            <a:pPr lvl="2"/>
            <a:r>
              <a:rPr lang="en-US" b="1" i="1" dirty="0"/>
              <a:t>physical address = Logical address + base register</a:t>
            </a:r>
          </a:p>
          <a:p>
            <a:pPr lvl="1"/>
            <a:r>
              <a:rPr lang="en-US" dirty="0"/>
              <a:t>Base register holds the starting physical address of a process in main memory</a:t>
            </a:r>
          </a:p>
          <a:p>
            <a:pPr lvl="1"/>
            <a:r>
              <a:rPr lang="en-US" dirty="0"/>
              <a:t>The process of relocation is performed by the </a:t>
            </a:r>
            <a:r>
              <a:rPr lang="en-US" b="1" i="1" dirty="0"/>
              <a:t>memory management unit (MMU)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4038600"/>
            <a:ext cx="5270496" cy="269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959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/>
          <a:lstStyle/>
          <a:p>
            <a:r>
              <a:rPr lang="en-US" dirty="0"/>
              <a:t>Types Memory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9144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Contiguous Allocation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Non-Contiguous Allocation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62200"/>
            <a:ext cx="7543800" cy="367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010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/>
          <a:lstStyle/>
          <a:p>
            <a:r>
              <a:rPr lang="en-US" dirty="0"/>
              <a:t>1. Contiguous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2971800"/>
          </a:xfrm>
        </p:spPr>
        <p:txBody>
          <a:bodyPr>
            <a:normAutofit/>
          </a:bodyPr>
          <a:lstStyle/>
          <a:p>
            <a:r>
              <a:rPr lang="en-US" dirty="0"/>
              <a:t>Each process is stored together in contiguous memory locations</a:t>
            </a:r>
          </a:p>
          <a:p>
            <a:r>
              <a:rPr lang="en-US" dirty="0"/>
              <a:t>Used in old operating systems during the early days of computers</a:t>
            </a:r>
          </a:p>
          <a:p>
            <a:r>
              <a:rPr lang="en-US" dirty="0"/>
              <a:t>Types:</a:t>
            </a:r>
          </a:p>
          <a:p>
            <a:pPr lvl="1"/>
            <a:r>
              <a:rPr lang="en-US" b="1" i="1" dirty="0"/>
              <a:t>1A</a:t>
            </a:r>
            <a:r>
              <a:rPr lang="en-US" dirty="0"/>
              <a:t>. Fixed Partitioning</a:t>
            </a:r>
          </a:p>
          <a:p>
            <a:pPr lvl="1"/>
            <a:r>
              <a:rPr lang="en-US" b="1" i="1" dirty="0"/>
              <a:t>1B</a:t>
            </a:r>
            <a:r>
              <a:rPr lang="en-US" dirty="0"/>
              <a:t>. Dynamic Partitioning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399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/>
          <a:lstStyle/>
          <a:p>
            <a:r>
              <a:rPr lang="en-US" dirty="0"/>
              <a:t>1A. Fixed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4876800"/>
          </a:xfrm>
        </p:spPr>
        <p:txBody>
          <a:bodyPr>
            <a:normAutofit/>
          </a:bodyPr>
          <a:lstStyle/>
          <a:p>
            <a:r>
              <a:rPr lang="en-US" dirty="0"/>
              <a:t>Main memory is divided into fixed size partitions</a:t>
            </a:r>
          </a:p>
          <a:p>
            <a:r>
              <a:rPr lang="en-US" dirty="0"/>
              <a:t>A whole process must be kept in single partition</a:t>
            </a:r>
          </a:p>
          <a:p>
            <a:pPr lvl="1"/>
            <a:r>
              <a:rPr lang="en-US" dirty="0"/>
              <a:t>What if the process is bigger than available partitions?</a:t>
            </a:r>
          </a:p>
          <a:p>
            <a:pPr lvl="1"/>
            <a:r>
              <a:rPr lang="en-US" dirty="0"/>
              <a:t>Solution: Use </a:t>
            </a:r>
            <a:r>
              <a:rPr lang="en-US" b="1" i="1" dirty="0"/>
              <a:t>overlays</a:t>
            </a:r>
          </a:p>
          <a:p>
            <a:r>
              <a:rPr lang="en-US" dirty="0"/>
              <a:t>Suffers from </a:t>
            </a:r>
            <a:r>
              <a:rPr lang="en-US" b="1" i="1" dirty="0"/>
              <a:t>internal fragmentation</a:t>
            </a:r>
          </a:p>
          <a:p>
            <a:r>
              <a:rPr lang="en-US" b="1" i="1" dirty="0"/>
              <a:t>Types:</a:t>
            </a:r>
          </a:p>
          <a:p>
            <a:pPr lvl="1"/>
            <a:r>
              <a:rPr lang="en-US" b="1" i="1" dirty="0"/>
              <a:t>Equal-Length Partitioning:</a:t>
            </a:r>
          </a:p>
          <a:p>
            <a:pPr lvl="2"/>
            <a:r>
              <a:rPr lang="en-US" dirty="0"/>
              <a:t>All the partitions are of the same length</a:t>
            </a:r>
          </a:p>
          <a:p>
            <a:pPr lvl="1"/>
            <a:r>
              <a:rPr lang="en-US" b="1" i="1" dirty="0"/>
              <a:t>Variable-Length Partitioning:</a:t>
            </a:r>
          </a:p>
          <a:p>
            <a:pPr lvl="2"/>
            <a:r>
              <a:rPr lang="en-US" dirty="0"/>
              <a:t>Partitions are of different lengths.</a:t>
            </a:r>
          </a:p>
          <a:p>
            <a:pPr lvl="2"/>
            <a:r>
              <a:rPr lang="en-US" dirty="0"/>
              <a:t>Tries to reduce internal fragmentation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036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/>
          <a:lstStyle/>
          <a:p>
            <a:r>
              <a:rPr lang="en-US" dirty="0"/>
              <a:t>Overlays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4876800"/>
          </a:xfrm>
        </p:spPr>
        <p:txBody>
          <a:bodyPr>
            <a:normAutofit/>
          </a:bodyPr>
          <a:lstStyle/>
          <a:p>
            <a:r>
              <a:rPr lang="en-US" dirty="0"/>
              <a:t>If a program is bigger than any available partition, then the </a:t>
            </a:r>
            <a:r>
              <a:rPr lang="en-US" b="1" i="1" dirty="0"/>
              <a:t>programmer</a:t>
            </a:r>
            <a:r>
              <a:rPr lang="en-US" dirty="0"/>
              <a:t> can divide a large program into </a:t>
            </a:r>
            <a:r>
              <a:rPr lang="en-US" b="1" i="1" dirty="0"/>
              <a:t>sub-parts</a:t>
            </a:r>
            <a:r>
              <a:rPr lang="en-US" dirty="0"/>
              <a:t> called overlays</a:t>
            </a:r>
          </a:p>
          <a:p>
            <a:r>
              <a:rPr lang="en-US" dirty="0"/>
              <a:t>These sub-parts can be loaded and executed one after another</a:t>
            </a:r>
          </a:p>
          <a:p>
            <a:r>
              <a:rPr lang="en-US" dirty="0"/>
              <a:t>Done by the programmer, not by the 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293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/>
          <a:lstStyle/>
          <a:p>
            <a:r>
              <a:rPr lang="en-US" dirty="0"/>
              <a:t>Internal Fragmentation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4876800"/>
          </a:xfrm>
        </p:spPr>
        <p:txBody>
          <a:bodyPr>
            <a:normAutofit/>
          </a:bodyPr>
          <a:lstStyle/>
          <a:p>
            <a:r>
              <a:rPr lang="en-US" dirty="0"/>
              <a:t>Normally, a process is smaller than the partition in which is stored</a:t>
            </a:r>
          </a:p>
          <a:p>
            <a:r>
              <a:rPr lang="en-US" dirty="0"/>
              <a:t>The remaining space in the partition cannot be allocated to any other process</a:t>
            </a:r>
          </a:p>
          <a:p>
            <a:r>
              <a:rPr lang="en-US" dirty="0"/>
              <a:t>This wasted space </a:t>
            </a:r>
            <a:r>
              <a:rPr lang="en-US" b="1" i="1" dirty="0"/>
              <a:t>inside </a:t>
            </a:r>
            <a:r>
              <a:rPr lang="en-US" dirty="0"/>
              <a:t>the partition is called internal fragmentation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634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590675"/>
            <a:ext cx="754380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16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/>
          <a:lstStyle/>
          <a:p>
            <a:r>
              <a:rPr lang="en-US" dirty="0"/>
              <a:t>1B. Dynamic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4876800"/>
          </a:xfrm>
        </p:spPr>
        <p:txBody>
          <a:bodyPr>
            <a:normAutofit/>
          </a:bodyPr>
          <a:lstStyle/>
          <a:p>
            <a:r>
              <a:rPr lang="en-US" dirty="0"/>
              <a:t>Initially, the main memory is not divided into any partitions</a:t>
            </a:r>
          </a:p>
          <a:p>
            <a:r>
              <a:rPr lang="en-US" dirty="0"/>
              <a:t>When processes enter the main memory, they are allocated as much space as they require</a:t>
            </a:r>
          </a:p>
          <a:p>
            <a:r>
              <a:rPr lang="en-US" dirty="0"/>
              <a:t>However, when processes leave the main memory, small partitions of memory become available</a:t>
            </a:r>
          </a:p>
          <a:p>
            <a:pPr lvl="1"/>
            <a:r>
              <a:rPr lang="en-US" dirty="0"/>
              <a:t>called </a:t>
            </a:r>
            <a:r>
              <a:rPr lang="en-US" b="1" i="1" dirty="0"/>
              <a:t>holes</a:t>
            </a:r>
          </a:p>
          <a:p>
            <a:r>
              <a:rPr lang="en-US" dirty="0"/>
              <a:t>Suffers from</a:t>
            </a:r>
            <a:r>
              <a:rPr lang="en-US" b="1" i="1" dirty="0"/>
              <a:t> external fragmentation</a:t>
            </a:r>
          </a:p>
          <a:p>
            <a:r>
              <a:rPr lang="en-US" dirty="0"/>
              <a:t>Which hole to select for a new process?</a:t>
            </a:r>
          </a:p>
          <a:p>
            <a:pPr lvl="1"/>
            <a:r>
              <a:rPr lang="en-US" dirty="0"/>
              <a:t>First-Fit</a:t>
            </a:r>
          </a:p>
          <a:p>
            <a:pPr lvl="1"/>
            <a:r>
              <a:rPr lang="en-US" dirty="0"/>
              <a:t>Best-Fit</a:t>
            </a:r>
          </a:p>
          <a:p>
            <a:pPr lvl="1"/>
            <a:r>
              <a:rPr lang="en-US" dirty="0"/>
              <a:t>Worst-Fit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671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/>
          <a:lstStyle/>
          <a:p>
            <a:r>
              <a:rPr lang="en-US" dirty="0"/>
              <a:t>External Fragmentation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4876800"/>
          </a:xfrm>
        </p:spPr>
        <p:txBody>
          <a:bodyPr>
            <a:normAutofit/>
          </a:bodyPr>
          <a:lstStyle/>
          <a:p>
            <a:r>
              <a:rPr lang="en-US" dirty="0"/>
              <a:t>When processes leave the main memory, holes become available</a:t>
            </a:r>
          </a:p>
          <a:p>
            <a:r>
              <a:rPr lang="en-US" dirty="0"/>
              <a:t>Even though total amount of memory exists to load a new process, but the available holes are not contiguous</a:t>
            </a:r>
          </a:p>
          <a:p>
            <a:r>
              <a:rPr lang="en-US" b="1" i="1" dirty="0"/>
              <a:t>External fragmentation 	</a:t>
            </a:r>
            <a:r>
              <a:rPr lang="en-US" dirty="0"/>
              <a:t>occurs when memory is available to load a new process, but it is not contiguous</a:t>
            </a:r>
          </a:p>
          <a:p>
            <a:r>
              <a:rPr lang="en-US" b="1" i="1" dirty="0"/>
              <a:t>Compaction:</a:t>
            </a:r>
          </a:p>
          <a:p>
            <a:pPr lvl="1"/>
            <a:r>
              <a:rPr lang="en-US" dirty="0"/>
              <a:t>Used to solve external fragmentation</a:t>
            </a:r>
          </a:p>
          <a:p>
            <a:pPr lvl="1"/>
            <a:r>
              <a:rPr lang="en-US" dirty="0"/>
              <a:t>Processes can be shifted up the memory to get one big hole </a:t>
            </a:r>
          </a:p>
          <a:p>
            <a:pPr lvl="1"/>
            <a:r>
              <a:rPr lang="en-US" dirty="0"/>
              <a:t>Time consuming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618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590675"/>
            <a:ext cx="754380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833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/>
          <a:lstStyle/>
          <a:p>
            <a:r>
              <a:rPr lang="en-US" dirty="0"/>
              <a:t>2. Non-Contiguous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001000" cy="3810000"/>
          </a:xfrm>
        </p:spPr>
        <p:txBody>
          <a:bodyPr>
            <a:normAutofit/>
          </a:bodyPr>
          <a:lstStyle/>
          <a:p>
            <a:r>
              <a:rPr lang="en-US" dirty="0"/>
              <a:t>Processes can be </a:t>
            </a:r>
            <a:r>
              <a:rPr lang="en-US" b="1" i="1" dirty="0"/>
              <a:t>scattered</a:t>
            </a:r>
            <a:r>
              <a:rPr lang="en-US" dirty="0"/>
              <a:t> throughout the main memory and virtual memory</a:t>
            </a:r>
          </a:p>
          <a:p>
            <a:r>
              <a:rPr lang="en-US" dirty="0"/>
              <a:t>Used in modern operating systems</a:t>
            </a:r>
          </a:p>
          <a:p>
            <a:r>
              <a:rPr lang="en-US" dirty="0"/>
              <a:t>Two main types:</a:t>
            </a:r>
          </a:p>
          <a:p>
            <a:pPr lvl="1"/>
            <a:r>
              <a:rPr lang="en-US" b="1" i="1" dirty="0"/>
              <a:t>2A</a:t>
            </a:r>
            <a:r>
              <a:rPr lang="en-US" dirty="0"/>
              <a:t>. Paging</a:t>
            </a:r>
          </a:p>
          <a:p>
            <a:pPr lvl="1"/>
            <a:r>
              <a:rPr lang="en-US" b="1" i="1" dirty="0"/>
              <a:t>2B</a:t>
            </a:r>
            <a:r>
              <a:rPr lang="en-US" dirty="0"/>
              <a:t>. Segmentation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009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/>
          <a:lstStyle/>
          <a:p>
            <a:r>
              <a:rPr lang="en-US" dirty="0"/>
              <a:t>2A. Paging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/>
              <a:t>Memory is divided into equal-sized chunks called </a:t>
            </a:r>
            <a:r>
              <a:rPr lang="en-US" b="1" i="1" dirty="0"/>
              <a:t>frames</a:t>
            </a:r>
          </a:p>
          <a:p>
            <a:r>
              <a:rPr lang="en-US" dirty="0"/>
              <a:t>Processes are also divided into equal-sized chunks called </a:t>
            </a:r>
            <a:r>
              <a:rPr lang="en-US" b="1" i="1" dirty="0"/>
              <a:t>pages</a:t>
            </a:r>
          </a:p>
          <a:p>
            <a:pPr lvl="1"/>
            <a:r>
              <a:rPr lang="en-US" dirty="0"/>
              <a:t>Where, page size = frame size</a:t>
            </a:r>
          </a:p>
          <a:p>
            <a:pPr lvl="1"/>
            <a:r>
              <a:rPr lang="en-US" dirty="0"/>
              <a:t>Except for the last page</a:t>
            </a:r>
          </a:p>
          <a:p>
            <a:r>
              <a:rPr lang="en-US" dirty="0"/>
              <a:t>Pages of a process can be scattered throughout the memory</a:t>
            </a:r>
          </a:p>
          <a:p>
            <a:r>
              <a:rPr lang="en-US" dirty="0"/>
              <a:t>Each process has its own </a:t>
            </a:r>
            <a:r>
              <a:rPr lang="en-US" b="1" i="1" dirty="0"/>
              <a:t>page table</a:t>
            </a:r>
          </a:p>
          <a:p>
            <a:pPr lvl="1"/>
            <a:r>
              <a:rPr lang="en-US" dirty="0"/>
              <a:t>Which records the frames in which different pages are stored</a:t>
            </a:r>
          </a:p>
          <a:p>
            <a:r>
              <a:rPr lang="en-US" dirty="0"/>
              <a:t>Relatively simple</a:t>
            </a:r>
          </a:p>
          <a:p>
            <a:r>
              <a:rPr lang="en-US" dirty="0"/>
              <a:t>Suffers from internal fragmentation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385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/>
          <a:lstStyle/>
          <a:p>
            <a:r>
              <a:rPr lang="en-US" dirty="0"/>
              <a:t>2A. Paging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600200"/>
            <a:ext cx="5948363" cy="481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701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/>
          <a:lstStyle/>
          <a:p>
            <a:r>
              <a:rPr lang="en-US" dirty="0"/>
              <a:t>2B.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/>
              <a:t>There are no fixed frames in the memory</a:t>
            </a:r>
          </a:p>
          <a:p>
            <a:r>
              <a:rPr lang="en-US" dirty="0"/>
              <a:t>Processes can be divided into chunks of different sizes</a:t>
            </a:r>
          </a:p>
          <a:p>
            <a:pPr lvl="1"/>
            <a:r>
              <a:rPr lang="en-US" dirty="0"/>
              <a:t>called </a:t>
            </a:r>
            <a:r>
              <a:rPr lang="en-US" b="1" i="1" dirty="0"/>
              <a:t>segments</a:t>
            </a:r>
          </a:p>
          <a:p>
            <a:r>
              <a:rPr lang="en-US" dirty="0"/>
              <a:t>These segments can be scattered throughout the memory</a:t>
            </a:r>
          </a:p>
          <a:p>
            <a:r>
              <a:rPr lang="en-US" dirty="0"/>
              <a:t>There is no internal fragmentation, but there is some </a:t>
            </a:r>
            <a:r>
              <a:rPr lang="en-US" b="1" i="1" dirty="0"/>
              <a:t>external fragmentation</a:t>
            </a:r>
          </a:p>
          <a:p>
            <a:r>
              <a:rPr lang="en-US" dirty="0"/>
              <a:t>More flexible than paging</a:t>
            </a:r>
          </a:p>
          <a:p>
            <a:r>
              <a:rPr lang="en-US" dirty="0"/>
              <a:t>More complicated to implement as compared to paging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1959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2024</TotalTime>
  <Words>705</Words>
  <Application>Microsoft Office PowerPoint</Application>
  <PresentationFormat>On-screen Show (4:3)</PresentationFormat>
  <Paragraphs>123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Clarity</vt:lpstr>
      <vt:lpstr>Memory management – UNOFFICIAL SUMMARY</vt:lpstr>
      <vt:lpstr>Memory Management</vt:lpstr>
      <vt:lpstr>Memory Management Requirements</vt:lpstr>
      <vt:lpstr>Memory Management Requirements</vt:lpstr>
      <vt:lpstr>Memory Management Requirements</vt:lpstr>
      <vt:lpstr>Memory Management Requirements</vt:lpstr>
      <vt:lpstr>Types Memory Allocation</vt:lpstr>
      <vt:lpstr>1. Contiguous Allocation</vt:lpstr>
      <vt:lpstr>1A. Fixed Partitioning</vt:lpstr>
      <vt:lpstr>Overlays</vt:lpstr>
      <vt:lpstr>Internal Fragmentation</vt:lpstr>
      <vt:lpstr>PowerPoint Presentation</vt:lpstr>
      <vt:lpstr>1B. Dynamic Partitioning</vt:lpstr>
      <vt:lpstr>External Fragmentation</vt:lpstr>
      <vt:lpstr>PowerPoint Presentation</vt:lpstr>
      <vt:lpstr>2. Non-Contiguous Allocation</vt:lpstr>
      <vt:lpstr>2A. Paging</vt:lpstr>
      <vt:lpstr>2A. Paging</vt:lpstr>
      <vt:lpstr>2B. Segmentation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Usman Ali Shah</dc:creator>
  <cp:lastModifiedBy>Usman Ali Shah</cp:lastModifiedBy>
  <cp:revision>192</cp:revision>
  <dcterms:created xsi:type="dcterms:W3CDTF">2020-10-06T13:55:10Z</dcterms:created>
  <dcterms:modified xsi:type="dcterms:W3CDTF">2026-04-27T05:03:51Z</dcterms:modified>
</cp:coreProperties>
</file>