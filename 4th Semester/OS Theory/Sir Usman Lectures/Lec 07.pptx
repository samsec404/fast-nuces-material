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14"/>
  </p:notesMasterIdLst>
  <p:handoutMasterIdLst>
    <p:handoutMasterId r:id="rId15"/>
  </p:handoutMasterIdLst>
  <p:sldIdLst>
    <p:sldId id="331" r:id="rId2"/>
    <p:sldId id="332" r:id="rId3"/>
    <p:sldId id="358" r:id="rId4"/>
    <p:sldId id="359" r:id="rId5"/>
    <p:sldId id="360" r:id="rId6"/>
    <p:sldId id="449" r:id="rId7"/>
    <p:sldId id="450" r:id="rId8"/>
    <p:sldId id="363" r:id="rId9"/>
    <p:sldId id="365" r:id="rId10"/>
    <p:sldId id="451" r:id="rId11"/>
    <p:sldId id="367" r:id="rId12"/>
    <p:sldId id="404" r:id="rId13"/>
  </p:sldIdLst>
  <p:sldSz cx="12192000" cy="68580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5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/>
    <p:restoredTop sz="94635"/>
  </p:normalViewPr>
  <p:slideViewPr>
    <p:cSldViewPr snapToGrid="0">
      <p:cViewPr>
        <p:scale>
          <a:sx n="66" d="100"/>
          <a:sy n="66" d="100"/>
        </p:scale>
        <p:origin x="858" y="-156"/>
      </p:cViewPr>
      <p:guideLst>
        <p:guide orient="horz" pos="816"/>
        <p:guide pos="5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-289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8C8C3F6-D6EC-4454-AED8-151D4118C8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B8B47E2-82CE-4363-8A39-5A4F2B6CC18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8985D904-943B-4701-BDB6-5864BE7D22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77B09886-4C66-4DC0-99B1-7CCC79211BD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AED9E23-4007-4CE0-B9FA-1CB7C3B0E5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0:02:38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64 8996,'0'0'913,"19"-63"-881,-19 86-1201,-11-6-1104,0-7-2193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0:02:39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2184 40 4578,'0'0'3154,"-4"-23"-3138,1 23-96,-12 0-529,0 0-831,-7 3-1794</inkml:trace>
  <inkml:trace contextRef="#ctx0" brushRef="#br0" timeOffset="1">1 0 4754,'0'0'0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B6FEA57-E60B-48C6-8E0B-0D3E2B9085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B9BA4C6-A2CE-4EDE-A987-C89469DACF1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0A16516-4161-4E77-A9DD-6C7EC92E21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8500"/>
            <a:ext cx="61960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08562F-F4D9-42CE-8D67-E7A9840A07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6BBE589-20BB-4D23-905B-F9CA800E4FA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201015B-FDFC-46CC-A1D5-58B217CE0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B26353B-46D8-44BD-A369-9C24747663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7E33203-4967-4A0F-AEA4-57E85B2A2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4B811B8-CE7E-4807-B890-8228F3EF5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8500"/>
            <a:ext cx="6196012" cy="3486150"/>
          </a:xfrm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82BA9F7-4972-4ED3-9F80-A82FC1F7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24" cy="24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9690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56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70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77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0192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819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9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7935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220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730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11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44CBE58F-1B06-4E3C-ABEB-DDA960189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B50D259-301D-4848-91DC-2AA45CBA7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01261" y="233853"/>
            <a:ext cx="10281139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B78BAB-95C2-4816-A43D-C9D0E779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303933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9C7DCAF-0404-44E9-A1D7-8FC24790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9ABEA7D2-7A49-4009-B20A-D733788B8F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43D9BEF-9484-4F5F-B79E-90AD48A2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1992072-B079-4F45-93BD-7B83BD140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0C7F6668-8CC0-4B4E-B0C0-D267AAA38E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49459" y="6613526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anose="020B0604020202020204" pitchFamily="34" charset="0"/>
              </a:rPr>
              <a:t>7.</a:t>
            </a:r>
            <a:fld id="{888EA06F-A073-4A3C-89BC-89170E3EB8EC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A5A9C313-E1AB-4215-BE7D-137655DA2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A8DD7472-5269-45F9-8224-963E376A1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1" y="6621463"/>
            <a:ext cx="2730224" cy="24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B3B098FB-2BB7-4519-9DEA-E49149978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08039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4586" y="162366"/>
            <a:ext cx="77073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26434" y="1225550"/>
            <a:ext cx="7707312" cy="3270250"/>
          </a:xfrm>
        </p:spPr>
        <p:txBody>
          <a:bodyPr/>
          <a:lstStyle/>
          <a:p>
            <a:r>
              <a:rPr lang="en-US" altLang="en-US" dirty="0"/>
              <a:t>Explain the bounded-buffer synchronization problem</a:t>
            </a:r>
          </a:p>
          <a:p>
            <a:r>
              <a:rPr lang="en-US" altLang="en-US" dirty="0"/>
              <a:t>Explain the readers-writers synchronization problem</a:t>
            </a:r>
          </a:p>
          <a:p>
            <a:r>
              <a:rPr lang="en-US" altLang="en-US" dirty="0"/>
              <a:t>Explain and dining-philosophers synchronization problems</a:t>
            </a:r>
          </a:p>
          <a:p>
            <a:r>
              <a:rPr lang="en-US" altLang="en-US" dirty="0"/>
              <a:t>Describe the tools used by Linux and Windows to solve synchronization problems.</a:t>
            </a:r>
          </a:p>
          <a:p>
            <a:r>
              <a:rPr lang="en-US" altLang="en-US" dirty="0"/>
              <a:t>Illustrate how POSIX and Java can be used to solve process synchronization problems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16514"/>
            <a:ext cx="40782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4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30450" y="1131891"/>
            <a:ext cx="6726465" cy="4441596"/>
          </a:xfrm>
        </p:spPr>
        <p:txBody>
          <a:bodyPr/>
          <a:lstStyle/>
          <a:p>
            <a:r>
              <a:rPr lang="en-US" altLang="en-US" sz="2400" dirty="0"/>
              <a:t>Classical problems used to test newly-proposed synchronization schemes</a:t>
            </a:r>
          </a:p>
          <a:p>
            <a:pPr lvl="1"/>
            <a:r>
              <a:rPr lang="en-US" altLang="en-US" sz="2400" dirty="0"/>
              <a:t>Bounded-Buffer Problem</a:t>
            </a:r>
          </a:p>
          <a:p>
            <a:pPr lvl="1"/>
            <a:r>
              <a:rPr lang="en-US" altLang="en-US" sz="2400" dirty="0"/>
              <a:t>Readers and Writers Problem</a:t>
            </a:r>
          </a:p>
          <a:p>
            <a:pPr lvl="1"/>
            <a:r>
              <a:rPr lang="en-US" altLang="en-US" sz="2400" dirty="0"/>
              <a:t>Dining-Philosophers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732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73084" y="1293813"/>
            <a:ext cx="7210425" cy="3725862"/>
          </a:xfrm>
        </p:spPr>
        <p:txBody>
          <a:bodyPr/>
          <a:lstStyle/>
          <a:p>
            <a:r>
              <a:rPr lang="en-US" altLang="en-US" sz="2800" b="1" i="1" dirty="0"/>
              <a:t>n</a:t>
            </a:r>
            <a:r>
              <a:rPr lang="en-US" altLang="en-US" sz="2400" dirty="0"/>
              <a:t> buffers, each can hold one item</a:t>
            </a:r>
          </a:p>
          <a:p>
            <a:r>
              <a:rPr lang="en-US" altLang="en-US" sz="2400" dirty="0"/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sz="2400" dirty="0">
                <a:solidFill>
                  <a:srgbClr val="000000"/>
                </a:solidFill>
              </a:rPr>
              <a:t> i</a:t>
            </a:r>
            <a:r>
              <a:rPr lang="en-US" altLang="en-US" sz="2400" dirty="0"/>
              <a:t>nitialized to the value 1</a:t>
            </a:r>
          </a:p>
          <a:p>
            <a:r>
              <a:rPr lang="en-US" altLang="en-US" sz="2400" dirty="0">
                <a:solidFill>
                  <a:srgbClr val="000000"/>
                </a:solidFill>
              </a:rPr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sz="2400" dirty="0">
                <a:solidFill>
                  <a:srgbClr val="000000"/>
                </a:solidFill>
              </a:rPr>
              <a:t> initialized </a:t>
            </a:r>
            <a:r>
              <a:rPr lang="en-US" altLang="en-US" sz="2400" dirty="0"/>
              <a:t>to the value 0</a:t>
            </a:r>
          </a:p>
          <a:p>
            <a:r>
              <a:rPr lang="en-US" altLang="en-US" sz="2400" dirty="0"/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initialized </a:t>
            </a:r>
            <a:r>
              <a:rPr lang="en-US" altLang="en-US" sz="2400" dirty="0"/>
              <a:t>to the value n</a:t>
            </a:r>
          </a:p>
          <a:p>
            <a:endParaRPr lang="en-US" altLang="en-US" sz="2400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3246439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35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3894" y="1176286"/>
            <a:ext cx="4769048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9035" y="1152526"/>
            <a:ext cx="6209071" cy="5482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kern="0"/>
              <a:t>The structure of the consumer process</a:t>
            </a:r>
          </a:p>
          <a:p>
            <a:endParaRPr lang="en-US" altLang="en-US" sz="1600" kern="0"/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next_consumed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kern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kern="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5D9D4C-F618-AC09-ADD4-4DF55B7D4FBE}"/>
              </a:ext>
            </a:extLst>
          </p:cNvPr>
          <p:cNvCxnSpPr/>
          <p:nvPr/>
        </p:nvCxnSpPr>
        <p:spPr bwMode="auto">
          <a:xfrm>
            <a:off x="5427406" y="1176286"/>
            <a:ext cx="0" cy="53130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4813" y="230029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8030" y="1111250"/>
            <a:ext cx="9264770" cy="5005388"/>
          </a:xfrm>
        </p:spPr>
        <p:txBody>
          <a:bodyPr/>
          <a:lstStyle/>
          <a:p>
            <a:r>
              <a:rPr lang="en-US" altLang="en-US" sz="2400" dirty="0"/>
              <a:t>A data set is shared among a number of concurrent processes</a:t>
            </a:r>
          </a:p>
          <a:p>
            <a:pPr lvl="1"/>
            <a:r>
              <a:rPr lang="en-US" altLang="en-US" sz="2400" b="1" dirty="0"/>
              <a:t>Readers</a:t>
            </a:r>
            <a:r>
              <a:rPr lang="en-US" altLang="en-US" sz="2400" dirty="0"/>
              <a:t> – only read the data set; they do </a:t>
            </a:r>
            <a:r>
              <a:rPr lang="en-US" altLang="en-US" sz="2400" b="1" i="1" dirty="0"/>
              <a:t>not</a:t>
            </a:r>
            <a:r>
              <a:rPr lang="en-US" altLang="en-US" sz="2400" b="1" dirty="0"/>
              <a:t> </a:t>
            </a:r>
            <a:r>
              <a:rPr lang="en-US" altLang="en-US" sz="2400" dirty="0"/>
              <a:t>perform any updates</a:t>
            </a:r>
          </a:p>
          <a:p>
            <a:pPr lvl="1"/>
            <a:r>
              <a:rPr lang="en-US" altLang="en-US" sz="2400" b="1" dirty="0"/>
              <a:t>Writers</a:t>
            </a:r>
            <a:r>
              <a:rPr lang="en-US" altLang="en-US" sz="2400" dirty="0"/>
              <a:t>   – can both read and write</a:t>
            </a:r>
          </a:p>
          <a:p>
            <a:r>
              <a:rPr lang="en-US" altLang="en-US" sz="2400" dirty="0"/>
              <a:t>Problem – allow multiple readers to read at the same time</a:t>
            </a:r>
          </a:p>
          <a:p>
            <a:pPr lvl="1"/>
            <a:r>
              <a:rPr lang="en-US" altLang="en-US" sz="2400" dirty="0"/>
              <a:t>Only one single writer can access the shared data at the same time</a:t>
            </a:r>
          </a:p>
          <a:p>
            <a:r>
              <a:rPr lang="en-US" altLang="en-US" sz="2400" dirty="0"/>
              <a:t>Several variations of how readers and writers are considered  – all involve some form of priorities</a:t>
            </a:r>
          </a:p>
          <a:p>
            <a:pPr lvl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5329" y="169513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84426" y="1111250"/>
            <a:ext cx="7639763" cy="5005388"/>
          </a:xfrm>
        </p:spPr>
        <p:txBody>
          <a:bodyPr/>
          <a:lstStyle/>
          <a:p>
            <a:r>
              <a:rPr lang="en-US" altLang="en-US" sz="2400" dirty="0"/>
              <a:t>Shared Data</a:t>
            </a:r>
          </a:p>
          <a:p>
            <a:pPr lvl="1"/>
            <a:r>
              <a:rPr lang="en-US" altLang="en-US" sz="2400" dirty="0"/>
              <a:t>Data set</a:t>
            </a:r>
          </a:p>
          <a:p>
            <a:pPr lvl="1"/>
            <a:r>
              <a:rPr lang="en-US" altLang="en-US" sz="2400" dirty="0"/>
              <a:t>Semaphore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dirty="0"/>
              <a:t>initialized to 1</a:t>
            </a:r>
          </a:p>
          <a:p>
            <a:pPr lvl="1"/>
            <a:r>
              <a:rPr lang="en-US" altLang="en-US" sz="2400" dirty="0"/>
              <a:t>Semaphore 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dirty="0"/>
              <a:t>initialized to 1</a:t>
            </a:r>
          </a:p>
          <a:p>
            <a:pPr lvl="1"/>
            <a:r>
              <a:rPr lang="en-US" altLang="en-US" sz="2400" dirty="0"/>
              <a:t>Integer 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sz="2400" dirty="0"/>
              <a:t> initialized to 0</a:t>
            </a:r>
          </a:p>
          <a:p>
            <a:pPr lvl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9526" y="227825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5528" y="1205783"/>
            <a:ext cx="4359428" cy="4876800"/>
          </a:xfrm>
        </p:spPr>
        <p:txBody>
          <a:bodyPr/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872" y="1111326"/>
            <a:ext cx="7005844" cy="506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kern="0" dirty="0"/>
              <a:t>The structure of a reader process</a:t>
            </a:r>
            <a:endParaRPr lang="en-US" altLang="en-US" sz="1600" kern="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kern="0" dirty="0">
                <a:latin typeface="Courier New" panose="02070309020205020404" pitchFamily="49" charset="0"/>
              </a:rPr>
            </a:br>
            <a:r>
              <a:rPr lang="en-US" altLang="en-US" sz="1600" b="1" kern="0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kern="0" dirty="0">
                <a:latin typeface="Courier New" panose="02070309020205020404" pitchFamily="49" charset="0"/>
              </a:rPr>
            </a:br>
            <a:r>
              <a:rPr lang="en-US" altLang="en-US" sz="1600" b="1" kern="0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kern="0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kern="0" dirty="0">
                <a:latin typeface="Courier New" panose="02070309020205020404" pitchFamily="49" charset="0"/>
              </a:rPr>
              <a:t>++;</a:t>
            </a:r>
            <a:br>
              <a:rPr lang="en-US" altLang="en-US" sz="1600" b="1" kern="0" dirty="0">
                <a:latin typeface="Courier New" panose="02070309020205020404" pitchFamily="49" charset="0"/>
              </a:rPr>
            </a:br>
            <a:r>
              <a:rPr lang="en-US" altLang="en-US" sz="1600" b="1" kern="0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kern="0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kern="0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kern="0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kern="0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kern="0" dirty="0">
                <a:latin typeface="Courier New" panose="02070309020205020404" pitchFamily="49" charset="0"/>
              </a:rPr>
            </a:br>
            <a:r>
              <a:rPr lang="en-US" altLang="en-US" sz="1600" b="1" kern="0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kern="0" dirty="0">
                <a:latin typeface="Courier New" panose="02070309020205020404" pitchFamily="49" charset="0"/>
              </a:rPr>
            </a:br>
            <a:r>
              <a:rPr lang="en-US" altLang="en-US" sz="1600" b="1" kern="0" dirty="0">
                <a:latin typeface="Courier New" panose="02070309020205020404" pitchFamily="49" charset="0"/>
              </a:rPr>
              <a:t>           	</a:t>
            </a:r>
            <a:r>
              <a:rPr lang="en-US" altLang="en-US" sz="1600" b="1" kern="0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kern="0" dirty="0">
                <a:latin typeface="Courier New" panose="02070309020205020404" pitchFamily="49" charset="0"/>
              </a:rPr>
              <a:t>--;</a:t>
            </a:r>
            <a:br>
              <a:rPr lang="en-US" altLang="en-US" sz="1600" b="1" kern="0" dirty="0">
                <a:latin typeface="Courier New" panose="02070309020205020404" pitchFamily="49" charset="0"/>
              </a:rPr>
            </a:br>
            <a:r>
              <a:rPr lang="en-US" altLang="en-US" sz="1600" b="1" kern="0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kern="0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kern="0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kern="0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kern="0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kern="0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kern="0" dirty="0">
                <a:latin typeface="Courier New" panose="02070309020205020404" pitchFamily="49" charset="0"/>
              </a:rPr>
            </a:br>
            <a:endParaRPr lang="en-US" altLang="en-US" sz="1400" b="1" kern="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kern="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kern="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kern="0" dirty="0">
                <a:solidFill>
                  <a:srgbClr val="0000FF"/>
                </a:solidFill>
              </a:rPr>
              <a:t>      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9854DC-73D9-8C58-8E8B-846DBE876FF0}"/>
              </a:ext>
            </a:extLst>
          </p:cNvPr>
          <p:cNvCxnSpPr/>
          <p:nvPr/>
        </p:nvCxnSpPr>
        <p:spPr bwMode="auto">
          <a:xfrm>
            <a:off x="4542503" y="988142"/>
            <a:ext cx="0" cy="5368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CA75F3-F19D-4789-8053-10A45A504175}"/>
                  </a:ext>
                </a:extLst>
              </p14:cNvPr>
              <p14:cNvContentPartPr/>
              <p14:nvPr/>
            </p14:nvContentPartPr>
            <p14:xfrm>
              <a:off x="7247485" y="2957551"/>
              <a:ext cx="8280" cy="23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CA75F3-F19D-4789-8053-10A45A5041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41365" y="2951431"/>
                <a:ext cx="205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9DF3FC6-8CF0-647C-D0AB-381DC84D2A46}"/>
                  </a:ext>
                </a:extLst>
              </p14:cNvPr>
              <p14:cNvContentPartPr/>
              <p14:nvPr/>
            </p14:nvContentPartPr>
            <p14:xfrm>
              <a:off x="7578685" y="2978071"/>
              <a:ext cx="786240" cy="14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9DF3FC6-8CF0-647C-D0AB-381DC84D2A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72565" y="2971951"/>
                <a:ext cx="798480" cy="2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E349B06-5C0D-4BD8-ABC8-DFC88C04F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778" y="222286"/>
            <a:ext cx="7677150" cy="576262"/>
          </a:xfrm>
        </p:spPr>
        <p:txBody>
          <a:bodyPr/>
          <a:lstStyle/>
          <a:p>
            <a:r>
              <a:rPr lang="en-US" altLang="en-US" dirty="0"/>
              <a:t>Readers-Writers Problem Variations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7643E3C-87AB-40AB-8261-6DE65364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4427" y="1323458"/>
            <a:ext cx="8238811" cy="4418437"/>
          </a:xfrm>
        </p:spPr>
        <p:txBody>
          <a:bodyPr/>
          <a:lstStyle/>
          <a:p>
            <a:r>
              <a:rPr lang="en-US" altLang="en-US" sz="2400" dirty="0"/>
              <a:t>The</a:t>
            </a:r>
            <a:r>
              <a:rPr lang="en-US" altLang="en-US" sz="2400" b="1" i="1" dirty="0"/>
              <a:t> </a:t>
            </a:r>
            <a:r>
              <a:rPr lang="en-US" altLang="en-US" sz="2400" dirty="0"/>
              <a:t>solution</a:t>
            </a:r>
            <a:r>
              <a:rPr lang="en-US" altLang="en-US" sz="2400" b="1" i="1" dirty="0"/>
              <a:t> </a:t>
            </a:r>
            <a:r>
              <a:rPr lang="en-US" altLang="en-US" sz="2400" dirty="0"/>
              <a:t>in previous slide can result in a situation where a writer  process never writes.  It is referred to as the “First reader-writer” problem.</a:t>
            </a:r>
          </a:p>
          <a:p>
            <a:r>
              <a:rPr lang="en-US" altLang="en-US" sz="2400" dirty="0"/>
              <a:t>The “Second reader-writer” problem is  a variation the first reader-writer problem that state:</a:t>
            </a:r>
          </a:p>
          <a:p>
            <a:pPr lvl="1"/>
            <a:r>
              <a:rPr lang="en-US" altLang="en-US" sz="2400" dirty="0"/>
              <a:t>Once a writer is ready to write, no “newly arrived reader” is allowed  to read.</a:t>
            </a:r>
          </a:p>
          <a:p>
            <a:r>
              <a:rPr lang="en-US" altLang="en-US" sz="2400" dirty="0"/>
              <a:t>Both the first and second may result in starvation. leading to even more variations</a:t>
            </a:r>
          </a:p>
          <a:p>
            <a:r>
              <a:rPr lang="en-US" altLang="en-US" sz="2400" dirty="0"/>
              <a:t>Problem is solved on some systems by kernel providing reader-writer locks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91747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N philosophers’ sit at a round table with a bowel of rice in the middle.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spend their lives alternating thinking and eating.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dirty="0"/>
              <a:t>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In the case of 5 philosophers, the 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795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26995" y="180176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51089" y="1119189"/>
            <a:ext cx="7107237" cy="4784725"/>
          </a:xfrm>
        </p:spPr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D15A9E78-DF11-4867-B399-CAC0415747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13059</TotalTime>
  <Words>786</Words>
  <Application>Microsoft Office PowerPoint</Application>
  <PresentationFormat>Widescreen</PresentationFormat>
  <Paragraphs>127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7:  Synchronization Examples</vt:lpstr>
      <vt:lpstr>Outline</vt:lpstr>
      <vt:lpstr>Classical Problems of Synchronization</vt:lpstr>
      <vt:lpstr>Bounded-Buffer Problem</vt:lpstr>
      <vt:lpstr>Bounded Buffer Problem (Cont.)</vt:lpstr>
      <vt:lpstr>Readers-Writers Problem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End of Chapter 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Usman Ali Shah</cp:lastModifiedBy>
  <cp:revision>282</cp:revision>
  <cp:lastPrinted>2025-11-04T13:52:46Z</cp:lastPrinted>
  <dcterms:created xsi:type="dcterms:W3CDTF">2011-01-13T23:43:38Z</dcterms:created>
  <dcterms:modified xsi:type="dcterms:W3CDTF">2026-04-06T07:11:58Z</dcterms:modified>
</cp:coreProperties>
</file>