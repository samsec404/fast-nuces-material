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9"/>
  </p:notesMasterIdLst>
  <p:handoutMasterIdLst>
    <p:handoutMasterId r:id="rId50"/>
  </p:handoutMasterIdLst>
  <p:sldIdLst>
    <p:sldId id="331" r:id="rId2"/>
    <p:sldId id="332" r:id="rId3"/>
    <p:sldId id="333" r:id="rId4"/>
    <p:sldId id="420" r:id="rId5"/>
    <p:sldId id="424" r:id="rId6"/>
    <p:sldId id="393" r:id="rId7"/>
    <p:sldId id="524" r:id="rId8"/>
    <p:sldId id="338" r:id="rId9"/>
    <p:sldId id="339" r:id="rId10"/>
    <p:sldId id="480" r:id="rId11"/>
    <p:sldId id="446" r:id="rId12"/>
    <p:sldId id="453" r:id="rId13"/>
    <p:sldId id="459" r:id="rId14"/>
    <p:sldId id="460" r:id="rId15"/>
    <p:sldId id="458" r:id="rId16"/>
    <p:sldId id="457" r:id="rId17"/>
    <p:sldId id="407" r:id="rId18"/>
    <p:sldId id="427" r:id="rId19"/>
    <p:sldId id="447" r:id="rId20"/>
    <p:sldId id="429" r:id="rId21"/>
    <p:sldId id="456" r:id="rId22"/>
    <p:sldId id="343" r:id="rId23"/>
    <p:sldId id="462" r:id="rId24"/>
    <p:sldId id="463" r:id="rId25"/>
    <p:sldId id="464" r:id="rId26"/>
    <p:sldId id="433" r:id="rId27"/>
    <p:sldId id="448" r:id="rId28"/>
    <p:sldId id="346" r:id="rId29"/>
    <p:sldId id="449" r:id="rId30"/>
    <p:sldId id="348" r:id="rId31"/>
    <p:sldId id="349" r:id="rId32"/>
    <p:sldId id="434" r:id="rId33"/>
    <p:sldId id="435" r:id="rId34"/>
    <p:sldId id="450" r:id="rId35"/>
    <p:sldId id="432" r:id="rId36"/>
    <p:sldId id="352" r:id="rId37"/>
    <p:sldId id="451" r:id="rId38"/>
    <p:sldId id="472" r:id="rId39"/>
    <p:sldId id="354" r:id="rId40"/>
    <p:sldId id="355" r:id="rId41"/>
    <p:sldId id="452" r:id="rId42"/>
    <p:sldId id="356" r:id="rId43"/>
    <p:sldId id="418" r:id="rId44"/>
    <p:sldId id="438" r:id="rId45"/>
    <p:sldId id="437" r:id="rId46"/>
    <p:sldId id="439" r:id="rId47"/>
    <p:sldId id="404" r:id="rId48"/>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006699"/>
    <a:srgbClr val="336699"/>
    <a:srgbClr val="0066CC"/>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08" autoAdjust="0"/>
    <p:restoredTop sz="85809" autoAdjust="0"/>
  </p:normalViewPr>
  <p:slideViewPr>
    <p:cSldViewPr snapToGrid="0">
      <p:cViewPr>
        <p:scale>
          <a:sx n="66" d="100"/>
          <a:sy n="66" d="100"/>
        </p:scale>
        <p:origin x="792" y="-582"/>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0" tIns="44126" rIns="88250" bIns="44126" numCol="1" anchor="ctr" anchorCtr="0" compatLnSpc="1">
            <a:prstTxWarp prst="textNoShape">
              <a:avLst/>
            </a:prstTxWarp>
          </a:bodyPr>
          <a:lstStyle>
            <a:lvl1pPr defTabSz="88254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3951289" y="0"/>
            <a:ext cx="3071812" cy="442913"/>
          </a:xfrm>
          <a:prstGeom prst="rect">
            <a:avLst/>
          </a:prstGeom>
          <a:noFill/>
          <a:ln w="9525">
            <a:noFill/>
            <a:miter lim="800000"/>
            <a:headEnd/>
            <a:tailEnd/>
          </a:ln>
        </p:spPr>
        <p:txBody>
          <a:bodyPr vert="horz" wrap="none" lIns="88250" tIns="44126" rIns="88250" bIns="44126" numCol="1" anchor="ctr" anchorCtr="0" compatLnSpc="1">
            <a:prstTxWarp prst="textNoShape">
              <a:avLst/>
            </a:prstTxWarp>
          </a:bodyPr>
          <a:lstStyle>
            <a:lvl1pPr algn="r" defTabSz="88254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866189"/>
            <a:ext cx="3073400" cy="442912"/>
          </a:xfrm>
          <a:prstGeom prst="rect">
            <a:avLst/>
          </a:prstGeom>
          <a:noFill/>
          <a:ln w="9525">
            <a:noFill/>
            <a:miter lim="800000"/>
            <a:headEnd/>
            <a:tailEnd/>
          </a:ln>
        </p:spPr>
        <p:txBody>
          <a:bodyPr vert="horz" wrap="none" lIns="88250" tIns="44126" rIns="88250" bIns="44126" numCol="1" anchor="b" anchorCtr="0" compatLnSpc="1">
            <a:prstTxWarp prst="textNoShape">
              <a:avLst/>
            </a:prstTxWarp>
          </a:bodyPr>
          <a:lstStyle>
            <a:lvl1pPr defTabSz="88254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3951289" y="8866189"/>
            <a:ext cx="3071812" cy="442912"/>
          </a:xfrm>
          <a:prstGeom prst="rect">
            <a:avLst/>
          </a:prstGeom>
          <a:noFill/>
          <a:ln w="9525">
            <a:noFill/>
            <a:miter lim="800000"/>
            <a:headEnd/>
            <a:tailEnd/>
          </a:ln>
        </p:spPr>
        <p:txBody>
          <a:bodyPr vert="horz" wrap="none" lIns="88250" tIns="44126" rIns="88250" bIns="44126" numCol="1" anchor="b" anchorCtr="0" compatLnSpc="1">
            <a:prstTxWarp prst="textNoShape">
              <a:avLst/>
            </a:prstTxWarp>
          </a:bodyPr>
          <a:lstStyle>
            <a:lvl1pPr algn="r" defTabSz="88254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1" y="0"/>
            <a:ext cx="3036888" cy="463550"/>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lvl1pPr defTabSz="930158">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3973514" y="0"/>
            <a:ext cx="3036887" cy="463550"/>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lvl1pPr algn="r" defTabSz="930158">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35039" y="4416425"/>
            <a:ext cx="5140325" cy="4181475"/>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1" y="8832851"/>
            <a:ext cx="3036888" cy="463550"/>
          </a:xfrm>
          <a:prstGeom prst="rect">
            <a:avLst/>
          </a:prstGeom>
          <a:noFill/>
          <a:ln w="9525">
            <a:noFill/>
            <a:miter lim="800000"/>
            <a:headEnd/>
            <a:tailEnd/>
          </a:ln>
        </p:spPr>
        <p:txBody>
          <a:bodyPr vert="horz" wrap="none" lIns="93148" tIns="46574" rIns="93148" bIns="46574" numCol="1" anchor="b" anchorCtr="0" compatLnSpc="1">
            <a:prstTxWarp prst="textNoShape">
              <a:avLst/>
            </a:prstTxWarp>
          </a:bodyPr>
          <a:lstStyle>
            <a:lvl1pPr defTabSz="930158">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3973514" y="8832851"/>
            <a:ext cx="3036887" cy="463550"/>
          </a:xfrm>
          <a:prstGeom prst="rect">
            <a:avLst/>
          </a:prstGeom>
          <a:noFill/>
          <a:ln w="9525">
            <a:noFill/>
            <a:miter lim="800000"/>
            <a:headEnd/>
            <a:tailEnd/>
          </a:ln>
        </p:spPr>
        <p:txBody>
          <a:bodyPr vert="horz" wrap="none" lIns="93148" tIns="46574" rIns="93148" bIns="46574" numCol="1" anchor="b" anchorCtr="0" compatLnSpc="1">
            <a:prstTxWarp prst="textNoShape">
              <a:avLst/>
            </a:prstTxWarp>
          </a:bodyPr>
          <a:lstStyle>
            <a:lvl1pPr algn="r" defTabSz="930158">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xfrm>
            <a:off x="407988" y="698500"/>
            <a:ext cx="6196012" cy="3486150"/>
          </a:xfrm>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xfrm>
            <a:off x="407988" y="698500"/>
            <a:ext cx="6196012" cy="3486150"/>
          </a:xfrm>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xfrm>
            <a:off x="407988" y="698500"/>
            <a:ext cx="6196012" cy="3486150"/>
          </a:xfrm>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126CF59-6128-EF24-572A-9EC23F87EF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960">
              <a:defRPr>
                <a:solidFill>
                  <a:schemeClr val="tx1"/>
                </a:solidFill>
                <a:latin typeface="Verdana" panose="020B0604030504040204" pitchFamily="34" charset="0"/>
                <a:ea typeface="ＭＳ Ｐゴシック" panose="020B0600070205080204" pitchFamily="34" charset="-128"/>
              </a:defRPr>
            </a:lvl1pPr>
            <a:lvl2pPr marL="734629" indent="-282550" defTabSz="955960">
              <a:defRPr>
                <a:solidFill>
                  <a:schemeClr val="tx1"/>
                </a:solidFill>
                <a:latin typeface="Verdana" panose="020B0604030504040204" pitchFamily="34" charset="0"/>
                <a:ea typeface="ＭＳ Ｐゴシック" panose="020B0600070205080204" pitchFamily="34" charset="-128"/>
              </a:defRPr>
            </a:lvl2pPr>
            <a:lvl3pPr marL="1130198" indent="-226040" defTabSz="955960">
              <a:defRPr>
                <a:solidFill>
                  <a:schemeClr val="tx1"/>
                </a:solidFill>
                <a:latin typeface="Verdana" panose="020B0604030504040204" pitchFamily="34" charset="0"/>
                <a:ea typeface="ＭＳ Ｐゴシック" panose="020B0600070205080204" pitchFamily="34" charset="-128"/>
              </a:defRPr>
            </a:lvl3pPr>
            <a:lvl4pPr marL="1582278" indent="-226040" defTabSz="955960">
              <a:defRPr>
                <a:solidFill>
                  <a:schemeClr val="tx1"/>
                </a:solidFill>
                <a:latin typeface="Verdana" panose="020B0604030504040204" pitchFamily="34" charset="0"/>
                <a:ea typeface="ＭＳ Ｐゴシック" panose="020B0600070205080204" pitchFamily="34" charset="-128"/>
              </a:defRPr>
            </a:lvl4pPr>
            <a:lvl5pPr marL="2034357" indent="-226040" defTabSz="955960">
              <a:defRPr>
                <a:solidFill>
                  <a:schemeClr val="tx1"/>
                </a:solidFill>
                <a:latin typeface="Verdana" panose="020B0604030504040204" pitchFamily="34" charset="0"/>
                <a:ea typeface="ＭＳ Ｐゴシック" panose="020B0600070205080204" pitchFamily="34" charset="-128"/>
              </a:defRPr>
            </a:lvl5pPr>
            <a:lvl6pPr marL="2486436"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38516"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0595"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42675"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142DFA5-5EB5-4D91-86CC-E7F1F84DB7D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94A2FEDC-F678-D1B1-3992-BDF56A967098}"/>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4302210-50B7-0D24-BA1B-ABA034EA9F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856">
              <a:defRPr>
                <a:solidFill>
                  <a:schemeClr val="tx1"/>
                </a:solidFill>
                <a:latin typeface="Verdana" panose="020B0604030504040204" pitchFamily="34" charset="0"/>
                <a:ea typeface="MS PGothic" panose="020B0600070205080204" pitchFamily="34" charset="-128"/>
              </a:defRPr>
            </a:lvl1pPr>
            <a:lvl2pPr marL="734629" indent="-282550" defTabSz="919856">
              <a:defRPr>
                <a:solidFill>
                  <a:schemeClr val="tx1"/>
                </a:solidFill>
                <a:latin typeface="Verdana" panose="020B0604030504040204" pitchFamily="34" charset="0"/>
                <a:ea typeface="MS PGothic" panose="020B0600070205080204" pitchFamily="34" charset="-128"/>
              </a:defRPr>
            </a:lvl2pPr>
            <a:lvl3pPr marL="1130198" indent="-226040" defTabSz="919856">
              <a:defRPr>
                <a:solidFill>
                  <a:schemeClr val="tx1"/>
                </a:solidFill>
                <a:latin typeface="Verdana" panose="020B0604030504040204" pitchFamily="34" charset="0"/>
                <a:ea typeface="MS PGothic" panose="020B0600070205080204" pitchFamily="34" charset="-128"/>
              </a:defRPr>
            </a:lvl3pPr>
            <a:lvl4pPr marL="1582278" indent="-226040" defTabSz="919856">
              <a:defRPr>
                <a:solidFill>
                  <a:schemeClr val="tx1"/>
                </a:solidFill>
                <a:latin typeface="Verdana" panose="020B0604030504040204" pitchFamily="34" charset="0"/>
                <a:ea typeface="MS PGothic" panose="020B0600070205080204" pitchFamily="34" charset="-128"/>
              </a:defRPr>
            </a:lvl4pPr>
            <a:lvl5pPr marL="2034357" indent="-226040" defTabSz="919856">
              <a:defRPr>
                <a:solidFill>
                  <a:schemeClr val="tx1"/>
                </a:solidFill>
                <a:latin typeface="Verdana" panose="020B0604030504040204" pitchFamily="34" charset="0"/>
                <a:ea typeface="MS PGothic" panose="020B0600070205080204" pitchFamily="34" charset="-128"/>
              </a:defRPr>
            </a:lvl5pPr>
            <a:lvl6pPr marL="2486436"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38516"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0595"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42675"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7063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When you disable interrupts to solve the Critical Section Problem (CSP), you are telling the CPU to ignore </a:t>
            </a:r>
            <a:r>
              <a:rPr lang="en-US" b="1" dirty="0"/>
              <a:t>all</a:t>
            </a:r>
            <a:r>
              <a:rPr lang="en-US" dirty="0"/>
              <a:t> incoming signals, including those from the timer hardware.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xfrm>
            <a:off x="407988" y="698500"/>
            <a:ext cx="6196012" cy="3486150"/>
          </a:xfrm>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18558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Barrier needed in Thread 1 to stop CPU from pre-fetching the value of x</a:t>
            </a:r>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25</a:t>
            </a:fld>
            <a:endParaRPr lang="en-US" altLang="en-US"/>
          </a:p>
        </p:txBody>
      </p:sp>
    </p:spTree>
    <p:extLst>
      <p:ext uri="{BB962C8B-B14F-4D97-AF65-F5344CB8AC3E}">
        <p14:creationId xmlns:p14="http://schemas.microsoft.com/office/powerpoint/2010/main" val="1962901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xfrm>
            <a:off x="407988" y="698500"/>
            <a:ext cx="6196012" cy="3486150"/>
          </a:xfrm>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Mutual exclusion and progress met</a:t>
            </a:r>
          </a:p>
          <a:p>
            <a:r>
              <a:rPr lang="en-US" altLang="en-US" dirty="0">
                <a:latin typeface="Times New Roman" panose="02020603050405020304" pitchFamily="18" charset="0"/>
              </a:rPr>
              <a:t>Bounded wait failed - A "fast" process could leave the critical section, loop around, and re-acquire the lock before a "slow" process (which has been waiting much longer) even gets a chance to check the variable.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xfrm>
            <a:off x="407988" y="698500"/>
            <a:ext cx="6196012" cy="3486150"/>
          </a:xfrm>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xfrm>
            <a:off x="407988" y="698500"/>
            <a:ext cx="6196012" cy="3486150"/>
          </a:xfrm>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xfrm>
            <a:off x="407988" y="698500"/>
            <a:ext cx="6196012" cy="3486150"/>
          </a:xfrm>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xfrm>
            <a:off x="407988" y="698500"/>
            <a:ext cx="6196012" cy="3486150"/>
          </a:xfrm>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1">
                <a:solidFill>
                  <a:srgbClr val="3366FF"/>
                </a:solidFill>
              </a:rPr>
              <a:t>A counter and two binary semaphores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xfrm>
            <a:off x="407988" y="698500"/>
            <a:ext cx="6196012" cy="3486150"/>
          </a:xfrm>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xfrm>
            <a:off x="407988" y="698500"/>
            <a:ext cx="6196012" cy="3486150"/>
          </a:xfrm>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xfrm>
            <a:off x="407988" y="698500"/>
            <a:ext cx="6196012" cy="3486150"/>
          </a:xfrm>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xfrm>
            <a:off x="407988" y="698500"/>
            <a:ext cx="6196012" cy="3486150"/>
          </a:xfrm>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xfrm>
            <a:off x="407988" y="698500"/>
            <a:ext cx="6196012" cy="3486150"/>
          </a:xfrm>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Indefinitely is an example of Liveness failure.</a:t>
            </a:r>
            <a:br>
              <a:rPr lang="en-US" dirty="0"/>
            </a:br>
            <a:br>
              <a:rPr lang="en-US" dirty="0"/>
            </a:br>
            <a:r>
              <a:rPr lang="en-US" sz="1800" b="0" i="0" dirty="0">
                <a:solidFill>
                  <a:srgbClr val="242021"/>
                </a:solidFill>
                <a:effectLst/>
                <a:latin typeface="PalatinoLTStd-Roman"/>
              </a:rPr>
              <a:t>There are many different forms of liveness failure; however, all are generally characterized by poor performance and responsiveness. A very simple example of a liveness failure is an infinite loop. A busy wait loop presents the </a:t>
            </a:r>
            <a:r>
              <a:rPr lang="en-US" sz="1800" b="0" i="1" dirty="0">
                <a:solidFill>
                  <a:srgbClr val="242021"/>
                </a:solidFill>
                <a:effectLst/>
                <a:latin typeface="PalatinoLTStd-Italic"/>
              </a:rPr>
              <a:t>possibility </a:t>
            </a:r>
            <a:r>
              <a:rPr lang="en-US" sz="1800" b="0" i="0" dirty="0">
                <a:solidFill>
                  <a:srgbClr val="242021"/>
                </a:solidFill>
                <a:effectLst/>
                <a:latin typeface="PalatinoLTStd-Roman"/>
              </a:rPr>
              <a:t>of a liveness failure, especially if a process may loop an arbitrarily long period of time. Efforts at providing mutual exclusion using tools such as mutex locks and semaphores can often lead to such failures in concurrent programming. In this section, we explore two situations that can lead to liveness failures.</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44</a:t>
            </a:fld>
            <a:endParaRPr lang="en-US" altLang="en-US"/>
          </a:p>
        </p:txBody>
      </p:sp>
    </p:spTree>
    <p:extLst>
      <p:ext uri="{BB962C8B-B14F-4D97-AF65-F5344CB8AC3E}">
        <p14:creationId xmlns:p14="http://schemas.microsoft.com/office/powerpoint/2010/main" val="8232110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xfrm>
            <a:off x="407988" y="698500"/>
            <a:ext cx="6196012" cy="3486150"/>
          </a:xfrm>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xfrm>
            <a:off x="407988" y="698500"/>
            <a:ext cx="6196012" cy="3486150"/>
          </a:xfrm>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800" b="0" i="0" dirty="0">
                <a:solidFill>
                  <a:srgbClr val="242021"/>
                </a:solidFill>
                <a:effectLst/>
                <a:latin typeface="PalatinoLTStd-Roman"/>
              </a:rPr>
              <a:t>Typically, priority inversion is avoided by implementing a </a:t>
            </a:r>
            <a:r>
              <a:rPr lang="en-US" sz="1800" b="1" i="0" dirty="0">
                <a:solidFill>
                  <a:srgbClr val="00ADEE"/>
                </a:solidFill>
                <a:effectLst/>
                <a:latin typeface="PalatinoLTStd-Bold-Identity-H"/>
              </a:rPr>
              <a:t>priority-inheritance protocol</a:t>
            </a:r>
            <a:r>
              <a:rPr lang="en-US" sz="1800" b="0" i="0" dirty="0">
                <a:solidFill>
                  <a:srgbClr val="242021"/>
                </a:solidFill>
                <a:effectLst/>
                <a:latin typeface="PalatinoLTStd-Roman"/>
              </a:rPr>
              <a:t>. According to this protocol, all processes that are accessing resources needed by a higher-priority process inherit the higher priority until they are finished with the resources in question. When they are finished, their priorities revert to their original values.</a:t>
            </a:r>
            <a:r>
              <a:rPr lang="en-US" dirty="0"/>
              <a:t> </a:t>
            </a:r>
            <a:br>
              <a:rPr lang="en-US" dirty="0"/>
            </a:br>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xfrm>
            <a:off x="407988" y="698500"/>
            <a:ext cx="6196012" cy="3486150"/>
          </a:xfrm>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8652933" y="6588126"/>
            <a:ext cx="3617384"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35984" y="6613526"/>
            <a:ext cx="2730224" cy="24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609600" y="23385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1075267" y="1233489"/>
            <a:ext cx="1030393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5749461" y="6613526"/>
            <a:ext cx="447548" cy="246217"/>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8652933" y="6588126"/>
            <a:ext cx="3617384"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247651" y="6621463"/>
            <a:ext cx="2730224" cy="24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2209800" y="808039"/>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2795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2363756"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3810000" y="5116514"/>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1981200" y="223680"/>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2363756" y="1144589"/>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2308226" y="215319"/>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2362589" y="1144201"/>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1981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619432" y="1002890"/>
            <a:ext cx="11179278" cy="5630588"/>
          </a:xfrm>
        </p:spPr>
        <p:txBody>
          <a:bodyPr/>
          <a:lstStyle/>
          <a:p>
            <a:r>
              <a:rPr lang="en-US" altLang="en-US" sz="2000" dirty="0"/>
              <a:t>Processes P</a:t>
            </a:r>
            <a:r>
              <a:rPr lang="en-US" altLang="en-US" sz="2000" baseline="-25000" dirty="0"/>
              <a:t>0</a:t>
            </a:r>
            <a:r>
              <a:rPr lang="en-US" altLang="en-US" sz="2000" dirty="0"/>
              <a:t> and P</a:t>
            </a:r>
            <a:r>
              <a:rPr lang="en-US" altLang="en-US" sz="2000" baseline="-25000" dirty="0"/>
              <a:t>1</a:t>
            </a:r>
            <a:r>
              <a:rPr lang="en-US" altLang="en-US" sz="2000" dirty="0"/>
              <a:t> are creating child processes using the </a:t>
            </a:r>
            <a:r>
              <a:rPr lang="en-US" altLang="en-US" sz="2000" dirty="0">
                <a:latin typeface="Courier New" panose="02070309020205020404" pitchFamily="49" charset="0"/>
                <a:cs typeface="Courier New" panose="02070309020205020404" pitchFamily="49" charset="0"/>
              </a:rPr>
              <a:t>fork() </a:t>
            </a:r>
            <a:r>
              <a:rPr lang="en-US" altLang="en-US" sz="2000" dirty="0"/>
              <a:t>system call</a:t>
            </a:r>
          </a:p>
          <a:p>
            <a:r>
              <a:rPr lang="en-US" altLang="en-US" sz="2000" dirty="0"/>
              <a:t>Race condition on kernel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which represents the next available process identifier (</a:t>
            </a:r>
            <a:r>
              <a:rPr lang="en-US" altLang="en-US" sz="2000" dirty="0" err="1"/>
              <a:t>pid</a:t>
            </a:r>
            <a:r>
              <a:rPr lang="en-US" altLang="en-US" sz="2000"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endParaRPr lang="en-US" altLang="en-US" dirty="0"/>
          </a:p>
          <a:p>
            <a:endParaRPr lang="en-US" altLang="en-US" sz="2000" dirty="0"/>
          </a:p>
          <a:p>
            <a:r>
              <a:rPr lang="en-US" altLang="en-US" sz="2000" dirty="0"/>
              <a:t>Unless there is a mechanism to prevent P</a:t>
            </a:r>
            <a:r>
              <a:rPr lang="en-US" altLang="en-US" sz="2000" baseline="-25000" dirty="0"/>
              <a:t>0</a:t>
            </a:r>
            <a:r>
              <a:rPr lang="en-US" altLang="en-US" sz="2000" dirty="0"/>
              <a:t> and P</a:t>
            </a:r>
            <a:r>
              <a:rPr lang="en-US" altLang="en-US" sz="2000" baseline="-25000" dirty="0"/>
              <a:t>1</a:t>
            </a:r>
            <a:r>
              <a:rPr lang="en-US" altLang="en-US" sz="2000" dirty="0"/>
              <a:t> from accessing  the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the same </a:t>
            </a:r>
            <a:r>
              <a:rPr lang="en-US" altLang="en-US" sz="2000" dirty="0" err="1"/>
              <a:t>pid</a:t>
            </a:r>
            <a:r>
              <a:rPr lang="en-US" altLang="en-US" sz="2000" dirty="0"/>
              <a:t> could be assigned to two different processes!</a:t>
            </a:r>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0574" y="2285156"/>
            <a:ext cx="5239245" cy="327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9B4AC74-056A-FC03-5A8C-B6244F7B5B99}"/>
              </a:ext>
            </a:extLst>
          </p:cNvPr>
          <p:cNvSpPr>
            <a:spLocks noGrp="1" noChangeArrowheads="1"/>
          </p:cNvSpPr>
          <p:nvPr>
            <p:ph type="title" idx="4294967295"/>
          </p:nvPr>
        </p:nvSpPr>
        <p:spPr>
          <a:xfrm>
            <a:off x="7099301" y="228601"/>
            <a:ext cx="2678113" cy="576263"/>
          </a:xfrm>
        </p:spPr>
        <p:txBody>
          <a:bodyPr/>
          <a:lstStyle/>
          <a:p>
            <a:pPr eaLnBrk="1" hangingPunct="1"/>
            <a:r>
              <a:rPr lang="en-US" altLang="en-US"/>
              <a:t>Consumer</a:t>
            </a:r>
          </a:p>
        </p:txBody>
      </p:sp>
      <p:sp>
        <p:nvSpPr>
          <p:cNvPr id="7171" name="Rectangle 3">
            <a:extLst>
              <a:ext uri="{FF2B5EF4-FFF2-40B4-BE49-F238E27FC236}">
                <a16:creationId xmlns:a16="http://schemas.microsoft.com/office/drawing/2014/main" id="{6FE9B0EB-BB96-6CC6-3E13-A76326AE0B2D}"/>
              </a:ext>
            </a:extLst>
          </p:cNvPr>
          <p:cNvSpPr>
            <a:spLocks noGrp="1" noChangeArrowheads="1"/>
          </p:cNvSpPr>
          <p:nvPr>
            <p:ph type="body" idx="4294967295"/>
          </p:nvPr>
        </p:nvSpPr>
        <p:spPr>
          <a:xfrm>
            <a:off x="722676" y="1355059"/>
            <a:ext cx="4674871" cy="4557713"/>
          </a:xfrm>
        </p:spPr>
        <p:txBody>
          <a:bodyPr/>
          <a:lstStyle/>
          <a:p>
            <a:pPr eaLnBrk="1" hangingPunct="1">
              <a:buFont typeface="Wingdings" panose="05000000000000000000" pitchFamily="2" charset="2"/>
              <a:buNone/>
            </a:pPr>
            <a:r>
              <a:rPr lang="en-US" altLang="en-US" dirty="0">
                <a:solidFill>
                  <a:srgbClr val="0000FF"/>
                </a:solidFill>
              </a:rPr>
              <a:t>while (true) {</a:t>
            </a:r>
          </a:p>
          <a:p>
            <a:pPr eaLnBrk="1" hangingPunct="1">
              <a:buFont typeface="Wingdings" panose="05000000000000000000" pitchFamily="2" charset="2"/>
              <a:buNone/>
            </a:pP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  produce an item and put in </a:t>
            </a:r>
            <a:r>
              <a:rPr lang="en-US" altLang="en-US" dirty="0" err="1">
                <a:solidFill>
                  <a:srgbClr val="0000FF"/>
                </a:solidFill>
              </a:rPr>
              <a:t>nextProduced</a:t>
            </a: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while (count == BUFFER_SIZE)</a:t>
            </a:r>
          </a:p>
          <a:p>
            <a:pPr eaLnBrk="1" hangingPunct="1">
              <a:buFont typeface="Wingdings" panose="05000000000000000000" pitchFamily="2" charset="2"/>
              <a:buNone/>
            </a:pPr>
            <a:r>
              <a:rPr lang="en-US" altLang="en-US" dirty="0">
                <a:solidFill>
                  <a:srgbClr val="0000FF"/>
                </a:solidFill>
              </a:rPr>
              <a:t>			; // do nothing</a:t>
            </a:r>
          </a:p>
          <a:p>
            <a:pPr eaLnBrk="1" hangingPunct="1">
              <a:buFont typeface="Wingdings" panose="05000000000000000000" pitchFamily="2" charset="2"/>
              <a:buNone/>
            </a:pPr>
            <a:r>
              <a:rPr lang="en-US" altLang="en-US" dirty="0">
                <a:solidFill>
                  <a:srgbClr val="0000FF"/>
                </a:solidFill>
              </a:rPr>
              <a:t>	      buffer [in] = </a:t>
            </a:r>
            <a:r>
              <a:rPr lang="en-US" altLang="en-US" dirty="0" err="1">
                <a:solidFill>
                  <a:srgbClr val="0000FF"/>
                </a:solidFill>
              </a:rPr>
              <a:t>nextProduced</a:t>
            </a:r>
            <a:r>
              <a:rPr lang="en-US" altLang="en-US" dirty="0">
                <a:solidFill>
                  <a:srgbClr val="0000FF"/>
                </a:solidFill>
              </a:rPr>
              <a:t>;</a:t>
            </a:r>
          </a:p>
          <a:p>
            <a:pPr eaLnBrk="1" hangingPunct="1">
              <a:buFont typeface="Wingdings" panose="05000000000000000000" pitchFamily="2" charset="2"/>
              <a:buNone/>
            </a:pPr>
            <a:r>
              <a:rPr lang="en-US" altLang="en-US" dirty="0">
                <a:solidFill>
                  <a:srgbClr val="0000FF"/>
                </a:solidFill>
              </a:rPr>
              <a:t>	      in = (in + 1) % BUFFER_SIZE;</a:t>
            </a:r>
          </a:p>
          <a:p>
            <a:pPr eaLnBrk="1" hangingPunct="1">
              <a:buFont typeface="Wingdings" panose="05000000000000000000" pitchFamily="2" charset="2"/>
              <a:buNone/>
            </a:pPr>
            <a:r>
              <a:rPr lang="en-US" altLang="en-US" dirty="0">
                <a:solidFill>
                  <a:srgbClr val="0000FF"/>
                </a:solidFill>
              </a:rPr>
              <a:t>	      count++;</a:t>
            </a:r>
          </a:p>
          <a:p>
            <a:pPr eaLnBrk="1" hangingPunct="1">
              <a:buFont typeface="Wingdings" panose="05000000000000000000" pitchFamily="2" charset="2"/>
              <a:buNone/>
            </a:pPr>
            <a:r>
              <a:rPr lang="en-US" altLang="en-US" dirty="0">
                <a:solidFill>
                  <a:srgbClr val="0000FF"/>
                </a:solidFill>
              </a:rPr>
              <a:t>}   </a:t>
            </a:r>
          </a:p>
        </p:txBody>
      </p:sp>
      <p:sp>
        <p:nvSpPr>
          <p:cNvPr id="7172" name="Rectangle 3">
            <a:extLst>
              <a:ext uri="{FF2B5EF4-FFF2-40B4-BE49-F238E27FC236}">
                <a16:creationId xmlns:a16="http://schemas.microsoft.com/office/drawing/2014/main" id="{903327FD-B950-5483-2E18-26432FE6E411}"/>
              </a:ext>
            </a:extLst>
          </p:cNvPr>
          <p:cNvSpPr txBox="1">
            <a:spLocks noChangeArrowheads="1"/>
          </p:cNvSpPr>
          <p:nvPr/>
        </p:nvSpPr>
        <p:spPr bwMode="auto">
          <a:xfrm>
            <a:off x="6581724" y="982818"/>
            <a:ext cx="4700791"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endParaRPr lang="en-US" altLang="en-US" sz="2000" dirty="0"/>
          </a:p>
          <a:p>
            <a:pPr eaLnBrk="1" hangingPunct="1">
              <a:buFont typeface="Wingdings" panose="05000000000000000000" pitchFamily="2" charset="2"/>
              <a:buNone/>
            </a:pPr>
            <a:r>
              <a:rPr lang="en-US" altLang="en-US" sz="2000" dirty="0">
                <a:solidFill>
                  <a:srgbClr val="0000FF"/>
                </a:solidFill>
              </a:rPr>
              <a:t>    </a:t>
            </a:r>
            <a:r>
              <a:rPr lang="en-US" altLang="en-US" dirty="0">
                <a:solidFill>
                  <a:srgbClr val="0000FF"/>
                </a:solidFill>
              </a:rPr>
              <a:t>while (true)  {</a:t>
            </a:r>
          </a:p>
          <a:p>
            <a:pPr eaLnBrk="1" hangingPunct="1">
              <a:buFont typeface="Wingdings" panose="05000000000000000000" pitchFamily="2" charset="2"/>
              <a:buNone/>
            </a:pPr>
            <a:r>
              <a:rPr lang="en-US" altLang="en-US" dirty="0">
                <a:solidFill>
                  <a:srgbClr val="0000FF"/>
                </a:solidFill>
              </a:rPr>
              <a:t>	        while (count == 0)</a:t>
            </a:r>
          </a:p>
          <a:p>
            <a:pPr eaLnBrk="1" hangingPunct="1">
              <a:buFont typeface="Wingdings" panose="05000000000000000000" pitchFamily="2" charset="2"/>
              <a:buNone/>
            </a:pPr>
            <a:r>
              <a:rPr lang="en-US" altLang="en-US" dirty="0">
                <a:solidFill>
                  <a:srgbClr val="0000FF"/>
                </a:solidFill>
              </a:rPr>
              <a:t>		        ; // do nothing</a:t>
            </a:r>
          </a:p>
          <a:p>
            <a:pPr eaLnBrk="1" hangingPunct="1">
              <a:buFont typeface="Wingdings" panose="05000000000000000000" pitchFamily="2" charset="2"/>
              <a:buNone/>
            </a:pPr>
            <a:r>
              <a:rPr lang="en-US" altLang="en-US" dirty="0">
                <a:solidFill>
                  <a:srgbClr val="0000FF"/>
                </a:solidFill>
              </a:rPr>
              <a:t>	        </a:t>
            </a:r>
            <a:r>
              <a:rPr lang="en-US" altLang="en-US" dirty="0" err="1">
                <a:solidFill>
                  <a:srgbClr val="0000FF"/>
                </a:solidFill>
              </a:rPr>
              <a:t>nextConsumed</a:t>
            </a:r>
            <a:r>
              <a:rPr lang="en-US" altLang="en-US" dirty="0">
                <a:solidFill>
                  <a:srgbClr val="0000FF"/>
                </a:solidFill>
              </a:rPr>
              <a:t> =  buffer[out];</a:t>
            </a:r>
          </a:p>
          <a:p>
            <a:pPr eaLnBrk="1" hangingPunct="1">
              <a:buFont typeface="Wingdings" panose="05000000000000000000" pitchFamily="2" charset="2"/>
              <a:buNone/>
            </a:pPr>
            <a:r>
              <a:rPr lang="en-US" altLang="en-US" dirty="0">
                <a:solidFill>
                  <a:srgbClr val="0000FF"/>
                </a:solidFill>
              </a:rPr>
              <a:t>	        out = (out + 1) % BUFFER_SIZE;</a:t>
            </a:r>
          </a:p>
          <a:p>
            <a:pPr eaLnBrk="1" hangingPunct="1">
              <a:buFont typeface="Wingdings" panose="05000000000000000000" pitchFamily="2" charset="2"/>
              <a:buNone/>
            </a:pPr>
            <a:r>
              <a:rPr lang="en-US" altLang="en-US" dirty="0">
                <a:solidFill>
                  <a:srgbClr val="0000FF"/>
                </a:solidFill>
              </a:rPr>
              <a:t>	        count--;</a:t>
            </a:r>
          </a:p>
          <a:p>
            <a:pPr eaLnBrk="1" hangingPunct="1">
              <a:buFont typeface="Wingdings" panose="05000000000000000000" pitchFamily="2" charset="2"/>
              <a:buNone/>
            </a:pPr>
            <a:endParaRPr lang="en-US" altLang="en-US" dirty="0">
              <a:solidFill>
                <a:srgbClr val="0000FF"/>
              </a:solidFill>
            </a:endParaRPr>
          </a:p>
          <a:p>
            <a:pPr eaLnBrk="1" hangingPunct="1">
              <a:buFont typeface="Wingdings" panose="05000000000000000000" pitchFamily="2" charset="2"/>
              <a:buNone/>
            </a:pPr>
            <a:r>
              <a:rPr lang="en-US" altLang="en-US" dirty="0">
                <a:solidFill>
                  <a:srgbClr val="0000FF"/>
                </a:solidFill>
              </a:rPr>
              <a:t>	/*  consume the item in </a:t>
            </a:r>
            <a:r>
              <a:rPr lang="en-US" altLang="en-US" dirty="0" err="1">
                <a:solidFill>
                  <a:srgbClr val="0000FF"/>
                </a:solidFill>
              </a:rPr>
              <a:t>nextConsumed</a:t>
            </a: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a:t>
            </a:r>
          </a:p>
        </p:txBody>
      </p:sp>
      <p:sp>
        <p:nvSpPr>
          <p:cNvPr id="7173" name="Line 8">
            <a:extLst>
              <a:ext uri="{FF2B5EF4-FFF2-40B4-BE49-F238E27FC236}">
                <a16:creationId xmlns:a16="http://schemas.microsoft.com/office/drawing/2014/main" id="{01A901A6-DA51-7782-012A-E99CBA927A1B}"/>
              </a:ext>
            </a:extLst>
          </p:cNvPr>
          <p:cNvSpPr>
            <a:spLocks noChangeShapeType="1"/>
          </p:cNvSpPr>
          <p:nvPr/>
        </p:nvSpPr>
        <p:spPr bwMode="auto">
          <a:xfrm>
            <a:off x="5989638" y="1022351"/>
            <a:ext cx="0" cy="5248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74" name="Rectangle 2">
            <a:extLst>
              <a:ext uri="{FF2B5EF4-FFF2-40B4-BE49-F238E27FC236}">
                <a16:creationId xmlns:a16="http://schemas.microsoft.com/office/drawing/2014/main" id="{2623147D-8D59-AB76-99D2-56999A9E73CA}"/>
              </a:ext>
            </a:extLst>
          </p:cNvPr>
          <p:cNvSpPr txBox="1">
            <a:spLocks noChangeArrowheads="1"/>
          </p:cNvSpPr>
          <p:nvPr/>
        </p:nvSpPr>
        <p:spPr bwMode="auto">
          <a:xfrm>
            <a:off x="2551113" y="228600"/>
            <a:ext cx="24495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kumimoji="0" lang="en-US" altLang="en-US" sz="3200" b="1">
                <a:solidFill>
                  <a:srgbClr val="D03200"/>
                </a:solidFill>
                <a:latin typeface="Arial" panose="020B0604020202020204" pitchFamily="34" charset="0"/>
              </a:rPr>
              <a:t>Producer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1981200" y="225267"/>
            <a:ext cx="8229600" cy="576262"/>
          </a:xfrm>
        </p:spPr>
        <p:txBody>
          <a:bodyPr/>
          <a:lstStyle/>
          <a:p>
            <a:pPr eaLnBrk="1" hangingPunct="1"/>
            <a:r>
              <a:rPr lang="en-US" altLang="en-US" dirty="0"/>
              <a:t>Race Condition</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1091381" y="1000946"/>
            <a:ext cx="10441858" cy="5631787"/>
          </a:xfrm>
        </p:spPr>
        <p:txBody>
          <a:bodyPr/>
          <a:lstStyle/>
          <a:p>
            <a:pPr>
              <a:lnSpc>
                <a:spcPct val="90000"/>
              </a:lnSpc>
            </a:pPr>
            <a:r>
              <a:rPr lang="en-US" altLang="en-US" sz="2000" b="1" dirty="0">
                <a:solidFill>
                  <a:srgbClr val="000000"/>
                </a:solidFill>
                <a:latin typeface="Courier New" panose="02070309020205020404" pitchFamily="49" charset="0"/>
              </a:rPr>
              <a:t>counter++ </a:t>
            </a:r>
            <a:r>
              <a:rPr lang="en-US" altLang="en-US" sz="2000" dirty="0"/>
              <a:t>could be implemented as</a:t>
            </a:r>
            <a:br>
              <a:rPr lang="en-US" altLang="en-US" sz="2000" dirty="0"/>
            </a:br>
            <a:br>
              <a:rPr lang="en-US" altLang="en-US" sz="2000" dirty="0"/>
            </a:br>
            <a:r>
              <a:rPr lang="en-US" altLang="en-US" sz="2000" b="1" dirty="0">
                <a:latin typeface="Courier New" panose="02070309020205020404" pitchFamily="49" charset="0"/>
              </a:rPr>
              <a:t>     </a:t>
            </a:r>
            <a:r>
              <a:rPr lang="en-US" altLang="en-US" sz="2000" b="1" dirty="0">
                <a:solidFill>
                  <a:srgbClr val="0000FF"/>
                </a:solidFill>
                <a:latin typeface="Courier New" panose="02070309020205020404" pitchFamily="49" charset="0"/>
              </a:rPr>
              <a:t>register1 = counter</a:t>
            </a:r>
            <a:br>
              <a:rPr lang="en-US" altLang="en-US" sz="2000" b="1" dirty="0">
                <a:solidFill>
                  <a:srgbClr val="0000FF"/>
                </a:solidFill>
                <a:latin typeface="Courier New" panose="02070309020205020404" pitchFamily="49" charset="0"/>
              </a:rPr>
            </a:br>
            <a:r>
              <a:rPr lang="en-US" altLang="en-US" sz="2000" b="1" dirty="0">
                <a:solidFill>
                  <a:srgbClr val="0000FF"/>
                </a:solidFill>
                <a:latin typeface="Courier New" panose="02070309020205020404" pitchFamily="49" charset="0"/>
              </a:rPr>
              <a:t>     register1 = register1 + 1</a:t>
            </a:r>
            <a:br>
              <a:rPr lang="en-US" altLang="en-US" sz="2000" b="1" dirty="0">
                <a:solidFill>
                  <a:srgbClr val="0000FF"/>
                </a:solidFill>
                <a:latin typeface="Courier New" panose="02070309020205020404" pitchFamily="49" charset="0"/>
              </a:rPr>
            </a:br>
            <a:r>
              <a:rPr lang="en-US" altLang="en-US" sz="2000" b="1" dirty="0">
                <a:solidFill>
                  <a:srgbClr val="0000FF"/>
                </a:solidFill>
                <a:latin typeface="Courier New" panose="02070309020205020404" pitchFamily="49" charset="0"/>
              </a:rPr>
              <a:t>     counter = register1</a:t>
            </a:r>
            <a:endParaRPr lang="en-US" altLang="en-US" sz="2000" dirty="0">
              <a:solidFill>
                <a:srgbClr val="0000FF"/>
              </a:solidFill>
            </a:endParaRPr>
          </a:p>
          <a:p>
            <a:pPr>
              <a:lnSpc>
                <a:spcPct val="90000"/>
              </a:lnSpc>
            </a:pPr>
            <a:r>
              <a:rPr lang="en-US" altLang="en-US" sz="2000" b="1" dirty="0">
                <a:solidFill>
                  <a:srgbClr val="000000"/>
                </a:solidFill>
                <a:latin typeface="Courier New" panose="02070309020205020404" pitchFamily="49" charset="0"/>
              </a:rPr>
              <a:t>counter--</a:t>
            </a:r>
            <a:r>
              <a:rPr lang="en-US" altLang="en-US" sz="2000" b="1" dirty="0">
                <a:solidFill>
                  <a:schemeClr val="tx2"/>
                </a:solidFill>
                <a:latin typeface="Courier New" panose="02070309020205020404" pitchFamily="49" charset="0"/>
              </a:rPr>
              <a:t> </a:t>
            </a:r>
            <a:r>
              <a:rPr lang="en-US" altLang="en-US" sz="2000" dirty="0"/>
              <a:t>could be implemented as</a:t>
            </a:r>
            <a:br>
              <a:rPr lang="en-US" altLang="en-US" sz="2000" dirty="0"/>
            </a:br>
            <a:br>
              <a:rPr lang="en-US" altLang="en-US" sz="2000" dirty="0"/>
            </a:br>
            <a:r>
              <a:rPr lang="en-US" altLang="en-US" sz="2000" b="1" dirty="0">
                <a:latin typeface="Courier New" panose="02070309020205020404" pitchFamily="49" charset="0"/>
              </a:rPr>
              <a:t>     </a:t>
            </a:r>
            <a:r>
              <a:rPr lang="en-US" altLang="en-US" sz="2000" b="1" dirty="0">
                <a:solidFill>
                  <a:schemeClr val="tx2"/>
                </a:solidFill>
                <a:latin typeface="Courier New" panose="02070309020205020404" pitchFamily="49" charset="0"/>
              </a:rPr>
              <a:t>register2 = counter</a:t>
            </a:r>
            <a:br>
              <a:rPr lang="en-US" altLang="en-US" sz="2000" b="1" dirty="0">
                <a:solidFill>
                  <a:schemeClr val="tx2"/>
                </a:solidFill>
                <a:latin typeface="Courier New" panose="02070309020205020404" pitchFamily="49" charset="0"/>
              </a:rPr>
            </a:br>
            <a:r>
              <a:rPr lang="en-US" altLang="en-US" sz="2000" b="1" dirty="0">
                <a:solidFill>
                  <a:schemeClr val="tx2"/>
                </a:solidFill>
                <a:latin typeface="Courier New" panose="02070309020205020404" pitchFamily="49" charset="0"/>
              </a:rPr>
              <a:t>     register2 = register2 - 1</a:t>
            </a:r>
            <a:br>
              <a:rPr lang="en-US" altLang="en-US" sz="2000" b="1" dirty="0">
                <a:solidFill>
                  <a:schemeClr val="tx2"/>
                </a:solidFill>
                <a:latin typeface="Courier New" panose="02070309020205020404" pitchFamily="49" charset="0"/>
              </a:rPr>
            </a:br>
            <a:r>
              <a:rPr lang="en-US" altLang="en-US" sz="2000" b="1" dirty="0">
                <a:solidFill>
                  <a:schemeClr val="tx2"/>
                </a:solidFill>
                <a:latin typeface="Courier New" panose="02070309020205020404" pitchFamily="49" charset="0"/>
              </a:rPr>
              <a:t>     counter = register2</a:t>
            </a:r>
          </a:p>
          <a:p>
            <a:pPr>
              <a:lnSpc>
                <a:spcPct val="90000"/>
              </a:lnSpc>
              <a:buFont typeface="Monotype Sorts" pitchFamily="-84" charset="2"/>
              <a:buNone/>
            </a:pPr>
            <a:endParaRPr lang="en-US" altLang="en-US" sz="2000" dirty="0">
              <a:solidFill>
                <a:schemeClr val="tx2"/>
              </a:solidFill>
            </a:endParaRPr>
          </a:p>
          <a:p>
            <a:pPr>
              <a:lnSpc>
                <a:spcPct val="90000"/>
              </a:lnSpc>
            </a:pPr>
            <a:r>
              <a:rPr lang="en-US" altLang="en-US" sz="2000" dirty="0"/>
              <a:t>Consider this execution interleaving with </a:t>
            </a:r>
            <a:r>
              <a:rPr lang="ja-JP" altLang="en-US" sz="2000" dirty="0"/>
              <a:t>“</a:t>
            </a:r>
            <a:r>
              <a:rPr lang="en-US" altLang="ja-JP" sz="2000" dirty="0"/>
              <a:t>count = 5</a:t>
            </a:r>
            <a:r>
              <a:rPr lang="ja-JP" altLang="en-US" sz="2000" dirty="0"/>
              <a:t>”</a:t>
            </a:r>
            <a:r>
              <a:rPr lang="en-US" altLang="ja-JP" sz="2000" dirty="0"/>
              <a:t> initially:</a:t>
            </a:r>
          </a:p>
          <a:p>
            <a:pPr lvl="1">
              <a:lnSpc>
                <a:spcPct val="90000"/>
              </a:lnSpc>
              <a:buFont typeface="Monotype Sorts" pitchFamily="-84" charset="2"/>
              <a:buNone/>
            </a:pPr>
            <a:r>
              <a:rPr lang="en-US" altLang="en-US" sz="2000" dirty="0"/>
              <a:t>	S0: producer execute </a:t>
            </a:r>
            <a:r>
              <a:rPr lang="en-US" altLang="en-US" sz="2000" b="1" dirty="0">
                <a:solidFill>
                  <a:srgbClr val="0000FF"/>
                </a:solidFill>
                <a:latin typeface="Courier New" panose="02070309020205020404" pitchFamily="49" charset="0"/>
              </a:rPr>
              <a:t>register1 = counter</a:t>
            </a:r>
            <a:r>
              <a:rPr lang="en-US" altLang="en-US" sz="2000" b="1" dirty="0">
                <a:latin typeface="Courier New" panose="02070309020205020404" pitchFamily="49" charset="0"/>
              </a:rPr>
              <a:t>         </a:t>
            </a:r>
            <a:r>
              <a:rPr lang="en-US" altLang="en-US" sz="2000" dirty="0"/>
              <a:t>{register1 = 5}</a:t>
            </a:r>
            <a:br>
              <a:rPr lang="en-US" altLang="en-US" sz="2000" dirty="0"/>
            </a:br>
            <a:r>
              <a:rPr lang="en-US" altLang="en-US" sz="2000" dirty="0"/>
              <a:t>S1: producer execute </a:t>
            </a:r>
            <a:r>
              <a:rPr lang="en-US" altLang="en-US" sz="2000" b="1" dirty="0">
                <a:solidFill>
                  <a:srgbClr val="0000FF"/>
                </a:solidFill>
                <a:latin typeface="Courier New" panose="02070309020205020404" pitchFamily="49" charset="0"/>
              </a:rPr>
              <a:t>register1 = register1 + 1   </a:t>
            </a:r>
            <a:r>
              <a:rPr lang="en-US" altLang="en-US" sz="2000" dirty="0"/>
              <a:t>{register1 = 6} </a:t>
            </a:r>
            <a:br>
              <a:rPr lang="en-US" altLang="en-US" sz="2000" dirty="0"/>
            </a:br>
            <a:r>
              <a:rPr lang="en-US" altLang="en-US" sz="2000" dirty="0"/>
              <a:t>S2: consumer execute </a:t>
            </a:r>
            <a:r>
              <a:rPr lang="en-US" altLang="en-US" sz="2000" b="1" dirty="0">
                <a:solidFill>
                  <a:schemeClr val="tx2"/>
                </a:solidFill>
                <a:latin typeface="Courier New" panose="02070309020205020404" pitchFamily="49" charset="0"/>
              </a:rPr>
              <a:t>register2 = counter</a:t>
            </a:r>
            <a:r>
              <a:rPr lang="en-US" altLang="en-US" sz="2000" b="1" dirty="0">
                <a:latin typeface="Courier New" panose="02070309020205020404" pitchFamily="49" charset="0"/>
              </a:rPr>
              <a:t>        </a:t>
            </a:r>
            <a:r>
              <a:rPr lang="en-US" altLang="en-US" sz="2000" dirty="0"/>
              <a:t>{register2 = 5} </a:t>
            </a:r>
            <a:br>
              <a:rPr lang="en-US" altLang="en-US" sz="2000" dirty="0"/>
            </a:br>
            <a:r>
              <a:rPr lang="en-US" altLang="en-US" sz="2000" dirty="0"/>
              <a:t>S3: consumer execute </a:t>
            </a:r>
            <a:r>
              <a:rPr lang="en-US" altLang="en-US" sz="2000" b="1" dirty="0">
                <a:solidFill>
                  <a:schemeClr val="tx2"/>
                </a:solidFill>
                <a:latin typeface="Courier New" panose="02070309020205020404" pitchFamily="49" charset="0"/>
              </a:rPr>
              <a:t>register2 = register2 – 1  </a:t>
            </a:r>
            <a:r>
              <a:rPr lang="en-US" altLang="en-US" sz="2000" dirty="0"/>
              <a:t>{register2 = 4} </a:t>
            </a:r>
            <a:br>
              <a:rPr lang="en-US" altLang="en-US" sz="2000" dirty="0"/>
            </a:br>
            <a:r>
              <a:rPr lang="en-US" altLang="en-US" sz="2000" dirty="0"/>
              <a:t>S4: producer execute </a:t>
            </a:r>
            <a:r>
              <a:rPr lang="en-US" altLang="en-US" sz="2000" b="1" dirty="0">
                <a:solidFill>
                  <a:srgbClr val="0000FF"/>
                </a:solidFill>
                <a:latin typeface="Courier New" panose="02070309020205020404" pitchFamily="49" charset="0"/>
              </a:rPr>
              <a:t>counter = register1         </a:t>
            </a:r>
            <a:r>
              <a:rPr lang="en-US" altLang="en-US" sz="2000" dirty="0"/>
              <a:t>{counter = 6 } </a:t>
            </a:r>
            <a:br>
              <a:rPr lang="en-US" altLang="en-US" sz="2000" dirty="0"/>
            </a:br>
            <a:r>
              <a:rPr lang="en-US" altLang="en-US" sz="2000" dirty="0"/>
              <a:t>S5: consumer execute </a:t>
            </a:r>
            <a:r>
              <a:rPr lang="en-US" altLang="en-US" sz="2000" b="1" dirty="0">
                <a:solidFill>
                  <a:schemeClr val="tx2"/>
                </a:solidFill>
                <a:latin typeface="Courier New" panose="02070309020205020404" pitchFamily="49" charset="0"/>
              </a:rPr>
              <a:t>counter = register2        </a:t>
            </a:r>
            <a:r>
              <a:rPr lang="en-US" altLang="en-US" sz="2000" dirty="0"/>
              <a:t>{counter = 4}</a:t>
            </a:r>
          </a:p>
          <a:p>
            <a:pPr lvl="1">
              <a:lnSpc>
                <a:spcPct val="90000"/>
              </a:lnSpc>
              <a:buFont typeface="Monotype Sorts" pitchFamily="-84" charset="2"/>
              <a:buNone/>
            </a:pPr>
            <a:endParaRPr lang="en-US" altLang="en-US" sz="2000" dirty="0"/>
          </a:p>
        </p:txBody>
      </p:sp>
    </p:spTree>
    <p:extLst>
      <p:ext uri="{BB962C8B-B14F-4D97-AF65-F5344CB8AC3E}">
        <p14:creationId xmlns:p14="http://schemas.microsoft.com/office/powerpoint/2010/main" val="2964105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1981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929148" y="1159882"/>
            <a:ext cx="10427110" cy="4433523"/>
          </a:xfrm>
        </p:spPr>
        <p:txBody>
          <a:bodyPr/>
          <a:lstStyle/>
          <a:p>
            <a:r>
              <a:rPr lang="en-US" altLang="en-US" sz="2000" dirty="0"/>
              <a:t>Consider system of </a:t>
            </a:r>
            <a:r>
              <a:rPr lang="en-US" altLang="en-US" sz="2000" b="1" i="1" dirty="0"/>
              <a:t>n</a:t>
            </a:r>
            <a:r>
              <a:rPr lang="en-US" altLang="en-US" sz="2000" b="1" dirty="0"/>
              <a:t> </a:t>
            </a:r>
            <a:r>
              <a:rPr lang="en-US" altLang="en-US" sz="2000" dirty="0"/>
              <a:t>processes {</a:t>
            </a:r>
            <a:r>
              <a:rPr lang="en-US" altLang="en-US" sz="2000" b="1" i="1" dirty="0"/>
              <a:t>p</a:t>
            </a:r>
            <a:r>
              <a:rPr lang="en-US" altLang="en-US" sz="2000" b="1" i="1" baseline="-25000" dirty="0"/>
              <a:t>0</a:t>
            </a:r>
            <a:r>
              <a:rPr lang="en-US" altLang="en-US" sz="2000" b="1" i="1" dirty="0"/>
              <a:t>, p</a:t>
            </a:r>
            <a:r>
              <a:rPr lang="en-US" altLang="en-US" sz="2000" b="1" i="1" baseline="-25000" dirty="0"/>
              <a:t>1</a:t>
            </a:r>
            <a:r>
              <a:rPr lang="en-US" altLang="en-US" sz="2000" b="1" i="1" dirty="0"/>
              <a:t>, … p</a:t>
            </a:r>
            <a:r>
              <a:rPr lang="en-US" altLang="en-US" sz="2000" b="1" i="1" baseline="-25000" dirty="0"/>
              <a:t>n-1</a:t>
            </a:r>
            <a:r>
              <a:rPr lang="en-US" altLang="en-US" sz="2000" dirty="0"/>
              <a:t>}</a:t>
            </a:r>
          </a:p>
          <a:p>
            <a:endParaRPr lang="en-US" altLang="en-US" sz="2000" dirty="0"/>
          </a:p>
          <a:p>
            <a:r>
              <a:rPr lang="en-US" altLang="en-US" sz="2000" dirty="0"/>
              <a:t>Each process has </a:t>
            </a:r>
            <a:r>
              <a:rPr lang="en-US" altLang="en-US" sz="2000" b="1" dirty="0">
                <a:solidFill>
                  <a:srgbClr val="006699"/>
                </a:solidFill>
                <a:latin typeface="+mj-lt"/>
              </a:rPr>
              <a:t>critical section </a:t>
            </a:r>
            <a:r>
              <a:rPr lang="en-US" altLang="en-US" sz="2000" dirty="0"/>
              <a:t>segment of code</a:t>
            </a:r>
          </a:p>
          <a:p>
            <a:pPr lvl="1"/>
            <a:r>
              <a:rPr lang="en-US" altLang="en-US" sz="2000" dirty="0"/>
              <a:t>Process may be changing common variables, updating table, writing file, etc.</a:t>
            </a:r>
          </a:p>
          <a:p>
            <a:pPr lvl="1"/>
            <a:r>
              <a:rPr lang="en-US" altLang="en-US" sz="2000" dirty="0"/>
              <a:t>When one process in critical section, no other may be in its critical section</a:t>
            </a:r>
          </a:p>
          <a:p>
            <a:endParaRPr lang="en-US" altLang="en-US" sz="2000" b="1" i="1" dirty="0"/>
          </a:p>
          <a:p>
            <a:r>
              <a:rPr lang="en-US" altLang="en-US" sz="2000" b="1" i="1" dirty="0"/>
              <a:t>Critical section problem </a:t>
            </a:r>
            <a:r>
              <a:rPr lang="en-US" altLang="en-US" sz="2000" dirty="0"/>
              <a:t>is to design protocol to solve this</a:t>
            </a:r>
          </a:p>
          <a:p>
            <a:endParaRPr lang="en-US" altLang="en-US" sz="2000" dirty="0"/>
          </a:p>
          <a:p>
            <a:r>
              <a:rPr lang="en-US" altLang="en-US" sz="2000" dirty="0"/>
              <a:t>Each process must ask permission to enter critical section in </a:t>
            </a:r>
            <a:r>
              <a:rPr lang="en-US" altLang="en-US" sz="2000" b="1" dirty="0">
                <a:solidFill>
                  <a:srgbClr val="006699"/>
                </a:solidFill>
                <a:latin typeface="+mj-lt"/>
              </a:rPr>
              <a:t>entry</a:t>
            </a:r>
            <a:r>
              <a:rPr lang="en-US" altLang="en-US" sz="2000" b="1" dirty="0">
                <a:solidFill>
                  <a:srgbClr val="3366FF"/>
                </a:solidFill>
              </a:rPr>
              <a:t> </a:t>
            </a:r>
            <a:r>
              <a:rPr lang="en-US" altLang="en-US" sz="2000" b="1" dirty="0">
                <a:solidFill>
                  <a:srgbClr val="006699"/>
                </a:solidFill>
                <a:latin typeface="+mj-lt"/>
              </a:rPr>
              <a:t>section</a:t>
            </a:r>
            <a:r>
              <a:rPr lang="en-US" altLang="en-US" sz="2000" dirty="0"/>
              <a:t>, may follow critical section with </a:t>
            </a:r>
            <a:r>
              <a:rPr lang="en-US" altLang="en-US" sz="2000" b="1" dirty="0">
                <a:solidFill>
                  <a:srgbClr val="006699"/>
                </a:solidFill>
                <a:latin typeface="+mj-lt"/>
              </a:rPr>
              <a:t>exit section</a:t>
            </a:r>
            <a:r>
              <a:rPr lang="en-US" altLang="en-US" sz="2000" dirty="0"/>
              <a:t>, then </a:t>
            </a:r>
            <a:r>
              <a:rPr lang="en-US" altLang="en-US" sz="2000" b="1" dirty="0">
                <a:solidFill>
                  <a:srgbClr val="006699"/>
                </a:solidFill>
                <a:latin typeface="+mj-lt"/>
              </a:rPr>
              <a:t>remainder section</a:t>
            </a:r>
          </a:p>
          <a:p>
            <a:endParaRPr lang="en-US" altLang="en-US" sz="2000" b="1" dirty="0">
              <a:solidFill>
                <a:srgbClr val="3366FF"/>
              </a:solidFill>
            </a:endParaRPr>
          </a:p>
          <a:p>
            <a:pPr>
              <a:buFont typeface="Monotype Sorts" pitchFamily="-84" charset="2"/>
              <a:buNone/>
            </a:pPr>
            <a:endParaRPr lang="en-US" altLang="en-US" sz="2000" b="1" dirty="0">
              <a:solidFill>
                <a:srgbClr val="006699"/>
              </a:solidFill>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1981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3503960" y="1943900"/>
            <a:ext cx="4415924" cy="4285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2345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855406" y="1653517"/>
            <a:ext cx="10913807" cy="4806277"/>
          </a:xfrm>
        </p:spPr>
        <p:txBody>
          <a:bodyPr/>
          <a:lstStyle/>
          <a:p>
            <a:pPr marL="342900" indent="-342900">
              <a:buFont typeface="Monotype Sorts" pitchFamily="-84" charset="2"/>
              <a:buAutoNum type="arabicPeriod"/>
            </a:pPr>
            <a:r>
              <a:rPr lang="en-US" altLang="en-US" sz="2000" b="1" dirty="0">
                <a:solidFill>
                  <a:srgbClr val="006699"/>
                </a:solidFill>
                <a:latin typeface="+mj-lt"/>
              </a:rPr>
              <a:t>Mutual Exclusion </a:t>
            </a:r>
            <a:r>
              <a:rPr lang="en-US" altLang="en-US" sz="2000" dirty="0"/>
              <a:t>- If process </a:t>
            </a:r>
            <a:r>
              <a:rPr lang="en-US" altLang="en-US" sz="2000" b="1" i="1" dirty="0"/>
              <a:t>P</a:t>
            </a:r>
            <a:r>
              <a:rPr lang="en-US" altLang="en-US" sz="2000" b="1" i="1" baseline="-25000" dirty="0"/>
              <a:t>i</a:t>
            </a:r>
            <a:r>
              <a:rPr lang="en-US" altLang="en-US" sz="2000" b="1" dirty="0"/>
              <a:t> </a:t>
            </a:r>
            <a:r>
              <a:rPr lang="en-US" altLang="en-US" sz="2000" dirty="0"/>
              <a:t>is executing in its critical section, then no other processes can be executing in their critical sections</a:t>
            </a:r>
          </a:p>
          <a:p>
            <a:pPr marL="342900" indent="-342900">
              <a:buFont typeface="Monotype Sorts" pitchFamily="-84" charset="2"/>
              <a:buAutoNum type="arabicPeriod"/>
            </a:pPr>
            <a:endParaRPr lang="en-US" altLang="en-US" sz="2000" b="1" dirty="0">
              <a:solidFill>
                <a:srgbClr val="006699"/>
              </a:solidFill>
              <a:latin typeface="+mj-lt"/>
            </a:endParaRPr>
          </a:p>
          <a:p>
            <a:pPr marL="342900" indent="-342900">
              <a:buFont typeface="Monotype Sorts" pitchFamily="-84" charset="2"/>
              <a:buAutoNum type="arabicPeriod"/>
            </a:pPr>
            <a:r>
              <a:rPr lang="en-US" altLang="en-US" sz="2000" b="1" dirty="0">
                <a:solidFill>
                  <a:srgbClr val="006699"/>
                </a:solidFill>
                <a:latin typeface="+mj-lt"/>
              </a:rPr>
              <a:t>Progress</a:t>
            </a:r>
            <a:r>
              <a:rPr lang="en-US" altLang="en-US" sz="2000" b="1" dirty="0"/>
              <a:t> </a:t>
            </a:r>
            <a:r>
              <a:rPr lang="en-US" altLang="en-US" sz="2000" dirty="0"/>
              <a:t>- If no process is executing in its critical section and there exist some processes that wish to enter their critical section, then the selection of the process that will enter the critical section next </a:t>
            </a:r>
            <a:r>
              <a:rPr lang="en-US" altLang="en-US" sz="2000" dirty="0">
                <a:highlight>
                  <a:srgbClr val="FFFF00"/>
                </a:highlight>
              </a:rPr>
              <a:t>cannot be postponed indefinitely</a:t>
            </a:r>
          </a:p>
          <a:p>
            <a:pPr marL="342900" indent="-342900">
              <a:buFont typeface="Monotype Sorts" pitchFamily="-84" charset="2"/>
              <a:buAutoNum type="arabicPeriod"/>
            </a:pPr>
            <a:endParaRPr lang="en-US" altLang="en-US" sz="2000" b="1" dirty="0">
              <a:solidFill>
                <a:srgbClr val="006699"/>
              </a:solidFill>
              <a:highlight>
                <a:srgbClr val="FFFF00"/>
              </a:highlight>
            </a:endParaRPr>
          </a:p>
          <a:p>
            <a:pPr marL="342900" indent="-342900">
              <a:buFont typeface="Monotype Sorts" pitchFamily="-84" charset="2"/>
              <a:buAutoNum type="arabicPeriod"/>
            </a:pPr>
            <a:r>
              <a:rPr lang="en-US" altLang="en-US" sz="2000" b="1" dirty="0">
                <a:solidFill>
                  <a:srgbClr val="006699"/>
                </a:solidFill>
              </a:rPr>
              <a:t>Bounded Waiting </a:t>
            </a:r>
            <a:r>
              <a:rPr lang="en-US" altLang="en-US" sz="2000" dirty="0"/>
              <a:t>- A bound must exist on the </a:t>
            </a:r>
            <a:r>
              <a:rPr lang="en-US" altLang="en-US" sz="2000" dirty="0">
                <a:highlight>
                  <a:srgbClr val="FFFF00"/>
                </a:highlight>
              </a:rPr>
              <a:t>number of times that other processes are allowed to enter</a:t>
            </a:r>
            <a:r>
              <a:rPr lang="en-US" altLang="en-US" sz="2000" dirty="0"/>
              <a:t> their critical sections after a process has made a request to enter its critical section and before that request is granted</a:t>
            </a:r>
            <a:r>
              <a:rPr lang="en-US" altLang="en-US" sz="2000" dirty="0">
                <a:solidFill>
                  <a:srgbClr val="993300"/>
                </a:solidFill>
              </a:rPr>
              <a:t> </a:t>
            </a:r>
            <a:endParaRPr lang="en-US" altLang="en-US" sz="2000" dirty="0"/>
          </a:p>
          <a:p>
            <a:pPr lvl="1">
              <a:buSzPct val="125000"/>
            </a:pPr>
            <a:r>
              <a:rPr lang="en-US" altLang="en-US" sz="2000" dirty="0"/>
              <a:t>Assume that each process executes at a nonzero speed </a:t>
            </a:r>
          </a:p>
          <a:p>
            <a:pPr lvl="1">
              <a:buSzPct val="125000"/>
            </a:pPr>
            <a:r>
              <a:rPr lang="en-US" altLang="en-US" sz="2000" dirty="0"/>
              <a:t>No assumption concerning </a:t>
            </a:r>
            <a:r>
              <a:rPr lang="en-US" altLang="en-US" sz="2000" b="1" dirty="0">
                <a:solidFill>
                  <a:srgbClr val="006699"/>
                </a:solidFill>
                <a:latin typeface="+mj-lt"/>
              </a:rPr>
              <a:t>relative speed </a:t>
            </a:r>
            <a:r>
              <a:rPr lang="en-US" altLang="en-US" sz="2000" dirty="0"/>
              <a:t>of the</a:t>
            </a:r>
            <a:r>
              <a:rPr lang="en-US" altLang="en-US" sz="2000" b="1" dirty="0"/>
              <a:t> </a:t>
            </a:r>
            <a:r>
              <a:rPr lang="en-US" altLang="en-US" sz="2000" b="1" i="1" dirty="0">
                <a:solidFill>
                  <a:srgbClr val="000000"/>
                </a:solidFill>
              </a:rPr>
              <a:t>n</a:t>
            </a:r>
            <a:r>
              <a:rPr lang="en-US" altLang="en-US" sz="2000" b="1" dirty="0">
                <a:solidFill>
                  <a:srgbClr val="000000"/>
                </a:solidFill>
              </a:rPr>
              <a:t> </a:t>
            </a:r>
            <a:r>
              <a:rPr lang="en-US" altLang="en-US" sz="2000" dirty="0"/>
              <a:t>processes</a:t>
            </a:r>
          </a:p>
        </p:txBody>
      </p:sp>
      <p:sp>
        <p:nvSpPr>
          <p:cNvPr id="2" name="TextBox 1"/>
          <p:cNvSpPr txBox="1"/>
          <p:nvPr/>
        </p:nvSpPr>
        <p:spPr>
          <a:xfrm>
            <a:off x="2497396" y="1054512"/>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2177144"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2335763" y="1103615"/>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2270446"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2279777"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2279777" y="3051108"/>
            <a:ext cx="4949159"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2139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1179872" y="1314826"/>
            <a:ext cx="10235380" cy="5026980"/>
          </a:xfrm>
        </p:spPr>
        <p:txBody>
          <a:bodyPr/>
          <a:lstStyle/>
          <a:p>
            <a:pPr>
              <a:lnSpc>
                <a:spcPct val="90000"/>
              </a:lnSpc>
              <a:tabLst>
                <a:tab pos="739775" algn="l"/>
                <a:tab pos="1020763" algn="l"/>
                <a:tab pos="1257300" algn="l"/>
              </a:tabLst>
            </a:pPr>
            <a:r>
              <a:rPr lang="en-US" altLang="en-US" sz="2000" dirty="0"/>
              <a:t>Two process solution</a:t>
            </a:r>
          </a:p>
          <a:p>
            <a:pPr>
              <a:lnSpc>
                <a:spcPct val="90000"/>
              </a:lnSpc>
              <a:tabLst>
                <a:tab pos="739775" algn="l"/>
                <a:tab pos="1020763" algn="l"/>
                <a:tab pos="1257300" algn="l"/>
              </a:tabLst>
            </a:pPr>
            <a:endParaRPr lang="en-US" altLang="en-US" sz="2000" dirty="0"/>
          </a:p>
          <a:p>
            <a:pPr>
              <a:lnSpc>
                <a:spcPct val="90000"/>
              </a:lnSpc>
              <a:tabLst>
                <a:tab pos="739775" algn="l"/>
                <a:tab pos="1020763" algn="l"/>
                <a:tab pos="1257300" algn="l"/>
              </a:tabLst>
            </a:pPr>
            <a:r>
              <a:rPr lang="en-US" altLang="en-US" sz="2000" dirty="0"/>
              <a:t>Assume that the </a:t>
            </a:r>
            <a:r>
              <a:rPr lang="en-US" altLang="en-US" sz="2000" b="1" dirty="0">
                <a:latin typeface="Courier New" panose="02070309020205020404" pitchFamily="49" charset="0"/>
              </a:rPr>
              <a:t>load</a:t>
            </a:r>
            <a:r>
              <a:rPr lang="en-US" altLang="en-US" sz="2000" dirty="0">
                <a:latin typeface="Courier New" panose="02070309020205020404" pitchFamily="49" charset="0"/>
              </a:rPr>
              <a:t> </a:t>
            </a:r>
            <a:r>
              <a:rPr lang="en-US" altLang="en-US" sz="2000" dirty="0"/>
              <a:t>and </a:t>
            </a:r>
            <a:r>
              <a:rPr lang="en-US" altLang="en-US" sz="2000" b="1" dirty="0">
                <a:latin typeface="Courier New" panose="02070309020205020404" pitchFamily="49" charset="0"/>
              </a:rPr>
              <a:t>store</a:t>
            </a:r>
            <a:r>
              <a:rPr lang="en-US" altLang="en-US" sz="2000" dirty="0"/>
              <a:t> machine-language instructions are atomic; that is, cannot be interrupted</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 </a:t>
            </a:r>
            <a:endParaRPr lang="en-US" altLang="en-US" sz="2000" b="1" dirty="0">
              <a:solidFill>
                <a:srgbClr val="000000"/>
              </a:solidFill>
            </a:endParaRP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variable </a:t>
            </a:r>
            <a:r>
              <a:rPr lang="en-US" altLang="en-US" sz="2000" b="1" dirty="0">
                <a:latin typeface="Courier New" panose="02070309020205020404" pitchFamily="49" charset="0"/>
              </a:rPr>
              <a:t>turn</a:t>
            </a:r>
            <a:r>
              <a:rPr lang="en-US" altLang="en-US" sz="2000" dirty="0">
                <a:solidFill>
                  <a:srgbClr val="000000"/>
                </a:solidFill>
              </a:rPr>
              <a:t> indicates whose turn it is to enter the critical section</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initially, the value of </a:t>
            </a:r>
            <a:r>
              <a:rPr lang="en-US" altLang="en-US" sz="2000" b="1" dirty="0">
                <a:latin typeface="Courier New" panose="02070309020205020404" pitchFamily="49" charset="0"/>
              </a:rPr>
              <a:t>turn </a:t>
            </a:r>
            <a:r>
              <a:rPr lang="en-US" altLang="en-US" sz="2000" dirty="0">
                <a:solidFill>
                  <a:srgbClr val="000000"/>
                </a:solidFill>
              </a:rPr>
              <a:t>is set to </a:t>
            </a:r>
            <a:r>
              <a:rPr lang="en-US" altLang="en-US" sz="2000"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247292" y="896679"/>
            <a:ext cx="5596552"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687644" y="1582340"/>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513144" y="2283147"/>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513144" y="3666579"/>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 name="Rectangle 3">
            <a:extLst>
              <a:ext uri="{FF2B5EF4-FFF2-40B4-BE49-F238E27FC236}">
                <a16:creationId xmlns:a16="http://schemas.microsoft.com/office/drawing/2014/main" id="{17B9D4B0-64AB-39F5-E94B-254D93036895}"/>
              </a:ext>
            </a:extLst>
          </p:cNvPr>
          <p:cNvSpPr>
            <a:spLocks noChangeArrowheads="1"/>
          </p:cNvSpPr>
          <p:nvPr/>
        </p:nvSpPr>
        <p:spPr bwMode="auto">
          <a:xfrm>
            <a:off x="5843844" y="1582340"/>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3" name="Rectangle 7">
            <a:extLst>
              <a:ext uri="{FF2B5EF4-FFF2-40B4-BE49-F238E27FC236}">
                <a16:creationId xmlns:a16="http://schemas.microsoft.com/office/drawing/2014/main" id="{5E9A9A86-218F-6C39-A456-91DE19DB72E1}"/>
              </a:ext>
            </a:extLst>
          </p:cNvPr>
          <p:cNvSpPr>
            <a:spLocks noChangeArrowheads="1"/>
          </p:cNvSpPr>
          <p:nvPr/>
        </p:nvSpPr>
        <p:spPr bwMode="auto">
          <a:xfrm>
            <a:off x="6669344" y="2283147"/>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4" name="Rectangle 8">
            <a:extLst>
              <a:ext uri="{FF2B5EF4-FFF2-40B4-BE49-F238E27FC236}">
                <a16:creationId xmlns:a16="http://schemas.microsoft.com/office/drawing/2014/main" id="{F138ED77-5DFF-B0A4-DCDE-7C50EA329CD1}"/>
              </a:ext>
            </a:extLst>
          </p:cNvPr>
          <p:cNvSpPr>
            <a:spLocks noChangeArrowheads="1"/>
          </p:cNvSpPr>
          <p:nvPr/>
        </p:nvSpPr>
        <p:spPr bwMode="auto">
          <a:xfrm>
            <a:off x="6669344" y="3666579"/>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5" name="Title 1">
            <a:extLst>
              <a:ext uri="{FF2B5EF4-FFF2-40B4-BE49-F238E27FC236}">
                <a16:creationId xmlns:a16="http://schemas.microsoft.com/office/drawing/2014/main" id="{84BB6038-1954-B0B1-3BE6-AFF80DDC1EAC}"/>
              </a:ext>
            </a:extLst>
          </p:cNvPr>
          <p:cNvSpPr txBox="1">
            <a:spLocks/>
          </p:cNvSpPr>
          <p:nvPr/>
        </p:nvSpPr>
        <p:spPr bwMode="auto">
          <a:xfrm>
            <a:off x="5623668" y="896679"/>
            <a:ext cx="559655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r>
              <a:rPr lang="en-US" altLang="en-US" kern="0" dirty="0"/>
              <a:t>Algorithm for Process </a:t>
            </a:r>
            <a:r>
              <a:rPr lang="en-US" altLang="en-US" i="1" kern="0" dirty="0" err="1"/>
              <a:t>P</a:t>
            </a:r>
            <a:r>
              <a:rPr lang="en-US" altLang="en-US" i="1" kern="0" baseline="-25000" dirty="0" err="1"/>
              <a:t>j</a:t>
            </a:r>
            <a:endParaRPr lang="en-US" altLang="en-US" i="1" kern="0" dirty="0"/>
          </a:p>
        </p:txBody>
      </p:sp>
      <p:cxnSp>
        <p:nvCxnSpPr>
          <p:cNvPr id="7" name="Straight Connector 6">
            <a:extLst>
              <a:ext uri="{FF2B5EF4-FFF2-40B4-BE49-F238E27FC236}">
                <a16:creationId xmlns:a16="http://schemas.microsoft.com/office/drawing/2014/main" id="{F6CB5CD8-8D89-A546-E503-EC9D48BB8251}"/>
              </a:ext>
            </a:extLst>
          </p:cNvPr>
          <p:cNvCxnSpPr/>
          <p:nvPr/>
        </p:nvCxnSpPr>
        <p:spPr bwMode="auto">
          <a:xfrm>
            <a:off x="5623668" y="896679"/>
            <a:ext cx="0" cy="4973179"/>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4661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3050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1548581" y="1233489"/>
            <a:ext cx="9763432" cy="4422775"/>
          </a:xfrm>
        </p:spPr>
        <p:txBody>
          <a:bodyPr/>
          <a:lstStyle/>
          <a:p>
            <a:r>
              <a:rPr lang="en-US" altLang="en-US" sz="2000" dirty="0">
                <a:solidFill>
                  <a:srgbClr val="000000"/>
                </a:solidFill>
              </a:rPr>
              <a:t>Mutual exclusion is preserved</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b="1" dirty="0">
                <a:solidFill>
                  <a:srgbClr val="000000"/>
                </a:solidFill>
                <a:latin typeface="Courier New" panose="02070309020205020404" pitchFamily="49" charset="0"/>
              </a:rPr>
              <a:t> </a:t>
            </a:r>
            <a:r>
              <a:rPr lang="en-US" altLang="en-US" sz="2000" dirty="0">
                <a:solidFill>
                  <a:srgbClr val="000000"/>
                </a:solidFill>
              </a:rPr>
              <a:t>enters critical section only if:</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turn = </a:t>
            </a:r>
            <a:r>
              <a:rPr lang="en-US" altLang="en-US" sz="2000" b="1" dirty="0" err="1">
                <a:solidFill>
                  <a:srgbClr val="000000"/>
                </a:solidFill>
                <a:latin typeface="Courier New" panose="02070309020205020404" pitchFamily="49" charset="0"/>
              </a:rPr>
              <a:t>i</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rPr>
              <a:t>and </a:t>
            </a:r>
            <a:r>
              <a:rPr lang="en-US" altLang="en-US" sz="2000" b="1" dirty="0">
                <a:solidFill>
                  <a:srgbClr val="000000"/>
                </a:solidFill>
                <a:latin typeface="Courier New" panose="02070309020205020404" pitchFamily="49" charset="0"/>
              </a:rPr>
              <a:t>turn </a:t>
            </a:r>
            <a:r>
              <a:rPr lang="en-US" altLang="en-US" sz="2000" dirty="0">
                <a:solidFill>
                  <a:srgbClr val="000000"/>
                </a:solidFill>
              </a:rPr>
              <a:t>cannot be both 0 and 1 at the same time</a:t>
            </a: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What about the Progress requirement?</a:t>
            </a: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What about the Bounded-waiting requirement?</a:t>
            </a:r>
          </a:p>
          <a:p>
            <a:pPr>
              <a:lnSpc>
                <a:spcPct val="90000"/>
              </a:lnSpc>
            </a:pPr>
            <a:endParaRPr lang="en-US" altLang="en-US" sz="2000" dirty="0"/>
          </a:p>
        </p:txBody>
      </p:sp>
    </p:spTree>
    <p:extLst>
      <p:ext uri="{BB962C8B-B14F-4D97-AF65-F5344CB8AC3E}">
        <p14:creationId xmlns:p14="http://schemas.microsoft.com/office/powerpoint/2010/main" val="403554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2139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1165123" y="1139856"/>
            <a:ext cx="10235380" cy="5231447"/>
          </a:xfrm>
        </p:spPr>
        <p:txBody>
          <a:bodyPr/>
          <a:lstStyle/>
          <a:p>
            <a:pPr>
              <a:lnSpc>
                <a:spcPct val="90000"/>
              </a:lnSpc>
              <a:tabLst>
                <a:tab pos="739775" algn="l"/>
                <a:tab pos="1020763" algn="l"/>
                <a:tab pos="1257300" algn="l"/>
              </a:tabLst>
            </a:pPr>
            <a:r>
              <a:rPr lang="en-US" altLang="en-US" sz="2000" dirty="0"/>
              <a:t>Two process solution</a:t>
            </a:r>
          </a:p>
          <a:p>
            <a:pPr>
              <a:lnSpc>
                <a:spcPct val="90000"/>
              </a:lnSpc>
              <a:tabLst>
                <a:tab pos="739775" algn="l"/>
                <a:tab pos="1020763" algn="l"/>
                <a:tab pos="1257300" algn="l"/>
              </a:tabLst>
            </a:pPr>
            <a:endParaRPr lang="en-US" altLang="en-US" sz="2000" dirty="0"/>
          </a:p>
          <a:p>
            <a:pPr>
              <a:lnSpc>
                <a:spcPct val="90000"/>
              </a:lnSpc>
              <a:tabLst>
                <a:tab pos="739775" algn="l"/>
                <a:tab pos="1020763" algn="l"/>
                <a:tab pos="1257300" algn="l"/>
              </a:tabLst>
            </a:pPr>
            <a:r>
              <a:rPr lang="en-US" altLang="en-US" sz="2000" dirty="0"/>
              <a:t>Assume that the </a:t>
            </a:r>
            <a:r>
              <a:rPr lang="en-US" altLang="en-US" sz="2000" b="1" dirty="0">
                <a:latin typeface="Courier New" panose="02070309020205020404" pitchFamily="49" charset="0"/>
              </a:rPr>
              <a:t>load</a:t>
            </a:r>
            <a:r>
              <a:rPr lang="en-US" altLang="en-US" sz="2000" dirty="0">
                <a:latin typeface="Courier New" panose="02070309020205020404" pitchFamily="49" charset="0"/>
              </a:rPr>
              <a:t> </a:t>
            </a:r>
            <a:r>
              <a:rPr lang="en-US" altLang="en-US" sz="2000" dirty="0"/>
              <a:t>and </a:t>
            </a:r>
            <a:r>
              <a:rPr lang="en-US" altLang="en-US" sz="2000" b="1" dirty="0">
                <a:latin typeface="Courier New" panose="02070309020205020404" pitchFamily="49" charset="0"/>
              </a:rPr>
              <a:t>store</a:t>
            </a:r>
            <a:r>
              <a:rPr lang="en-US" altLang="en-US" sz="2000" dirty="0"/>
              <a:t> machine-language instructions are atomic; that is, cannot be interrupted</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two processes share two variables:</a:t>
            </a:r>
          </a:p>
          <a:p>
            <a:pPr lvl="1">
              <a:lnSpc>
                <a:spcPct val="90000"/>
              </a:lnSpc>
              <a:tabLst>
                <a:tab pos="739775" algn="l"/>
                <a:tab pos="1020763" algn="l"/>
                <a:tab pos="1257300" algn="l"/>
              </a:tabLst>
            </a:pPr>
            <a:r>
              <a:rPr lang="en-US" altLang="en-US" sz="2000" b="1" dirty="0" err="1">
                <a:latin typeface="Courier New" panose="02070309020205020404" pitchFamily="49" charset="0"/>
              </a:rPr>
              <a:t>int</a:t>
            </a:r>
            <a:r>
              <a:rPr lang="en-US" altLang="en-US" sz="2000" b="1" dirty="0">
                <a:latin typeface="Courier New" panose="02070309020205020404" pitchFamily="49" charset="0"/>
              </a:rPr>
              <a:t> turn; </a:t>
            </a:r>
          </a:p>
          <a:p>
            <a:pPr lvl="1">
              <a:lnSpc>
                <a:spcPct val="90000"/>
              </a:lnSpc>
              <a:tabLst>
                <a:tab pos="739775" algn="l"/>
                <a:tab pos="1020763" algn="l"/>
                <a:tab pos="1257300" algn="l"/>
              </a:tabLst>
            </a:pPr>
            <a:r>
              <a:rPr lang="en-US" altLang="en-US" sz="2000" b="1" dirty="0" err="1">
                <a:latin typeface="Courier New" panose="02070309020205020404" pitchFamily="49" charset="0"/>
              </a:rPr>
              <a:t>boolean</a:t>
            </a:r>
            <a:r>
              <a:rPr lang="en-US" altLang="en-US" sz="2000" b="1" dirty="0">
                <a:latin typeface="Courier New" panose="02070309020205020404" pitchFamily="49" charset="0"/>
              </a:rPr>
              <a:t> flag[2]</a:t>
            </a:r>
          </a:p>
          <a:p>
            <a:pPr lvl="1">
              <a:lnSpc>
                <a:spcPct val="90000"/>
              </a:lnSpc>
              <a:tabLst>
                <a:tab pos="739775" algn="l"/>
                <a:tab pos="1020763" algn="l"/>
                <a:tab pos="1257300" algn="l"/>
              </a:tabLst>
            </a:pPr>
            <a:endParaRPr lang="en-US" altLang="en-US" sz="2000" b="1"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variable </a:t>
            </a:r>
            <a:r>
              <a:rPr lang="en-US" altLang="en-US" sz="2000" b="1" dirty="0">
                <a:latin typeface="Courier New" panose="02070309020205020404" pitchFamily="49" charset="0"/>
              </a:rPr>
              <a:t>turn</a:t>
            </a:r>
            <a:r>
              <a:rPr lang="en-US" altLang="en-US" sz="2000" dirty="0">
                <a:solidFill>
                  <a:srgbClr val="000000"/>
                </a:solidFill>
              </a:rPr>
              <a:t> indicates whose turn it is to enter the critical section</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a:t>
            </a:r>
            <a:r>
              <a:rPr lang="en-US" altLang="en-US" sz="2000" b="1" dirty="0">
                <a:latin typeface="Courier New" panose="02070309020205020404" pitchFamily="49" charset="0"/>
              </a:rPr>
              <a:t>flag </a:t>
            </a:r>
            <a:r>
              <a:rPr lang="en-US" altLang="en-US" sz="2000"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sz="2000" b="1" dirty="0">
                <a:latin typeface="Courier New" panose="02070309020205020404" pitchFamily="49" charset="0"/>
              </a:rPr>
              <a:t>flag[</a:t>
            </a:r>
            <a:r>
              <a:rPr lang="en-US" altLang="en-US" sz="2000" b="1" dirty="0" err="1">
                <a:latin typeface="Courier New" panose="02070309020205020404" pitchFamily="49" charset="0"/>
              </a:rPr>
              <a:t>i</a:t>
            </a:r>
            <a:r>
              <a:rPr lang="en-US" altLang="en-US" sz="2000" b="1" dirty="0">
                <a:latin typeface="Courier New" panose="02070309020205020404" pitchFamily="49" charset="0"/>
              </a:rPr>
              <a:t>] = </a:t>
            </a:r>
            <a:r>
              <a:rPr lang="en-US" altLang="en-US" sz="2000" b="1" i="1" dirty="0">
                <a:latin typeface="Courier New" panose="02070309020205020404" pitchFamily="49" charset="0"/>
              </a:rPr>
              <a:t>true</a:t>
            </a:r>
            <a:r>
              <a:rPr lang="en-US" altLang="en-US" sz="2000"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806251" y="392898"/>
            <a:ext cx="5053779"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48431" y="1713468"/>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173931" y="2280638"/>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173931" y="4078259"/>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2" name="Title 1">
            <a:extLst>
              <a:ext uri="{FF2B5EF4-FFF2-40B4-BE49-F238E27FC236}">
                <a16:creationId xmlns:a16="http://schemas.microsoft.com/office/drawing/2014/main" id="{53AA082D-8A66-39F0-E169-817BD034E405}"/>
              </a:ext>
            </a:extLst>
          </p:cNvPr>
          <p:cNvSpPr txBox="1">
            <a:spLocks/>
          </p:cNvSpPr>
          <p:nvPr/>
        </p:nvSpPr>
        <p:spPr bwMode="auto">
          <a:xfrm>
            <a:off x="6641281" y="392898"/>
            <a:ext cx="5053779"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r>
              <a:rPr lang="en-US" altLang="en-US" kern="0" dirty="0"/>
              <a:t>Algorithm for Process </a:t>
            </a:r>
            <a:r>
              <a:rPr lang="en-US" altLang="en-US" i="1" kern="0" dirty="0" err="1"/>
              <a:t>P</a:t>
            </a:r>
            <a:r>
              <a:rPr lang="en-US" altLang="en-US" i="1" kern="0" baseline="-25000" dirty="0" err="1"/>
              <a:t>j</a:t>
            </a:r>
            <a:endParaRPr lang="en-US" altLang="en-US" i="1" kern="0" dirty="0"/>
          </a:p>
        </p:txBody>
      </p:sp>
      <p:sp>
        <p:nvSpPr>
          <p:cNvPr id="3" name="Rectangle 3">
            <a:extLst>
              <a:ext uri="{FF2B5EF4-FFF2-40B4-BE49-F238E27FC236}">
                <a16:creationId xmlns:a16="http://schemas.microsoft.com/office/drawing/2014/main" id="{0E197E98-5630-8077-95D2-ABE1A3C92016}"/>
              </a:ext>
            </a:extLst>
          </p:cNvPr>
          <p:cNvSpPr>
            <a:spLocks noChangeArrowheads="1"/>
          </p:cNvSpPr>
          <p:nvPr/>
        </p:nvSpPr>
        <p:spPr bwMode="auto">
          <a:xfrm>
            <a:off x="5947491" y="1713468"/>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flag[j] = true; </a:t>
            </a: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&amp;&amp;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flag[j]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4" name="Rectangle 7">
            <a:extLst>
              <a:ext uri="{FF2B5EF4-FFF2-40B4-BE49-F238E27FC236}">
                <a16:creationId xmlns:a16="http://schemas.microsoft.com/office/drawing/2014/main" id="{B532688B-D46F-0849-D90E-177FC405CC0C}"/>
              </a:ext>
            </a:extLst>
          </p:cNvPr>
          <p:cNvSpPr>
            <a:spLocks noChangeArrowheads="1"/>
          </p:cNvSpPr>
          <p:nvPr/>
        </p:nvSpPr>
        <p:spPr bwMode="auto">
          <a:xfrm>
            <a:off x="6772991" y="2280638"/>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5" name="Rectangle 8">
            <a:extLst>
              <a:ext uri="{FF2B5EF4-FFF2-40B4-BE49-F238E27FC236}">
                <a16:creationId xmlns:a16="http://schemas.microsoft.com/office/drawing/2014/main" id="{738A67A7-FC92-6885-28BD-74BCD105304A}"/>
              </a:ext>
            </a:extLst>
          </p:cNvPr>
          <p:cNvSpPr>
            <a:spLocks noChangeArrowheads="1"/>
          </p:cNvSpPr>
          <p:nvPr/>
        </p:nvSpPr>
        <p:spPr bwMode="auto">
          <a:xfrm>
            <a:off x="6772991" y="4078259"/>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cxnSp>
        <p:nvCxnSpPr>
          <p:cNvPr id="7" name="Straight Connector 6">
            <a:extLst>
              <a:ext uri="{FF2B5EF4-FFF2-40B4-BE49-F238E27FC236}">
                <a16:creationId xmlns:a16="http://schemas.microsoft.com/office/drawing/2014/main" id="{1521993E-8920-3AA6-BD54-7F29E2ED9E77}"/>
              </a:ext>
            </a:extLst>
          </p:cNvPr>
          <p:cNvCxnSpPr/>
          <p:nvPr/>
        </p:nvCxnSpPr>
        <p:spPr bwMode="auto">
          <a:xfrm>
            <a:off x="5845282" y="1042900"/>
            <a:ext cx="0" cy="501868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93168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3029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1415845" y="1233489"/>
            <a:ext cx="9792929" cy="4872343"/>
          </a:xfrm>
        </p:spPr>
        <p:txBody>
          <a:bodyPr/>
          <a:lstStyle/>
          <a:p>
            <a:r>
              <a:rPr lang="en-US" altLang="en-US" sz="2000" dirty="0">
                <a:solidFill>
                  <a:srgbClr val="000000"/>
                </a:solidFill>
              </a:rPr>
              <a:t>Provable that the three  CS requirement are met:</a:t>
            </a:r>
          </a:p>
          <a:p>
            <a:pPr>
              <a:buFont typeface="Monotype Sorts" pitchFamily="-84" charset="2"/>
              <a:buNone/>
            </a:pPr>
            <a:r>
              <a:rPr lang="en-US" altLang="en-US" sz="2000" dirty="0">
                <a:solidFill>
                  <a:srgbClr val="000000"/>
                </a:solidFill>
              </a:rPr>
              <a:t>        1.   Mutual exclusion is preserved</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b="1" dirty="0">
                <a:solidFill>
                  <a:srgbClr val="000000"/>
                </a:solidFill>
                <a:latin typeface="Courier New" panose="02070309020205020404" pitchFamily="49" charset="0"/>
              </a:rPr>
              <a:t> </a:t>
            </a:r>
            <a:r>
              <a:rPr lang="en-US" altLang="en-US" sz="2000" dirty="0">
                <a:solidFill>
                  <a:srgbClr val="000000"/>
                </a:solidFill>
              </a:rPr>
              <a:t>enters CS only if:</a:t>
            </a:r>
          </a:p>
          <a:p>
            <a:pPr>
              <a:buFont typeface="Monotype Sorts" pitchFamily="-84" charset="2"/>
              <a:buNone/>
            </a:pPr>
            <a:r>
              <a:rPr lang="en-US" altLang="en-US" sz="2000" dirty="0">
                <a:solidFill>
                  <a:srgbClr val="000000"/>
                </a:solidFill>
              </a:rPr>
              <a:t>                      either </a:t>
            </a:r>
            <a:r>
              <a:rPr lang="en-US" altLang="en-US" sz="2000" b="1" dirty="0">
                <a:solidFill>
                  <a:srgbClr val="000000"/>
                </a:solidFill>
                <a:latin typeface="Courier New" panose="02070309020205020404" pitchFamily="49" charset="0"/>
              </a:rPr>
              <a:t>flag[j] = false </a:t>
            </a:r>
            <a:r>
              <a:rPr lang="en-US" altLang="en-US" sz="2000" dirty="0">
                <a:solidFill>
                  <a:srgbClr val="000000"/>
                </a:solidFill>
              </a:rPr>
              <a:t>or</a:t>
            </a:r>
            <a:r>
              <a:rPr lang="en-US" altLang="en-US" sz="2000" b="1" dirty="0">
                <a:solidFill>
                  <a:srgbClr val="000000"/>
                </a:solidFill>
                <a:latin typeface="Courier New" panose="02070309020205020404" pitchFamily="49" charset="0"/>
              </a:rPr>
              <a:t> turn = I</a:t>
            </a:r>
          </a:p>
          <a:p>
            <a:pPr>
              <a:buFont typeface="Monotype Sorts" pitchFamily="-84" charset="2"/>
              <a:buNone/>
            </a:pPr>
            <a:endParaRPr lang="en-US" altLang="en-US" sz="2000" dirty="0">
              <a:solidFill>
                <a:srgbClr val="000000"/>
              </a:solidFill>
            </a:endParaRPr>
          </a:p>
          <a:p>
            <a:pPr>
              <a:buFont typeface="Monotype Sorts" pitchFamily="-84" charset="2"/>
              <a:buNone/>
            </a:pPr>
            <a:r>
              <a:rPr lang="en-US" altLang="en-US" sz="2000" dirty="0">
                <a:solidFill>
                  <a:srgbClr val="000000"/>
                </a:solidFill>
              </a:rPr>
              <a:t>        2.  Progress requirement is satisfied</a:t>
            </a:r>
          </a:p>
          <a:p>
            <a:pPr>
              <a:buFont typeface="Monotype Sorts" pitchFamily="-84" charset="2"/>
              <a:buNone/>
            </a:pPr>
            <a:endParaRPr lang="en-US" altLang="en-US" sz="2000" dirty="0">
              <a:solidFill>
                <a:srgbClr val="000000"/>
              </a:solidFill>
            </a:endParaRPr>
          </a:p>
          <a:p>
            <a:pPr>
              <a:buFont typeface="Monotype Sorts" pitchFamily="-84" charset="2"/>
              <a:buNone/>
            </a:pPr>
            <a:r>
              <a:rPr lang="en-US" altLang="en-US" sz="2000" dirty="0">
                <a:solidFill>
                  <a:srgbClr val="000000"/>
                </a:solidFill>
              </a:rPr>
              <a:t>        3.  Bounded-waiting requirement is met</a:t>
            </a:r>
          </a:p>
          <a:p>
            <a:pPr>
              <a:lnSpc>
                <a:spcPct val="90000"/>
              </a:lnSpc>
            </a:pPr>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2356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1120877" y="1233489"/>
            <a:ext cx="10500852" cy="4385647"/>
          </a:xfrm>
        </p:spPr>
        <p:txBody>
          <a:bodyPr/>
          <a:lstStyle/>
          <a:p>
            <a:r>
              <a:rPr lang="en-US" altLang="en-US" sz="2000" dirty="0"/>
              <a:t>Although useful for demonstrating an algorithm, Peterson’s Solution is not guaranteed to work on modern architectures.</a:t>
            </a:r>
          </a:p>
          <a:p>
            <a:pPr lvl="1"/>
            <a:r>
              <a:rPr lang="en-US" altLang="en-US" sz="2000" dirty="0"/>
              <a:t>To improve performance, processors and/or compilers may reorder operations that have no dependencies</a:t>
            </a:r>
          </a:p>
          <a:p>
            <a:endParaRPr lang="en-US" altLang="en-US" sz="2000" dirty="0"/>
          </a:p>
          <a:p>
            <a:r>
              <a:rPr lang="en-US" altLang="en-US" sz="2000" dirty="0"/>
              <a:t>Understanding why it will not work is useful for better understanding race conditions.</a:t>
            </a:r>
          </a:p>
          <a:p>
            <a:endParaRPr lang="en-US" altLang="en-US" sz="2000" dirty="0"/>
          </a:p>
          <a:p>
            <a:r>
              <a:rPr lang="en-US" altLang="en-US" sz="2000" dirty="0"/>
              <a:t>For single-threaded this is ok as the result will always be the same.</a:t>
            </a:r>
          </a:p>
          <a:p>
            <a:endParaRPr lang="en-US" altLang="en-US" sz="2000" dirty="0"/>
          </a:p>
          <a:p>
            <a:r>
              <a:rPr lang="en-US" altLang="en-US" sz="2000" dirty="0"/>
              <a:t>For multithreaded the reordering may produce inconsistent or unexpected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1981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2330450" y="1233488"/>
            <a:ext cx="7727950" cy="4710111"/>
          </a:xfrm>
        </p:spPr>
        <p:txBody>
          <a:bodyPr/>
          <a:lstStyle/>
          <a:p>
            <a:r>
              <a:rPr lang="en-US" altLang="en-US" sz="2000" dirty="0"/>
              <a:t>Two threads share the data:</a:t>
            </a:r>
            <a:br>
              <a:rPr lang="en-US" altLang="en-US" sz="2000" dirty="0"/>
            </a:br>
            <a:r>
              <a:rPr lang="en-US" altLang="en-US" sz="2000" dirty="0"/>
              <a:t>      </a:t>
            </a:r>
            <a:r>
              <a:rPr lang="en-US" altLang="en-US" sz="2000" dirty="0" err="1">
                <a:latin typeface="Courier New" panose="02070309020205020404" pitchFamily="49" charset="0"/>
                <a:cs typeface="Courier New" panose="02070309020205020404" pitchFamily="49" charset="0"/>
              </a:rPr>
              <a:t>boolean</a:t>
            </a:r>
            <a:r>
              <a:rPr lang="en-US" altLang="en-US" sz="2000" dirty="0">
                <a:latin typeface="Courier New" panose="02070309020205020404" pitchFamily="49" charset="0"/>
                <a:cs typeface="Courier New" panose="02070309020205020404" pitchFamily="49" charset="0"/>
              </a:rPr>
              <a:t> flag = false;</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int x = 0;</a:t>
            </a:r>
          </a:p>
          <a:p>
            <a:r>
              <a:rPr lang="en-US" altLang="en-US" sz="2000" dirty="0"/>
              <a:t>Thread 1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while (!flag)</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print x</a:t>
            </a:r>
          </a:p>
          <a:p>
            <a:r>
              <a:rPr lang="en-US" altLang="en-US" sz="2000" dirty="0"/>
              <a:t>Thread 2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x = 100;</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flag = true</a:t>
            </a:r>
          </a:p>
          <a:p>
            <a:r>
              <a:rPr lang="en-US" altLang="en-US" sz="2000" dirty="0"/>
              <a:t>What is the expected output?</a:t>
            </a:r>
          </a:p>
          <a:p>
            <a:pPr marL="0" indent="0">
              <a:buNone/>
            </a:pPr>
            <a:r>
              <a:rPr lang="en-US" altLang="en-US" sz="2000" dirty="0"/>
              <a:t>            </a:t>
            </a:r>
          </a:p>
          <a:p>
            <a:pPr marL="0" indent="0">
              <a:buNone/>
            </a:pPr>
            <a:r>
              <a:rPr lang="en-US" altLang="en-US" sz="2000"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3104789" y="5255180"/>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2635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1696065" y="1233489"/>
            <a:ext cx="7993625" cy="4294476"/>
          </a:xfrm>
        </p:spPr>
        <p:txBody>
          <a:bodyPr/>
          <a:lstStyle/>
          <a:p>
            <a:r>
              <a:rPr lang="en-US" altLang="en-US" sz="2000" dirty="0"/>
              <a:t>However, since the variables </a:t>
            </a:r>
            <a:r>
              <a:rPr lang="en-US" altLang="en-US" sz="2000" dirty="0">
                <a:latin typeface="Courier New" panose="02070309020205020404" pitchFamily="49" charset="0"/>
                <a:cs typeface="Courier New" panose="02070309020205020404" pitchFamily="49" charset="0"/>
              </a:rPr>
              <a:t>flag</a:t>
            </a:r>
            <a:r>
              <a:rPr lang="en-US" altLang="en-US" sz="2000" dirty="0"/>
              <a:t> and </a:t>
            </a:r>
            <a:r>
              <a:rPr lang="en-US" altLang="en-US" sz="2000" dirty="0">
                <a:latin typeface="Courier New" panose="02070309020205020404" pitchFamily="49" charset="0"/>
                <a:cs typeface="Courier New" panose="02070309020205020404" pitchFamily="49" charset="0"/>
              </a:rPr>
              <a:t>x</a:t>
            </a:r>
            <a:r>
              <a:rPr lang="en-US" altLang="en-US" sz="2000" dirty="0"/>
              <a:t> are independent of each other, the instructions:</a:t>
            </a:r>
          </a:p>
          <a:p>
            <a:pPr marL="0" indent="0">
              <a:buNone/>
            </a:pP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flag = true;</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x = 100;</a:t>
            </a:r>
          </a:p>
          <a:p>
            <a:pPr marL="0" indent="0">
              <a:buNone/>
            </a:pPr>
            <a:endParaRPr lang="en-US" altLang="en-US" sz="2000" dirty="0">
              <a:latin typeface="Courier New" panose="02070309020205020404" pitchFamily="49" charset="0"/>
              <a:cs typeface="Courier New" panose="02070309020205020404" pitchFamily="49" charset="0"/>
            </a:endParaRPr>
          </a:p>
          <a:p>
            <a:pPr marL="0" indent="0">
              <a:buNone/>
            </a:pPr>
            <a:r>
              <a:rPr lang="en-US" altLang="en-US" sz="2000" dirty="0">
                <a:latin typeface="Courier New" panose="02070309020205020404" pitchFamily="49" charset="0"/>
                <a:cs typeface="Courier New" panose="02070309020205020404" pitchFamily="49" charset="0"/>
              </a:rPr>
              <a:t>   </a:t>
            </a:r>
            <a:r>
              <a:rPr lang="en-US" altLang="en-US" sz="2000" dirty="0"/>
              <a:t>for Thread 2 may be reordered</a:t>
            </a:r>
            <a:endParaRPr lang="en-US" altLang="en-US" sz="2000" dirty="0">
              <a:latin typeface="Courier New" panose="02070309020205020404" pitchFamily="49" charset="0"/>
              <a:cs typeface="Courier New" panose="02070309020205020404" pitchFamily="49" charset="0"/>
            </a:endParaRPr>
          </a:p>
          <a:p>
            <a:r>
              <a:rPr lang="en-US" altLang="en-US" sz="2000" dirty="0"/>
              <a:t>If this occurs, the output may be 0!</a:t>
            </a:r>
          </a:p>
          <a:p>
            <a:pPr marL="0" indent="0">
              <a:buNone/>
            </a:pPr>
            <a:br>
              <a:rPr lang="en-US" altLang="en-US" sz="2000" dirty="0"/>
            </a:br>
            <a:br>
              <a:rPr lang="en-US" altLang="en-US" sz="2000" dirty="0"/>
            </a:br>
            <a:br>
              <a:rPr lang="en-US" altLang="en-US" sz="2000" dirty="0"/>
            </a:br>
            <a:endParaRPr lang="en-US"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2487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1075267" y="2189857"/>
            <a:ext cx="10472720" cy="3797988"/>
          </a:xfrm>
        </p:spPr>
        <p:txBody>
          <a:bodyPr/>
          <a:lstStyle/>
          <a:p>
            <a:r>
              <a:rPr lang="en-US" altLang="en-US" sz="2000" dirty="0"/>
              <a:t>The effects of instruction reordering in Peterson’s Solution</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This allows both processes to be in their critical section at the same time!</a:t>
            </a:r>
          </a:p>
          <a:p>
            <a:r>
              <a:rPr lang="en-US" altLang="en-US" sz="2000" dirty="0"/>
              <a:t>To ensure that Peterson’s solution will work correctly on modern computer architecture we must use </a:t>
            </a:r>
            <a:r>
              <a:rPr lang="en-US" altLang="en-US" sz="2000" b="1" dirty="0">
                <a:solidFill>
                  <a:srgbClr val="006699"/>
                </a:solidFill>
                <a:latin typeface="+mj-lt"/>
              </a:rPr>
              <a:t>Memory Barrier</a:t>
            </a:r>
            <a:r>
              <a:rPr lang="en-US" altLang="en-US" sz="2000" dirty="0"/>
              <a:t>.</a:t>
            </a:r>
            <a:br>
              <a:rPr lang="en-US" altLang="en-US" sz="2000" dirty="0"/>
            </a:br>
            <a:br>
              <a:rPr lang="en-US" altLang="en-US" sz="2000" dirty="0"/>
            </a:br>
            <a:br>
              <a:rPr lang="en-US" altLang="en-US" sz="2000" dirty="0"/>
            </a:br>
            <a:br>
              <a:rPr lang="en-US" altLang="en-US" sz="2000" dirty="0"/>
            </a:br>
            <a:endParaRPr lang="en-US" altLang="en-US" sz="2000"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0471" y="3015914"/>
            <a:ext cx="8848606" cy="214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9011FDD-BE85-C6BD-41F0-F9F5B9BD214E}"/>
              </a:ext>
            </a:extLst>
          </p:cNvPr>
          <p:cNvSpPr txBox="1"/>
          <p:nvPr/>
        </p:nvSpPr>
        <p:spPr>
          <a:xfrm>
            <a:off x="614505" y="1012873"/>
            <a:ext cx="4827650" cy="923330"/>
          </a:xfrm>
          <a:prstGeom prst="rect">
            <a:avLst/>
          </a:prstGeom>
          <a:noFill/>
        </p:spPr>
        <p:txBody>
          <a:bodyPr wrap="square">
            <a:spAutoFit/>
          </a:bodyPr>
          <a:lstStyle/>
          <a:p>
            <a:r>
              <a:rPr lang="en-US" altLang="en-US" b="1" dirty="0">
                <a:solidFill>
                  <a:srgbClr val="000000"/>
                </a:solidFill>
                <a:latin typeface="Courier New" panose="02070309020205020404" pitchFamily="49" charset="0"/>
              </a:rPr>
              <a:t>turn = j; </a:t>
            </a:r>
          </a:p>
          <a:p>
            <a:pPr>
              <a:buFont typeface="Monotype Sorts" pitchFamily="-84" charset="2"/>
              <a:buNone/>
            </a:pPr>
            <a:r>
              <a:rPr lang="en-US" altLang="en-US" b="1" dirty="0">
                <a:solidFill>
                  <a:srgbClr val="000000"/>
                </a:solidFill>
                <a:latin typeface="Courier New" panose="02070309020205020404" pitchFamily="49" charset="0"/>
              </a:rPr>
              <a:t>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while (flag[j] &amp;&amp; turn = = j)</a:t>
            </a:r>
          </a:p>
        </p:txBody>
      </p:sp>
      <p:sp>
        <p:nvSpPr>
          <p:cNvPr id="7" name="TextBox 6">
            <a:extLst>
              <a:ext uri="{FF2B5EF4-FFF2-40B4-BE49-F238E27FC236}">
                <a16:creationId xmlns:a16="http://schemas.microsoft.com/office/drawing/2014/main" id="{EF39C529-6C09-57B2-0C68-4AC377333D4A}"/>
              </a:ext>
            </a:extLst>
          </p:cNvPr>
          <p:cNvSpPr txBox="1"/>
          <p:nvPr/>
        </p:nvSpPr>
        <p:spPr>
          <a:xfrm>
            <a:off x="6311627" y="1123612"/>
            <a:ext cx="4690670" cy="646331"/>
          </a:xfrm>
          <a:prstGeom prst="rect">
            <a:avLst/>
          </a:prstGeom>
          <a:noFill/>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flag[j] = true; </a:t>
            </a:r>
          </a:p>
          <a:p>
            <a:pPr>
              <a:buFont typeface="Monotype Sorts" pitchFamily="-84" charset="2"/>
              <a:buNone/>
            </a:pPr>
            <a:r>
              <a:rPr lang="en-US" altLang="en-US" b="1" dirty="0">
                <a:solidFill>
                  <a:srgbClr val="000000"/>
                </a:solidFill>
                <a:latin typeface="Courier New" panose="02070309020205020404" pitchFamily="49" charset="0"/>
              </a:rPr>
              <a:t>while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&amp;&amp;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p:txBody>
      </p:sp>
      <p:cxnSp>
        <p:nvCxnSpPr>
          <p:cNvPr id="9" name="Straight Connector 8">
            <a:extLst>
              <a:ext uri="{FF2B5EF4-FFF2-40B4-BE49-F238E27FC236}">
                <a16:creationId xmlns:a16="http://schemas.microsoft.com/office/drawing/2014/main" id="{9AEC2782-232E-F547-40AC-B9241B090596}"/>
              </a:ext>
            </a:extLst>
          </p:cNvPr>
          <p:cNvCxnSpPr/>
          <p:nvPr/>
        </p:nvCxnSpPr>
        <p:spPr bwMode="auto">
          <a:xfrm>
            <a:off x="5442155" y="899652"/>
            <a:ext cx="0" cy="129020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15089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2624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988143" y="1233489"/>
            <a:ext cx="10028902" cy="4372487"/>
          </a:xfrm>
        </p:spPr>
        <p:txBody>
          <a:bodyPr/>
          <a:lstStyle/>
          <a:p>
            <a:pPr>
              <a:lnSpc>
                <a:spcPct val="90000"/>
              </a:lnSpc>
              <a:tabLst>
                <a:tab pos="739775" algn="l"/>
                <a:tab pos="1020763" algn="l"/>
                <a:tab pos="1257300" algn="l"/>
              </a:tabLst>
            </a:pPr>
            <a:r>
              <a:rPr lang="en-US" altLang="en-US" sz="2000" dirty="0"/>
              <a:t>Many systems provide hardware support for implementing the critical section code.</a:t>
            </a:r>
          </a:p>
          <a:p>
            <a:pPr>
              <a:lnSpc>
                <a:spcPct val="90000"/>
              </a:lnSpc>
              <a:tabLst>
                <a:tab pos="739775" algn="l"/>
                <a:tab pos="1020763" algn="l"/>
                <a:tab pos="1257300" algn="l"/>
              </a:tabLst>
            </a:pPr>
            <a:r>
              <a:rPr lang="en-US" altLang="en-US" sz="2000" dirty="0"/>
              <a:t>Uniprocessors – could disable interrupts</a:t>
            </a:r>
          </a:p>
          <a:p>
            <a:pPr lvl="1">
              <a:lnSpc>
                <a:spcPct val="90000"/>
              </a:lnSpc>
              <a:tabLst>
                <a:tab pos="739775" algn="l"/>
                <a:tab pos="1020763" algn="l"/>
                <a:tab pos="1257300" algn="l"/>
              </a:tabLst>
            </a:pPr>
            <a:r>
              <a:rPr lang="en-US" altLang="en-US" sz="2000" dirty="0"/>
              <a:t>Currently running code would execute without preemption</a:t>
            </a:r>
          </a:p>
          <a:p>
            <a:pPr lvl="1">
              <a:lnSpc>
                <a:spcPct val="90000"/>
              </a:lnSpc>
              <a:tabLst>
                <a:tab pos="739775" algn="l"/>
                <a:tab pos="1020763" algn="l"/>
                <a:tab pos="1257300" algn="l"/>
              </a:tabLst>
            </a:pPr>
            <a:r>
              <a:rPr lang="en-US" altLang="en-US" sz="2000" dirty="0"/>
              <a:t>Generally too inefficient on multiprocessor systems</a:t>
            </a:r>
          </a:p>
          <a:p>
            <a:pPr lvl="2">
              <a:lnSpc>
                <a:spcPct val="90000"/>
              </a:lnSpc>
              <a:tabLst>
                <a:tab pos="739775" algn="l"/>
                <a:tab pos="1020763" algn="l"/>
                <a:tab pos="1257300" algn="l"/>
              </a:tabLst>
            </a:pPr>
            <a:r>
              <a:rPr lang="en-US" altLang="en-US" sz="2000" dirty="0"/>
              <a:t>Operating systems using this not broadly scalable</a:t>
            </a:r>
          </a:p>
          <a:p>
            <a:pPr>
              <a:lnSpc>
                <a:spcPct val="90000"/>
              </a:lnSpc>
              <a:tabLst>
                <a:tab pos="739775" algn="l"/>
                <a:tab pos="1020763" algn="l"/>
                <a:tab pos="1257300" algn="l"/>
              </a:tabLst>
            </a:pPr>
            <a:r>
              <a:rPr lang="en-US" altLang="en-US" sz="2000" dirty="0"/>
              <a:t>We will look at three forms of hardware support:</a:t>
            </a:r>
          </a:p>
          <a:p>
            <a:pPr marL="0" indent="0">
              <a:lnSpc>
                <a:spcPct val="90000"/>
              </a:lnSpc>
              <a:buNone/>
              <a:tabLst>
                <a:tab pos="739775" algn="l"/>
                <a:tab pos="1020763" algn="l"/>
                <a:tab pos="1257300" algn="l"/>
              </a:tabLst>
            </a:pPr>
            <a:endParaRPr lang="en-US" altLang="en-US" sz="2000" dirty="0"/>
          </a:p>
          <a:p>
            <a:pPr marL="0" indent="0">
              <a:lnSpc>
                <a:spcPct val="90000"/>
              </a:lnSpc>
              <a:buNone/>
              <a:tabLst>
                <a:tab pos="739775" algn="l"/>
                <a:tab pos="1020763" algn="l"/>
                <a:tab pos="1257300" algn="l"/>
              </a:tabLst>
            </a:pPr>
            <a:r>
              <a:rPr lang="en-US" altLang="en-US" sz="2000" b="1" dirty="0"/>
              <a:t>1. Memory barrier</a:t>
            </a:r>
            <a:br>
              <a:rPr lang="en-US" altLang="en-US" sz="2000" dirty="0"/>
            </a:br>
            <a:br>
              <a:rPr lang="en-US" altLang="en-US" sz="2000" dirty="0"/>
            </a:br>
            <a:r>
              <a:rPr lang="en-US" altLang="en-US" sz="2000" dirty="0"/>
              <a:t>2</a:t>
            </a:r>
            <a:r>
              <a:rPr lang="en-US" altLang="en-US" sz="2000" dirty="0">
                <a:solidFill>
                  <a:srgbClr val="CC6600"/>
                </a:solidFill>
              </a:rPr>
              <a:t>. </a:t>
            </a:r>
            <a:r>
              <a:rPr lang="en-US" altLang="en-US" sz="2000"/>
              <a:t>Hardware </a:t>
            </a:r>
            <a:r>
              <a:rPr lang="en-US" altLang="en-US" sz="2000" dirty="0"/>
              <a:t>instructions</a:t>
            </a:r>
            <a:br>
              <a:rPr lang="en-US" altLang="en-US" sz="2000" dirty="0"/>
            </a:br>
            <a:br>
              <a:rPr lang="en-US" altLang="en-US" sz="2000" dirty="0"/>
            </a:br>
            <a:r>
              <a:rPr lang="en-US" altLang="en-US" sz="2000">
                <a:solidFill>
                  <a:srgbClr val="CC6600"/>
                </a:solidFill>
              </a:rPr>
              <a:t>3. </a:t>
            </a:r>
            <a:r>
              <a:rPr lang="en-US" altLang="en-US" sz="2000" dirty="0"/>
              <a:t>Atomic variables </a:t>
            </a:r>
          </a:p>
        </p:txBody>
      </p:sp>
    </p:spTree>
    <p:extLst>
      <p:ext uri="{BB962C8B-B14F-4D97-AF65-F5344CB8AC3E}">
        <p14:creationId xmlns:p14="http://schemas.microsoft.com/office/powerpoint/2010/main" val="3756761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1981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1592826" y="1233489"/>
            <a:ext cx="9674942" cy="4590537"/>
          </a:xfrm>
        </p:spPr>
        <p:txBody>
          <a:bodyPr/>
          <a:lstStyle/>
          <a:p>
            <a:r>
              <a:rPr lang="en-US" altLang="en-US" sz="2000" b="1" dirty="0"/>
              <a:t>Memory model </a:t>
            </a:r>
            <a:r>
              <a:rPr lang="en-US" altLang="en-US" sz="2000" dirty="0"/>
              <a:t>are the memory guarantees a computer architecture makes to application programs.</a:t>
            </a:r>
          </a:p>
          <a:p>
            <a:pPr marL="0" indent="0">
              <a:buNone/>
            </a:pPr>
            <a:endParaRPr lang="en-US" altLang="en-US" sz="2000" dirty="0"/>
          </a:p>
          <a:p>
            <a:r>
              <a:rPr lang="en-US" altLang="en-US" sz="2000" dirty="0"/>
              <a:t>Memory models may be either:</a:t>
            </a:r>
          </a:p>
          <a:p>
            <a:pPr lvl="1"/>
            <a:r>
              <a:rPr lang="en-US" altLang="en-US" sz="2000" b="1" dirty="0"/>
              <a:t>Strongly ordered </a:t>
            </a:r>
            <a:r>
              <a:rPr lang="en-US" altLang="en-US" sz="2000" dirty="0"/>
              <a:t>– where a memory modification of one processor is immediately visible to all other processors.</a:t>
            </a:r>
          </a:p>
          <a:p>
            <a:pPr lvl="1"/>
            <a:r>
              <a:rPr lang="en-US" altLang="en-US" sz="2000" b="1" dirty="0"/>
              <a:t>Weakly ordered  </a:t>
            </a:r>
            <a:r>
              <a:rPr lang="en-US" altLang="en-US" sz="2000" dirty="0"/>
              <a:t>– where a memory modification of one processor may not be immediately visible to all other processors.</a:t>
            </a:r>
          </a:p>
          <a:p>
            <a:endParaRPr lang="en-US" altLang="en-US" sz="2000" dirty="0"/>
          </a:p>
          <a:p>
            <a:r>
              <a:rPr lang="en-US" altLang="en-US" sz="2000" dirty="0"/>
              <a:t>A </a:t>
            </a:r>
            <a:r>
              <a:rPr lang="en-US" altLang="en-US" sz="2000" b="1" dirty="0"/>
              <a:t>memory barrier </a:t>
            </a:r>
            <a:r>
              <a:rPr lang="en-US" altLang="en-US" sz="2000" dirty="0"/>
              <a:t>is an instruction that forces any change in memory to be propagated (made visible) to all other processors.</a:t>
            </a:r>
            <a:br>
              <a:rPr lang="en-US" altLang="en-US" sz="2000" dirty="0"/>
            </a:br>
            <a:endParaRPr lang="en-US" altLang="en-US" sz="2000" dirty="0"/>
          </a:p>
        </p:txBody>
      </p:sp>
    </p:spTree>
    <p:extLst>
      <p:ext uri="{BB962C8B-B14F-4D97-AF65-F5344CB8AC3E}">
        <p14:creationId xmlns:p14="http://schemas.microsoft.com/office/powerpoint/2010/main" val="2482274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1981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1135626" y="1233489"/>
            <a:ext cx="10279626" cy="4590537"/>
          </a:xfrm>
        </p:spPr>
        <p:txBody>
          <a:bodyPr/>
          <a:lstStyle/>
          <a:p>
            <a:r>
              <a:rPr lang="en-US" altLang="en-US" sz="2000" dirty="0"/>
              <a:t>When a memory barrier instruction is performed, the system ensures that all loads and stores are completed before any subsequent load or store operations are performed.</a:t>
            </a:r>
          </a:p>
          <a:p>
            <a:endParaRPr lang="en-US" altLang="en-US" sz="2000" dirty="0"/>
          </a:p>
          <a:p>
            <a:endParaRPr lang="en-US" altLang="en-US" sz="2000" dirty="0"/>
          </a:p>
          <a:p>
            <a:r>
              <a:rPr lang="en-US" altLang="en-US" sz="2000" dirty="0"/>
              <a:t>Therefore, even if instructions were reordered, the memory barrier ensures that the store operations are completed in memory and visible to other processors before future load or store operations are performed.</a:t>
            </a:r>
          </a:p>
          <a:p>
            <a:endParaRPr lang="en-US" altLang="en-US" sz="2000" dirty="0"/>
          </a:p>
        </p:txBody>
      </p:sp>
    </p:spTree>
    <p:extLst>
      <p:ext uri="{BB962C8B-B14F-4D97-AF65-F5344CB8AC3E}">
        <p14:creationId xmlns:p14="http://schemas.microsoft.com/office/powerpoint/2010/main" val="1006609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1981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1076633" y="1161867"/>
            <a:ext cx="10294374" cy="5312675"/>
          </a:xfrm>
        </p:spPr>
        <p:txBody>
          <a:bodyPr/>
          <a:lstStyle/>
          <a:p>
            <a:r>
              <a:rPr lang="en-US" altLang="en-US" sz="2000" dirty="0"/>
              <a:t>Returning to the example of slides 6.17 - 6.18</a:t>
            </a:r>
          </a:p>
          <a:p>
            <a:r>
              <a:rPr lang="en-US" altLang="en-US" sz="2000" dirty="0"/>
              <a:t>We could add a memory barrier to the following instructions to ensure Thread 1 outputs 100:</a:t>
            </a:r>
          </a:p>
          <a:p>
            <a:r>
              <a:rPr lang="en-US" altLang="en-US" sz="2000" dirty="0"/>
              <a:t>Thread 1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while (!flag)</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memory_barrier</a:t>
            </a:r>
            <a:r>
              <a:rPr lang="en-US" altLang="en-US" sz="2000" dirty="0">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print x</a:t>
            </a:r>
          </a:p>
          <a:p>
            <a:r>
              <a:rPr lang="en-US" altLang="en-US" sz="2000" dirty="0"/>
              <a:t>Thread 2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x = 100;</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memory_barrier</a:t>
            </a:r>
            <a:r>
              <a:rPr lang="en-US" altLang="en-US" sz="2000" dirty="0">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flag = true</a:t>
            </a:r>
          </a:p>
          <a:p>
            <a:r>
              <a:rPr lang="en-US" altLang="en-US" sz="2000" dirty="0"/>
              <a:t>For</a:t>
            </a:r>
            <a:r>
              <a:rPr lang="en-US" altLang="en-US" sz="2000" dirty="0">
                <a:latin typeface="Courier New" panose="02070309020205020404" pitchFamily="49" charset="0"/>
                <a:cs typeface="Courier New" panose="02070309020205020404" pitchFamily="49" charset="0"/>
              </a:rPr>
              <a:t> </a:t>
            </a:r>
            <a:r>
              <a:rPr lang="en-US" altLang="en-US" sz="2000" dirty="0"/>
              <a:t>Thread 1 we are guaranteed that  that the value of </a:t>
            </a:r>
            <a:r>
              <a:rPr lang="en-US" altLang="en-US" sz="2000" dirty="0">
                <a:latin typeface="Courier New" panose="02070309020205020404" pitchFamily="49" charset="0"/>
                <a:cs typeface="Courier New" panose="02070309020205020404" pitchFamily="49" charset="0"/>
              </a:rPr>
              <a:t>flag</a:t>
            </a:r>
            <a:r>
              <a:rPr lang="en-US" altLang="en-US" sz="2000" dirty="0"/>
              <a:t> is loaded before the value of </a:t>
            </a:r>
            <a:r>
              <a:rPr lang="en-US" altLang="en-US" sz="2000" dirty="0">
                <a:latin typeface="Courier New" panose="02070309020205020404" pitchFamily="49" charset="0"/>
                <a:cs typeface="Courier New" panose="02070309020205020404" pitchFamily="49" charset="0"/>
              </a:rPr>
              <a:t>x</a:t>
            </a:r>
            <a:r>
              <a:rPr lang="en-US" altLang="en-US" sz="2000" dirty="0"/>
              <a:t>.</a:t>
            </a:r>
          </a:p>
          <a:p>
            <a:r>
              <a:rPr lang="en-US" altLang="en-US" sz="2000" dirty="0"/>
              <a:t>For Thread 2 we ensure that the assignment to </a:t>
            </a:r>
            <a:r>
              <a:rPr lang="en-US" altLang="en-US" sz="2000" dirty="0">
                <a:latin typeface="Courier New" panose="02070309020205020404" pitchFamily="49" charset="0"/>
                <a:cs typeface="Courier New" panose="02070309020205020404" pitchFamily="49" charset="0"/>
              </a:rPr>
              <a:t>x</a:t>
            </a:r>
            <a:r>
              <a:rPr lang="en-US" altLang="en-US" sz="2000" dirty="0"/>
              <a:t> occurs before the assignment </a:t>
            </a:r>
            <a:r>
              <a:rPr lang="en-US" altLang="en-US" sz="2000" dirty="0">
                <a:latin typeface="Courier New" panose="02070309020205020404" pitchFamily="49" charset="0"/>
                <a:cs typeface="Courier New" panose="02070309020205020404" pitchFamily="49" charset="0"/>
              </a:rPr>
              <a:t>flag.</a:t>
            </a:r>
          </a:p>
          <a:p>
            <a:pPr marL="0" indent="0">
              <a:buNone/>
            </a:pPr>
            <a:endParaRPr lang="en-US" altLang="en-US" sz="2000" dirty="0"/>
          </a:p>
        </p:txBody>
      </p:sp>
    </p:spTree>
    <p:extLst>
      <p:ext uri="{BB962C8B-B14F-4D97-AF65-F5344CB8AC3E}">
        <p14:creationId xmlns:p14="http://schemas.microsoft.com/office/powerpoint/2010/main" val="2104174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1981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548581" y="1233489"/>
            <a:ext cx="9011470" cy="4147404"/>
          </a:xfrm>
        </p:spPr>
        <p:txBody>
          <a:bodyPr/>
          <a:lstStyle/>
          <a:p>
            <a:r>
              <a:rPr lang="en-US" altLang="en-US" sz="2000" dirty="0"/>
              <a:t>Special hardware instructions that allow us to either </a:t>
            </a:r>
            <a:r>
              <a:rPr lang="en-US" altLang="en-US" sz="2000" i="1" dirty="0"/>
              <a:t>test-and-modify</a:t>
            </a:r>
            <a:r>
              <a:rPr lang="en-US" altLang="en-US" sz="2000" dirty="0"/>
              <a:t> the content of a word, or to </a:t>
            </a:r>
            <a:r>
              <a:rPr lang="en-US" altLang="en-US" sz="2000" i="1" dirty="0"/>
              <a:t>swap</a:t>
            </a:r>
            <a:r>
              <a:rPr lang="en-US" altLang="en-US" sz="2000" dirty="0"/>
              <a:t> the contents of two words atomically (uninterruptedly.)</a:t>
            </a:r>
          </a:p>
          <a:p>
            <a:pPr lvl="1"/>
            <a:r>
              <a:rPr lang="en-US" altLang="en-US" sz="2000" b="1" dirty="0"/>
              <a:t>Test-and-Set</a:t>
            </a:r>
            <a:r>
              <a:rPr lang="en-US" altLang="en-US" sz="2000" dirty="0"/>
              <a:t> instruction</a:t>
            </a:r>
          </a:p>
          <a:p>
            <a:pPr lvl="1"/>
            <a:r>
              <a:rPr lang="en-US" altLang="en-US" sz="2000" b="1" dirty="0"/>
              <a:t>Compare-and-Swap</a:t>
            </a:r>
            <a:r>
              <a:rPr lang="en-US" altLang="en-US" sz="2000" dirty="0"/>
              <a:t> instruction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2038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150374" y="1233489"/>
            <a:ext cx="8686799" cy="4680614"/>
          </a:xfrm>
        </p:spPr>
        <p:txBody>
          <a:bodyPr/>
          <a:lstStyle/>
          <a:p>
            <a:r>
              <a:rPr lang="en-US" altLang="en-US" sz="2000" dirty="0"/>
              <a:t>Definition</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test_and_set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*target)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 = *target;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*target = true;</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return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endParaRPr lang="en-US" altLang="en-US" sz="2000" dirty="0">
              <a:solidFill>
                <a:srgbClr val="0000FF"/>
              </a:solidFill>
            </a:endParaRPr>
          </a:p>
          <a:p>
            <a:r>
              <a:rPr lang="en-US" altLang="en-US" sz="2000" dirty="0"/>
              <a:t>Properties</a:t>
            </a:r>
          </a:p>
          <a:p>
            <a:pPr lvl="1"/>
            <a:r>
              <a:rPr lang="en-US" altLang="en-US" sz="2000" dirty="0"/>
              <a:t>Executed atomically</a:t>
            </a:r>
          </a:p>
          <a:p>
            <a:pPr lvl="1"/>
            <a:r>
              <a:rPr lang="en-US" altLang="en-US" sz="2000" dirty="0"/>
              <a:t>Returns the original value of passed parameter</a:t>
            </a:r>
          </a:p>
          <a:p>
            <a:pPr lvl="1"/>
            <a:r>
              <a:rPr lang="en-US" altLang="en-US" sz="2000" dirty="0"/>
              <a:t>Set the new value of passed parameter to </a:t>
            </a:r>
            <a:r>
              <a:rPr lang="en-US" altLang="en-US" sz="2000" b="1" dirty="0">
                <a:solidFill>
                  <a:srgbClr val="000000"/>
                </a:solidFill>
                <a:latin typeface="Courier New" panose="02070309020205020404" pitchFamily="49" charset="0"/>
              </a:rPr>
              <a:t>true</a:t>
            </a:r>
            <a:endParaRPr lang="en-US" altLang="en-US" sz="2000" b="1" dirty="0">
              <a:latin typeface="Courier New" panose="02070309020205020404" pitchFamily="49" charset="0"/>
              <a:cs typeface="Courier New" panose="02070309020205020404" pitchFamily="49" charset="0"/>
            </a:endParaRPr>
          </a:p>
          <a:p>
            <a:pPr lvl="1"/>
            <a:endParaRPr lang="en-US" altLang="en-US" sz="2000" dirty="0"/>
          </a:p>
        </p:txBody>
      </p:sp>
    </p:spTree>
    <p:extLst>
      <p:ext uri="{BB962C8B-B14F-4D97-AF65-F5344CB8AC3E}">
        <p14:creationId xmlns:p14="http://schemas.microsoft.com/office/powerpoint/2010/main" val="3986950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2373314" y="227243"/>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651820" y="1193800"/>
            <a:ext cx="9085006" cy="5067300"/>
          </a:xfrm>
        </p:spPr>
        <p:txBody>
          <a:bodyPr/>
          <a:lstStyle/>
          <a:p>
            <a:pPr>
              <a:lnSpc>
                <a:spcPct val="90000"/>
              </a:lnSpc>
              <a:tabLst>
                <a:tab pos="741363" algn="l"/>
                <a:tab pos="1022350" algn="l"/>
                <a:tab pos="1258888" algn="l"/>
              </a:tabLst>
            </a:pPr>
            <a:r>
              <a:rPr lang="en-US" altLang="en-US" sz="2000" dirty="0"/>
              <a:t>Shared </a:t>
            </a:r>
            <a:r>
              <a:rPr lang="en-US" altLang="en-US" sz="2000" dirty="0" err="1"/>
              <a:t>boolean</a:t>
            </a:r>
            <a:r>
              <a:rPr lang="en-US" altLang="en-US" sz="2000" dirty="0"/>
              <a:t> variable </a:t>
            </a:r>
            <a:r>
              <a:rPr lang="en-US" altLang="en-US" sz="2000" b="1" dirty="0">
                <a:latin typeface="Courier New" panose="02070309020205020404" pitchFamily="49" charset="0"/>
                <a:cs typeface="Courier New" panose="02070309020205020404" pitchFamily="49" charset="0"/>
              </a:rPr>
              <a:t>lock</a:t>
            </a:r>
            <a:r>
              <a:rPr lang="en-US" altLang="en-US" sz="2000" dirty="0"/>
              <a:t>, initialized to </a:t>
            </a:r>
            <a:r>
              <a:rPr lang="en-US" altLang="en-US" sz="2000"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sz="2000" dirty="0"/>
              <a:t>Solution:</a:t>
            </a:r>
            <a:endParaRPr lang="en-US" altLang="en-US" sz="2000" b="1" dirty="0">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000000"/>
                </a:solidFill>
                <a:latin typeface="Courier New" panose="02070309020205020404" pitchFamily="49" charset="0"/>
                <a:cs typeface="Courier New" panose="02070309020205020404" pitchFamily="49" charset="0"/>
              </a:rPr>
              <a:t>do {</a:t>
            </a:r>
            <a:br>
              <a:rPr lang="en-US" altLang="en-US" sz="2000" b="1" dirty="0">
                <a:solidFill>
                  <a:srgbClr val="000000"/>
                </a:solidFill>
                <a:latin typeface="Courier New" panose="02070309020205020404" pitchFamily="49" charset="0"/>
                <a:cs typeface="Courier New" panose="02070309020205020404" pitchFamily="49" charset="0"/>
              </a:rPr>
            </a:br>
            <a:r>
              <a:rPr lang="en-US" altLang="en-US" sz="2000" b="1" dirty="0">
                <a:solidFill>
                  <a:srgbClr val="000000"/>
                </a:solidFill>
                <a:latin typeface="Courier New" panose="02070309020205020404" pitchFamily="49" charset="0"/>
                <a:cs typeface="Courier New" panose="02070309020205020404" pitchFamily="49" charset="0"/>
              </a:rPr>
              <a:t>          while (test_and_set(&amp;lock))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 do nothing */ </a:t>
            </a:r>
            <a:br>
              <a:rPr lang="en-US" altLang="en-US" sz="2000" b="1" dirty="0">
                <a:solidFill>
                  <a:srgbClr val="000000"/>
                </a:solidFill>
                <a:latin typeface="Courier New" panose="02070309020205020404" pitchFamily="49" charset="0"/>
                <a:cs typeface="Courier New" panose="02070309020205020404" pitchFamily="49" charset="0"/>
              </a:rPr>
            </a:br>
            <a:endParaRPr lang="en-US" altLang="en-US" sz="20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critical section */ </a:t>
            </a:r>
            <a:br>
              <a:rPr lang="en-US" altLang="en-US" sz="2000" b="1" dirty="0">
                <a:solidFill>
                  <a:srgbClr val="000000"/>
                </a:solidFill>
                <a:latin typeface="Courier New" panose="02070309020205020404" pitchFamily="49" charset="0"/>
                <a:cs typeface="Courier New" panose="02070309020205020404" pitchFamily="49" charset="0"/>
              </a:rPr>
            </a:br>
            <a:endParaRPr lang="en-US" altLang="en-US" sz="20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lock = false;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remainder section */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while (true);</a:t>
            </a:r>
          </a:p>
          <a:p>
            <a:pPr>
              <a:tabLst>
                <a:tab pos="741363" algn="l"/>
                <a:tab pos="1022350" algn="l"/>
                <a:tab pos="1258888" algn="l"/>
              </a:tabLst>
            </a:pPr>
            <a:endParaRPr lang="en-US" altLang="en-US" sz="2000" dirty="0"/>
          </a:p>
          <a:p>
            <a:pPr>
              <a:tabLst>
                <a:tab pos="741363" algn="l"/>
                <a:tab pos="1022350" algn="l"/>
                <a:tab pos="1258888" algn="l"/>
              </a:tabLst>
            </a:pPr>
            <a:r>
              <a:rPr lang="en-US" altLang="en-US" sz="2000" dirty="0"/>
              <a:t>Does it solve the critical-section problem?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2417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563330" y="1046451"/>
            <a:ext cx="9202994" cy="2663102"/>
          </a:xfrm>
        </p:spPr>
        <p:txBody>
          <a:bodyPr/>
          <a:lstStyle/>
          <a:p>
            <a:r>
              <a:rPr lang="en-US" altLang="en-US" dirty="0"/>
              <a:t>Definition</a:t>
            </a:r>
          </a:p>
          <a:p>
            <a:pPr>
              <a:buNone/>
              <a:tabLst>
                <a:tab pos="741363" algn="l"/>
                <a:tab pos="1022350" algn="l"/>
                <a:tab pos="1258888" algn="l"/>
              </a:tabLst>
            </a:pPr>
            <a:r>
              <a:rPr lang="en-US" altLang="en-US" b="1" dirty="0">
                <a:latin typeface="Courier New" panose="02070309020205020404" pitchFamily="49" charset="0"/>
              </a:rPr>
              <a:t>    int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(int *value, int expected, int </a:t>
            </a:r>
            <a:r>
              <a:rPr lang="en-US" altLang="en-US" b="1" dirty="0" err="1">
                <a:latin typeface="Courier New" panose="02070309020205020404" pitchFamily="49" charset="0"/>
              </a:rPr>
              <a:t>new_value</a:t>
            </a:r>
            <a:r>
              <a:rPr lang="en-US" altLang="en-US" b="1" dirty="0">
                <a:latin typeface="Courier New" panose="02070309020205020404" pitchFamily="49" charset="0"/>
              </a:rPr>
              <a:t>)</a:t>
            </a:r>
          </a:p>
          <a:p>
            <a:pPr>
              <a:buNone/>
              <a:tabLst>
                <a:tab pos="741363" algn="l"/>
                <a:tab pos="1022350" algn="l"/>
                <a:tab pos="1258888" algn="l"/>
              </a:tabLst>
            </a:pPr>
            <a:r>
              <a:rPr lang="en-US" altLang="en-US" b="1" dirty="0">
                <a:latin typeface="Courier New" panose="02070309020205020404" pitchFamily="49" charset="0"/>
              </a:rPr>
              <a:t>      {                  </a:t>
            </a:r>
          </a:p>
          <a:p>
            <a:pPr>
              <a:buNone/>
              <a:tabLst>
                <a:tab pos="741363" algn="l"/>
                <a:tab pos="1022350" algn="l"/>
                <a:tab pos="1258888" algn="l"/>
              </a:tabLst>
            </a:pPr>
            <a:r>
              <a:rPr lang="en-US" altLang="en-US" b="1" dirty="0">
                <a:latin typeface="Courier New" panose="02070309020205020404" pitchFamily="49" charset="0"/>
              </a:rPr>
              <a:t>       int temp = *value; </a:t>
            </a:r>
          </a:p>
          <a:p>
            <a:pPr>
              <a:buNone/>
              <a:tabLst>
                <a:tab pos="741363" algn="l"/>
                <a:tab pos="1022350" algn="l"/>
                <a:tab pos="1258888" algn="l"/>
              </a:tabLst>
            </a:pPr>
            <a:r>
              <a:rPr lang="en-US" altLang="en-US" b="1" dirty="0">
                <a:latin typeface="Courier New" panose="02070309020205020404" pitchFamily="49" charset="0"/>
              </a:rPr>
              <a:t>        if (*value == expected) </a:t>
            </a:r>
          </a:p>
          <a:p>
            <a:pPr>
              <a:buNone/>
              <a:tabLst>
                <a:tab pos="741363" algn="l"/>
                <a:tab pos="1022350" algn="l"/>
                <a:tab pos="1258888" algn="l"/>
              </a:tabLst>
            </a:pPr>
            <a:r>
              <a:rPr lang="en-US" altLang="en-US" b="1" dirty="0">
                <a:latin typeface="Courier New" panose="02070309020205020404" pitchFamily="49" charset="0"/>
              </a:rPr>
              <a:t>            *value = </a:t>
            </a:r>
            <a:r>
              <a:rPr lang="en-US" altLang="en-US" b="1" dirty="0" err="1">
                <a:latin typeface="Courier New" panose="02070309020205020404" pitchFamily="49" charset="0"/>
              </a:rPr>
              <a:t>new_value</a:t>
            </a:r>
            <a:r>
              <a:rPr lang="en-US" altLang="en-US" b="1" dirty="0">
                <a:latin typeface="Courier New" panose="02070309020205020404" pitchFamily="49" charset="0"/>
              </a:rPr>
              <a:t>; </a:t>
            </a:r>
          </a:p>
          <a:p>
            <a:pPr>
              <a:buNone/>
              <a:tabLst>
                <a:tab pos="741363" algn="l"/>
                <a:tab pos="1022350" algn="l"/>
                <a:tab pos="1258888" algn="l"/>
              </a:tabLst>
            </a:pPr>
            <a:r>
              <a:rPr lang="en-US" altLang="en-US" b="1" dirty="0">
                <a:latin typeface="Courier New" panose="02070309020205020404" pitchFamily="49" charset="0"/>
              </a:rPr>
              <a:t>         return temp; </a:t>
            </a:r>
          </a:p>
          <a:p>
            <a:pPr>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sz="2000" dirty="0"/>
              <a:t>Properties</a:t>
            </a:r>
          </a:p>
          <a:p>
            <a:pPr lvl="1"/>
            <a:r>
              <a:rPr lang="en-US" altLang="en-US" sz="2000" dirty="0"/>
              <a:t>Executed atomically</a:t>
            </a:r>
          </a:p>
          <a:p>
            <a:pPr lvl="1"/>
            <a:r>
              <a:rPr lang="en-US" altLang="en-US" sz="2000" dirty="0"/>
              <a:t>Returns the original value of passed parameter </a:t>
            </a:r>
            <a:r>
              <a:rPr lang="en-US" altLang="en-US" sz="2000" b="1" dirty="0">
                <a:latin typeface="Courier New" panose="02070309020205020404" pitchFamily="49" charset="0"/>
                <a:cs typeface="Courier New" panose="02070309020205020404" pitchFamily="49" charset="0"/>
              </a:rPr>
              <a:t>value</a:t>
            </a:r>
            <a:endParaRPr lang="en-US" altLang="en-US" sz="2000" dirty="0"/>
          </a:p>
          <a:p>
            <a:pPr lvl="1"/>
            <a:r>
              <a:rPr lang="en-US" altLang="en-US" sz="2000" dirty="0"/>
              <a:t>Set  the variable </a:t>
            </a:r>
            <a:r>
              <a:rPr lang="en-US" altLang="en-US" sz="2000" b="1" dirty="0">
                <a:latin typeface="Courier New" panose="02070309020205020404" pitchFamily="49" charset="0"/>
                <a:cs typeface="Courier New" panose="02070309020205020404" pitchFamily="49" charset="0"/>
              </a:rPr>
              <a:t>value</a:t>
            </a:r>
            <a:r>
              <a:rPr lang="en-US" altLang="en-US" sz="2000" dirty="0"/>
              <a:t> the value of the passed parameter </a:t>
            </a:r>
            <a:r>
              <a:rPr lang="en-US" altLang="en-US" sz="2000" b="1" dirty="0" err="1">
                <a:latin typeface="Courier New" panose="02070309020205020404" pitchFamily="49" charset="0"/>
                <a:cs typeface="Courier New" panose="02070309020205020404" pitchFamily="49" charset="0"/>
              </a:rPr>
              <a:t>new_value</a:t>
            </a:r>
            <a:r>
              <a:rPr lang="en-US" altLang="en-US" sz="2000" dirty="0"/>
              <a:t> but only if </a:t>
            </a:r>
            <a:r>
              <a:rPr lang="en-US" altLang="en-US" sz="2000" b="1" dirty="0">
                <a:latin typeface="Courier New" panose="02070309020205020404" pitchFamily="49" charset="0"/>
                <a:cs typeface="Courier New" panose="02070309020205020404" pitchFamily="49" charset="0"/>
              </a:rPr>
              <a:t>*value == expected </a:t>
            </a:r>
            <a:r>
              <a:rPr lang="en-US" altLang="en-US" sz="2000"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2716213" y="219076"/>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1563329" y="1091382"/>
            <a:ext cx="8937523" cy="5442154"/>
          </a:xfrm>
        </p:spPr>
        <p:txBody>
          <a:bodyPr/>
          <a:lstStyle/>
          <a:p>
            <a:pPr>
              <a:lnSpc>
                <a:spcPct val="90000"/>
              </a:lnSpc>
              <a:tabLst>
                <a:tab pos="741363" algn="l"/>
                <a:tab pos="1022350" algn="l"/>
                <a:tab pos="1258888" algn="l"/>
              </a:tabLst>
            </a:pPr>
            <a:r>
              <a:rPr lang="en-US" altLang="en-US" sz="2000" dirty="0"/>
              <a:t>Shared integer  </a:t>
            </a:r>
            <a:r>
              <a:rPr lang="en-US" altLang="ja-JP" sz="2000" b="1" dirty="0">
                <a:latin typeface="Courier New" panose="02070309020205020404" pitchFamily="49" charset="0"/>
                <a:cs typeface="Courier New" panose="02070309020205020404" pitchFamily="49" charset="0"/>
              </a:rPr>
              <a:t>lock</a:t>
            </a:r>
            <a:r>
              <a:rPr lang="en-US" altLang="ja-JP" sz="2000" dirty="0"/>
              <a:t>  initialized to 0; </a:t>
            </a:r>
          </a:p>
          <a:p>
            <a:pPr>
              <a:lnSpc>
                <a:spcPct val="90000"/>
              </a:lnSpc>
              <a:tabLst>
                <a:tab pos="741363" algn="l"/>
                <a:tab pos="1022350" algn="l"/>
                <a:tab pos="1258888" algn="l"/>
              </a:tabLst>
            </a:pPr>
            <a:r>
              <a:rPr lang="en-US" altLang="en-US" sz="2000" dirty="0"/>
              <a:t>Solution:</a:t>
            </a:r>
          </a:p>
          <a:p>
            <a:pPr>
              <a:buNone/>
              <a:tabLst>
                <a:tab pos="741363" algn="l"/>
                <a:tab pos="1022350" algn="l"/>
                <a:tab pos="1258888" algn="l"/>
              </a:tabLst>
            </a:pPr>
            <a:r>
              <a:rPr lang="en-US" altLang="en-US" sz="2000" b="1" dirty="0">
                <a:latin typeface="Courier New" panose="02070309020205020404" pitchFamily="49" charset="0"/>
              </a:rPr>
              <a:t>      while (true){</a:t>
            </a:r>
            <a:br>
              <a:rPr lang="en-US" altLang="en-US" sz="2000" b="1" dirty="0">
                <a:latin typeface="Courier New" panose="02070309020205020404" pitchFamily="49" charset="0"/>
              </a:rPr>
            </a:br>
            <a:r>
              <a:rPr lang="en-US" altLang="en-US" sz="2000" b="1" dirty="0">
                <a:latin typeface="Courier New" panose="02070309020205020404" pitchFamily="49" charset="0"/>
              </a:rPr>
              <a:t>    		while (</a:t>
            </a:r>
            <a:r>
              <a:rPr lang="en-US" altLang="en-US" sz="2000" b="1" dirty="0" err="1">
                <a:latin typeface="Courier New" panose="02070309020205020404" pitchFamily="49" charset="0"/>
              </a:rPr>
              <a:t>compare_and_swap</a:t>
            </a:r>
            <a:r>
              <a:rPr lang="en-US" altLang="en-US" sz="2000" b="1" dirty="0">
                <a:latin typeface="Courier New" panose="02070309020205020404" pitchFamily="49" charset="0"/>
              </a:rPr>
              <a:t>(&amp;lock, 0, 1) != 0) </a:t>
            </a:r>
          </a:p>
          <a:p>
            <a:pPr>
              <a:buNone/>
              <a:tabLst>
                <a:tab pos="741363" algn="l"/>
                <a:tab pos="1022350" algn="l"/>
                <a:tab pos="1258888" algn="l"/>
              </a:tabLst>
            </a:pPr>
            <a:r>
              <a:rPr lang="en-US" altLang="en-US" sz="2000" b="1" dirty="0">
                <a:latin typeface="Courier New" panose="02070309020205020404" pitchFamily="49" charset="0"/>
              </a:rPr>
              <a:t>            	; /* do nothing */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 critical section */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lock = 0;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 remainder section */ </a:t>
            </a:r>
          </a:p>
          <a:p>
            <a:pPr>
              <a:buNone/>
              <a:tabLst>
                <a:tab pos="741363" algn="l"/>
                <a:tab pos="1022350" algn="l"/>
                <a:tab pos="1258888" algn="l"/>
              </a:tabLst>
            </a:pPr>
            <a:r>
              <a:rPr lang="en-US" altLang="en-US" sz="2000" b="1" dirty="0">
                <a:latin typeface="Courier New" panose="02070309020205020404" pitchFamily="49" charset="0"/>
              </a:rPr>
              <a:t>      } </a:t>
            </a:r>
          </a:p>
          <a:p>
            <a:pPr>
              <a:buNone/>
              <a:tabLst>
                <a:tab pos="741363" algn="l"/>
                <a:tab pos="1022350" algn="l"/>
                <a:tab pos="1258888" algn="l"/>
              </a:tabLst>
            </a:pPr>
            <a:endParaRPr lang="en-US" altLang="en-US" sz="2000" b="1" dirty="0">
              <a:latin typeface="Courier New" panose="02070309020205020404" pitchFamily="49" charset="0"/>
            </a:endParaRPr>
          </a:p>
          <a:p>
            <a:pPr>
              <a:tabLst>
                <a:tab pos="741363" algn="l"/>
                <a:tab pos="1022350" algn="l"/>
                <a:tab pos="1258888" algn="l"/>
              </a:tabLst>
            </a:pPr>
            <a:r>
              <a:rPr lang="en-US" altLang="en-US" sz="2000" dirty="0"/>
              <a:t>Does it solve the critical-section problem?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2741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622323" y="988142"/>
            <a:ext cx="9822426" cy="5737538"/>
          </a:xfrm>
        </p:spPr>
        <p:txBody>
          <a:bodyPr/>
          <a:lstStyle/>
          <a:p>
            <a:pPr marL="0" indent="0">
              <a:buNone/>
            </a:pPr>
            <a:r>
              <a:rPr lang="en-US" altLang="en-US" sz="2000" b="1" dirty="0">
                <a:latin typeface="Courier New" panose="02070309020205020404" pitchFamily="49" charset="0"/>
              </a:rPr>
              <a:t>while (true) {</a:t>
            </a:r>
            <a:br>
              <a:rPr lang="en-US" altLang="en-US" sz="2000" b="1" dirty="0">
                <a:latin typeface="Courier New" panose="02070309020205020404" pitchFamily="49" charset="0"/>
              </a:rPr>
            </a:b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true;</a:t>
            </a:r>
            <a:br>
              <a:rPr lang="en-US" altLang="en-US" b="1" dirty="0">
                <a:latin typeface="Courier New" panose="02070309020205020404" pitchFamily="49" charset="0"/>
              </a:rPr>
            </a:br>
            <a:r>
              <a:rPr lang="en-US" altLang="en-US" b="1" dirty="0">
                <a:latin typeface="Courier New" panose="02070309020205020404" pitchFamily="49" charset="0"/>
              </a:rPr>
              <a:t>   key = 1;</a:t>
            </a:r>
            <a:br>
              <a:rPr lang="en-US" altLang="en-US" b="1" dirty="0">
                <a:latin typeface="Courier New" panose="02070309020205020404" pitchFamily="49" charset="0"/>
              </a:rPr>
            </a:br>
            <a:r>
              <a:rPr lang="en-US" altLang="en-US" b="1" dirty="0">
                <a:latin typeface="Courier New" panose="02070309020205020404" pitchFamily="49" charset="0"/>
              </a:rPr>
              <a:t>   while (waiting[</a:t>
            </a:r>
            <a:r>
              <a:rPr lang="en-US" altLang="en-US" b="1" dirty="0" err="1">
                <a:latin typeface="Courier New" panose="02070309020205020404" pitchFamily="49" charset="0"/>
              </a:rPr>
              <a:t>i</a:t>
            </a:r>
            <a:r>
              <a:rPr lang="en-US" altLang="en-US" b="1" dirty="0">
                <a:latin typeface="Courier New" panose="02070309020205020404" pitchFamily="49" charset="0"/>
              </a:rPr>
              <a:t>] &amp;&amp; key == 1) </a:t>
            </a:r>
          </a:p>
          <a:p>
            <a:pPr marL="0" indent="0">
              <a:buNone/>
            </a:pPr>
            <a:r>
              <a:rPr lang="en-US" altLang="en-US" b="1" dirty="0">
                <a:latin typeface="Courier New" panose="02070309020205020404" pitchFamily="49" charset="0"/>
              </a:rPr>
              <a:t>      key =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(&amp;lock,0,1); </a:t>
            </a:r>
          </a:p>
          <a:p>
            <a:pPr marL="0" indent="0">
              <a:buNone/>
            </a:pP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false; </a:t>
            </a:r>
          </a:p>
          <a:p>
            <a:pPr marL="0" indent="0">
              <a:buNone/>
            </a:pPr>
            <a:r>
              <a:rPr lang="en-US" altLang="en-US" b="1" dirty="0">
                <a:solidFill>
                  <a:srgbClr val="CC6600"/>
                </a:solidFill>
                <a:latin typeface="Courier New" panose="02070309020205020404" pitchFamily="49" charset="0"/>
              </a:rPr>
              <a:t>                   /* critical section */ </a:t>
            </a:r>
          </a:p>
          <a:p>
            <a:pPr marL="0" indent="0">
              <a:buNone/>
            </a:pPr>
            <a:r>
              <a:rPr lang="en-US" altLang="en-US" sz="2000" b="1" dirty="0">
                <a:latin typeface="Courier New" panose="02070309020205020404" pitchFamily="49" charset="0"/>
              </a:rPr>
              <a:t>   </a:t>
            </a:r>
            <a:r>
              <a:rPr lang="en-US" altLang="en-US" b="1" dirty="0">
                <a:latin typeface="Courier New" panose="02070309020205020404" pitchFamily="49" charset="0"/>
              </a:rPr>
              <a:t>j = (</a:t>
            </a:r>
            <a:r>
              <a:rPr lang="en-US" altLang="en-US" b="1" dirty="0" err="1">
                <a:latin typeface="Courier New" panose="02070309020205020404" pitchFamily="49" charset="0"/>
              </a:rPr>
              <a:t>i</a:t>
            </a:r>
            <a:r>
              <a:rPr lang="en-US" altLang="en-US" b="1" dirty="0">
                <a:latin typeface="Courier New" panose="02070309020205020404" pitchFamily="49" charset="0"/>
              </a:rPr>
              <a:t> + 1) % n; </a:t>
            </a:r>
          </a:p>
          <a:p>
            <a:pPr marL="0" indent="0">
              <a:buNone/>
            </a:pPr>
            <a:r>
              <a:rPr lang="en-US" altLang="en-US" b="1" dirty="0">
                <a:latin typeface="Courier New" panose="02070309020205020404" pitchFamily="49" charset="0"/>
              </a:rPr>
              <a:t>   while ((j != </a:t>
            </a:r>
            <a:r>
              <a:rPr lang="en-US" altLang="en-US" b="1" dirty="0" err="1">
                <a:latin typeface="Courier New" panose="02070309020205020404" pitchFamily="49" charset="0"/>
              </a:rPr>
              <a:t>i</a:t>
            </a:r>
            <a:r>
              <a:rPr lang="en-US" altLang="en-US" b="1" dirty="0">
                <a:latin typeface="Courier New" panose="02070309020205020404" pitchFamily="49" charset="0"/>
              </a:rPr>
              <a:t>) &amp;&amp; !waiting[j]) </a:t>
            </a:r>
          </a:p>
          <a:p>
            <a:pPr marL="0" indent="0">
              <a:buNone/>
            </a:pPr>
            <a:r>
              <a:rPr lang="en-US" altLang="en-US" b="1" dirty="0">
                <a:latin typeface="Courier New" panose="02070309020205020404" pitchFamily="49" charset="0"/>
              </a:rPr>
              <a:t>      j = (j + 1) % n; </a:t>
            </a:r>
          </a:p>
          <a:p>
            <a:pPr marL="0" indent="0">
              <a:buNone/>
            </a:pPr>
            <a:r>
              <a:rPr lang="en-US" altLang="en-US" b="1" dirty="0">
                <a:latin typeface="Courier New" panose="02070309020205020404" pitchFamily="49" charset="0"/>
              </a:rPr>
              <a:t>   if (j == </a:t>
            </a:r>
            <a:r>
              <a:rPr lang="en-US" altLang="en-US" b="1" dirty="0" err="1">
                <a:latin typeface="Courier New" panose="02070309020205020404" pitchFamily="49" charset="0"/>
              </a:rPr>
              <a:t>i</a:t>
            </a:r>
            <a:r>
              <a:rPr lang="en-US" altLang="en-US" b="1" dirty="0">
                <a:latin typeface="Courier New" panose="02070309020205020404" pitchFamily="49" charset="0"/>
              </a:rPr>
              <a:t>) </a:t>
            </a:r>
          </a:p>
          <a:p>
            <a:pPr marL="0" indent="0">
              <a:buNone/>
            </a:pPr>
            <a:r>
              <a:rPr lang="en-US" altLang="en-US" b="1" dirty="0">
                <a:latin typeface="Courier New" panose="02070309020205020404" pitchFamily="49" charset="0"/>
              </a:rPr>
              <a:t>      lock = 0; </a:t>
            </a:r>
          </a:p>
          <a:p>
            <a:pPr marL="0" indent="0">
              <a:buNone/>
            </a:pPr>
            <a:r>
              <a:rPr lang="en-US" altLang="en-US" b="1" dirty="0">
                <a:latin typeface="Courier New" panose="02070309020205020404" pitchFamily="49" charset="0"/>
              </a:rPr>
              <a:t>   else </a:t>
            </a:r>
          </a:p>
          <a:p>
            <a:pPr marL="0" indent="0">
              <a:buNone/>
            </a:pPr>
            <a:r>
              <a:rPr lang="en-US" altLang="en-US" b="1" dirty="0">
                <a:latin typeface="Courier New" panose="02070309020205020404" pitchFamily="49" charset="0"/>
              </a:rPr>
              <a:t>      waiting[j] = false; </a:t>
            </a:r>
          </a:p>
          <a:p>
            <a:pPr marL="0" indent="0">
              <a:buNone/>
            </a:pPr>
            <a:r>
              <a:rPr lang="en-US" altLang="en-US" b="1" dirty="0">
                <a:latin typeface="Courier New" panose="02070309020205020404" pitchFamily="49" charset="0"/>
              </a:rPr>
              <a:t>                  </a:t>
            </a:r>
            <a:r>
              <a:rPr lang="en-US" altLang="en-US" b="1" dirty="0">
                <a:solidFill>
                  <a:srgbClr val="CC6600"/>
                </a:solidFill>
                <a:latin typeface="Courier New" panose="02070309020205020404" pitchFamily="49" charset="0"/>
              </a:rPr>
              <a:t>/* remainder section */ </a:t>
            </a:r>
          </a:p>
          <a:p>
            <a:pPr marL="0" indent="0">
              <a:buNone/>
            </a:pPr>
            <a:r>
              <a:rPr lang="en-US" altLang="en-US" sz="2000" b="1" dirty="0">
                <a:latin typeface="Courier New" panose="02070309020205020404" pitchFamily="49"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1981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1179871" y="1233489"/>
            <a:ext cx="9542206" cy="5108317"/>
          </a:xfrm>
        </p:spPr>
        <p:txBody>
          <a:bodyPr/>
          <a:lstStyle/>
          <a:p>
            <a:r>
              <a:rPr lang="en-US" altLang="en-US" sz="2000" dirty="0"/>
              <a:t>Typically, instructions such as compare-and-swap are used as building blocks for other synchronization tools.</a:t>
            </a:r>
          </a:p>
          <a:p>
            <a:endParaRPr lang="en-US" altLang="en-US" sz="2000" dirty="0"/>
          </a:p>
          <a:p>
            <a:r>
              <a:rPr lang="en-US" altLang="en-US" sz="2000" dirty="0"/>
              <a:t>One tool is an </a:t>
            </a:r>
            <a:r>
              <a:rPr lang="en-US" altLang="en-US" sz="2000" b="1" dirty="0"/>
              <a:t>atomic variable </a:t>
            </a:r>
            <a:r>
              <a:rPr lang="en-US" altLang="en-US" sz="2000" dirty="0"/>
              <a:t>that provides </a:t>
            </a:r>
            <a:r>
              <a:rPr lang="en-US" altLang="en-US" sz="2000" i="1" dirty="0"/>
              <a:t>atomic</a:t>
            </a:r>
            <a:r>
              <a:rPr lang="en-US" altLang="en-US" sz="2000" dirty="0"/>
              <a:t> (uninterruptible) updates on basic data types such as integers and </a:t>
            </a:r>
            <a:r>
              <a:rPr lang="en-US" altLang="en-US" sz="2000" dirty="0" err="1"/>
              <a:t>booleans</a:t>
            </a:r>
            <a:r>
              <a:rPr lang="en-US" altLang="en-US" sz="2000" dirty="0"/>
              <a:t>.</a:t>
            </a:r>
          </a:p>
          <a:p>
            <a:endParaRPr lang="en-US" altLang="en-US" sz="2000" dirty="0"/>
          </a:p>
          <a:p>
            <a:r>
              <a:rPr lang="en-US" altLang="en-US" sz="2000" dirty="0"/>
              <a:t>For example:</a:t>
            </a:r>
          </a:p>
          <a:p>
            <a:pPr lvl="1"/>
            <a:r>
              <a:rPr lang="en-US" altLang="en-US" sz="2000" dirty="0"/>
              <a:t>Let </a:t>
            </a:r>
            <a:r>
              <a:rPr lang="en-US" altLang="en-US" sz="2000" b="1" dirty="0">
                <a:latin typeface="Courier New" panose="02070309020205020404" pitchFamily="49" charset="0"/>
                <a:cs typeface="Courier New" panose="02070309020205020404" pitchFamily="49" charset="0"/>
              </a:rPr>
              <a:t>sequence </a:t>
            </a:r>
            <a:r>
              <a:rPr lang="en-US" altLang="en-US" sz="2000" dirty="0"/>
              <a:t>be an atomic variable </a:t>
            </a:r>
          </a:p>
          <a:p>
            <a:pPr lvl="1"/>
            <a:r>
              <a:rPr lang="en-US" altLang="en-US" sz="2000" dirty="0"/>
              <a:t>Let  </a:t>
            </a:r>
            <a:r>
              <a:rPr lang="en-US" altLang="en-US" sz="2000" b="1" dirty="0">
                <a:latin typeface="Courier New" panose="02070309020205020404" pitchFamily="49" charset="0"/>
                <a:cs typeface="Courier New" panose="02070309020205020404" pitchFamily="49" charset="0"/>
              </a:rPr>
              <a:t>increment()</a:t>
            </a:r>
            <a:r>
              <a:rPr lang="en-US" altLang="en-US" sz="2000"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sz="2000" dirty="0"/>
              <a:t> </a:t>
            </a:r>
          </a:p>
          <a:p>
            <a:pPr lvl="1"/>
            <a:r>
              <a:rPr lang="en-US" altLang="en-US" sz="2000" dirty="0"/>
              <a:t>The Command:</a:t>
            </a:r>
          </a:p>
          <a:p>
            <a:pPr marL="457200" lvl="1" indent="0">
              <a:buNone/>
            </a:pPr>
            <a:r>
              <a:rPr lang="en-US" altLang="en-US" sz="2000" b="1" dirty="0">
                <a:latin typeface="Courier New" panose="02070309020205020404" pitchFamily="49" charset="0"/>
                <a:cs typeface="Courier New" panose="02070309020205020404" pitchFamily="49" charset="0"/>
              </a:rPr>
              <a:t>     increment(&amp;sequence);</a:t>
            </a:r>
            <a:r>
              <a:rPr lang="en-US" altLang="en-US" sz="2000" dirty="0"/>
              <a:t> </a:t>
            </a:r>
          </a:p>
          <a:p>
            <a:pPr marL="457200" lvl="1" indent="0">
              <a:buNone/>
            </a:pPr>
            <a:r>
              <a:rPr lang="en-US" altLang="en-US" sz="2000" dirty="0"/>
              <a:t>      ensures </a:t>
            </a:r>
            <a:r>
              <a:rPr lang="en-US" altLang="en-US" sz="2000" b="1" dirty="0">
                <a:latin typeface="Courier New" panose="02070309020205020404" pitchFamily="49" charset="0"/>
                <a:cs typeface="Courier New" panose="02070309020205020404" pitchFamily="49" charset="0"/>
              </a:rPr>
              <a:t>sequence</a:t>
            </a:r>
            <a:r>
              <a:rPr lang="en-US" altLang="en-US" sz="2000" dirty="0"/>
              <a:t> is incremented without interruption:</a:t>
            </a:r>
            <a:br>
              <a:rPr lang="en-US" altLang="en-US" sz="2000" dirty="0"/>
            </a:br>
            <a:br>
              <a:rPr lang="en-US" altLang="en-US" sz="2000" dirty="0"/>
            </a:br>
            <a:endParaRPr lang="en-US"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1981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412955" y="953270"/>
            <a:ext cx="11606979" cy="5680208"/>
          </a:xfrm>
        </p:spPr>
        <p:txBody>
          <a:bodyPr/>
          <a:lstStyle/>
          <a:p>
            <a:r>
              <a:rPr lang="en-US" altLang="en-US" sz="2000" dirty="0"/>
              <a:t>The </a:t>
            </a:r>
            <a:r>
              <a:rPr lang="en-US" altLang="en-US" sz="2000" b="1" dirty="0">
                <a:latin typeface="Courier New" panose="02070309020205020404" pitchFamily="49" charset="0"/>
                <a:cs typeface="Courier New" panose="02070309020205020404" pitchFamily="49" charset="0"/>
              </a:rPr>
              <a:t>increment()</a:t>
            </a:r>
            <a:r>
              <a:rPr lang="en-US" altLang="en-US" sz="2000" dirty="0"/>
              <a:t> function can be implemented as follows:</a:t>
            </a:r>
            <a:br>
              <a:rPr lang="en-US" altLang="en-US" sz="2000" dirty="0"/>
            </a:br>
            <a:r>
              <a:rPr lang="en-US" altLang="en-US" sz="2000" b="1" dirty="0">
                <a:latin typeface="Courier New" panose="02070309020205020404" pitchFamily="49" charset="0"/>
                <a:cs typeface="Courier New" panose="02070309020205020404" pitchFamily="49" charset="0"/>
              </a:rPr>
              <a:t>void increment(</a:t>
            </a:r>
            <a:r>
              <a:rPr lang="en-US" altLang="en-US" sz="2000" b="1" dirty="0" err="1">
                <a:latin typeface="Courier New" panose="02070309020205020404" pitchFamily="49" charset="0"/>
                <a:cs typeface="Courier New" panose="02070309020205020404" pitchFamily="49" charset="0"/>
              </a:rPr>
              <a:t>atomic_int</a:t>
            </a:r>
            <a:r>
              <a:rPr lang="en-US" altLang="en-US" sz="2000" b="1" dirty="0">
                <a:latin typeface="Courier New" panose="02070309020205020404" pitchFamily="49" charset="0"/>
                <a:cs typeface="Courier New" panose="02070309020205020404" pitchFamily="49" charset="0"/>
              </a:rPr>
              <a:t> *v)</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int temp;</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do {</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temp = *v;</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while (temp != (</a:t>
            </a:r>
            <a:r>
              <a:rPr lang="en-US" altLang="en-US" sz="2000" b="1" dirty="0" err="1">
                <a:latin typeface="Courier New" panose="02070309020205020404" pitchFamily="49" charset="0"/>
                <a:cs typeface="Courier New" panose="02070309020205020404" pitchFamily="49" charset="0"/>
              </a:rPr>
              <a:t>compare_and_swap</a:t>
            </a:r>
            <a:r>
              <a:rPr lang="en-US" altLang="en-US" sz="2000" b="1" dirty="0">
                <a:latin typeface="Courier New" panose="02070309020205020404" pitchFamily="49" charset="0"/>
                <a:cs typeface="Courier New" panose="02070309020205020404" pitchFamily="49" charset="0"/>
              </a:rPr>
              <a:t>(v,temp,temp+1));</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a:t>
            </a:r>
            <a:br>
              <a:rPr lang="en-US" altLang="en-US" sz="2000" b="1" dirty="0">
                <a:latin typeface="Courier New" panose="02070309020205020404" pitchFamily="49" charset="0"/>
                <a:cs typeface="Courier New" panose="02070309020205020404" pitchFamily="49" charset="0"/>
              </a:rPr>
            </a:br>
            <a:r>
              <a:rPr lang="en-US" b="1" u="sng" dirty="0"/>
              <a:t>How it works — Simple Explanation</a:t>
            </a:r>
          </a:p>
          <a:p>
            <a:r>
              <a:rPr lang="en-US" dirty="0"/>
              <a:t>temp = *v;  // Read current value of atomic integer v from memory.</a:t>
            </a:r>
          </a:p>
          <a:p>
            <a:r>
              <a:rPr lang="en-US" dirty="0" err="1"/>
              <a:t>compare_and_swap</a:t>
            </a:r>
            <a:r>
              <a:rPr lang="en-US" dirty="0"/>
              <a:t>(v, temp, temp+1)  // Tries to set v to temp+1 </a:t>
            </a:r>
            <a:r>
              <a:rPr lang="en-US" b="1" dirty="0"/>
              <a:t>only if</a:t>
            </a:r>
            <a:r>
              <a:rPr lang="en-US" dirty="0"/>
              <a:t> v has not changed since we read it.</a:t>
            </a:r>
          </a:p>
          <a:p>
            <a:r>
              <a:rPr lang="en-US" dirty="0"/>
              <a:t>while (temp != </a:t>
            </a:r>
            <a:r>
              <a:rPr lang="en-US" dirty="0" err="1"/>
              <a:t>returned_value</a:t>
            </a:r>
            <a:r>
              <a:rPr lang="en-US" dirty="0"/>
              <a:t>)</a:t>
            </a:r>
          </a:p>
          <a:p>
            <a:pPr lvl="1"/>
            <a:r>
              <a:rPr lang="en-US" dirty="0"/>
              <a:t>If someone else incremented v during the loop,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a:t>
            </a:r>
            <a:r>
              <a:rPr lang="en-US" dirty="0"/>
              <a:t>fails, because the value is no longer equal to temp.</a:t>
            </a:r>
          </a:p>
          <a:p>
            <a:pPr lvl="1"/>
            <a:r>
              <a:rPr lang="en-US" dirty="0"/>
              <a:t>Then we retry (read the updated value and try again).</a:t>
            </a:r>
          </a:p>
          <a:p>
            <a:r>
              <a:rPr lang="en-US" dirty="0"/>
              <a:t>This guarantees safe concurrent increment without locks.</a:t>
            </a:r>
          </a:p>
          <a:p>
            <a:endParaRPr lang="en-US"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1981200" y="144697"/>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99652" y="1074016"/>
            <a:ext cx="10677832" cy="4931930"/>
          </a:xfrm>
        </p:spPr>
        <p:txBody>
          <a:bodyPr/>
          <a:lstStyle/>
          <a:p>
            <a:pPr>
              <a:lnSpc>
                <a:spcPct val="90000"/>
              </a:lnSpc>
            </a:pPr>
            <a:r>
              <a:rPr lang="en-US" altLang="en-US" sz="2000" dirty="0"/>
              <a:t>Previous solutions are complicated and generally inaccessible to application programmers</a:t>
            </a:r>
          </a:p>
          <a:p>
            <a:pPr>
              <a:lnSpc>
                <a:spcPct val="90000"/>
              </a:lnSpc>
            </a:pPr>
            <a:r>
              <a:rPr lang="en-US" altLang="en-US" sz="2000" dirty="0"/>
              <a:t>OS designers build software tools to solve critical section problem</a:t>
            </a:r>
          </a:p>
          <a:p>
            <a:pPr>
              <a:lnSpc>
                <a:spcPct val="90000"/>
              </a:lnSpc>
            </a:pPr>
            <a:r>
              <a:rPr lang="en-US" altLang="en-US" sz="2000" dirty="0"/>
              <a:t>Simplest is mutex lock</a:t>
            </a:r>
          </a:p>
          <a:p>
            <a:pPr lvl="1">
              <a:lnSpc>
                <a:spcPct val="90000"/>
              </a:lnSpc>
            </a:pPr>
            <a:r>
              <a:rPr lang="en-US" altLang="en-US" sz="2000" dirty="0"/>
              <a:t>Boolean variable indicating if lock is available or not</a:t>
            </a:r>
          </a:p>
          <a:p>
            <a:pPr>
              <a:lnSpc>
                <a:spcPct val="90000"/>
              </a:lnSpc>
            </a:pPr>
            <a:r>
              <a:rPr lang="en-US" altLang="en-US" sz="2000" dirty="0"/>
              <a:t>Protect a critical section  by </a:t>
            </a:r>
          </a:p>
          <a:p>
            <a:pPr lvl="1">
              <a:lnSpc>
                <a:spcPct val="90000"/>
              </a:lnSpc>
            </a:pPr>
            <a:r>
              <a:rPr lang="en-US" altLang="en-US" sz="2000"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 lock </a:t>
            </a:r>
          </a:p>
          <a:p>
            <a:pPr lvl="1">
              <a:lnSpc>
                <a:spcPct val="90000"/>
              </a:lnSpc>
            </a:pPr>
            <a:r>
              <a:rPr lang="en-US" altLang="en-US" sz="2000" dirty="0"/>
              <a:t>Then </a:t>
            </a:r>
            <a:r>
              <a:rPr lang="en-US" altLang="en-US" sz="2000" b="1" dirty="0">
                <a:latin typeface="Courier New" panose="02070309020205020404" pitchFamily="49" charset="0"/>
              </a:rPr>
              <a:t>release()</a:t>
            </a:r>
            <a:r>
              <a:rPr lang="en-US" altLang="en-US" sz="2000" dirty="0"/>
              <a:t> the lock</a:t>
            </a:r>
          </a:p>
          <a:p>
            <a:pPr>
              <a:lnSpc>
                <a:spcPct val="90000"/>
              </a:lnSpc>
            </a:pPr>
            <a:r>
              <a:rPr lang="en-US" altLang="en-US" sz="2000" dirty="0"/>
              <a:t>Calls to </a:t>
            </a:r>
            <a:r>
              <a:rPr lang="en-US" altLang="en-US" sz="2000" b="1" dirty="0">
                <a:latin typeface="Courier New" panose="02070309020205020404" pitchFamily="49" charset="0"/>
              </a:rPr>
              <a:t>acquire()</a:t>
            </a:r>
            <a:r>
              <a:rPr lang="en-US" altLang="en-US" sz="2000" dirty="0"/>
              <a:t> and </a:t>
            </a:r>
            <a:r>
              <a:rPr lang="en-US" altLang="en-US" sz="2000" b="1" dirty="0">
                <a:latin typeface="Courier New" panose="02070309020205020404" pitchFamily="49" charset="0"/>
              </a:rPr>
              <a:t>release()</a:t>
            </a:r>
            <a:r>
              <a:rPr lang="en-US" altLang="en-US" sz="2000" dirty="0"/>
              <a:t> must be </a:t>
            </a:r>
            <a:r>
              <a:rPr lang="en-US" altLang="en-US" sz="2000" b="1" dirty="0">
                <a:solidFill>
                  <a:srgbClr val="006699"/>
                </a:solidFill>
                <a:latin typeface="+mj-lt"/>
              </a:rPr>
              <a:t>atomic</a:t>
            </a:r>
          </a:p>
          <a:p>
            <a:pPr lvl="1">
              <a:lnSpc>
                <a:spcPct val="90000"/>
              </a:lnSpc>
            </a:pPr>
            <a:r>
              <a:rPr lang="en-US" altLang="en-US" sz="2000" dirty="0"/>
              <a:t>Usually implemented via hardware atomic instructions such as compare-and-swap.</a:t>
            </a:r>
          </a:p>
          <a:p>
            <a:pPr>
              <a:lnSpc>
                <a:spcPct val="90000"/>
              </a:lnSpc>
            </a:pPr>
            <a:r>
              <a:rPr lang="en-US" altLang="en-US" sz="2000" dirty="0"/>
              <a:t>But this solution requires </a:t>
            </a:r>
            <a:r>
              <a:rPr lang="en-US" altLang="en-US" sz="2000" b="1" dirty="0">
                <a:solidFill>
                  <a:srgbClr val="006699"/>
                </a:solidFill>
                <a:latin typeface="+mj-lt"/>
              </a:rPr>
              <a:t>busy waiting</a:t>
            </a:r>
          </a:p>
          <a:p>
            <a:pPr lvl="1">
              <a:lnSpc>
                <a:spcPct val="90000"/>
              </a:lnSpc>
            </a:pPr>
            <a:r>
              <a:rPr lang="en-US" altLang="en-US" sz="2000" dirty="0"/>
              <a:t>This lock therefore called a </a:t>
            </a:r>
            <a:r>
              <a:rPr lang="en-US" altLang="en-US" sz="2000" b="1" dirty="0">
                <a:solidFill>
                  <a:srgbClr val="006699"/>
                </a:solidFill>
                <a:latin typeface="+mj-lt"/>
              </a:rPr>
              <a:t>spinlock</a:t>
            </a:r>
          </a:p>
          <a:p>
            <a:pPr>
              <a:lnSpc>
                <a:spcPct val="90000"/>
              </a:lnSpc>
              <a:buFont typeface="Monotype Sorts" pitchFamily="-84" charset="2"/>
              <a:buNone/>
            </a:pPr>
            <a:endParaRPr lang="en-US" altLang="en-US" sz="2000" dirty="0"/>
          </a:p>
        </p:txBody>
      </p:sp>
    </p:spTree>
    <p:extLst>
      <p:ext uri="{BB962C8B-B14F-4D97-AF65-F5344CB8AC3E}">
        <p14:creationId xmlns:p14="http://schemas.microsoft.com/office/powerpoint/2010/main" val="389945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1933421" y="2344712"/>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1933420" y="3492102"/>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2541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1033362" y="1681718"/>
            <a:ext cx="4482535"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acquire lock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release lock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p:txBody>
      </p:sp>
      <p:sp>
        <p:nvSpPr>
          <p:cNvPr id="2" name="Rectangle 2">
            <a:extLst>
              <a:ext uri="{FF2B5EF4-FFF2-40B4-BE49-F238E27FC236}">
                <a16:creationId xmlns:a16="http://schemas.microsoft.com/office/drawing/2014/main" id="{B2317442-509A-791D-4EC3-54F6AEC86262}"/>
              </a:ext>
            </a:extLst>
          </p:cNvPr>
          <p:cNvSpPr>
            <a:spLocks noChangeArrowheads="1"/>
          </p:cNvSpPr>
          <p:nvPr/>
        </p:nvSpPr>
        <p:spPr bwMode="auto">
          <a:xfrm>
            <a:off x="5899355" y="1681717"/>
            <a:ext cx="5869858" cy="395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nSpc>
                <a:spcPct val="90000"/>
              </a:lnSpc>
              <a:buFont typeface="Monotype Sorts" pitchFamily="-84" charset="2"/>
              <a:buNone/>
            </a:pPr>
            <a:endParaRPr lang="en-US" altLang="en-US" dirty="0"/>
          </a:p>
          <a:p>
            <a:pPr lvl="1">
              <a:lnSpc>
                <a:spcPct val="90000"/>
              </a:lnSpc>
              <a:buFont typeface="Monotype Sorts" pitchFamily="-84" charset="2"/>
              <a:buNone/>
            </a:pPr>
            <a:r>
              <a:rPr lang="en-US" altLang="en-US" dirty="0"/>
              <a:t>Definition of  the </a:t>
            </a:r>
            <a:r>
              <a:rPr lang="en-US" altLang="en-US" sz="2000" b="1" dirty="0">
                <a:latin typeface="Courier New" panose="02070309020205020404" pitchFamily="49" charset="0"/>
                <a:sym typeface="Symbol" panose="05050102010706020507" pitchFamily="18" charset="2"/>
              </a:rPr>
              <a:t>acquire() </a:t>
            </a:r>
            <a:r>
              <a:rPr lang="en-US" altLang="en-US" sz="2000" b="1" dirty="0">
                <a:solidFill>
                  <a:srgbClr val="000000"/>
                </a:solidFill>
                <a:latin typeface="Courier New" panose="02070309020205020404" pitchFamily="49" charset="0"/>
              </a:rPr>
              <a:t>operation</a:t>
            </a:r>
            <a:endParaRPr lang="en-US" altLang="en-US" sz="2000" b="1" dirty="0"/>
          </a:p>
          <a:p>
            <a:pPr lvl="1">
              <a:lnSpc>
                <a:spcPct val="90000"/>
              </a:lnSpc>
              <a:buFont typeface="Monotype Sorts" pitchFamily="-84" charset="2"/>
              <a:buNone/>
            </a:pPr>
            <a:endParaRPr lang="en-US" altLang="en-US"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acquire()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while ( !</a:t>
            </a:r>
            <a:r>
              <a:rPr lang="en-US" altLang="en-US" b="1" dirty="0">
                <a:solidFill>
                  <a:srgbClr val="000000"/>
                </a:solidFill>
                <a:latin typeface="Courier New" panose="02070309020205020404" pitchFamily="49" charset="0"/>
              </a:rPr>
              <a:t>available </a:t>
            </a: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b="1" dirty="0">
                <a:solidFill>
                  <a:srgbClr val="000000"/>
                </a:solidFill>
                <a:latin typeface="Courier New" panose="02070309020205020404" pitchFamily="49" charset="0"/>
              </a:rPr>
              <a:t>    available  = false</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endParaRPr lang="en-US" altLang="en-US" b="1" dirty="0">
              <a:latin typeface="Courier New" panose="02070309020205020404" pitchFamily="49" charset="0"/>
              <a:sym typeface="Symbol" panose="05050102010706020507" pitchFamily="18" charset="2"/>
            </a:endParaRPr>
          </a:p>
          <a:p>
            <a:pPr>
              <a:lnSpc>
                <a:spcPct val="90000"/>
              </a:lnSpc>
            </a:pPr>
            <a:r>
              <a:rPr lang="en-US" altLang="en-US" sz="2000" dirty="0"/>
              <a:t>     Definition of  the </a:t>
            </a:r>
            <a:r>
              <a:rPr lang="en-US" altLang="en-US" sz="2000" b="1" dirty="0">
                <a:solidFill>
                  <a:srgbClr val="000000"/>
                </a:solidFill>
                <a:latin typeface="Courier New" panose="02070309020205020404" pitchFamily="49" charset="0"/>
              </a:rPr>
              <a:t>release() operation</a:t>
            </a:r>
          </a:p>
          <a:p>
            <a:pPr>
              <a:lnSpc>
                <a:spcPct val="90000"/>
              </a:lnSpc>
            </a:pPr>
            <a:endParaRPr lang="en-US" altLang="en-US" sz="20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solidFill>
                  <a:srgbClr val="000000"/>
                </a:solidFill>
                <a:latin typeface="Courier New" panose="02070309020205020404" pitchFamily="49" charset="0"/>
              </a:rPr>
              <a:t>release</a:t>
            </a:r>
            <a:r>
              <a:rPr lang="en-US" altLang="en-US"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a:t>
            </a:r>
            <a:r>
              <a:rPr lang="en-US" altLang="en-US" b="1" dirty="0">
                <a:solidFill>
                  <a:srgbClr val="000000"/>
                </a:solidFill>
                <a:latin typeface="Courier New" panose="02070309020205020404" pitchFamily="49" charset="0"/>
              </a:rPr>
              <a:t>available  = true</a:t>
            </a:r>
            <a:endParaRPr lang="en-US" altLang="en-US"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endParaRPr lang="en-US" altLang="en-US" sz="2000" b="1" dirty="0">
              <a:solidFill>
                <a:srgbClr val="000000"/>
              </a:solidFill>
              <a:latin typeface="Courier New" panose="02070309020205020404" pitchFamily="49" charset="0"/>
            </a:endParaRPr>
          </a:p>
        </p:txBody>
      </p:sp>
      <p:sp>
        <p:nvSpPr>
          <p:cNvPr id="4" name="TextBox 3">
            <a:extLst>
              <a:ext uri="{FF2B5EF4-FFF2-40B4-BE49-F238E27FC236}">
                <a16:creationId xmlns:a16="http://schemas.microsoft.com/office/drawing/2014/main" id="{A3AA1730-FED0-F938-3E9B-D6CEF38FB880}"/>
              </a:ext>
            </a:extLst>
          </p:cNvPr>
          <p:cNvSpPr txBox="1"/>
          <p:nvPr/>
        </p:nvSpPr>
        <p:spPr>
          <a:xfrm>
            <a:off x="5515897" y="1024956"/>
            <a:ext cx="6194322" cy="400110"/>
          </a:xfrm>
          <a:prstGeom prst="rect">
            <a:avLst/>
          </a:prstGeom>
          <a:noFill/>
        </p:spPr>
        <p:txBody>
          <a:bodyPr wrap="square">
            <a:spAutoFit/>
          </a:bodyPr>
          <a:lstStyle/>
          <a:p>
            <a:r>
              <a:rPr lang="en-US" altLang="en-US" sz="2000" dirty="0">
                <a:solidFill>
                  <a:srgbClr val="000000"/>
                </a:solidFill>
                <a:latin typeface="Courier New" panose="02070309020205020404" pitchFamily="49" charset="0"/>
              </a:rPr>
              <a:t>Initially </a:t>
            </a:r>
            <a:r>
              <a:rPr lang="en-US" altLang="en-US" sz="2000" b="1" dirty="0">
                <a:solidFill>
                  <a:srgbClr val="000000"/>
                </a:solidFill>
                <a:latin typeface="Courier New" panose="02070309020205020404" pitchFamily="49" charset="0"/>
              </a:rPr>
              <a:t>available = true</a:t>
            </a:r>
            <a:endParaRPr lang="en-US" sz="2000" b="1" dirty="0"/>
          </a:p>
        </p:txBody>
      </p:sp>
      <p:cxnSp>
        <p:nvCxnSpPr>
          <p:cNvPr id="8" name="Straight Connector 7">
            <a:extLst>
              <a:ext uri="{FF2B5EF4-FFF2-40B4-BE49-F238E27FC236}">
                <a16:creationId xmlns:a16="http://schemas.microsoft.com/office/drawing/2014/main" id="{FC7544C2-FE30-54AA-D659-1198EB975C72}"/>
              </a:ext>
            </a:extLst>
          </p:cNvPr>
          <p:cNvCxnSpPr/>
          <p:nvPr/>
        </p:nvCxnSpPr>
        <p:spPr bwMode="auto">
          <a:xfrm>
            <a:off x="5309419" y="973337"/>
            <a:ext cx="0" cy="5110373"/>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1981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1356852" y="973394"/>
            <a:ext cx="9866671" cy="5160707"/>
          </a:xfrm>
        </p:spPr>
        <p:txBody>
          <a:bodyPr/>
          <a:lstStyle/>
          <a:p>
            <a:pPr>
              <a:lnSpc>
                <a:spcPct val="90000"/>
              </a:lnSpc>
            </a:pPr>
            <a:r>
              <a:rPr lang="en-US" altLang="en-US" sz="2000" dirty="0"/>
              <a:t>Synchronization tool that provides more sophisticated ways (than Mutex locks)  for processes to synchronize their activities.</a:t>
            </a:r>
            <a:endParaRPr lang="en-US" altLang="en-US" sz="2000" i="1" dirty="0">
              <a:solidFill>
                <a:schemeClr val="tx2"/>
              </a:solidFill>
            </a:endParaRPr>
          </a:p>
          <a:p>
            <a:pPr>
              <a:lnSpc>
                <a:spcPct val="90000"/>
              </a:lnSpc>
            </a:pPr>
            <a:r>
              <a:rPr lang="en-US" altLang="en-US" sz="2000" dirty="0"/>
              <a:t>Semaphore </a:t>
            </a:r>
            <a:r>
              <a:rPr lang="en-US" altLang="en-US" sz="2000" b="1" i="1" dirty="0"/>
              <a:t>S</a:t>
            </a:r>
            <a:r>
              <a:rPr lang="en-US" altLang="en-US" sz="2000" dirty="0"/>
              <a:t> – integer variable</a:t>
            </a:r>
          </a:p>
          <a:p>
            <a:pPr>
              <a:lnSpc>
                <a:spcPct val="90000"/>
              </a:lnSpc>
            </a:pPr>
            <a:r>
              <a:rPr lang="en-US" altLang="en-US" sz="2000" dirty="0"/>
              <a:t>Can only be accessed via two indivisible (atomic) operations</a:t>
            </a:r>
          </a:p>
          <a:p>
            <a:pPr lvl="1">
              <a:lnSpc>
                <a:spcPct val="90000"/>
              </a:lnSpc>
            </a:pPr>
            <a:r>
              <a:rPr lang="en-US" altLang="en-US" sz="2000" b="1" dirty="0">
                <a:solidFill>
                  <a:srgbClr val="000000"/>
                </a:solidFill>
                <a:latin typeface="Courier New" panose="02070309020205020404" pitchFamily="49" charset="0"/>
              </a:rPr>
              <a:t>wait()</a:t>
            </a:r>
            <a:r>
              <a:rPr lang="en-US" altLang="en-US" sz="2000" dirty="0">
                <a:solidFill>
                  <a:srgbClr val="000000"/>
                </a:solidFill>
              </a:rPr>
              <a:t> and </a:t>
            </a:r>
            <a:r>
              <a:rPr lang="en-US" altLang="en-US" sz="2000" b="1" dirty="0">
                <a:solidFill>
                  <a:srgbClr val="000000"/>
                </a:solidFill>
                <a:latin typeface="Courier New" panose="02070309020205020404" pitchFamily="49" charset="0"/>
              </a:rPr>
              <a:t>signal()</a:t>
            </a:r>
          </a:p>
          <a:p>
            <a:pPr lvl="2">
              <a:lnSpc>
                <a:spcPct val="90000"/>
              </a:lnSpc>
            </a:pPr>
            <a:r>
              <a:rPr lang="en-US" altLang="en-US" sz="2000" dirty="0"/>
              <a:t>Originally called </a:t>
            </a:r>
            <a:r>
              <a:rPr lang="en-US" altLang="en-US" sz="2000" b="1" dirty="0">
                <a:solidFill>
                  <a:srgbClr val="000000"/>
                </a:solidFill>
                <a:latin typeface="Courier New" panose="02070309020205020404" pitchFamily="49" charset="0"/>
              </a:rPr>
              <a:t>P()</a:t>
            </a:r>
            <a:r>
              <a:rPr lang="en-US" altLang="en-US" sz="2000" dirty="0"/>
              <a:t> and </a:t>
            </a:r>
            <a:r>
              <a:rPr lang="en-US" altLang="en-US" sz="2000" b="1" dirty="0">
                <a:solidFill>
                  <a:srgbClr val="000000"/>
                </a:solidFill>
                <a:latin typeface="Courier New" panose="02070309020205020404" pitchFamily="49" charset="0"/>
              </a:rPr>
              <a:t>V()</a:t>
            </a:r>
          </a:p>
          <a:p>
            <a:pPr>
              <a:lnSpc>
                <a:spcPct val="90000"/>
              </a:lnSpc>
            </a:pPr>
            <a:r>
              <a:rPr lang="en-US" altLang="en-US" sz="2000" dirty="0"/>
              <a:t>Definition of  the </a:t>
            </a:r>
            <a:r>
              <a:rPr lang="en-US" altLang="en-US" sz="2000"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a:lnSpc>
                <a:spcPct val="90000"/>
              </a:lnSpc>
            </a:pPr>
            <a:r>
              <a:rPr lang="en-US" altLang="en-US" sz="2000" dirty="0"/>
              <a:t>Definition of  the </a:t>
            </a:r>
            <a:r>
              <a:rPr lang="en-US" altLang="en-US" sz="2000" b="1" dirty="0">
                <a:solidFill>
                  <a:srgbClr val="000000"/>
                </a:solidFill>
                <a:latin typeface="Courier New" panose="02070309020205020404" pitchFamily="49" charset="0"/>
              </a:rPr>
              <a:t>signal() operation</a:t>
            </a:r>
            <a:endParaRPr lang="en-US" altLang="en-US" sz="20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2085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1460090" y="1093790"/>
            <a:ext cx="9442860" cy="4252911"/>
          </a:xfrm>
        </p:spPr>
        <p:txBody>
          <a:bodyPr/>
          <a:lstStyle/>
          <a:p>
            <a:pPr>
              <a:tabLst>
                <a:tab pos="2001838" algn="ctr"/>
                <a:tab pos="4513263" algn="ctr"/>
              </a:tabLst>
            </a:pPr>
            <a:r>
              <a:rPr lang="en-US" altLang="en-US" sz="2000" b="1" dirty="0">
                <a:solidFill>
                  <a:srgbClr val="006699"/>
                </a:solidFill>
                <a:latin typeface="+mj-lt"/>
              </a:rPr>
              <a:t>Counting semaphore</a:t>
            </a:r>
            <a:r>
              <a:rPr lang="en-US" altLang="en-US" sz="2000" b="1" dirty="0">
                <a:solidFill>
                  <a:srgbClr val="3366FF"/>
                </a:solidFill>
              </a:rPr>
              <a:t> </a:t>
            </a:r>
            <a:r>
              <a:rPr lang="en-US" altLang="en-US" sz="2000" dirty="0"/>
              <a:t>– integer value can range over an unrestricted domain</a:t>
            </a:r>
          </a:p>
          <a:p>
            <a:pPr>
              <a:tabLst>
                <a:tab pos="2001838" algn="ctr"/>
                <a:tab pos="4513263" algn="ctr"/>
              </a:tabLst>
            </a:pPr>
            <a:endParaRPr lang="en-US" altLang="en-US" sz="2000" b="1" dirty="0">
              <a:solidFill>
                <a:srgbClr val="006699"/>
              </a:solidFill>
              <a:latin typeface="+mj-lt"/>
            </a:endParaRPr>
          </a:p>
          <a:p>
            <a:pPr>
              <a:tabLst>
                <a:tab pos="2001838" algn="ctr"/>
                <a:tab pos="4513263" algn="ctr"/>
              </a:tabLst>
            </a:pPr>
            <a:r>
              <a:rPr lang="en-US" altLang="en-US" sz="2000" b="1" dirty="0">
                <a:solidFill>
                  <a:srgbClr val="006699"/>
                </a:solidFill>
                <a:latin typeface="+mj-lt"/>
              </a:rPr>
              <a:t>Binary semaphore </a:t>
            </a:r>
            <a:r>
              <a:rPr lang="en-US" altLang="en-US" sz="2000" dirty="0"/>
              <a:t>– integer value can range only between 0 and 1</a:t>
            </a:r>
          </a:p>
          <a:p>
            <a:pPr lvl="1">
              <a:tabLst>
                <a:tab pos="2001838" algn="ctr"/>
                <a:tab pos="4513263" algn="ctr"/>
              </a:tabLst>
            </a:pPr>
            <a:r>
              <a:rPr lang="en-US" altLang="en-US" sz="2000" dirty="0">
                <a:sym typeface="MT Extra" panose="05050102010205020202" pitchFamily="18" charset="2"/>
              </a:rPr>
              <a:t>Same as a </a:t>
            </a:r>
            <a:r>
              <a:rPr lang="en-US" altLang="en-US" sz="2000" b="1" dirty="0">
                <a:solidFill>
                  <a:srgbClr val="006699"/>
                </a:solidFill>
                <a:latin typeface="+mj-lt"/>
                <a:sym typeface="MT Extra" panose="05050102010205020202" pitchFamily="18" charset="2"/>
              </a:rPr>
              <a:t>mutex lock</a:t>
            </a:r>
          </a:p>
          <a:p>
            <a:pPr>
              <a:tabLst>
                <a:tab pos="2001838" algn="ctr"/>
                <a:tab pos="4513263" algn="ctr"/>
              </a:tabLst>
            </a:pPr>
            <a:endParaRPr lang="en-US" altLang="en-US" sz="2000" dirty="0"/>
          </a:p>
          <a:p>
            <a:pPr>
              <a:tabLst>
                <a:tab pos="2001838" algn="ctr"/>
                <a:tab pos="4513263" algn="ctr"/>
              </a:tabLst>
            </a:pPr>
            <a:r>
              <a:rPr lang="en-US" altLang="en-US" sz="2000" dirty="0"/>
              <a:t>Can implement a counting semaphore </a:t>
            </a:r>
            <a:r>
              <a:rPr lang="en-US" altLang="en-US" sz="2000" b="1" i="1" dirty="0">
                <a:solidFill>
                  <a:srgbClr val="000000"/>
                </a:solidFill>
              </a:rPr>
              <a:t>S</a:t>
            </a:r>
            <a:r>
              <a:rPr lang="en-US" altLang="en-US" sz="2000" dirty="0"/>
              <a:t> as a binary semaphore</a:t>
            </a:r>
          </a:p>
          <a:p>
            <a:pPr marL="0" indent="0">
              <a:buNone/>
              <a:tabLst>
                <a:tab pos="2001838" algn="ctr"/>
                <a:tab pos="4513263" algn="ctr"/>
              </a:tabLst>
            </a:pPr>
            <a:endParaRPr lang="en-US" altLang="en-US" sz="2000" dirty="0">
              <a:sym typeface="MT Extra" panose="05050102010205020202" pitchFamily="18" charset="2"/>
            </a:endParaRPr>
          </a:p>
          <a:p>
            <a:pPr>
              <a:tabLst>
                <a:tab pos="2001838" algn="ctr"/>
                <a:tab pos="4513263" algn="ctr"/>
              </a:tabLst>
            </a:pPr>
            <a:r>
              <a:rPr lang="en-US" altLang="en-US" sz="2000"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20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2085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1519083" y="975802"/>
            <a:ext cx="9925665" cy="5512819"/>
          </a:xfrm>
        </p:spPr>
        <p:txBody>
          <a:bodyPr/>
          <a:lstStyle/>
          <a:p>
            <a:pPr>
              <a:tabLst>
                <a:tab pos="2001838" algn="ctr"/>
                <a:tab pos="4513263" algn="ctr"/>
              </a:tabLst>
            </a:pPr>
            <a:r>
              <a:rPr lang="en-US" altLang="en-US" sz="2000" dirty="0">
                <a:sym typeface="MT Extra" panose="05050102010205020202" pitchFamily="18" charset="2"/>
              </a:rPr>
              <a:t>Solution to the CS Problem</a:t>
            </a:r>
          </a:p>
          <a:p>
            <a:pPr lvl="1">
              <a:tabLst>
                <a:tab pos="2001838" algn="ctr"/>
                <a:tab pos="4513263" algn="ctr"/>
              </a:tabLst>
            </a:pPr>
            <a:r>
              <a:rPr lang="en-US" altLang="en-US" sz="2000" dirty="0">
                <a:sym typeface="MT Extra" panose="05050102010205020202" pitchFamily="18" charset="2"/>
              </a:rPr>
              <a:t>Create a semaphore “</a:t>
            </a:r>
            <a:r>
              <a:rPr lang="en-US" altLang="en-US" sz="2000" b="1" dirty="0">
                <a:solidFill>
                  <a:srgbClr val="000000"/>
                </a:solidFill>
                <a:latin typeface="Courier New" panose="02070309020205020404" pitchFamily="49" charset="0"/>
                <a:sym typeface="MT Extra" panose="05050102010205020202" pitchFamily="18" charset="2"/>
              </a:rPr>
              <a:t>mutex</a:t>
            </a:r>
            <a:r>
              <a:rPr lang="en-US" altLang="en-US" sz="2000" dirty="0">
                <a:sym typeface="MT Extra" panose="05050102010205020202" pitchFamily="18" charset="2"/>
              </a:rPr>
              <a:t>”</a:t>
            </a:r>
            <a:r>
              <a:rPr lang="en-US" altLang="ja-JP" sz="2000" dirty="0">
                <a:sym typeface="MT Extra" panose="05050102010205020202" pitchFamily="18" charset="2"/>
              </a:rPr>
              <a:t> initialized to 1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signal(mutex)</a:t>
            </a:r>
            <a:r>
              <a:rPr lang="en-US" altLang="en-US" sz="2000" b="1" dirty="0">
                <a:solidFill>
                  <a:srgbClr val="0000FF"/>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r>
              <a:rPr lang="en-US" altLang="en-US" sz="2000" dirty="0">
                <a:sym typeface="MT Extra" panose="05050102010205020202" pitchFamily="18" charset="2"/>
              </a:rPr>
              <a:t>Consider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2</a:t>
            </a:r>
            <a:r>
              <a:rPr lang="en-US" altLang="en-US" sz="2000" dirty="0">
                <a:sym typeface="MT Extra" panose="05050102010205020202" pitchFamily="18" charset="2"/>
              </a:rPr>
              <a:t> that with two statements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and</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2    </a:t>
            </a:r>
            <a:r>
              <a:rPr lang="en-US" altLang="en-US" sz="2000" dirty="0">
                <a:sym typeface="MT Extra" panose="05050102010205020202" pitchFamily="18" charset="2"/>
              </a:rPr>
              <a:t>and the requirement </a:t>
            </a:r>
            <a:r>
              <a:rPr lang="en-US" altLang="en-US" sz="2000" b="1" i="1" dirty="0">
                <a:sym typeface="MT Extra" panose="05050102010205020202" pitchFamily="18" charset="2"/>
              </a:rPr>
              <a:t> </a:t>
            </a:r>
            <a:r>
              <a:rPr lang="en-US" altLang="en-US" sz="2000" dirty="0">
                <a:sym typeface="MT Extra" panose="05050102010205020202" pitchFamily="18" charset="2"/>
              </a:rPr>
              <a:t>that</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to happen before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2</a:t>
            </a:r>
          </a:p>
          <a:p>
            <a:pPr lvl="1">
              <a:tabLst>
                <a:tab pos="2001838" algn="ctr"/>
                <a:tab pos="4513263" algn="ctr"/>
              </a:tabLst>
            </a:pPr>
            <a:r>
              <a:rPr lang="en-US" altLang="en-US" sz="2000" dirty="0">
                <a:sym typeface="MT Extra" panose="05050102010205020202" pitchFamily="18" charset="2"/>
              </a:rPr>
              <a:t>Create a semaphore “</a:t>
            </a:r>
            <a:r>
              <a:rPr lang="en-US" altLang="ja-JP" sz="2000" b="1" dirty="0">
                <a:solidFill>
                  <a:srgbClr val="000000"/>
                </a:solidFill>
                <a:latin typeface="Courier New" panose="02070309020205020404" pitchFamily="49" charset="0"/>
                <a:sym typeface="MT Extra" panose="05050102010205020202" pitchFamily="18" charset="2"/>
              </a:rPr>
              <a:t>synch</a:t>
            </a:r>
            <a:r>
              <a:rPr lang="en-US" altLang="en-US" sz="2000" dirty="0">
                <a:sym typeface="MT Extra" panose="05050102010205020202" pitchFamily="18" charset="2"/>
              </a:rPr>
              <a:t>”</a:t>
            </a:r>
            <a:r>
              <a:rPr lang="en-US" altLang="ja-JP" sz="2000" dirty="0">
                <a:sym typeface="MT Extra" panose="05050102010205020202" pitchFamily="18" charset="2"/>
              </a:rPr>
              <a:t> initialized to 0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1</a:t>
            </a:r>
            <a:r>
              <a:rPr lang="en-US" altLang="en-US" sz="2000"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wait(synch)</a:t>
            </a:r>
            <a:r>
              <a:rPr lang="en-US" altLang="en-US" sz="2000" dirty="0">
                <a:solidFill>
                  <a:srgbClr val="0000FF"/>
                </a:solidFill>
                <a:sym typeface="MT Extra" panose="05050102010205020202" pitchFamily="18" charset="2"/>
              </a:rPr>
              <a:t>;</a:t>
            </a:r>
            <a:endParaRPr lang="en-US" altLang="en-US" sz="2000"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2</a:t>
            </a:r>
            <a:r>
              <a:rPr lang="en-US" altLang="en-US" sz="2000" b="1" dirty="0">
                <a:solidFill>
                  <a:srgbClr val="000000"/>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endParaRPr lang="en-US" altLang="en-US" sz="20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1981200" y="227825"/>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1460090" y="1157288"/>
            <a:ext cx="9453716" cy="4845305"/>
          </a:xfrm>
        </p:spPr>
        <p:txBody>
          <a:bodyPr/>
          <a:lstStyle/>
          <a:p>
            <a:r>
              <a:rPr lang="en-US" altLang="en-US" sz="2000" dirty="0"/>
              <a:t>Must guarantee that no two processes can execute  the </a:t>
            </a:r>
            <a:r>
              <a:rPr lang="en-US" altLang="en-US" sz="2000" b="1" dirty="0">
                <a:latin typeface="Courier New" panose="02070309020205020404" pitchFamily="49" charset="0"/>
              </a:rPr>
              <a:t>wait() </a:t>
            </a:r>
            <a:r>
              <a:rPr lang="en-US" altLang="en-US" sz="2000" dirty="0"/>
              <a:t>and </a:t>
            </a:r>
            <a:r>
              <a:rPr lang="en-US" altLang="en-US" sz="2000" b="1" dirty="0">
                <a:latin typeface="Courier New" panose="02070309020205020404" pitchFamily="49" charset="0"/>
              </a:rPr>
              <a:t>signal() </a:t>
            </a:r>
            <a:r>
              <a:rPr lang="en-US" altLang="en-US" sz="2000" dirty="0"/>
              <a:t>on the same semaphore at the same time</a:t>
            </a:r>
          </a:p>
          <a:p>
            <a:endParaRPr lang="en-US" altLang="en-US" sz="2000" dirty="0"/>
          </a:p>
          <a:p>
            <a:r>
              <a:rPr lang="en-US" altLang="en-US" sz="2000" dirty="0"/>
              <a:t>Thus, the implementation becomes the critical section problem where the </a:t>
            </a:r>
            <a:r>
              <a:rPr lang="en-US" altLang="en-US" sz="2000" b="1" dirty="0">
                <a:latin typeface="Courier New" panose="02070309020205020404" pitchFamily="49" charset="0"/>
              </a:rPr>
              <a:t>wait</a:t>
            </a:r>
            <a:r>
              <a:rPr lang="en-US" altLang="en-US" sz="2000" dirty="0"/>
              <a:t> and </a:t>
            </a:r>
            <a:r>
              <a:rPr lang="en-US" altLang="en-US" sz="2000" b="1" dirty="0">
                <a:latin typeface="Courier New" panose="02070309020205020404" pitchFamily="49" charset="0"/>
              </a:rPr>
              <a:t>signal</a:t>
            </a:r>
            <a:r>
              <a:rPr lang="en-US" altLang="en-US" sz="2000" dirty="0"/>
              <a:t> code are placed in the critical section</a:t>
            </a:r>
          </a:p>
          <a:p>
            <a:endParaRPr lang="en-US" altLang="en-US" sz="2000" dirty="0"/>
          </a:p>
          <a:p>
            <a:r>
              <a:rPr lang="en-US" altLang="en-US" sz="2000" dirty="0"/>
              <a:t>Could now have </a:t>
            </a:r>
            <a:r>
              <a:rPr lang="en-US" altLang="en-US" sz="2000" b="1" dirty="0">
                <a:solidFill>
                  <a:srgbClr val="006699"/>
                </a:solidFill>
                <a:latin typeface="+mj-lt"/>
              </a:rPr>
              <a:t>busy waiting </a:t>
            </a:r>
            <a:r>
              <a:rPr lang="en-US" altLang="en-US" sz="2000" dirty="0"/>
              <a:t>in critical section implementation</a:t>
            </a:r>
          </a:p>
          <a:p>
            <a:pPr lvl="1"/>
            <a:r>
              <a:rPr lang="en-US" altLang="en-US" sz="2000" dirty="0"/>
              <a:t>But implementation code is short (the code of wait() and signal())</a:t>
            </a:r>
          </a:p>
          <a:p>
            <a:pPr lvl="1"/>
            <a:r>
              <a:rPr lang="en-US" altLang="en-US" sz="2000" dirty="0"/>
              <a:t>Little busy waiting if critical section rarely occupied</a:t>
            </a:r>
          </a:p>
          <a:p>
            <a:endParaRPr lang="en-US" altLang="en-US" sz="2000" dirty="0"/>
          </a:p>
          <a:p>
            <a:r>
              <a:rPr lang="en-US" altLang="en-US" sz="2000" dirty="0"/>
              <a:t>Note that applications may spend lots of time in critical sections and therefore this is not a good solution</a:t>
            </a:r>
          </a:p>
          <a:p>
            <a:pPr>
              <a:buFont typeface="Monotype Sorts" pitchFamily="-84" charset="2"/>
              <a:buNone/>
            </a:pPr>
            <a:r>
              <a:rPr lang="en-US" altLang="en-US" sz="2000" dirty="0"/>
              <a:t> </a:t>
            </a:r>
          </a:p>
          <a:p>
            <a:pPr lvl="1">
              <a:buFont typeface="Monotype Sorts" pitchFamily="-84" charset="2"/>
              <a:buNone/>
            </a:pPr>
            <a:endParaRPr lang="en-US"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2325799"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1548581" y="1078706"/>
            <a:ext cx="9556417" cy="4740203"/>
          </a:xfrm>
        </p:spPr>
        <p:txBody>
          <a:bodyPr/>
          <a:lstStyle/>
          <a:p>
            <a:r>
              <a:rPr lang="en-US" altLang="en-US" sz="2000" dirty="0"/>
              <a:t>With each semaphore there is an associated waiting queue</a:t>
            </a:r>
          </a:p>
          <a:p>
            <a:endParaRPr lang="en-US" altLang="en-US" sz="2000" dirty="0"/>
          </a:p>
          <a:p>
            <a:r>
              <a:rPr lang="en-US" altLang="en-US" sz="2000" dirty="0"/>
              <a:t>Each entry in a waiting queue has two data items:</a:t>
            </a:r>
          </a:p>
          <a:p>
            <a:pPr lvl="1"/>
            <a:r>
              <a:rPr lang="en-US" altLang="en-US" sz="2000" dirty="0"/>
              <a:t> Value (of type integer)</a:t>
            </a:r>
          </a:p>
          <a:p>
            <a:pPr lvl="1"/>
            <a:r>
              <a:rPr lang="en-US" altLang="en-US" sz="2000" dirty="0"/>
              <a:t> Pointer to next record in the list</a:t>
            </a:r>
          </a:p>
          <a:p>
            <a:endParaRPr lang="en-US" altLang="en-US" sz="2000" dirty="0"/>
          </a:p>
          <a:p>
            <a:r>
              <a:rPr lang="en-US" altLang="en-US" sz="2000" dirty="0"/>
              <a:t>Two operations:</a:t>
            </a:r>
          </a:p>
          <a:p>
            <a:pPr lvl="1"/>
            <a:r>
              <a:rPr lang="en-US" altLang="en-US" sz="2000" b="1" dirty="0">
                <a:solidFill>
                  <a:srgbClr val="006699"/>
                </a:solidFill>
                <a:latin typeface="+mj-lt"/>
              </a:rPr>
              <a:t>block </a:t>
            </a:r>
            <a:r>
              <a:rPr lang="en-US" altLang="en-US" sz="2000" dirty="0"/>
              <a:t>– place the process invoking the operation on the appropriate waiting queue</a:t>
            </a:r>
          </a:p>
          <a:p>
            <a:pPr lvl="1"/>
            <a:r>
              <a:rPr lang="en-US" altLang="en-US" sz="2000" b="1" dirty="0">
                <a:solidFill>
                  <a:srgbClr val="006699"/>
                </a:solidFill>
                <a:latin typeface="+mj-lt"/>
              </a:rPr>
              <a:t>wakeup</a:t>
            </a:r>
            <a:r>
              <a:rPr lang="en-US" altLang="en-US" sz="2000" dirty="0">
                <a:solidFill>
                  <a:srgbClr val="3366FF"/>
                </a:solidFill>
              </a:rPr>
              <a:t> </a:t>
            </a:r>
            <a:r>
              <a:rPr lang="en-US" altLang="en-US" sz="2000" dirty="0"/>
              <a:t>– remove one of processes in the waiting queue and place it in the ready queue</a:t>
            </a:r>
          </a:p>
          <a:p>
            <a:pPr marL="0" indent="0">
              <a:buNone/>
            </a:pPr>
            <a:endParaRPr lang="en-US" altLang="en-US" sz="2000" dirty="0"/>
          </a:p>
          <a:p>
            <a:pPr lvl="1"/>
            <a:endParaRPr lang="en-US" altLang="en-US" sz="2000" dirty="0"/>
          </a:p>
          <a:p>
            <a:pPr>
              <a:buFont typeface="Monotype Sorts" pitchFamily="-84" charset="2"/>
              <a:buNone/>
            </a:pPr>
            <a:r>
              <a:rPr lang="en-US" altLang="en-US" sz="2000" dirty="0">
                <a:solidFill>
                  <a:srgbClr val="0000FF"/>
                </a:solidFill>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2325799"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2385980" y="1078706"/>
            <a:ext cx="7582224" cy="4700588"/>
          </a:xfrm>
        </p:spPr>
        <p:txBody>
          <a:bodyPr/>
          <a:lstStyle/>
          <a:p>
            <a:endParaRPr lang="en-US" altLang="en-US" sz="2400" dirty="0"/>
          </a:p>
          <a:p>
            <a:r>
              <a:rPr lang="en-US" altLang="en-US" sz="2400" dirty="0"/>
              <a:t>Waiting queue</a:t>
            </a:r>
          </a:p>
          <a:p>
            <a:pPr marL="0" indent="0">
              <a:buNone/>
            </a:pPr>
            <a:r>
              <a:rPr lang="en-US" altLang="en-US" sz="2400" b="1" dirty="0">
                <a:latin typeface="Courier New" panose="02070309020205020404" pitchFamily="49" charset="0"/>
              </a:rPr>
              <a:t>    typedef struct </a:t>
            </a:r>
          </a:p>
          <a:p>
            <a:pPr marL="0" indent="0">
              <a:buNone/>
            </a:pPr>
            <a:r>
              <a:rPr lang="en-US" altLang="en-US" sz="2400" b="1" dirty="0">
                <a:latin typeface="Courier New" panose="02070309020205020404" pitchFamily="49" charset="0"/>
              </a:rPr>
              <a:t>    { </a:t>
            </a:r>
          </a:p>
          <a:p>
            <a:pPr>
              <a:buFont typeface="Monotype Sorts" pitchFamily="-84" charset="2"/>
              <a:buNone/>
            </a:pPr>
            <a:r>
              <a:rPr lang="en-US" altLang="en-US" sz="2400" b="1" dirty="0">
                <a:latin typeface="Courier New" panose="02070309020205020404" pitchFamily="49" charset="0"/>
              </a:rPr>
              <a:t>   	 int value; </a:t>
            </a:r>
          </a:p>
          <a:p>
            <a:pPr>
              <a:buFont typeface="Monotype Sorts" pitchFamily="-84" charset="2"/>
              <a:buNone/>
            </a:pPr>
            <a:r>
              <a:rPr lang="en-US" altLang="en-US" sz="2400" b="1" dirty="0">
                <a:latin typeface="Courier New" panose="02070309020205020404" pitchFamily="49" charset="0"/>
              </a:rPr>
              <a:t>   	 struct process *list; </a:t>
            </a:r>
          </a:p>
          <a:p>
            <a:pPr>
              <a:buFont typeface="Monotype Sorts" pitchFamily="-84" charset="2"/>
              <a:buNone/>
            </a:pPr>
            <a:r>
              <a:rPr lang="en-US" altLang="en-US" sz="2400" b="1" dirty="0">
                <a:latin typeface="Courier New" panose="02070309020205020404" pitchFamily="49" charset="0"/>
              </a:rPr>
              <a:t>    } semaphore; </a:t>
            </a:r>
          </a:p>
          <a:p>
            <a:endParaRPr lang="en-US" altLang="en-US" sz="2400" dirty="0"/>
          </a:p>
          <a:p>
            <a:pPr lvl="1"/>
            <a:endParaRPr lang="en-US" altLang="en-US" sz="2400" dirty="0"/>
          </a:p>
          <a:p>
            <a:pPr>
              <a:buFont typeface="Monotype Sorts" pitchFamily="-84" charset="2"/>
              <a:buNone/>
            </a:pPr>
            <a:r>
              <a:rPr lang="en-US" altLang="en-US" sz="2400"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2694528" y="104811"/>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2300748" y="1108173"/>
            <a:ext cx="8524568" cy="5381114"/>
          </a:xfrm>
        </p:spPr>
        <p:txBody>
          <a:bodyPr/>
          <a:lstStyle/>
          <a:p>
            <a:pPr marL="0" indent="0">
              <a:buNone/>
            </a:pPr>
            <a:r>
              <a:rPr lang="en-US" altLang="en-US" b="1" dirty="0">
                <a:latin typeface="Courier New" panose="02070309020205020404" pitchFamily="49" charset="0"/>
              </a:rPr>
              <a:t>wait(semaphore *S) { </a:t>
            </a:r>
          </a:p>
          <a:p>
            <a:pPr marL="0" indent="0">
              <a:buNone/>
            </a:pPr>
            <a:r>
              <a:rPr lang="en-US" altLang="en-US" b="1" dirty="0">
                <a:latin typeface="Courier New" panose="02070309020205020404" pitchFamily="49" charset="0"/>
              </a:rPr>
              <a:t>   S-&gt;value--; </a:t>
            </a:r>
          </a:p>
          <a:p>
            <a:pPr marL="0" indent="0">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add this process to S-&gt;list; </a:t>
            </a:r>
          </a:p>
          <a:p>
            <a:pPr marL="0" indent="0">
              <a:buNone/>
            </a:pPr>
            <a:r>
              <a:rPr lang="en-US" altLang="en-US" b="1" dirty="0">
                <a:latin typeface="Courier New" panose="02070309020205020404" pitchFamily="49" charset="0"/>
              </a:rPr>
              <a:t>      block(); </a:t>
            </a:r>
          </a:p>
          <a:p>
            <a:pPr marL="0" indent="0">
              <a:buNone/>
            </a:pPr>
            <a:r>
              <a:rPr lang="en-US" altLang="en-US" b="1" dirty="0">
                <a:latin typeface="Courier New" panose="02070309020205020404" pitchFamily="49" charset="0"/>
              </a:rPr>
              <a:t>   } </a:t>
            </a:r>
          </a:p>
          <a:p>
            <a:pPr marL="0" indent="0">
              <a:buNone/>
            </a:pPr>
            <a:r>
              <a:rPr lang="en-US" altLang="en-US" b="1" dirty="0">
                <a:latin typeface="Courier New" panose="02070309020205020404" pitchFamily="49" charset="0"/>
              </a:rPr>
              <a:t>}</a:t>
            </a:r>
          </a:p>
          <a:p>
            <a:pPr marL="0" indent="0">
              <a:buNone/>
            </a:pPr>
            <a:endParaRPr lang="en-US" altLang="en-US" b="1" dirty="0">
              <a:latin typeface="Courier New" panose="02070309020205020404" pitchFamily="49" charset="0"/>
            </a:endParaRPr>
          </a:p>
          <a:p>
            <a:pPr marL="0" indent="0">
              <a:buNone/>
            </a:pPr>
            <a:r>
              <a:rPr lang="en-US" altLang="en-US" b="1" dirty="0">
                <a:latin typeface="Courier New" panose="02070309020205020404" pitchFamily="49" charset="0"/>
              </a:rPr>
              <a:t>signal(semaphore *S) { </a:t>
            </a:r>
          </a:p>
          <a:p>
            <a:pPr marL="0" indent="0">
              <a:buNone/>
            </a:pPr>
            <a:r>
              <a:rPr lang="en-US" altLang="en-US" b="1" dirty="0">
                <a:latin typeface="Courier New" panose="02070309020205020404" pitchFamily="49" charset="0"/>
              </a:rPr>
              <a:t>   S-&gt;value++; </a:t>
            </a:r>
          </a:p>
          <a:p>
            <a:pPr marL="0" indent="0">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remove a process P from S-&gt;list; </a:t>
            </a:r>
          </a:p>
          <a:p>
            <a:pPr marL="0" indent="0">
              <a:buNone/>
            </a:pPr>
            <a:r>
              <a:rPr lang="en-US" altLang="en-US" b="1" dirty="0">
                <a:latin typeface="Courier New" panose="02070309020205020404" pitchFamily="49" charset="0"/>
              </a:rPr>
              <a:t>      wakeup(P); </a:t>
            </a:r>
          </a:p>
          <a:p>
            <a:pPr marL="0" indent="0">
              <a:buNone/>
            </a:pPr>
            <a:r>
              <a:rPr lang="en-US" altLang="en-US" b="1" dirty="0">
                <a:latin typeface="Courier New" panose="02070309020205020404" pitchFamily="49" charset="0"/>
              </a:rPr>
              <a:t>   } </a:t>
            </a:r>
          </a:p>
          <a:p>
            <a:pPr marL="0" indent="0">
              <a:buNone/>
            </a:pPr>
            <a:r>
              <a:rPr lang="en-US" altLang="en-US" b="1" dirty="0">
                <a:latin typeface="Courier New" panose="02070309020205020404" pitchFamily="49"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2447926" y="175870"/>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1755057" y="1194619"/>
            <a:ext cx="9483213" cy="5161936"/>
          </a:xfrm>
        </p:spPr>
        <p:txBody>
          <a:bodyPr/>
          <a:lstStyle/>
          <a:p>
            <a:r>
              <a:rPr lang="en-US" altLang="en-US" sz="2000" dirty="0"/>
              <a:t> Incorrect use of semaphore operations:</a:t>
            </a:r>
            <a:br>
              <a:rPr lang="en-US" altLang="en-US" sz="2000" dirty="0"/>
            </a:br>
            <a:endParaRPr lang="en-US" altLang="en-US" sz="2000" dirty="0"/>
          </a:p>
          <a:p>
            <a:pPr lvl="1"/>
            <a:r>
              <a:rPr lang="en-US" altLang="en-US" sz="2000" dirty="0"/>
              <a:t> </a:t>
            </a:r>
            <a:r>
              <a:rPr lang="en-US" altLang="en-US" sz="2000" b="1" dirty="0">
                <a:latin typeface="Courier New" panose="02070309020205020404" pitchFamily="49" charset="0"/>
                <a:cs typeface="Courier New" panose="02070309020205020404" pitchFamily="49" charset="0"/>
              </a:rPr>
              <a:t>signal(mutex)  ….  wait(mutex)</a:t>
            </a:r>
            <a:br>
              <a:rPr lang="en-US" altLang="en-US" sz="2000" b="1" dirty="0">
                <a:latin typeface="Courier New" panose="02070309020205020404" pitchFamily="49" charset="0"/>
                <a:cs typeface="Courier New" panose="02070309020205020404" pitchFamily="49" charset="0"/>
              </a:rPr>
            </a:br>
            <a:endParaRPr lang="en-US" altLang="en-US" sz="2000" b="1" dirty="0">
              <a:latin typeface="Courier New" panose="02070309020205020404" pitchFamily="49" charset="0"/>
              <a:cs typeface="Courier New" panose="02070309020205020404" pitchFamily="49" charset="0"/>
            </a:endParaRPr>
          </a:p>
          <a:p>
            <a:pPr lvl="1"/>
            <a:r>
              <a:rPr lang="en-US" altLang="en-US" sz="2000" dirty="0"/>
              <a:t> </a:t>
            </a:r>
            <a:r>
              <a:rPr lang="en-US" altLang="en-US" sz="2000" b="1" dirty="0">
                <a:latin typeface="Courier New" panose="02070309020205020404" pitchFamily="49" charset="0"/>
                <a:cs typeface="Courier New" panose="02070309020205020404" pitchFamily="49" charset="0"/>
              </a:rPr>
              <a:t>wait(mutex)  …  wait(mutex)</a:t>
            </a:r>
          </a:p>
          <a:p>
            <a:pPr lvl="1"/>
            <a:endParaRPr lang="en-US" altLang="en-US" sz="2000" b="1" dirty="0">
              <a:latin typeface="Courier New" panose="02070309020205020404" pitchFamily="49" charset="0"/>
              <a:cs typeface="Courier New" panose="02070309020205020404" pitchFamily="49" charset="0"/>
            </a:endParaRPr>
          </a:p>
          <a:p>
            <a:pPr lvl="1"/>
            <a:r>
              <a:rPr lang="en-US" altLang="en-US" sz="2000" dirty="0"/>
              <a:t> Omitting  of </a:t>
            </a:r>
            <a:r>
              <a:rPr lang="en-US" altLang="en-US" sz="2000" b="1" dirty="0">
                <a:latin typeface="Courier New" panose="02070309020205020404" pitchFamily="49" charset="0"/>
                <a:cs typeface="Courier New" panose="02070309020205020404" pitchFamily="49" charset="0"/>
              </a:rPr>
              <a:t>wait (mutex) </a:t>
            </a:r>
            <a:r>
              <a:rPr lang="en-US" altLang="en-US" sz="2000" dirty="0"/>
              <a:t>and/or </a:t>
            </a:r>
            <a:r>
              <a:rPr lang="en-US" altLang="en-US" sz="2000" b="1" dirty="0">
                <a:latin typeface="Courier New" panose="02070309020205020404" pitchFamily="49" charset="0"/>
                <a:cs typeface="Courier New" panose="02070309020205020404" pitchFamily="49" charset="0"/>
              </a:rPr>
              <a:t>signal (mutex)</a:t>
            </a:r>
            <a:endParaRPr lang="en-US" altLang="en-US" sz="2000" dirty="0"/>
          </a:p>
          <a:p>
            <a:pPr lvl="1"/>
            <a:endParaRPr lang="en-US" altLang="en-US" sz="2000" dirty="0"/>
          </a:p>
          <a:p>
            <a:r>
              <a:rPr lang="en-US" altLang="en-US" sz="2000" dirty="0"/>
              <a:t>These – and others – are examples of what can occur when semaphores and other synchronization tools are used incorrectly.</a:t>
            </a:r>
          </a:p>
          <a:p>
            <a:endParaRPr lang="en-US" altLang="en-US" sz="2000" dirty="0"/>
          </a:p>
          <a:p>
            <a:endParaRPr lang="en-US" altLang="en-US" sz="2000" dirty="0"/>
          </a:p>
          <a:p>
            <a:endParaRPr lang="en-US" alt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1981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sz="2000" dirty="0"/>
              <a:t>Processes may have to wait indefinitely while trying to acquire a synchronization tool such as a mutex lock or semaphore.</a:t>
            </a:r>
          </a:p>
          <a:p>
            <a:endParaRPr lang="en-US" altLang="en-US" sz="2000" dirty="0"/>
          </a:p>
          <a:p>
            <a:r>
              <a:rPr lang="en-US" altLang="en-US" sz="2000" dirty="0"/>
              <a:t>Waiting indefinitely violates the progress and bounded-waiting criteria discussed at the beginning of this chapter.</a:t>
            </a:r>
          </a:p>
          <a:p>
            <a:endParaRPr lang="en-US" altLang="en-US" sz="2000" b="1" dirty="0"/>
          </a:p>
          <a:p>
            <a:r>
              <a:rPr lang="en-US" altLang="en-US" sz="2000" b="1" dirty="0"/>
              <a:t>Liveness</a:t>
            </a:r>
            <a:r>
              <a:rPr lang="en-US" altLang="en-US" sz="2000" dirty="0"/>
              <a:t> refers to a set of properties that a system must satisfy to ensure processes make progress.</a:t>
            </a:r>
          </a:p>
          <a:p>
            <a:endParaRPr lang="en-US" altLang="en-US" sz="2000" dirty="0"/>
          </a:p>
          <a:p>
            <a:r>
              <a:rPr lang="en-US" altLang="en-US" sz="2000" dirty="0"/>
              <a:t>Indefinite waiting is an example of a liveness failure.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1981201" y="1073151"/>
            <a:ext cx="9183328" cy="5430888"/>
          </a:xfrm>
        </p:spPr>
        <p:txBody>
          <a:bodyPr/>
          <a:lstStyle/>
          <a:p>
            <a:pPr>
              <a:lnSpc>
                <a:spcPct val="90000"/>
              </a:lnSpc>
              <a:tabLst>
                <a:tab pos="1882775" algn="ctr"/>
                <a:tab pos="4568825" algn="ctr"/>
              </a:tabLst>
            </a:pPr>
            <a:r>
              <a:rPr lang="en-US" altLang="en-US" sz="2000" b="1" dirty="0">
                <a:solidFill>
                  <a:srgbClr val="006699"/>
                </a:solidFill>
                <a:latin typeface="+mj-lt"/>
              </a:rPr>
              <a:t>Deadlock</a:t>
            </a:r>
            <a:r>
              <a:rPr lang="en-US" altLang="en-US" sz="2000" b="1" dirty="0">
                <a:solidFill>
                  <a:srgbClr val="3366FF"/>
                </a:solidFill>
              </a:rPr>
              <a:t> </a:t>
            </a:r>
            <a:r>
              <a:rPr lang="en-US" altLang="en-US" sz="2000" dirty="0"/>
              <a:t>– two or more processes are waiting indefinitely for an event that can be caused by only one of the waiting processes</a:t>
            </a:r>
          </a:p>
          <a:p>
            <a:pPr>
              <a:lnSpc>
                <a:spcPct val="90000"/>
              </a:lnSpc>
              <a:tabLst>
                <a:tab pos="1882775" algn="ctr"/>
                <a:tab pos="4568825" algn="ctr"/>
              </a:tabLst>
            </a:pPr>
            <a:r>
              <a:rPr lang="en-US" altLang="en-US" sz="2000" dirty="0">
                <a:solidFill>
                  <a:srgbClr val="000000"/>
                </a:solidFill>
              </a:rPr>
              <a:t>Let </a:t>
            </a:r>
            <a:r>
              <a:rPr lang="en-US" altLang="en-US" sz="2000" b="1" i="1" dirty="0">
                <a:solidFill>
                  <a:srgbClr val="000000"/>
                </a:solidFill>
                <a:latin typeface="Courier New" panose="02070309020205020404" pitchFamily="49" charset="0"/>
              </a:rPr>
              <a:t>S</a:t>
            </a:r>
            <a:r>
              <a:rPr lang="en-US" altLang="en-US" sz="2000" dirty="0">
                <a:solidFill>
                  <a:srgbClr val="000000"/>
                </a:solidFill>
              </a:rPr>
              <a:t> and</a:t>
            </a:r>
            <a:r>
              <a:rPr lang="en-US" altLang="en-US" sz="20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2000" b="1" dirty="0">
                <a:solidFill>
                  <a:srgbClr val="000000"/>
                </a:solidFill>
                <a:latin typeface="Courier New" panose="02070309020205020404" pitchFamily="49" charset="0"/>
              </a:rPr>
              <a:t> </a:t>
            </a:r>
            <a:r>
              <a:rPr lang="en-US" altLang="en-US" sz="2000" dirty="0">
                <a:solidFill>
                  <a:srgbClr val="000000"/>
                </a:solidFill>
              </a:rPr>
              <a:t>be </a:t>
            </a:r>
            <a:r>
              <a:rPr lang="en-US" altLang="en-US" sz="2000" dirty="0"/>
              <a:t>two semaphores initialized to 1</a:t>
            </a:r>
          </a:p>
          <a:p>
            <a:pPr>
              <a:lnSpc>
                <a:spcPct val="90000"/>
              </a:lnSpc>
              <a:buNone/>
              <a:tabLst>
                <a:tab pos="1882775" algn="ctr"/>
                <a:tab pos="4568825" algn="ctr"/>
              </a:tabLst>
            </a:pPr>
            <a:r>
              <a:rPr lang="en-US" altLang="en-US" sz="2000" i="1" dirty="0">
                <a:solidFill>
                  <a:srgbClr val="000000"/>
                </a:solidFill>
              </a:rPr>
              <a:t>		        P</a:t>
            </a:r>
            <a:r>
              <a:rPr lang="en-US" altLang="en-US" sz="2000" baseline="-25000" dirty="0">
                <a:solidFill>
                  <a:srgbClr val="000000"/>
                </a:solidFill>
              </a:rPr>
              <a:t>0</a:t>
            </a:r>
            <a:r>
              <a:rPr lang="en-US" altLang="en-US" sz="2000" dirty="0">
                <a:solidFill>
                  <a:srgbClr val="000000"/>
                </a:solidFill>
              </a:rPr>
              <a:t>	                            </a:t>
            </a:r>
            <a:r>
              <a:rPr lang="en-US" altLang="en-US" sz="2000" i="1" dirty="0">
                <a:solidFill>
                  <a:srgbClr val="000000"/>
                </a:solidFill>
              </a:rPr>
              <a:t>P</a:t>
            </a:r>
            <a:r>
              <a:rPr lang="en-US" altLang="en-US" sz="2000" baseline="-25000" dirty="0">
                <a:solidFill>
                  <a:srgbClr val="000000"/>
                </a:solidFill>
              </a:rPr>
              <a:t>1</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wait(S); 	              wait(Q);</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wait(Q); 	              wait(S);</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		     ...</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signal(S);                 signal(Q);</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signal(Q);                 signal(S);</a:t>
            </a:r>
          </a:p>
          <a:p>
            <a:pPr>
              <a:lnSpc>
                <a:spcPct val="90000"/>
              </a:lnSpc>
              <a:buNone/>
              <a:tabLst>
                <a:tab pos="1882775" algn="ctr"/>
                <a:tab pos="4568825" algn="ctr"/>
              </a:tabLst>
            </a:pPr>
            <a:endParaRPr lang="en-US" altLang="en-US" sz="20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sz="2000" dirty="0">
                <a:sym typeface="MT Extra" panose="05050102010205020202" pitchFamily="18" charset="2"/>
              </a:rPr>
              <a:t>Consider if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wait(S) 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wait(Q). When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wait(Q), it must wait until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executes signal(Q)</a:t>
            </a:r>
          </a:p>
          <a:p>
            <a:pPr>
              <a:lnSpc>
                <a:spcPct val="90000"/>
              </a:lnSpc>
              <a:tabLst>
                <a:tab pos="1882775" algn="ctr"/>
                <a:tab pos="4568825" algn="ctr"/>
              </a:tabLst>
            </a:pPr>
            <a:r>
              <a:rPr lang="en-US" altLang="en-US" sz="2000" dirty="0">
                <a:sym typeface="MT Extra" panose="05050102010205020202" pitchFamily="18" charset="2"/>
              </a:rPr>
              <a:t>However,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is waiting until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 signal(S).</a:t>
            </a:r>
          </a:p>
          <a:p>
            <a:pPr>
              <a:lnSpc>
                <a:spcPct val="90000"/>
              </a:lnSpc>
              <a:tabLst>
                <a:tab pos="1882775" algn="ctr"/>
                <a:tab pos="4568825" algn="ctr"/>
              </a:tabLst>
            </a:pPr>
            <a:r>
              <a:rPr lang="en-US" altLang="en-US" sz="2000" dirty="0">
                <a:sym typeface="MT Extra" panose="05050102010205020202" pitchFamily="18" charset="2"/>
              </a:rPr>
              <a:t>Since these signal() operations will never be executed, </a:t>
            </a:r>
            <a:r>
              <a:rPr lang="en-US" altLang="en-US" sz="2000" i="1" dirty="0">
                <a:solidFill>
                  <a:srgbClr val="000000"/>
                </a:solidFill>
              </a:rPr>
              <a:t>P</a:t>
            </a:r>
            <a:r>
              <a:rPr lang="en-US" altLang="en-US" sz="2000" baseline="-25000" dirty="0">
                <a:solidFill>
                  <a:srgbClr val="000000"/>
                </a:solidFill>
              </a:rPr>
              <a:t>0 </a:t>
            </a:r>
            <a:r>
              <a:rPr lang="en-US" altLang="en-US" sz="2000" dirty="0">
                <a:sym typeface="MT Extra" panose="05050102010205020202" pitchFamily="18" charset="2"/>
              </a:rPr>
              <a:t>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are </a:t>
            </a:r>
            <a:r>
              <a:rPr lang="en-US" altLang="en-US" sz="2000" b="1" dirty="0">
                <a:sym typeface="MT Extra" panose="05050102010205020202" pitchFamily="18" charset="2"/>
              </a:rPr>
              <a:t>deadlocked</a:t>
            </a:r>
            <a:r>
              <a:rPr lang="en-US" altLang="en-US" sz="2000"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1981200" y="157653"/>
            <a:ext cx="8229600" cy="576262"/>
          </a:xfrm>
        </p:spPr>
        <p:txBody>
          <a:bodyPr/>
          <a:lstStyle/>
          <a:p>
            <a:r>
              <a:rPr lang="en-US" altLang="en-US" dirty="0"/>
              <a:t>Liveness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1981201" y="1073151"/>
            <a:ext cx="8755626" cy="4906963"/>
          </a:xfrm>
        </p:spPr>
        <p:txBody>
          <a:bodyPr/>
          <a:lstStyle/>
          <a:p>
            <a:pPr>
              <a:lnSpc>
                <a:spcPct val="90000"/>
              </a:lnSpc>
              <a:tabLst>
                <a:tab pos="1882775" algn="ctr"/>
                <a:tab pos="4568825" algn="ctr"/>
              </a:tabLst>
            </a:pPr>
            <a:r>
              <a:rPr lang="en-US" altLang="en-US" sz="2000" dirty="0"/>
              <a:t>Other forms of deadlock:</a:t>
            </a:r>
            <a:endParaRPr lang="en-US" altLang="en-US" sz="2000" dirty="0">
              <a:latin typeface="Courier New" panose="02070309020205020404" pitchFamily="49" charset="0"/>
            </a:endParaRPr>
          </a:p>
          <a:p>
            <a:pPr>
              <a:lnSpc>
                <a:spcPct val="90000"/>
              </a:lnSpc>
              <a:tabLst>
                <a:tab pos="1882775" algn="ctr"/>
                <a:tab pos="4568825" algn="ctr"/>
              </a:tabLst>
            </a:pPr>
            <a:endParaRPr lang="en-US" altLang="en-US" sz="2000" b="1" dirty="0">
              <a:sym typeface="MT Extra" panose="05050102010205020202" pitchFamily="18" charset="2"/>
            </a:endParaRPr>
          </a:p>
          <a:p>
            <a:pPr>
              <a:lnSpc>
                <a:spcPct val="90000"/>
              </a:lnSpc>
              <a:tabLst>
                <a:tab pos="1882775" algn="ctr"/>
                <a:tab pos="4568825" algn="ctr"/>
              </a:tabLst>
            </a:pPr>
            <a:r>
              <a:rPr lang="en-US" altLang="en-US" sz="2000" b="1" dirty="0">
                <a:sym typeface="MT Extra" panose="05050102010205020202" pitchFamily="18" charset="2"/>
              </a:rPr>
              <a:t>Starvation</a:t>
            </a:r>
            <a:r>
              <a:rPr lang="en-US" altLang="en-US" sz="2000" dirty="0">
                <a:sym typeface="MT Extra" panose="05050102010205020202" pitchFamily="18" charset="2"/>
              </a:rPr>
              <a:t> </a:t>
            </a:r>
            <a:r>
              <a:rPr lang="en-US" altLang="en-US" sz="2000" dirty="0"/>
              <a:t>– indefinite blocking  </a:t>
            </a:r>
          </a:p>
          <a:p>
            <a:pPr lvl="1">
              <a:lnSpc>
                <a:spcPct val="90000"/>
              </a:lnSpc>
              <a:tabLst>
                <a:tab pos="1882775" algn="ctr"/>
                <a:tab pos="4568825" algn="ctr"/>
              </a:tabLst>
            </a:pPr>
            <a:r>
              <a:rPr lang="en-US" altLang="en-US" sz="2000" dirty="0"/>
              <a:t>A process may never be removed from the semaphore queue in which it is suspended</a:t>
            </a:r>
          </a:p>
          <a:p>
            <a:pPr>
              <a:lnSpc>
                <a:spcPct val="90000"/>
              </a:lnSpc>
              <a:tabLst>
                <a:tab pos="1882775" algn="ctr"/>
                <a:tab pos="4568825" algn="ctr"/>
              </a:tabLst>
            </a:pPr>
            <a:endParaRPr lang="en-US" altLang="en-US" sz="2000" b="1" dirty="0"/>
          </a:p>
          <a:p>
            <a:pPr>
              <a:lnSpc>
                <a:spcPct val="90000"/>
              </a:lnSpc>
              <a:tabLst>
                <a:tab pos="1882775" algn="ctr"/>
                <a:tab pos="4568825" algn="ctr"/>
              </a:tabLst>
            </a:pPr>
            <a:r>
              <a:rPr lang="en-US" altLang="en-US" sz="2000" b="1" dirty="0"/>
              <a:t>Priority Inversion</a:t>
            </a:r>
            <a:r>
              <a:rPr lang="en-US" altLang="en-US" sz="2000" dirty="0"/>
              <a:t> – Scheduling problem when lower-priority process holds a lock needed by higher-priority process</a:t>
            </a:r>
          </a:p>
          <a:p>
            <a:pPr lvl="1">
              <a:tabLst>
                <a:tab pos="1882775" algn="ctr"/>
                <a:tab pos="4568825" algn="ctr"/>
              </a:tabLst>
            </a:pPr>
            <a:r>
              <a:rPr lang="en-US" altLang="en-US" sz="2000" dirty="0"/>
              <a:t>Solved via </a:t>
            </a:r>
            <a:r>
              <a:rPr lang="en-US" altLang="en-US" sz="2000" b="1" dirty="0"/>
              <a:t>priority-inheritance protocol</a:t>
            </a:r>
            <a:br>
              <a:rPr lang="en-US" altLang="en-US" sz="2000" b="1" dirty="0"/>
            </a:br>
            <a:br>
              <a:rPr lang="en-US" altLang="en-US" sz="2000" b="1" dirty="0"/>
            </a:br>
            <a:endParaRPr lang="en-US" altLang="en-US" sz="2000"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1981200" y="157653"/>
            <a:ext cx="8229600" cy="576262"/>
          </a:xfrm>
        </p:spPr>
        <p:txBody>
          <a:bodyPr/>
          <a:lstStyle/>
          <a:p>
            <a:r>
              <a:rPr lang="en-US" altLang="en-US" dirty="0"/>
              <a:t>Liveness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18308</TotalTime>
  <Words>3837</Words>
  <Application>Microsoft Office PowerPoint</Application>
  <PresentationFormat>Widescreen</PresentationFormat>
  <Paragraphs>540</Paragraphs>
  <Slides>47</Slides>
  <Notes>31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Arial</vt:lpstr>
      <vt:lpstr>Courier New</vt:lpstr>
      <vt:lpstr>Helvetica</vt:lpstr>
      <vt:lpstr>Monotype Sorts</vt:lpstr>
      <vt:lpstr>PalatinoLTStd-Bold-Identity-H</vt:lpstr>
      <vt:lpstr>PalatinoLTStd-Italic</vt:lpstr>
      <vt:lpstr>PalatinoLTStd-Roman</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Consumer</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Synchronization Hardware</vt:lpstr>
      <vt:lpstr>Memory Barrier</vt:lpstr>
      <vt:lpstr>Memory Barrier Instructions</vt:lpstr>
      <vt:lpstr>Memory Barrier Example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Liveness</vt:lpstr>
      <vt:lpstr>Liveness</vt:lpstr>
      <vt:lpstr>Liveness</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Usman Ali Shah</cp:lastModifiedBy>
  <cp:revision>421</cp:revision>
  <cp:lastPrinted>2025-10-27T11:48:55Z</cp:lastPrinted>
  <dcterms:created xsi:type="dcterms:W3CDTF">2011-01-13T23:43:38Z</dcterms:created>
  <dcterms:modified xsi:type="dcterms:W3CDTF">2026-04-06T06:04:39Z</dcterms:modified>
</cp:coreProperties>
</file>