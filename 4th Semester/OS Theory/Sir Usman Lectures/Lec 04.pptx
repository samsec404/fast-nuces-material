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6"/>
  </p:notesMasterIdLst>
  <p:handoutMasterIdLst>
    <p:handoutMasterId r:id="rId37"/>
  </p:handoutMasterIdLst>
  <p:sldIdLst>
    <p:sldId id="331" r:id="rId2"/>
    <p:sldId id="332" r:id="rId3"/>
    <p:sldId id="333" r:id="rId4"/>
    <p:sldId id="334" r:id="rId5"/>
    <p:sldId id="377" r:id="rId6"/>
    <p:sldId id="335" r:id="rId7"/>
    <p:sldId id="336" r:id="rId8"/>
    <p:sldId id="338" r:id="rId9"/>
    <p:sldId id="337" r:id="rId10"/>
    <p:sldId id="374" r:id="rId11"/>
    <p:sldId id="378" r:id="rId12"/>
    <p:sldId id="340" r:id="rId13"/>
    <p:sldId id="399" r:id="rId14"/>
    <p:sldId id="379" r:id="rId15"/>
    <p:sldId id="341" r:id="rId16"/>
    <p:sldId id="380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8" r:id="rId26"/>
    <p:sldId id="361" r:id="rId27"/>
    <p:sldId id="362" r:id="rId28"/>
    <p:sldId id="363" r:id="rId29"/>
    <p:sldId id="375" r:id="rId30"/>
    <p:sldId id="364" r:id="rId31"/>
    <p:sldId id="366" r:id="rId32"/>
    <p:sldId id="367" r:id="rId33"/>
    <p:sldId id="371" r:id="rId34"/>
    <p:sldId id="372" r:id="rId35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33" autoAdjust="0"/>
    <p:restoredTop sz="94626"/>
  </p:normalViewPr>
  <p:slideViewPr>
    <p:cSldViewPr snapToGrid="0">
      <p:cViewPr varScale="1">
        <p:scale>
          <a:sx n="65" d="100"/>
          <a:sy n="65" d="100"/>
        </p:scale>
        <p:origin x="864" y="78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6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60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4713BEE-C1CE-484C-819E-C7874EAB1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73D603-B8D2-4718-A866-542F17F0E427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58D9914-4AE8-433F-9B79-3F9210954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F60734-AFF9-4268-9BD1-9AFF6E1D6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5BB938EB-EAE1-4FAC-BCB5-53974E688A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9AA36B63-1BA8-465A-9F47-478166EC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27DF9E4E-96D6-414F-8641-F5F4875E7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CEF41C-2D09-4D79-B128-D63857A2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9ACFA5D-A5EC-4373-81C2-0F6EFDCB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CB3E8E7-C086-4355-9CE8-18739774E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7150505-875B-411A-8576-2DD58804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998348D-9A8E-4A1B-A5CC-88DB5AB92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77410E8-14CB-430D-9C9B-CA14C8C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B2858C04-233B-4F84-8B85-EA895CEAF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7E4843CC-89D3-47B0-BBCC-C97C1F2F4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307F2A2-9C89-4CCD-8947-EF9F7A7FA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B56883D-676A-482F-9E14-FE9A4AE24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F62D35-9C65-414C-A86A-3FDBE9961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DF3E7C6-C9CA-4089-A553-275E1982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3988C8-FA90-46B8-B16F-16B1E13B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C96CC4-5B31-40CD-B384-477B7275D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2803BA9-336C-40B8-B240-AE76B19DB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118FFA9-F8CF-48E9-8DBD-7D20A0B41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CD8A752-1AAD-4C50-BBDA-5D51338F2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13071C3A-881C-48B3-B309-1D92C9DD8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D8F37CA-C0AA-4EA5-95A9-4F33D4E5D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FEE2A4B-553A-4DCA-8D0B-3BB07C43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6DF61C1-FABB-4C2F-A2F6-2A6755D43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93420185-E3D4-4A25-8067-B745C75A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4BB7AAAF-2D0D-444E-9C4A-241B80536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20DC-D625-4FC1-80D1-197547D6A0FC}" type="slidenum">
              <a:rPr lang="en-US" altLang="en-US" smtClean="0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9908802-64CA-49E3-931A-595B2C94C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AC4CBFD-A424-47AF-AE08-5BE9978F6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5FF94ED2-DF55-4D1B-8DA2-07A842A2B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910074-6A37-4496-AE68-529FF68CD695}" type="slidenum">
              <a:rPr lang="en-US" altLang="en-US" smtClean="0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3D7B118-35EC-41E3-912A-ACD9C96F6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96523C0-C350-444A-B4E1-1329DD712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FA5AFAA5-5218-4C59-9B07-DF3DD016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0F8462-1483-480D-9499-599BDADC3331}" type="slidenum">
              <a:rPr lang="en-US" altLang="en-US" smtClean="0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A72C3A4C-AD16-4898-8CE5-E59313D1A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024EE35-1071-4350-AC7A-2880808BA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CF84B4F2-9D3B-4B2F-BF96-A59F225777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C7D05-D70C-4688-A6EC-0CAD37F60868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B362FC63-0CF8-4F27-8D50-36C311771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5EA1D9E-4BA7-46A6-8A84-EDB8389F7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3D8E3A22-255B-4013-9FAA-354F22808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384F79-FBB8-4CF0-ACB5-B2C4E81F4BD7}" type="slidenum">
              <a:rPr lang="en-US" altLang="en-US" smtClean="0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3414BE9A-3487-46A0-8D93-908174E2B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50E0C92-CD42-45A7-9966-C095105A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DAE79D6A-67CB-4C69-BA94-F4EE051A7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24DD7-701B-4C62-BB67-32CAEE595173}" type="slidenum">
              <a:rPr lang="en-US" altLang="en-US" smtClean="0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1B7687CC-A2DC-4DB6-9D2E-F0DF0D822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8288A69-48FB-4D7D-9160-2B0CCFFD7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825BBC46-A330-4F4A-B305-93B88114E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1AA22-768A-4441-B4A7-7B9EE0F1CEA2}" type="slidenum">
              <a:rPr lang="en-US" altLang="en-US" smtClean="0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52C4AF6F-3A33-4B3D-A9C5-999D34DE6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3C39424-7CC6-4EAD-B6CC-B6829E4E3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0D5813B0-A22D-4F2C-8A3F-0BFE4DE6B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2ED1-C80C-4561-A421-39FDA9B078BC}" type="slidenum">
              <a:rPr lang="en-US" altLang="en-US" smtClean="0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C79D5CE-BCEF-4B0F-9D0F-A5485F9BA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E6ECB659-BD3A-4C4F-8EF1-B79B7B484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5B7BA288-9799-4FCC-AA27-DAA56CA5F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05454-0887-49D1-BB79-E16982FE9E04}" type="slidenum">
              <a:rPr lang="en-US" altLang="en-US" smtClean="0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55C74086-1C19-4246-8A2B-B6C7CCC34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3FD3FF-5B29-43D0-9279-B7FF5B29F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89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385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303933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456" y="6613526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1" y="6621463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 &amp; Concurrency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203D3746-8758-479C-93A3-DC90B12F6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E2970C8-8537-47B0-BAC1-E14D29076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  <a:p>
            <a:r>
              <a:rPr lang="en-US" altLang="en-US"/>
              <a:t>Multicore Programming</a:t>
            </a:r>
          </a:p>
          <a:p>
            <a:r>
              <a:rPr lang="en-US" altLang="en-US"/>
              <a:t>Multithreading Models</a:t>
            </a:r>
          </a:p>
          <a:p>
            <a:r>
              <a:rPr lang="en-US" altLang="en-US"/>
              <a:t>Thread Libraries</a:t>
            </a:r>
          </a:p>
          <a:p>
            <a:r>
              <a:rPr lang="en-US" altLang="en-US"/>
              <a:t>Implicit Threading</a:t>
            </a:r>
          </a:p>
          <a:p>
            <a:r>
              <a:rPr lang="en-US" altLang="en-US"/>
              <a:t>Threading Issues</a:t>
            </a:r>
          </a:p>
          <a:p>
            <a:r>
              <a:rPr lang="en-US" altLang="en-US"/>
              <a:t>Operating System Examples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F4FAEF8D-141E-4014-81C2-5AD32F55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69649437-64F3-4573-8F48-4963AC54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450" y="1233489"/>
            <a:ext cx="6940550" cy="4530725"/>
          </a:xfrm>
        </p:spPr>
        <p:txBody>
          <a:bodyPr/>
          <a:lstStyle/>
          <a:p>
            <a:r>
              <a:rPr lang="en-US" altLang="en-US" dirty="0"/>
              <a:t>Identify the basic components of a thread, and contrast threads and processes</a:t>
            </a:r>
          </a:p>
          <a:p>
            <a:r>
              <a:rPr lang="en-US" altLang="en-US" dirty="0"/>
              <a:t>Describe the benefits and challenges of </a:t>
            </a:r>
            <a:r>
              <a:rPr lang="en-US" altLang="en-US" dirty="0" err="1"/>
              <a:t>designng</a:t>
            </a:r>
            <a:r>
              <a:rPr lang="en-US" altLang="en-US" dirty="0"/>
              <a:t> multithreaded applications</a:t>
            </a:r>
          </a:p>
          <a:p>
            <a:r>
              <a:rPr lang="en-US" altLang="en-US" dirty="0"/>
              <a:t>Illustrate different approaches to implicit threading including thread pools, fork-join, and Grand Central Dispatch</a:t>
            </a:r>
          </a:p>
          <a:p>
            <a:r>
              <a:rPr lang="en-US" altLang="en-US" dirty="0"/>
              <a:t>Describe how the Windows and Linux operating systems represent threads</a:t>
            </a:r>
          </a:p>
          <a:p>
            <a:r>
              <a:rPr lang="en-US" altLang="en-US" dirty="0"/>
              <a:t>Designing multithreaded applications using the </a:t>
            </a:r>
            <a:r>
              <a:rPr lang="en-US" altLang="en-US" dirty="0" err="1"/>
              <a:t>Pthreads</a:t>
            </a:r>
            <a:r>
              <a:rPr lang="en-US" altLang="en-US" dirty="0"/>
              <a:t>, Java, and Windows threading APIs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 for Threads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150375"/>
            <a:ext cx="10972800" cy="5265174"/>
          </a:xfrm>
        </p:spPr>
        <p:txBody>
          <a:bodyPr/>
          <a:lstStyle/>
          <a:p>
            <a:r>
              <a:rPr lang="en-US" altLang="en-US" dirty="0"/>
              <a:t>Most modern applications are multithreaded</a:t>
            </a:r>
          </a:p>
          <a:p>
            <a:r>
              <a:rPr lang="en-US" altLang="en-US" dirty="0"/>
              <a:t>Threads run within application</a:t>
            </a:r>
          </a:p>
          <a:p>
            <a:r>
              <a:rPr lang="en-US" altLang="en-US" dirty="0"/>
              <a:t>Multiple tasks with the application can be implemented by separate threads</a:t>
            </a:r>
          </a:p>
          <a:p>
            <a:pPr lvl="1"/>
            <a:r>
              <a:rPr lang="en-US" altLang="en-US" dirty="0"/>
              <a:t>Update display</a:t>
            </a:r>
          </a:p>
          <a:p>
            <a:pPr lvl="1"/>
            <a:r>
              <a:rPr lang="en-US" altLang="en-US" dirty="0"/>
              <a:t>Fetch data</a:t>
            </a:r>
          </a:p>
          <a:p>
            <a:pPr lvl="1"/>
            <a:r>
              <a:rPr lang="en-US" altLang="en-US" dirty="0"/>
              <a:t>Spell checking</a:t>
            </a:r>
          </a:p>
          <a:p>
            <a:pPr lvl="1"/>
            <a:r>
              <a:rPr lang="en-US" altLang="en-US" dirty="0"/>
              <a:t>Answer a network request</a:t>
            </a:r>
          </a:p>
          <a:p>
            <a:r>
              <a:rPr lang="en-US" altLang="en-US" dirty="0"/>
              <a:t>Can simplify code, increase efficiency</a:t>
            </a:r>
          </a:p>
          <a:p>
            <a:r>
              <a:rPr lang="en-US" altLang="en-US" dirty="0"/>
              <a:t>Kernels are generally multithreaded</a:t>
            </a:r>
          </a:p>
          <a:p>
            <a:pPr eaLnBrk="1" hangingPunct="1"/>
            <a:r>
              <a:rPr lang="en-US" altLang="en-US" dirty="0"/>
              <a:t>Issues with Processes:</a:t>
            </a:r>
          </a:p>
          <a:p>
            <a:pPr lvl="1" eaLnBrk="1" hangingPunct="1"/>
            <a:r>
              <a:rPr lang="en-US" altLang="en-US" dirty="0"/>
              <a:t>Process creation is heavy-weight while thread creation is light-weight. The fork( ) system call is expensive – New PCB creation, new memory image (Address space) </a:t>
            </a:r>
            <a:r>
              <a:rPr lang="en-US" altLang="en-US" dirty="0" err="1"/>
              <a:t>etc</a:t>
            </a:r>
            <a:r>
              <a:rPr lang="en-US" altLang="en-US" dirty="0"/>
              <a:t> …</a:t>
            </a:r>
          </a:p>
          <a:p>
            <a:pPr lvl="1" eaLnBrk="1" hangingPunct="1"/>
            <a:r>
              <a:rPr lang="en-US" altLang="en-US" dirty="0"/>
              <a:t>IPC is required to pass information between a parent and its child processes. Different techniques like FIFOs, Pipes, and sockets </a:t>
            </a:r>
            <a:r>
              <a:rPr lang="en-US" altLang="en-US" dirty="0" err="1"/>
              <a:t>etc</a:t>
            </a:r>
            <a:r>
              <a:rPr lang="en-US" altLang="en-US" dirty="0"/>
              <a:t> are different channels used for IPC.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46D3DE18-7E7E-4C93-8C78-DD142B08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1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0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410" y="1194208"/>
            <a:ext cx="9326718" cy="523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2" y="1570576"/>
            <a:ext cx="10419633" cy="3716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6013" y="481242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9133" y="1265672"/>
            <a:ext cx="10677627" cy="4928651"/>
          </a:xfrm>
        </p:spPr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 : e.g., web client running multiple things for end users</a:t>
            </a:r>
          </a:p>
          <a:p>
            <a:endParaRPr lang="en-US" altLang="en-US" b="1" dirty="0"/>
          </a:p>
          <a:p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 (Code, Data, Memory, Kernel Data Structure such as PCB), easier than shared memory or message passing</a:t>
            </a:r>
          </a:p>
          <a:p>
            <a:endParaRPr lang="en-US" altLang="en-US" b="1" dirty="0"/>
          </a:p>
          <a:p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 of PCBs</a:t>
            </a:r>
          </a:p>
          <a:p>
            <a:endParaRPr lang="en-US" altLang="en-US" b="1" dirty="0"/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architectures. Single threaded process can only run on one CPU, no matter how many CPUs are available.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99AFB161-ED93-4730-90CF-60C15CF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036A6A0-4CE5-4725-A8D1-F915FCFB1B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722672" y="1163639"/>
            <a:ext cx="10441858" cy="5015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24" y="1889381"/>
            <a:ext cx="10450549" cy="116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95" y="4022991"/>
            <a:ext cx="6456209" cy="223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DAE641A-82E5-4706-A422-7614EF0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826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43B20-81F4-4C44-95F8-D8F686F2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208089"/>
            <a:ext cx="11076039" cy="531069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puts pressure on programmers, challenges include:</a:t>
            </a:r>
          </a:p>
          <a:p>
            <a:pPr lvl="1"/>
            <a:r>
              <a:rPr lang="en-US" altLang="en-US" b="1" dirty="0"/>
              <a:t>Dividing activities – </a:t>
            </a:r>
            <a:r>
              <a:rPr lang="en-US" altLang="en-US" dirty="0"/>
              <a:t>separate concurrent tasks</a:t>
            </a:r>
          </a:p>
          <a:p>
            <a:pPr lvl="1"/>
            <a:r>
              <a:rPr lang="en-US" altLang="en-US" b="1" dirty="0"/>
              <a:t>Balance – </a:t>
            </a:r>
            <a:r>
              <a:rPr lang="en-US" altLang="en-US" dirty="0"/>
              <a:t>task perform equal work</a:t>
            </a:r>
          </a:p>
          <a:p>
            <a:pPr lvl="1"/>
            <a:r>
              <a:rPr lang="en-US" altLang="en-US" b="1" dirty="0"/>
              <a:t>Data splitting – </a:t>
            </a:r>
            <a:r>
              <a:rPr lang="en-US" altLang="en-US" dirty="0"/>
              <a:t>Data accessed/manipulated must be divided</a:t>
            </a:r>
          </a:p>
          <a:p>
            <a:pPr lvl="1"/>
            <a:r>
              <a:rPr lang="en-US" altLang="en-US" b="1" dirty="0"/>
              <a:t>Data dependency – </a:t>
            </a:r>
            <a:r>
              <a:rPr lang="en-US" altLang="en-US" dirty="0"/>
              <a:t>Reducing too much data dependencies</a:t>
            </a:r>
          </a:p>
          <a:p>
            <a:pPr lvl="1"/>
            <a:r>
              <a:rPr lang="en-US" altLang="en-US" b="1" dirty="0"/>
              <a:t>Testing and debugging –</a:t>
            </a:r>
            <a:r>
              <a:rPr lang="en-US" altLang="en-US" dirty="0"/>
              <a:t> many execution paths are possible in code, testing/debugging such concurrent programs is inherently difficult than single-threaded applications</a:t>
            </a:r>
          </a:p>
          <a:p>
            <a:endParaRPr lang="en-US" altLang="en-US" b="1" i="1" dirty="0"/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endParaRPr lang="en-US" altLang="en-US" b="1" i="1" dirty="0"/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CAD927E8-64DE-4671-A690-608A4563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826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FB1F3DE-869C-4D7F-9A3F-53A8F1DC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33489"/>
            <a:ext cx="10028902" cy="4530725"/>
          </a:xfrm>
        </p:spPr>
        <p:txBody>
          <a:bodyPr/>
          <a:lstStyle/>
          <a:p>
            <a:r>
              <a:rPr lang="en-US" altLang="en-US" sz="2400" dirty="0"/>
              <a:t>Types of parallelism </a:t>
            </a:r>
          </a:p>
          <a:p>
            <a:pPr lvl="1"/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sz="2400" dirty="0"/>
              <a:t>– distributes subsets of the same data across multiple cores, same operation on each</a:t>
            </a:r>
            <a:endParaRPr lang="en-US" altLang="en-US" sz="2400" b="1" dirty="0">
              <a:solidFill>
                <a:srgbClr val="3366FF"/>
              </a:solidFill>
            </a:endParaRPr>
          </a:p>
          <a:p>
            <a:pPr lvl="1"/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sz="2400" dirty="0"/>
              <a:t>– distributing threads across cores, each thread performing unique operation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F297ACC2-6415-49B5-B30C-3C6679A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915" y="1244571"/>
            <a:ext cx="7471286" cy="49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81C5BE-54CB-4060-BFB3-18429EA46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A1AEDCB-DDB2-4B98-87D9-BFA079D3C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2168" y="1106489"/>
            <a:ext cx="10899058" cy="552190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buFont typeface="Monotype Sorts" pitchFamily="-84" charset="2"/>
              <a:buNone/>
              <a:defRPr/>
            </a:pP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5603" name="Picture 1" descr="Screen Shot 2012-12-04 at 7.54.07 PM.png">
            <a:extLst>
              <a:ext uri="{FF2B5EF4-FFF2-40B4-BE49-F238E27FC236}">
                <a16:creationId xmlns:a16="http://schemas.microsoft.com/office/drawing/2014/main" id="{73692B8D-A89E-4AD0-A1E3-ED895D4F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473" y="2523440"/>
            <a:ext cx="3383288" cy="126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C2E4-27E0-6E4D-9B1F-2B1BFDA7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" descr="Screen Shot 2012-12-04 at 7.54.07 PM.png">
            <a:extLst>
              <a:ext uri="{FF2B5EF4-FFF2-40B4-BE49-F238E27FC236}">
                <a16:creationId xmlns:a16="http://schemas.microsoft.com/office/drawing/2014/main" id="{5EA14772-E6FB-71C2-CA1C-62B906616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589" y="1406663"/>
            <a:ext cx="3383288" cy="126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139AD58-67B3-37E5-F61E-EBC52858AB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727978"/>
            <a:ext cx="10769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 = fraction of execution time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be performed serially (sequentially)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(1−S) = fraction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parallelized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= number of processing units (CPUs or cores)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D0E27D-6C94-698A-03F7-BD69BC48E26C}"/>
                  </a:ext>
                </a:extLst>
              </p:cNvPr>
              <p:cNvSpPr txBox="1"/>
              <p:nvPr/>
            </p:nvSpPr>
            <p:spPr>
              <a:xfrm>
                <a:off x="609600" y="1756558"/>
                <a:ext cx="1076959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Suppose: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30% of the program is </a:t>
                </a:r>
                <a:r>
                  <a:rPr lang="en-US" b="1" dirty="0"/>
                  <a:t>sequential</a:t>
                </a:r>
                <a:r>
                  <a:rPr lang="en-US" dirty="0"/>
                  <a:t> 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70% is </a:t>
                </a:r>
                <a:r>
                  <a:rPr lang="en-US" b="1" dirty="0"/>
                  <a:t>parallelizable</a:t>
                </a:r>
                <a:r>
                  <a:rPr lang="en-US" dirty="0"/>
                  <a:t> →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Now compute the </a:t>
                </a:r>
                <a:r>
                  <a:rPr lang="en-US" b="1" dirty="0"/>
                  <a:t>speedup</a:t>
                </a:r>
                <a:r>
                  <a:rPr lang="en-US" dirty="0"/>
                  <a:t> for various numbers of processors.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D0E27D-6C94-698A-03F7-BD69BC48E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756558"/>
                <a:ext cx="10769599" cy="1200329"/>
              </a:xfrm>
              <a:prstGeom prst="rect">
                <a:avLst/>
              </a:prstGeom>
              <a:blipFill>
                <a:blip r:embed="rId3"/>
                <a:stretch>
                  <a:fillRect l="-453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1CA7C1-EA40-E136-F7E2-1CF0A01EF402}"/>
                  </a:ext>
                </a:extLst>
              </p:cNvPr>
              <p:cNvSpPr txBox="1"/>
              <p:nvPr/>
            </p:nvSpPr>
            <p:spPr>
              <a:xfrm>
                <a:off x="1843549" y="3345385"/>
                <a:ext cx="6135328" cy="1111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For N = 4: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Speedup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SA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SA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SA" b="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SA" b="0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ar-SA" b="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  <m:r>
                        <a:rPr lang="ar-SA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175</m:t>
                          </m:r>
                        </m:den>
                      </m:f>
                      <m:r>
                        <a:rPr lang="ar-SA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SA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b="0" i="0">
                              <a:latin typeface="Cambria Math" panose="02040503050406030204" pitchFamily="18" charset="0"/>
                            </a:rPr>
                            <m:t>475</m:t>
                          </m:r>
                        </m:den>
                      </m:f>
                      <m:r>
                        <a:rPr lang="ar-SA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SA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b="0" i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ar-SA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1CA7C1-EA40-E136-F7E2-1CF0A01EF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549" y="3345385"/>
                <a:ext cx="6135328" cy="1111458"/>
              </a:xfrm>
              <a:prstGeom prst="rect">
                <a:avLst/>
              </a:prstGeom>
              <a:blipFill>
                <a:blip r:embed="rId4"/>
                <a:stretch>
                  <a:fillRect l="-794" t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F7B1ACF-DA77-3ABF-AD56-2CC122921D71}"/>
              </a:ext>
            </a:extLst>
          </p:cNvPr>
          <p:cNvSpPr txBox="1"/>
          <p:nvPr/>
        </p:nvSpPr>
        <p:spPr>
          <a:xfrm>
            <a:off x="1106129" y="4456843"/>
            <a:ext cx="10682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you run the program on </a:t>
            </a:r>
            <a:r>
              <a:rPr lang="en-US" b="1" dirty="0"/>
              <a:t>4 processors</a:t>
            </a:r>
            <a:r>
              <a:rPr lang="en-US" dirty="0"/>
              <a:t>, it will execute </a:t>
            </a:r>
            <a:r>
              <a:rPr lang="en-US" b="1" dirty="0"/>
              <a:t>2.11 times faster</a:t>
            </a:r>
            <a:r>
              <a:rPr lang="en-US" dirty="0"/>
              <a:t> than when it runs on </a:t>
            </a:r>
            <a:r>
              <a:rPr lang="en-US" b="1" dirty="0"/>
              <a:t>1 processor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361ADD-2B57-814E-EABD-DD199DE63F71}"/>
                  </a:ext>
                </a:extLst>
              </p:cNvPr>
              <p:cNvSpPr txBox="1"/>
              <p:nvPr/>
            </p:nvSpPr>
            <p:spPr>
              <a:xfrm>
                <a:off x="958645" y="5374332"/>
                <a:ext cx="10420554" cy="1164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If the program took </a:t>
                </a:r>
                <a:r>
                  <a:rPr lang="en-US" b="1" dirty="0"/>
                  <a:t>10 seconds</a:t>
                </a:r>
                <a:r>
                  <a:rPr lang="en-US" dirty="0"/>
                  <a:t> to run on 1 CPU,</a:t>
                </a:r>
                <a:br>
                  <a:rPr lang="en-US" dirty="0"/>
                </a:br>
                <a:r>
                  <a:rPr lang="en-US" dirty="0"/>
                  <a:t>it would take approximately: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S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SA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ar-SA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SA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i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ar-SA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SA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SA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i="0">
                          <a:latin typeface="Cambria Math" panose="02040503050406030204" pitchFamily="18" charset="0"/>
                        </a:rPr>
                        <m:t>74</m:t>
                      </m:r>
                      <m:r>
                        <m:rPr>
                          <m:nor/>
                        </m:rPr>
                        <a:rPr lang="ar-SA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seconds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4 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CPUs</m:t>
                      </m:r>
                      <m:r>
                        <m:rPr>
                          <m:nor/>
                        </m:rPr>
                        <a:rPr lang="en-US" b="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361ADD-2B57-814E-EABD-DD199DE63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45" y="5374332"/>
                <a:ext cx="10420554" cy="1164934"/>
              </a:xfrm>
              <a:prstGeom prst="rect">
                <a:avLst/>
              </a:prstGeom>
              <a:blipFill>
                <a:blip r:embed="rId5"/>
                <a:stretch>
                  <a:fillRect l="-468" t="-3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681CBC2B-DB28-4332-A1D1-A5123743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9173F832-D0B8-4682-8422-824AC9A2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397" y="1013083"/>
            <a:ext cx="7493205" cy="528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0A3DCFF-94B3-4FFC-B2A6-FE43AD179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0626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BA746B80-CDA4-4092-8028-5DF70403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en-US" altLang="en-US" dirty="0"/>
              <a:t>- management done by user-level threads library</a:t>
            </a:r>
          </a:p>
          <a:p>
            <a:r>
              <a:rPr lang="en-US" altLang="en-US" dirty="0"/>
              <a:t>Three primary thread libraries:</a:t>
            </a:r>
          </a:p>
          <a:p>
            <a:pPr lvl="1"/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Pthreads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 Windows threads</a:t>
            </a:r>
          </a:p>
          <a:p>
            <a:pPr lvl="1"/>
            <a:r>
              <a:rPr lang="en-US" altLang="en-US" dirty="0"/>
              <a:t> Java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r>
              <a:rPr lang="en-US" altLang="en-US" dirty="0"/>
              <a:t>Examples – virtually all general-purpose operating systems, including:</a:t>
            </a:r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Linux</a:t>
            </a:r>
          </a:p>
          <a:p>
            <a:pPr lvl="1"/>
            <a:r>
              <a:rPr lang="en-US" altLang="en-US" dirty="0"/>
              <a:t>Mac OS X</a:t>
            </a:r>
          </a:p>
          <a:p>
            <a:pPr lvl="1"/>
            <a:r>
              <a:rPr lang="en-US" altLang="en-US" dirty="0"/>
              <a:t>iOS</a:t>
            </a:r>
          </a:p>
          <a:p>
            <a:pPr lvl="1"/>
            <a:r>
              <a:rPr lang="en-US" altLang="en-US" dirty="0"/>
              <a:t>Android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13ED592C-0C4E-45A3-A96C-C192AD94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</a:p>
        </p:txBody>
      </p:sp>
      <p:pic>
        <p:nvPicPr>
          <p:cNvPr id="30722" name="Picture 1">
            <a:extLst>
              <a:ext uri="{FF2B5EF4-FFF2-40B4-BE49-F238E27FC236}">
                <a16:creationId xmlns:a16="http://schemas.microsoft.com/office/drawing/2014/main" id="{2BDB5D90-D947-41F8-BDFE-DD7C4ED2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563" y="1518367"/>
            <a:ext cx="7545153" cy="415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7C60FED-BD89-4655-8023-6D89846C2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986761F-3FB5-4AD0-B6CE-CA9BD246E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Many-to-One</a:t>
            </a:r>
          </a:p>
          <a:p>
            <a:r>
              <a:rPr lang="en-US" altLang="en-US" dirty="0"/>
              <a:t>One-to-One</a:t>
            </a:r>
          </a:p>
          <a:p>
            <a:r>
              <a:rPr lang="en-US" altLang="en-US" dirty="0"/>
              <a:t>Many-to-Many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0" y="1233489"/>
            <a:ext cx="772173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3428999"/>
            <a:ext cx="5049207" cy="2769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0" y="1233489"/>
            <a:ext cx="7628423" cy="4530725"/>
          </a:xfrm>
        </p:spPr>
        <p:txBody>
          <a:bodyPr/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6" y="3349625"/>
            <a:ext cx="5132622" cy="2847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1089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378199"/>
            <a:ext cx="4899245" cy="2698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98DC882-9265-4F2A-AAAB-DD166A263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Model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A2E2CD6A-C625-47A4-91CD-EAFB17708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3788" y="1155701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39939" name="Picture 1">
            <a:extLst>
              <a:ext uri="{FF2B5EF4-FFF2-40B4-BE49-F238E27FC236}">
                <a16:creationId xmlns:a16="http://schemas.microsoft.com/office/drawing/2014/main" id="{95426A68-78A8-483B-AE90-0C4299BC7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099" y="2336799"/>
            <a:ext cx="5608029" cy="288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6BE45F0-3DE5-4D5E-A6DF-893325F2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69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656EC163-3A42-463F-98B9-34FCCA5B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8443" y="1233489"/>
            <a:ext cx="770306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r>
              <a:rPr lang="en-US" altLang="en-US" dirty="0"/>
              <a:t>Two primary ways of implementing</a:t>
            </a:r>
          </a:p>
          <a:p>
            <a:pPr lvl="1"/>
            <a:r>
              <a:rPr lang="en-US" altLang="en-US" dirty="0"/>
              <a:t>Library entirely in user space</a:t>
            </a:r>
          </a:p>
          <a:p>
            <a:pPr lvl="1"/>
            <a:r>
              <a:rPr lang="en-US" altLang="en-US" dirty="0"/>
              <a:t>Kernel-level library supported by the 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2416" y="1233489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0043C8C3-F0F7-45F5-8A7A-9650671B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0275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id="{9A3D775D-6FA1-4646-A7D2-CE6E80B5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66" y="808397"/>
            <a:ext cx="7137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6" name="Picture 2">
            <a:extLst>
              <a:ext uri="{FF2B5EF4-FFF2-40B4-BE49-F238E27FC236}">
                <a16:creationId xmlns:a16="http://schemas.microsoft.com/office/drawing/2014/main" id="{78685247-D5BA-441C-A8DF-77393E66C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216" y="3488097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F4AC0C-D9B9-368E-FF41-FF9BCFA84A67}"/>
              </a:ext>
            </a:extLst>
          </p:cNvPr>
          <p:cNvCxnSpPr>
            <a:cxnSpLocks/>
          </p:cNvCxnSpPr>
          <p:nvPr/>
        </p:nvCxnSpPr>
        <p:spPr bwMode="auto">
          <a:xfrm>
            <a:off x="6494208" y="3480620"/>
            <a:ext cx="2587" cy="311190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0718D8-5B47-A732-22D3-9F6615BC9D6D}"/>
              </a:ext>
            </a:extLst>
          </p:cNvPr>
          <p:cNvCxnSpPr>
            <a:cxnSpLocks/>
          </p:cNvCxnSpPr>
          <p:nvPr/>
        </p:nvCxnSpPr>
        <p:spPr bwMode="auto">
          <a:xfrm>
            <a:off x="6482047" y="3476237"/>
            <a:ext cx="537565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07548F8-7BBB-488A-9C64-FEFB3E119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Pools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1DAB4466-FF5C-42A6-98D5-F594A5A17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3950" y="1081089"/>
            <a:ext cx="7686221" cy="4478337"/>
          </a:xfrm>
        </p:spPr>
        <p:txBody>
          <a:bodyPr/>
          <a:lstStyle/>
          <a:p>
            <a:r>
              <a:rPr lang="en-US" altLang="en-US" dirty="0"/>
              <a:t>Create a number of threads in a pool where they await work</a:t>
            </a:r>
          </a:p>
          <a:p>
            <a:r>
              <a:rPr lang="en-US" altLang="en-US" dirty="0"/>
              <a:t>Advantages:</a:t>
            </a:r>
          </a:p>
          <a:p>
            <a:pPr lvl="1"/>
            <a:r>
              <a:rPr lang="en-US" altLang="en-US" dirty="0"/>
              <a:t>Usually slightly faster to service a request with an existing thread than create a new thread</a:t>
            </a:r>
          </a:p>
          <a:p>
            <a:pPr lvl="1"/>
            <a:r>
              <a:rPr lang="en-US" altLang="en-US" dirty="0"/>
              <a:t>Allows the number of threads in the application(s) to be bound to the size of the pool</a:t>
            </a:r>
          </a:p>
          <a:p>
            <a:pPr lvl="1"/>
            <a:r>
              <a:rPr lang="en-US" altLang="en-US" dirty="0"/>
              <a:t>Separating task to be performed from mechanics of creating task allows different strategies for running task</a:t>
            </a:r>
          </a:p>
          <a:p>
            <a:pPr lvl="2"/>
            <a:r>
              <a:rPr lang="en-US" altLang="en-US" dirty="0" err="1"/>
              <a:t>i.e,Tasks</a:t>
            </a:r>
            <a:r>
              <a:rPr lang="en-US" altLang="en-US" dirty="0"/>
              <a:t> could be scheduled to run periodically</a:t>
            </a:r>
          </a:p>
          <a:p>
            <a:r>
              <a:rPr lang="en-US" altLang="en-US" dirty="0"/>
              <a:t>Windows API supports thread pools:</a:t>
            </a:r>
          </a:p>
        </p:txBody>
      </p:sp>
      <p:pic>
        <p:nvPicPr>
          <p:cNvPr id="59395" name="Picture 1" descr="Screen Shot 2012-12-04 at 9.17.42 PM.png">
            <a:extLst>
              <a:ext uri="{FF2B5EF4-FFF2-40B4-BE49-F238E27FC236}">
                <a16:creationId xmlns:a16="http://schemas.microsoft.com/office/drawing/2014/main" id="{D64E1B78-20BD-4FED-BCFF-952D9F216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88" y="4743450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8F5BE787-1C90-443B-BF35-EC074EF9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6F51DC46-1491-4D2A-B267-43A725F22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5763" y="1143000"/>
            <a:ext cx="7440645" cy="4483100"/>
          </a:xfrm>
        </p:spPr>
        <p:txBody>
          <a:bodyPr/>
          <a:lstStyle/>
          <a:p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r>
              <a:rPr lang="en-US" altLang="en-US" dirty="0"/>
              <a:t>Signal handling</a:t>
            </a:r>
          </a:p>
          <a:p>
            <a:pPr lvl="1"/>
            <a:r>
              <a:rPr lang="en-US" altLang="en-US" dirty="0"/>
              <a:t>Synchronous and asynchronous</a:t>
            </a:r>
            <a:endParaRPr lang="en-US" altLang="en-US" sz="800" dirty="0"/>
          </a:p>
          <a:p>
            <a:r>
              <a:rPr lang="en-US" altLang="en-US" dirty="0"/>
              <a:t>Thread cancellation of target thread</a:t>
            </a:r>
          </a:p>
          <a:p>
            <a:pPr lvl="1"/>
            <a:r>
              <a:rPr lang="en-US" altLang="en-US" dirty="0"/>
              <a:t>Asynchronous or deferred</a:t>
            </a:r>
            <a:endParaRPr lang="en-US" altLang="en-US" sz="800" dirty="0"/>
          </a:p>
          <a:p>
            <a:r>
              <a:rPr lang="en-US" altLang="en-US" dirty="0"/>
              <a:t>Thread-local storage</a:t>
            </a:r>
          </a:p>
          <a:p>
            <a:r>
              <a:rPr lang="en-US" altLang="en-US" dirty="0"/>
              <a:t>Scheduler Activations</a:t>
            </a:r>
          </a:p>
          <a:p>
            <a:endParaRPr lang="en-US" altLang="en-US" sz="800" dirty="0"/>
          </a:p>
          <a:p>
            <a:pPr lvl="1">
              <a:buFont typeface="Monotype Sorts" pitchFamily="-84" charset="2"/>
              <a:buNone/>
            </a:pPr>
            <a:endParaRPr lang="en-US" alt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A79867A-2E93-4EF0-B105-A26BB113E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1600" y="204206"/>
            <a:ext cx="7569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A843C793-C155-4716-B3E2-61F8E7272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0" y="1233489"/>
            <a:ext cx="7656415" cy="4530725"/>
          </a:xfrm>
        </p:spPr>
        <p:txBody>
          <a:bodyPr/>
          <a:lstStyle/>
          <a:p>
            <a:r>
              <a:rPr lang="en-US" altLang="en-US"/>
              <a:t>Does </a:t>
            </a:r>
            <a:r>
              <a:rPr lang="en-US" altLang="en-US" b="1">
                <a:latin typeface="Courier New" panose="02070309020205020404" pitchFamily="49" charset="0"/>
              </a:rPr>
              <a:t>fork()</a:t>
            </a:r>
            <a:r>
              <a:rPr lang="en-US" altLang="en-US"/>
              <a:t>duplicate only the calling thread or all threads?</a:t>
            </a:r>
          </a:p>
          <a:p>
            <a:pPr lvl="1"/>
            <a:r>
              <a:rPr lang="en-US" altLang="en-US"/>
              <a:t>Some UNIXes have two versions of fork</a:t>
            </a:r>
          </a:p>
          <a:p>
            <a:r>
              <a:rPr lang="en-US" altLang="en-US" b="1">
                <a:latin typeface="Courier New" panose="02070309020205020404" pitchFamily="49" charset="0"/>
              </a:rPr>
              <a:t>exec() </a:t>
            </a:r>
            <a:r>
              <a:rPr lang="en-US" altLang="en-US"/>
              <a:t>usually works as normal – replace the running process including all threads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E38D4671-065E-48FB-994B-D2E5E93EB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4752EA8-B31F-42FC-AC88-93660F763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1757" y="1164839"/>
            <a:ext cx="7719753" cy="5156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Signals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generated by particular event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delivered to a process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handled by one of two signal handlers: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default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user-defined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default handler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780098" lvl="1" indent="-380048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User-defined 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780098" lvl="1" indent="-380048"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6878F364-9781-4DC9-A9A3-9DD34E5E6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09391F2-8D47-4F0C-960D-BFD5F96C0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1088" y="1146175"/>
            <a:ext cx="7691761" cy="51562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the thread to which the signal applies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every thread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certain threads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5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5095" y="1146176"/>
            <a:ext cx="7672031" cy="4430713"/>
          </a:xfrm>
        </p:spPr>
        <p:txBody>
          <a:bodyPr/>
          <a:lstStyle/>
          <a:p>
            <a:r>
              <a:rPr lang="en-US" altLang="en-US" dirty="0"/>
              <a:t>Terminating a thread before it has finished</a:t>
            </a:r>
          </a:p>
          <a:p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target thread</a:t>
            </a:r>
          </a:p>
          <a:p>
            <a:r>
              <a:rPr lang="en-US" altLang="en-US" dirty="0"/>
              <a:t>Two general approaches:</a:t>
            </a:r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7043" name="Picture 1">
            <a:extLst>
              <a:ext uri="{FF2B5EF4-FFF2-40B4-BE49-F238E27FC236}">
                <a16:creationId xmlns:a16="http://schemas.microsoft.com/office/drawing/2014/main" id="{C3014C15-8D5D-4EBD-B07F-81007A227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576" y="4022725"/>
            <a:ext cx="3948113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2580DFDB-6ABD-4948-952F-076F0CA2C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1C7EAF96-DD82-4FEA-A725-EF91F94C0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1382" y="1233489"/>
            <a:ext cx="9630696" cy="491658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Thread-local storage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r>
              <a:rPr lang="en-US" altLang="en-US" dirty="0"/>
              <a:t>Useful when you do not have control over the thread creation process (i.e., when using a thread pool)</a:t>
            </a:r>
          </a:p>
          <a:p>
            <a:r>
              <a:rPr lang="en-US" altLang="en-US" dirty="0"/>
              <a:t>Different from local variables</a:t>
            </a:r>
          </a:p>
          <a:p>
            <a:pPr lvl="1"/>
            <a:r>
              <a:rPr lang="en-US" altLang="en-US" dirty="0"/>
              <a:t>Local variables visible only during single function invocation</a:t>
            </a:r>
          </a:p>
          <a:p>
            <a:pPr lvl="1"/>
            <a:r>
              <a:rPr lang="en-US" altLang="en-US" dirty="0"/>
              <a:t>TLS visible across function invocations</a:t>
            </a:r>
          </a:p>
          <a:p>
            <a:r>
              <a:rPr lang="en-US" altLang="en-US" dirty="0"/>
              <a:t>Similar to </a:t>
            </a:r>
            <a:r>
              <a:rPr lang="en-US" altLang="en-US" b="1" dirty="0">
                <a:latin typeface="Courier New" panose="02070309020205020404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/>
            <a:r>
              <a:rPr lang="en-US" altLang="en-US" dirty="0"/>
              <a:t>TLS is unique to each thread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65E82D8D-F606-4BB6-910E-3E1D7A76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4464" y="228830"/>
            <a:ext cx="75263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A8495397-A30B-4D32-9963-DA7E64699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0" y="1017588"/>
            <a:ext cx="5316538" cy="4964112"/>
          </a:xfrm>
        </p:spPr>
        <p:txBody>
          <a:bodyPr/>
          <a:lstStyle/>
          <a:p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LWP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Appears to be a virtual processor on which process can schedule user thread to run</a:t>
            </a:r>
          </a:p>
          <a:p>
            <a:pPr lvl="1"/>
            <a:r>
              <a:rPr lang="en-US" altLang="en-US" dirty="0"/>
              <a:t>Each LWP attached to kernel thread</a:t>
            </a:r>
          </a:p>
          <a:p>
            <a:pPr lvl="1"/>
            <a:r>
              <a:rPr lang="en-US" altLang="en-US" dirty="0"/>
              <a:t>How many LWPs to create?</a:t>
            </a:r>
          </a:p>
          <a:p>
            <a:r>
              <a:rPr lang="en-US" altLang="en-US" dirty="0"/>
              <a:t>Scheduler activations provide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thread library</a:t>
            </a:r>
          </a:p>
          <a:p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4211" name="Picture 1">
            <a:extLst>
              <a:ext uri="{FF2B5EF4-FFF2-40B4-BE49-F238E27FC236}">
                <a16:creationId xmlns:a16="http://schemas.microsoft.com/office/drawing/2014/main" id="{7DC26CCE-1C29-4F40-8E4C-6E7777036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4" y="2416175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A83B2EB4-BA9F-4468-9748-66079CAC4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54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Threads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9CC8EC9-347D-4989-9EE5-6AE0B546C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1888" y="1092200"/>
            <a:ext cx="7594308" cy="449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Linux refers to them as </a:t>
            </a:r>
            <a:r>
              <a:rPr lang="en-US" altLang="en-US" b="1" i="1" dirty="0">
                <a:cs typeface="ＭＳ Ｐゴシック" charset="-128"/>
              </a:rPr>
              <a:t>tasks</a:t>
            </a:r>
            <a:r>
              <a:rPr lang="en-US" altLang="en-US" dirty="0">
                <a:cs typeface="ＭＳ Ｐゴシック" charset="-128"/>
              </a:rPr>
              <a:t> rather than </a:t>
            </a:r>
            <a:r>
              <a:rPr lang="en-US" altLang="en-US" b="1" i="1" dirty="0">
                <a:cs typeface="ＭＳ Ｐゴシック" charset="-128"/>
              </a:rPr>
              <a:t>threads</a:t>
            </a: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Thread creation is done through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ＭＳ Ｐゴシック" charset="-128"/>
              </a:rPr>
              <a:t>system call</a:t>
            </a:r>
          </a:p>
          <a:p>
            <a:pPr>
              <a:defRPr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dirty="0">
                <a:cs typeface="ＭＳ Ｐゴシック" charset="-128"/>
              </a:rPr>
              <a:t>allows a child task to share the address space of the parent task (process)</a:t>
            </a:r>
          </a:p>
          <a:p>
            <a:pPr lvl="1">
              <a:defRPr/>
            </a:pPr>
            <a:r>
              <a:rPr lang="en-US" altLang="en-US" dirty="0"/>
              <a:t>Flags control behavior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</p:txBody>
      </p:sp>
      <p:pic>
        <p:nvPicPr>
          <p:cNvPr id="104451" name="Picture 1">
            <a:extLst>
              <a:ext uri="{FF2B5EF4-FFF2-40B4-BE49-F238E27FC236}">
                <a16:creationId xmlns:a16="http://schemas.microsoft.com/office/drawing/2014/main" id="{4A30D8FF-ECBB-4EF4-9DE7-A53BC09DF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1" y="3032125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1A4E1028-A5C4-45A4-B6C0-DFAAAFA6F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15767</TotalTime>
  <Words>1543</Words>
  <Application>Microsoft Office PowerPoint</Application>
  <PresentationFormat>Widescreen</PresentationFormat>
  <Paragraphs>238</Paragraphs>
  <Slides>34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ＭＳ Ｐゴシック</vt:lpstr>
      <vt:lpstr>Arial</vt:lpstr>
      <vt:lpstr>Cambria Math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4:  Threads &amp; Concurrency </vt:lpstr>
      <vt:lpstr>Outline</vt:lpstr>
      <vt:lpstr>Objectives</vt:lpstr>
      <vt:lpstr>Motivation for Threads</vt:lpstr>
      <vt:lpstr>Single and Multithreaded Processes</vt:lpstr>
      <vt:lpstr>Multithreaded Server Architecture</vt:lpstr>
      <vt:lpstr>Benefits</vt:lpstr>
      <vt:lpstr>Concurrency vs. Parallelism</vt:lpstr>
      <vt:lpstr>Multicore Programming</vt:lpstr>
      <vt:lpstr>Multicore Programming</vt:lpstr>
      <vt:lpstr>Data and Task Parallelism</vt:lpstr>
      <vt:lpstr>Amdahl’s Law</vt:lpstr>
      <vt:lpstr>PowerPoint Presentation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Thread Pools</vt:lpstr>
      <vt:lpstr>Threading Issues</vt:lpstr>
      <vt:lpstr>Semantics of fork() and exec()</vt:lpstr>
      <vt:lpstr>Signal Handling</vt:lpstr>
      <vt:lpstr>Signal Handling (Cont.)</vt:lpstr>
      <vt:lpstr>Thread Cancellation</vt:lpstr>
      <vt:lpstr>Thread-Local Storage</vt:lpstr>
      <vt:lpstr>Scheduler Activations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fazl basit</cp:lastModifiedBy>
  <cp:revision>252</cp:revision>
  <cp:lastPrinted>2025-10-01T08:12:37Z</cp:lastPrinted>
  <dcterms:created xsi:type="dcterms:W3CDTF">2011-01-13T23:43:38Z</dcterms:created>
  <dcterms:modified xsi:type="dcterms:W3CDTF">2026-03-02T10:10:23Z</dcterms:modified>
</cp:coreProperties>
</file>