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Lst>
  <p:notesMasterIdLst>
    <p:notesMasterId r:id="rId47"/>
  </p:notesMasterIdLst>
  <p:handoutMasterIdLst>
    <p:handoutMasterId r:id="rId48"/>
  </p:handoutMasterIdLst>
  <p:sldIdLst>
    <p:sldId id="331" r:id="rId2"/>
    <p:sldId id="332" r:id="rId3"/>
    <p:sldId id="333" r:id="rId4"/>
    <p:sldId id="334" r:id="rId5"/>
    <p:sldId id="335" r:id="rId6"/>
    <p:sldId id="336" r:id="rId7"/>
    <p:sldId id="401" r:id="rId8"/>
    <p:sldId id="402" r:id="rId9"/>
    <p:sldId id="337" r:id="rId10"/>
    <p:sldId id="338" r:id="rId11"/>
    <p:sldId id="339" r:id="rId12"/>
    <p:sldId id="340" r:id="rId13"/>
    <p:sldId id="341" r:id="rId14"/>
    <p:sldId id="403" r:id="rId15"/>
    <p:sldId id="428" r:id="rId16"/>
    <p:sldId id="429" r:id="rId17"/>
    <p:sldId id="423" r:id="rId18"/>
    <p:sldId id="421" r:id="rId19"/>
    <p:sldId id="345" r:id="rId20"/>
    <p:sldId id="422" r:id="rId21"/>
    <p:sldId id="424" r:id="rId22"/>
    <p:sldId id="350" r:id="rId23"/>
    <p:sldId id="351" r:id="rId24"/>
    <p:sldId id="352" r:id="rId25"/>
    <p:sldId id="353" r:id="rId26"/>
    <p:sldId id="348" r:id="rId27"/>
    <p:sldId id="425" r:id="rId28"/>
    <p:sldId id="427" r:id="rId29"/>
    <p:sldId id="426" r:id="rId30"/>
    <p:sldId id="354" r:id="rId31"/>
    <p:sldId id="400" r:id="rId32"/>
    <p:sldId id="356" r:id="rId33"/>
    <p:sldId id="404" r:id="rId34"/>
    <p:sldId id="358" r:id="rId35"/>
    <p:sldId id="359" r:id="rId36"/>
    <p:sldId id="362" r:id="rId37"/>
    <p:sldId id="405" r:id="rId38"/>
    <p:sldId id="365" r:id="rId39"/>
    <p:sldId id="411" r:id="rId40"/>
    <p:sldId id="412" r:id="rId41"/>
    <p:sldId id="413" r:id="rId42"/>
    <p:sldId id="364" r:id="rId43"/>
    <p:sldId id="414" r:id="rId44"/>
    <p:sldId id="363" r:id="rId45"/>
    <p:sldId id="417" r:id="rId46"/>
  </p:sldIdLst>
  <p:sldSz cx="12192000" cy="6858000"/>
  <p:notesSz cx="7010400" cy="9296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58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autoAdjust="0"/>
    <p:restoredTop sz="94635"/>
  </p:normalViewPr>
  <p:slideViewPr>
    <p:cSldViewPr snapToGrid="0">
      <p:cViewPr>
        <p:scale>
          <a:sx n="75" d="100"/>
          <a:sy n="75" d="100"/>
        </p:scale>
        <p:origin x="420" y="-360"/>
      </p:cViewPr>
      <p:guideLst>
        <p:guide orient="horz" pos="816"/>
        <p:guide pos="587"/>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027A3F3-A935-4BDC-812E-9120B643162F}"/>
              </a:ext>
            </a:extLst>
          </p:cNvPr>
          <p:cNvSpPr>
            <a:spLocks noGrp="1" noChangeArrowheads="1"/>
          </p:cNvSpPr>
          <p:nvPr>
            <p:ph type="hdr" sz="quarter"/>
          </p:nvPr>
        </p:nvSpPr>
        <p:spPr bwMode="auto">
          <a:xfrm>
            <a:off x="0" y="0"/>
            <a:ext cx="3073332" cy="442461"/>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2306">
              <a:defRPr sz="1100">
                <a:latin typeface="Helvetica" panose="020B0604020202020204" pitchFamily="34" charset="0"/>
              </a:defRPr>
            </a:lvl1pPr>
          </a:lstStyle>
          <a:p>
            <a:endParaRPr lang="en-US" altLang="en-US"/>
          </a:p>
        </p:txBody>
      </p:sp>
      <p:sp>
        <p:nvSpPr>
          <p:cNvPr id="46083" name="Rectangle 3">
            <a:extLst>
              <a:ext uri="{FF2B5EF4-FFF2-40B4-BE49-F238E27FC236}">
                <a16:creationId xmlns:a16="http://schemas.microsoft.com/office/drawing/2014/main" id="{7271601B-176A-4BB3-AC87-58251574C751}"/>
              </a:ext>
            </a:extLst>
          </p:cNvPr>
          <p:cNvSpPr>
            <a:spLocks noGrp="1" noChangeArrowheads="1"/>
          </p:cNvSpPr>
          <p:nvPr>
            <p:ph type="dt" sz="quarter" idx="1"/>
          </p:nvPr>
        </p:nvSpPr>
        <p:spPr bwMode="auto">
          <a:xfrm>
            <a:off x="3951202" y="0"/>
            <a:ext cx="3071761" cy="442461"/>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2306">
              <a:defRPr sz="1100">
                <a:latin typeface="Helvetica" panose="020B0604020202020204" pitchFamily="34" charset="0"/>
              </a:defRPr>
            </a:lvl1pPr>
          </a:lstStyle>
          <a:p>
            <a:endParaRPr lang="en-US" altLang="en-US"/>
          </a:p>
        </p:txBody>
      </p:sp>
      <p:sp>
        <p:nvSpPr>
          <p:cNvPr id="46084" name="Rectangle 4">
            <a:extLst>
              <a:ext uri="{FF2B5EF4-FFF2-40B4-BE49-F238E27FC236}">
                <a16:creationId xmlns:a16="http://schemas.microsoft.com/office/drawing/2014/main" id="{AC7F65B7-06EB-44DB-B452-D2D383181528}"/>
              </a:ext>
            </a:extLst>
          </p:cNvPr>
          <p:cNvSpPr>
            <a:spLocks noGrp="1" noChangeArrowheads="1"/>
          </p:cNvSpPr>
          <p:nvPr>
            <p:ph type="ftr" sz="quarter" idx="2"/>
          </p:nvPr>
        </p:nvSpPr>
        <p:spPr bwMode="auto">
          <a:xfrm>
            <a:off x="0" y="8866537"/>
            <a:ext cx="3073332" cy="442460"/>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2306">
              <a:defRPr sz="1100">
                <a:latin typeface="Helvetica" panose="020B0604020202020204" pitchFamily="34" charset="0"/>
              </a:defRPr>
            </a:lvl1pPr>
          </a:lstStyle>
          <a:p>
            <a:endParaRPr lang="en-US" altLang="en-US"/>
          </a:p>
        </p:txBody>
      </p:sp>
      <p:sp>
        <p:nvSpPr>
          <p:cNvPr id="46085" name="Rectangle 5">
            <a:extLst>
              <a:ext uri="{FF2B5EF4-FFF2-40B4-BE49-F238E27FC236}">
                <a16:creationId xmlns:a16="http://schemas.microsoft.com/office/drawing/2014/main" id="{B2508938-9467-485D-A454-F81218F2ADB1}"/>
              </a:ext>
            </a:extLst>
          </p:cNvPr>
          <p:cNvSpPr>
            <a:spLocks noGrp="1" noChangeArrowheads="1"/>
          </p:cNvSpPr>
          <p:nvPr>
            <p:ph type="sldNum" sz="quarter" idx="3"/>
          </p:nvPr>
        </p:nvSpPr>
        <p:spPr bwMode="auto">
          <a:xfrm>
            <a:off x="3951202" y="8866537"/>
            <a:ext cx="3071761" cy="442460"/>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306">
              <a:defRPr sz="1100">
                <a:latin typeface="Helvetica" charset="0"/>
                <a:ea typeface="MS PGothic" charset="-128"/>
              </a:defRPr>
            </a:lvl1pPr>
          </a:lstStyle>
          <a:p>
            <a:pPr>
              <a:defRPr/>
            </a:pPr>
            <a:fld id="{E0F0762C-192C-43F0-9235-1ED3B30BABF7}" type="slidenum">
              <a:rPr lang="en-US" altLang="x-none"/>
              <a:pPr>
                <a:defRPr/>
              </a:pPr>
              <a:t>‹#›</a:t>
            </a:fld>
            <a:endParaRPr lang="en-US" altLang="x-non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99FA718-A6D5-4F45-AA4A-4BEBC20AD73D}"/>
              </a:ext>
            </a:extLst>
          </p:cNvPr>
          <p:cNvSpPr>
            <a:spLocks noGrp="1" noChangeArrowheads="1"/>
          </p:cNvSpPr>
          <p:nvPr>
            <p:ph type="hdr" sz="quarter"/>
          </p:nvPr>
        </p:nvSpPr>
        <p:spPr bwMode="auto">
          <a:xfrm>
            <a:off x="0" y="1"/>
            <a:ext cx="3037212" cy="46293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060">
              <a:defRPr sz="1200">
                <a:latin typeface="Times New Roman" panose="02020603050405020304" pitchFamily="18" charset="0"/>
              </a:defRPr>
            </a:lvl1pPr>
          </a:lstStyle>
          <a:p>
            <a:endParaRPr lang="en-US" altLang="en-US"/>
          </a:p>
        </p:txBody>
      </p:sp>
      <p:sp>
        <p:nvSpPr>
          <p:cNvPr id="6147" name="Rectangle 3">
            <a:extLst>
              <a:ext uri="{FF2B5EF4-FFF2-40B4-BE49-F238E27FC236}">
                <a16:creationId xmlns:a16="http://schemas.microsoft.com/office/drawing/2014/main" id="{D00055E3-33CD-4C16-B1E7-137DC8ED0737}"/>
              </a:ext>
            </a:extLst>
          </p:cNvPr>
          <p:cNvSpPr>
            <a:spLocks noGrp="1" noChangeArrowheads="1"/>
          </p:cNvSpPr>
          <p:nvPr>
            <p:ph type="dt" idx="1"/>
          </p:nvPr>
        </p:nvSpPr>
        <p:spPr bwMode="auto">
          <a:xfrm>
            <a:off x="3973189" y="1"/>
            <a:ext cx="3037212" cy="46293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060">
              <a:defRPr sz="1200">
                <a:latin typeface="Times New Roman" panose="02020603050405020304" pitchFamily="18" charset="0"/>
              </a:defRPr>
            </a:lvl1pPr>
          </a:lstStyle>
          <a:p>
            <a:endParaRPr lang="en-US" altLang="en-US"/>
          </a:p>
        </p:txBody>
      </p:sp>
      <p:sp>
        <p:nvSpPr>
          <p:cNvPr id="3076" name="Rectangle 4">
            <a:extLst>
              <a:ext uri="{FF2B5EF4-FFF2-40B4-BE49-F238E27FC236}">
                <a16:creationId xmlns:a16="http://schemas.microsoft.com/office/drawing/2014/main" id="{4A5BA436-A0A2-4A15-B145-2DD97D7A3078}"/>
              </a:ext>
            </a:extLst>
          </p:cNvPr>
          <p:cNvSpPr>
            <a:spLocks noGrp="1" noRot="1" noChangeAspect="1" noChangeArrowheads="1" noTextEdit="1"/>
          </p:cNvSpPr>
          <p:nvPr>
            <p:ph type="sldImg" idx="2"/>
          </p:nvPr>
        </p:nvSpPr>
        <p:spPr bwMode="auto">
          <a:xfrm>
            <a:off x="407988" y="698500"/>
            <a:ext cx="6196012"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7145563E-578D-4EA3-A924-014C2A79C5AF}"/>
              </a:ext>
            </a:extLst>
          </p:cNvPr>
          <p:cNvSpPr>
            <a:spLocks noGrp="1" noChangeArrowheads="1"/>
          </p:cNvSpPr>
          <p:nvPr>
            <p:ph type="body" sz="quarter" idx="3"/>
          </p:nvPr>
        </p:nvSpPr>
        <p:spPr bwMode="auto">
          <a:xfrm>
            <a:off x="934407" y="4416735"/>
            <a:ext cx="5141588" cy="418054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1EE489C0-8AB7-4BF4-AFB6-59687BD0D42A}"/>
              </a:ext>
            </a:extLst>
          </p:cNvPr>
          <p:cNvSpPr>
            <a:spLocks noGrp="1" noChangeArrowheads="1"/>
          </p:cNvSpPr>
          <p:nvPr>
            <p:ph type="ftr" sz="quarter" idx="4"/>
          </p:nvPr>
        </p:nvSpPr>
        <p:spPr bwMode="auto">
          <a:xfrm>
            <a:off x="0" y="8833470"/>
            <a:ext cx="3037212" cy="46293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060">
              <a:defRPr sz="1200">
                <a:latin typeface="Times New Roman" panose="02020603050405020304" pitchFamily="18" charset="0"/>
              </a:defRPr>
            </a:lvl1pPr>
          </a:lstStyle>
          <a:p>
            <a:endParaRPr lang="en-US" altLang="en-US"/>
          </a:p>
        </p:txBody>
      </p:sp>
      <p:sp>
        <p:nvSpPr>
          <p:cNvPr id="6151" name="Rectangle 7">
            <a:extLst>
              <a:ext uri="{FF2B5EF4-FFF2-40B4-BE49-F238E27FC236}">
                <a16:creationId xmlns:a16="http://schemas.microsoft.com/office/drawing/2014/main" id="{311BAF64-3980-48A7-93B5-275428159D16}"/>
              </a:ext>
            </a:extLst>
          </p:cNvPr>
          <p:cNvSpPr>
            <a:spLocks noGrp="1" noChangeArrowheads="1"/>
          </p:cNvSpPr>
          <p:nvPr>
            <p:ph type="sldNum" sz="quarter" idx="5"/>
          </p:nvPr>
        </p:nvSpPr>
        <p:spPr bwMode="auto">
          <a:xfrm>
            <a:off x="3973189" y="8833470"/>
            <a:ext cx="3037212" cy="462930"/>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1060">
              <a:defRPr sz="1200">
                <a:latin typeface="Times New Roman" charset="0"/>
                <a:ea typeface="MS PGothic" charset="-128"/>
              </a:defRPr>
            </a:lvl1pPr>
          </a:lstStyle>
          <a:p>
            <a:pPr>
              <a:defRPr/>
            </a:pPr>
            <a:fld id="{C9F949B7-291A-4420-9D9C-B1ABA67FB313}" type="slidenum">
              <a:rPr lang="en-US" altLang="x-none"/>
              <a:pPr>
                <a:defRPr/>
              </a:pPr>
              <a:t>‹#›</a:t>
            </a:fld>
            <a:endParaRPr lang="en-US" altLang="x-none"/>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MS PGothic" panose="020B0600070205080204" pitchFamily="34"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a:extLst>
              <a:ext uri="{FF2B5EF4-FFF2-40B4-BE49-F238E27FC236}">
                <a16:creationId xmlns:a16="http://schemas.microsoft.com/office/drawing/2014/main" id="{5776ACBD-4645-43B7-892F-697D57D4952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0CF72FA-BC85-4452-9FD4-6F163D5E4845}" type="slidenum">
              <a:rPr lang="en-US" altLang="en-US" smtClean="0">
                <a:latin typeface="Times New Roman" panose="02020603050405020304" pitchFamily="18" charset="0"/>
              </a:rPr>
              <a:pPr/>
              <a:t>1</a:t>
            </a:fld>
            <a:endParaRPr lang="en-US" altLang="en-US">
              <a:latin typeface="Times New Roman" panose="02020603050405020304" pitchFamily="18" charset="0"/>
            </a:endParaRPr>
          </a:p>
        </p:txBody>
      </p:sp>
      <p:sp>
        <p:nvSpPr>
          <p:cNvPr id="6146" name="Rectangle 2">
            <a:extLst>
              <a:ext uri="{FF2B5EF4-FFF2-40B4-BE49-F238E27FC236}">
                <a16:creationId xmlns:a16="http://schemas.microsoft.com/office/drawing/2014/main" id="{48A88ED8-0C05-4DF8-A678-F55DA039B324}"/>
              </a:ext>
            </a:extLst>
          </p:cNvPr>
          <p:cNvSpPr>
            <a:spLocks noGrp="1" noRot="1" noChangeAspect="1" noChangeArrowheads="1" noTextEdit="1"/>
          </p:cNvSpPr>
          <p:nvPr>
            <p:ph type="sldImg"/>
          </p:nvPr>
        </p:nvSpPr>
        <p:spPr>
          <a:xfrm>
            <a:off x="407988" y="698500"/>
            <a:ext cx="6196012" cy="3486150"/>
          </a:xfrm>
          <a:ln/>
        </p:spPr>
      </p:sp>
      <p:sp>
        <p:nvSpPr>
          <p:cNvPr id="6147" name="Rectangle 3">
            <a:extLst>
              <a:ext uri="{FF2B5EF4-FFF2-40B4-BE49-F238E27FC236}">
                <a16:creationId xmlns:a16="http://schemas.microsoft.com/office/drawing/2014/main" id="{374978C2-165A-418A-AF53-B86870696AE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07C37DC1-75B0-437C-B558-F7618BEA52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348FB69-0E48-4E9C-AE03-1932E61103CC}" type="slidenum">
              <a:rPr lang="en-US" altLang="en-US" smtClean="0">
                <a:latin typeface="Times New Roman" panose="02020603050405020304" pitchFamily="18" charset="0"/>
              </a:rPr>
              <a:pPr/>
              <a:t>2</a:t>
            </a:fld>
            <a:endParaRPr lang="en-US" altLang="en-US">
              <a:latin typeface="Times New Roman" panose="02020603050405020304" pitchFamily="18" charset="0"/>
            </a:endParaRPr>
          </a:p>
        </p:txBody>
      </p:sp>
      <p:sp>
        <p:nvSpPr>
          <p:cNvPr id="8194" name="Rectangle 2">
            <a:extLst>
              <a:ext uri="{FF2B5EF4-FFF2-40B4-BE49-F238E27FC236}">
                <a16:creationId xmlns:a16="http://schemas.microsoft.com/office/drawing/2014/main" id="{CBD12CAE-1E33-4966-A4AF-C743EB5F54C9}"/>
              </a:ext>
            </a:extLst>
          </p:cNvPr>
          <p:cNvSpPr>
            <a:spLocks noGrp="1" noRot="1" noChangeAspect="1" noChangeArrowheads="1" noTextEdit="1"/>
          </p:cNvSpPr>
          <p:nvPr>
            <p:ph type="sldImg"/>
          </p:nvPr>
        </p:nvSpPr>
        <p:spPr>
          <a:xfrm>
            <a:off x="407988" y="698500"/>
            <a:ext cx="6196012" cy="3486150"/>
          </a:xfrm>
          <a:ln/>
        </p:spPr>
      </p:sp>
      <p:sp>
        <p:nvSpPr>
          <p:cNvPr id="8195" name="Rectangle 3">
            <a:extLst>
              <a:ext uri="{FF2B5EF4-FFF2-40B4-BE49-F238E27FC236}">
                <a16:creationId xmlns:a16="http://schemas.microsoft.com/office/drawing/2014/main" id="{F276E0F4-3694-46FB-8A08-BB5ADFDD33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a:extLst>
              <a:ext uri="{FF2B5EF4-FFF2-40B4-BE49-F238E27FC236}">
                <a16:creationId xmlns:a16="http://schemas.microsoft.com/office/drawing/2014/main" id="{E2CAD129-07DA-4250-9E2C-D5E1201A6200}"/>
              </a:ext>
            </a:extLst>
          </p:cNvPr>
          <p:cNvSpPr>
            <a:spLocks noGrp="1" noRot="1" noChangeAspect="1" noChangeArrowheads="1" noTextEdit="1"/>
          </p:cNvSpPr>
          <p:nvPr>
            <p:ph type="sldImg"/>
          </p:nvPr>
        </p:nvSpPr>
        <p:spPr>
          <a:xfrm>
            <a:off x="407988" y="698500"/>
            <a:ext cx="6196012" cy="3486150"/>
          </a:xfrm>
          <a:ln/>
        </p:spPr>
      </p:sp>
      <p:sp>
        <p:nvSpPr>
          <p:cNvPr id="10242" name="Rectangle 3">
            <a:extLst>
              <a:ext uri="{FF2B5EF4-FFF2-40B4-BE49-F238E27FC236}">
                <a16:creationId xmlns:a16="http://schemas.microsoft.com/office/drawing/2014/main" id="{164D522C-9A5F-49C1-BD44-A20CC2476EA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a:extLst>
              <a:ext uri="{FF2B5EF4-FFF2-40B4-BE49-F238E27FC236}">
                <a16:creationId xmlns:a16="http://schemas.microsoft.com/office/drawing/2014/main" id="{405F6187-9AEA-4432-A06C-1C71DC909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3A31E14-A3B9-4040-8D31-E2E402615F68}" type="slidenum">
              <a:rPr lang="en-US" altLang="en-US" smtClean="0">
                <a:latin typeface="Times New Roman" panose="02020603050405020304" pitchFamily="18" charset="0"/>
              </a:rPr>
              <a:pPr/>
              <a:t>4</a:t>
            </a:fld>
            <a:endParaRPr lang="en-US" altLang="en-US">
              <a:latin typeface="Times New Roman" panose="02020603050405020304" pitchFamily="18" charset="0"/>
            </a:endParaRPr>
          </a:p>
        </p:txBody>
      </p:sp>
      <p:sp>
        <p:nvSpPr>
          <p:cNvPr id="12290" name="Rectangle 2">
            <a:extLst>
              <a:ext uri="{FF2B5EF4-FFF2-40B4-BE49-F238E27FC236}">
                <a16:creationId xmlns:a16="http://schemas.microsoft.com/office/drawing/2014/main" id="{92AB0F5E-8A1E-4B4A-A2A0-FE71829D0E73}"/>
              </a:ext>
            </a:extLst>
          </p:cNvPr>
          <p:cNvSpPr>
            <a:spLocks noGrp="1" noRot="1" noChangeAspect="1" noChangeArrowheads="1" noTextEdit="1"/>
          </p:cNvSpPr>
          <p:nvPr>
            <p:ph type="sldImg"/>
          </p:nvPr>
        </p:nvSpPr>
        <p:spPr>
          <a:xfrm>
            <a:off x="407988" y="698500"/>
            <a:ext cx="6196012" cy="3486150"/>
          </a:xfrm>
          <a:ln/>
        </p:spPr>
      </p:sp>
      <p:sp>
        <p:nvSpPr>
          <p:cNvPr id="12291" name="Rectangle 3">
            <a:extLst>
              <a:ext uri="{FF2B5EF4-FFF2-40B4-BE49-F238E27FC236}">
                <a16:creationId xmlns:a16="http://schemas.microsoft.com/office/drawing/2014/main" id="{9A7828BA-2BF1-4802-82BB-DA5609DDA8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a:extLst>
              <a:ext uri="{FF2B5EF4-FFF2-40B4-BE49-F238E27FC236}">
                <a16:creationId xmlns:a16="http://schemas.microsoft.com/office/drawing/2014/main" id="{1DCCDE05-0681-4707-90EF-7D1EEA3E3AC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F39FF-FF4B-4DB5-A12B-99992D735DF8}" type="slidenum">
              <a:rPr lang="en-US" altLang="en-US" smtClean="0">
                <a:latin typeface="Times New Roman" panose="02020603050405020304" pitchFamily="18" charset="0"/>
              </a:rPr>
              <a:pPr/>
              <a:t>5</a:t>
            </a:fld>
            <a:endParaRPr lang="en-US" altLang="en-US">
              <a:latin typeface="Times New Roman" panose="02020603050405020304" pitchFamily="18" charset="0"/>
            </a:endParaRPr>
          </a:p>
        </p:txBody>
      </p:sp>
      <p:sp>
        <p:nvSpPr>
          <p:cNvPr id="14338" name="Rectangle 2">
            <a:extLst>
              <a:ext uri="{FF2B5EF4-FFF2-40B4-BE49-F238E27FC236}">
                <a16:creationId xmlns:a16="http://schemas.microsoft.com/office/drawing/2014/main" id="{F0E0EA84-2041-4AE8-806B-3AAE9F7A038C}"/>
              </a:ext>
            </a:extLst>
          </p:cNvPr>
          <p:cNvSpPr>
            <a:spLocks noGrp="1" noRot="1" noChangeAspect="1" noChangeArrowheads="1" noTextEdit="1"/>
          </p:cNvSpPr>
          <p:nvPr>
            <p:ph type="sldImg"/>
          </p:nvPr>
        </p:nvSpPr>
        <p:spPr>
          <a:xfrm>
            <a:off x="407988" y="698500"/>
            <a:ext cx="6196012" cy="3486150"/>
          </a:xfrm>
          <a:ln/>
        </p:spPr>
      </p:sp>
      <p:sp>
        <p:nvSpPr>
          <p:cNvPr id="14339" name="Rectangle 3">
            <a:extLst>
              <a:ext uri="{FF2B5EF4-FFF2-40B4-BE49-F238E27FC236}">
                <a16:creationId xmlns:a16="http://schemas.microsoft.com/office/drawing/2014/main" id="{1DC70842-3A74-4598-A4CA-0474C81F1B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6</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7</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80788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764C6DB2-A3B2-4D18-A415-9F1EB91BC1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59FA64-B840-47E0-A280-D112047F7636}" type="slidenum">
              <a:rPr lang="en-US" altLang="en-US" smtClean="0">
                <a:latin typeface="Times New Roman" panose="02020603050405020304" pitchFamily="18" charset="0"/>
              </a:rPr>
              <a:pPr/>
              <a:t>8</a:t>
            </a:fld>
            <a:endParaRPr lang="en-US" altLang="en-US">
              <a:latin typeface="Times New Roman" panose="02020603050405020304" pitchFamily="18" charset="0"/>
            </a:endParaRPr>
          </a:p>
        </p:txBody>
      </p:sp>
      <p:sp>
        <p:nvSpPr>
          <p:cNvPr id="16386" name="Rectangle 2">
            <a:extLst>
              <a:ext uri="{FF2B5EF4-FFF2-40B4-BE49-F238E27FC236}">
                <a16:creationId xmlns:a16="http://schemas.microsoft.com/office/drawing/2014/main" id="{3E063D3B-C605-4809-885A-65B64372A9F0}"/>
              </a:ext>
            </a:extLst>
          </p:cNvPr>
          <p:cNvSpPr>
            <a:spLocks noGrp="1" noRot="1" noChangeAspect="1" noChangeArrowheads="1" noTextEdit="1"/>
          </p:cNvSpPr>
          <p:nvPr>
            <p:ph type="sldImg"/>
          </p:nvPr>
        </p:nvSpPr>
        <p:spPr>
          <a:xfrm>
            <a:off x="407988" y="698500"/>
            <a:ext cx="6196012" cy="3486150"/>
          </a:xfrm>
          <a:ln/>
        </p:spPr>
      </p:sp>
      <p:sp>
        <p:nvSpPr>
          <p:cNvPr id="16387" name="Rectangle 3">
            <a:extLst>
              <a:ext uri="{FF2B5EF4-FFF2-40B4-BE49-F238E27FC236}">
                <a16:creationId xmlns:a16="http://schemas.microsoft.com/office/drawing/2014/main" id="{0A0FFA38-D7C5-4747-B0EF-688A1B1056D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2146119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7">
            <a:extLst>
              <a:ext uri="{FF2B5EF4-FFF2-40B4-BE49-F238E27FC236}">
                <a16:creationId xmlns:a16="http://schemas.microsoft.com/office/drawing/2014/main" id="{A01F25CF-FF7D-432D-AEB3-6710154153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2593EA-83E9-49DF-9A69-061BE7580B7A}" type="slidenum">
              <a:rPr lang="en-US" altLang="en-US" smtClean="0">
                <a:latin typeface="Times New Roman" panose="02020603050405020304" pitchFamily="18" charset="0"/>
              </a:rPr>
              <a:pPr/>
              <a:t>9</a:t>
            </a:fld>
            <a:endParaRPr lang="en-US" altLang="en-US">
              <a:latin typeface="Times New Roman" panose="02020603050405020304" pitchFamily="18" charset="0"/>
            </a:endParaRPr>
          </a:p>
        </p:txBody>
      </p:sp>
      <p:sp>
        <p:nvSpPr>
          <p:cNvPr id="18434" name="Rectangle 2">
            <a:extLst>
              <a:ext uri="{FF2B5EF4-FFF2-40B4-BE49-F238E27FC236}">
                <a16:creationId xmlns:a16="http://schemas.microsoft.com/office/drawing/2014/main" id="{7EBD862C-4A3E-4654-8B80-448A34563F74}"/>
              </a:ext>
            </a:extLst>
          </p:cNvPr>
          <p:cNvSpPr>
            <a:spLocks noGrp="1" noRot="1" noChangeAspect="1" noChangeArrowheads="1" noTextEdit="1"/>
          </p:cNvSpPr>
          <p:nvPr>
            <p:ph type="sldImg"/>
          </p:nvPr>
        </p:nvSpPr>
        <p:spPr>
          <a:xfrm>
            <a:off x="407988" y="698500"/>
            <a:ext cx="6196012" cy="3486150"/>
          </a:xfrm>
          <a:ln/>
        </p:spPr>
      </p:sp>
      <p:sp>
        <p:nvSpPr>
          <p:cNvPr id="18435" name="Rectangle 3">
            <a:extLst>
              <a:ext uri="{FF2B5EF4-FFF2-40B4-BE49-F238E27FC236}">
                <a16:creationId xmlns:a16="http://schemas.microsoft.com/office/drawing/2014/main" id="{25E9679F-2A37-45A8-BEFD-99A55604463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a:extLst>
              <a:ext uri="{FF2B5EF4-FFF2-40B4-BE49-F238E27FC236}">
                <a16:creationId xmlns:a16="http://schemas.microsoft.com/office/drawing/2014/main" id="{4449CF17-6DE0-42A8-AF6D-65582A8B779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1DD403B-DC2E-496B-BDE4-8AC536A45743}" type="slidenum">
              <a:rPr lang="en-US" altLang="en-US" smtClean="0">
                <a:latin typeface="Times New Roman" panose="02020603050405020304" pitchFamily="18" charset="0"/>
              </a:rPr>
              <a:pPr/>
              <a:t>10</a:t>
            </a:fld>
            <a:endParaRPr lang="en-US" altLang="en-US">
              <a:latin typeface="Times New Roman" panose="02020603050405020304" pitchFamily="18" charset="0"/>
            </a:endParaRPr>
          </a:p>
        </p:txBody>
      </p:sp>
      <p:sp>
        <p:nvSpPr>
          <p:cNvPr id="20482" name="Rectangle 2">
            <a:extLst>
              <a:ext uri="{FF2B5EF4-FFF2-40B4-BE49-F238E27FC236}">
                <a16:creationId xmlns:a16="http://schemas.microsoft.com/office/drawing/2014/main" id="{51D3904E-C473-48EE-9DE3-D37AD52B1BE1}"/>
              </a:ext>
            </a:extLst>
          </p:cNvPr>
          <p:cNvSpPr>
            <a:spLocks noGrp="1" noRot="1" noChangeAspect="1" noChangeArrowheads="1" noTextEdit="1"/>
          </p:cNvSpPr>
          <p:nvPr>
            <p:ph type="sldImg"/>
          </p:nvPr>
        </p:nvSpPr>
        <p:spPr>
          <a:xfrm>
            <a:off x="407988" y="698500"/>
            <a:ext cx="6196012" cy="3486150"/>
          </a:xfrm>
          <a:ln/>
        </p:spPr>
      </p:sp>
      <p:sp>
        <p:nvSpPr>
          <p:cNvPr id="20483" name="Rectangle 3">
            <a:extLst>
              <a:ext uri="{FF2B5EF4-FFF2-40B4-BE49-F238E27FC236}">
                <a16:creationId xmlns:a16="http://schemas.microsoft.com/office/drawing/2014/main" id="{26B73BA7-C0AE-4B26-9EE2-89053DF39E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a:extLst>
              <a:ext uri="{FF2B5EF4-FFF2-40B4-BE49-F238E27FC236}">
                <a16:creationId xmlns:a16="http://schemas.microsoft.com/office/drawing/2014/main" id="{782373FB-7979-43C3-9CD1-428D9B5060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982816C-CEF7-47A7-92DB-2D0700EC55E4}" type="slidenum">
              <a:rPr lang="en-US" altLang="en-US" smtClean="0">
                <a:latin typeface="Times New Roman" panose="02020603050405020304" pitchFamily="18" charset="0"/>
              </a:rPr>
              <a:pPr/>
              <a:t>11</a:t>
            </a:fld>
            <a:endParaRPr lang="en-US" altLang="en-US">
              <a:latin typeface="Times New Roman" panose="02020603050405020304" pitchFamily="18" charset="0"/>
            </a:endParaRPr>
          </a:p>
        </p:txBody>
      </p:sp>
      <p:sp>
        <p:nvSpPr>
          <p:cNvPr id="22530" name="Rectangle 2">
            <a:extLst>
              <a:ext uri="{FF2B5EF4-FFF2-40B4-BE49-F238E27FC236}">
                <a16:creationId xmlns:a16="http://schemas.microsoft.com/office/drawing/2014/main" id="{DD50E9C8-67EF-4556-969A-2795FF144239}"/>
              </a:ext>
            </a:extLst>
          </p:cNvPr>
          <p:cNvSpPr>
            <a:spLocks noGrp="1" noRot="1" noChangeAspect="1" noChangeArrowheads="1" noTextEdit="1"/>
          </p:cNvSpPr>
          <p:nvPr>
            <p:ph type="sldImg"/>
          </p:nvPr>
        </p:nvSpPr>
        <p:spPr>
          <a:xfrm>
            <a:off x="407988" y="698500"/>
            <a:ext cx="6196012" cy="3486150"/>
          </a:xfrm>
          <a:ln/>
        </p:spPr>
      </p:sp>
      <p:sp>
        <p:nvSpPr>
          <p:cNvPr id="22531" name="Rectangle 3">
            <a:extLst>
              <a:ext uri="{FF2B5EF4-FFF2-40B4-BE49-F238E27FC236}">
                <a16:creationId xmlns:a16="http://schemas.microsoft.com/office/drawing/2014/main" id="{5BF3A816-A617-46B9-9536-0B761391AA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a:extLst>
              <a:ext uri="{FF2B5EF4-FFF2-40B4-BE49-F238E27FC236}">
                <a16:creationId xmlns:a16="http://schemas.microsoft.com/office/drawing/2014/main" id="{4D8F9928-8869-45F7-BA42-5A488A3E1B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85554BC-4E9D-46F3-8CDA-F7DF99B87F74}" type="slidenum">
              <a:rPr lang="en-US" altLang="en-US" smtClean="0">
                <a:latin typeface="Times New Roman" panose="02020603050405020304" pitchFamily="18" charset="0"/>
              </a:rPr>
              <a:pPr/>
              <a:t>12</a:t>
            </a:fld>
            <a:endParaRPr lang="en-US" altLang="en-US">
              <a:latin typeface="Times New Roman" panose="02020603050405020304" pitchFamily="18" charset="0"/>
            </a:endParaRPr>
          </a:p>
        </p:txBody>
      </p:sp>
      <p:sp>
        <p:nvSpPr>
          <p:cNvPr id="24578" name="Rectangle 2">
            <a:extLst>
              <a:ext uri="{FF2B5EF4-FFF2-40B4-BE49-F238E27FC236}">
                <a16:creationId xmlns:a16="http://schemas.microsoft.com/office/drawing/2014/main" id="{D40412E3-E257-462F-AEEC-27F4A0E78CD6}"/>
              </a:ext>
            </a:extLst>
          </p:cNvPr>
          <p:cNvSpPr>
            <a:spLocks noGrp="1" noRot="1" noChangeAspect="1" noChangeArrowheads="1" noTextEdit="1"/>
          </p:cNvSpPr>
          <p:nvPr>
            <p:ph type="sldImg"/>
          </p:nvPr>
        </p:nvSpPr>
        <p:spPr>
          <a:xfrm>
            <a:off x="407988" y="698500"/>
            <a:ext cx="6196012" cy="3486150"/>
          </a:xfrm>
          <a:ln/>
        </p:spPr>
      </p:sp>
      <p:sp>
        <p:nvSpPr>
          <p:cNvPr id="24579" name="Rectangle 3">
            <a:extLst>
              <a:ext uri="{FF2B5EF4-FFF2-40B4-BE49-F238E27FC236}">
                <a16:creationId xmlns:a16="http://schemas.microsoft.com/office/drawing/2014/main" id="{1D67F792-BDD9-43A7-AAE4-80F3F09C959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a:extLst>
              <a:ext uri="{FF2B5EF4-FFF2-40B4-BE49-F238E27FC236}">
                <a16:creationId xmlns:a16="http://schemas.microsoft.com/office/drawing/2014/main" id="{5BA74056-F347-47E7-8F80-E67498FF6C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D2E19D3-36AF-42FB-A3BF-7AE756C80D6F}" type="slidenum">
              <a:rPr lang="en-US" altLang="en-US" smtClean="0">
                <a:latin typeface="Times New Roman" panose="02020603050405020304" pitchFamily="18" charset="0"/>
              </a:rPr>
              <a:pPr/>
              <a:t>13</a:t>
            </a:fld>
            <a:endParaRPr lang="en-US" altLang="en-US">
              <a:latin typeface="Times New Roman" panose="02020603050405020304" pitchFamily="18" charset="0"/>
            </a:endParaRPr>
          </a:p>
        </p:txBody>
      </p:sp>
      <p:sp>
        <p:nvSpPr>
          <p:cNvPr id="26626" name="Rectangle 2">
            <a:extLst>
              <a:ext uri="{FF2B5EF4-FFF2-40B4-BE49-F238E27FC236}">
                <a16:creationId xmlns:a16="http://schemas.microsoft.com/office/drawing/2014/main" id="{EBB136E9-59A5-44E7-9BD0-1637A76BE655}"/>
              </a:ext>
            </a:extLst>
          </p:cNvPr>
          <p:cNvSpPr>
            <a:spLocks noGrp="1" noRot="1" noChangeAspect="1" noChangeArrowheads="1" noTextEdit="1"/>
          </p:cNvSpPr>
          <p:nvPr>
            <p:ph type="sldImg"/>
          </p:nvPr>
        </p:nvSpPr>
        <p:spPr>
          <a:xfrm>
            <a:off x="407988" y="698500"/>
            <a:ext cx="6196012" cy="3486150"/>
          </a:xfrm>
          <a:ln/>
        </p:spPr>
      </p:sp>
      <p:sp>
        <p:nvSpPr>
          <p:cNvPr id="26627" name="Rectangle 3">
            <a:extLst>
              <a:ext uri="{FF2B5EF4-FFF2-40B4-BE49-F238E27FC236}">
                <a16:creationId xmlns:a16="http://schemas.microsoft.com/office/drawing/2014/main" id="{4EED1A63-8694-46B7-9400-1442886D340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14</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57542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F0CF323B-A7F0-1F69-5C3C-CE614F6202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623">
              <a:defRPr>
                <a:solidFill>
                  <a:schemeClr val="tx1"/>
                </a:solidFill>
                <a:latin typeface="Verdana" panose="020B0604030504040204" pitchFamily="34" charset="0"/>
                <a:ea typeface="ＭＳ Ｐゴシック" panose="020B0600070205080204" pitchFamily="34" charset="-128"/>
              </a:defRPr>
            </a:lvl1pPr>
            <a:lvl2pPr marL="736041" indent="-283093" defTabSz="921623">
              <a:defRPr>
                <a:solidFill>
                  <a:schemeClr val="tx1"/>
                </a:solidFill>
                <a:latin typeface="Verdana" panose="020B0604030504040204" pitchFamily="34" charset="0"/>
                <a:ea typeface="ＭＳ Ｐゴシック" panose="020B0600070205080204" pitchFamily="34" charset="-128"/>
              </a:defRPr>
            </a:lvl2pPr>
            <a:lvl3pPr marL="1132370" indent="-226474" defTabSz="921623">
              <a:defRPr>
                <a:solidFill>
                  <a:schemeClr val="tx1"/>
                </a:solidFill>
                <a:latin typeface="Verdana" panose="020B0604030504040204" pitchFamily="34" charset="0"/>
                <a:ea typeface="ＭＳ Ｐゴシック" panose="020B0600070205080204" pitchFamily="34" charset="-128"/>
              </a:defRPr>
            </a:lvl3pPr>
            <a:lvl4pPr marL="1585318" indent="-226474" defTabSz="921623">
              <a:defRPr>
                <a:solidFill>
                  <a:schemeClr val="tx1"/>
                </a:solidFill>
                <a:latin typeface="Verdana" panose="020B0604030504040204" pitchFamily="34" charset="0"/>
                <a:ea typeface="ＭＳ Ｐゴシック" panose="020B0600070205080204" pitchFamily="34" charset="-128"/>
              </a:defRPr>
            </a:lvl4pPr>
            <a:lvl5pPr marL="2038266" indent="-226474" defTabSz="921623">
              <a:defRPr>
                <a:solidFill>
                  <a:schemeClr val="tx1"/>
                </a:solidFill>
                <a:latin typeface="Verdana" panose="020B0604030504040204" pitchFamily="34" charset="0"/>
                <a:ea typeface="ＭＳ Ｐゴシック" panose="020B0600070205080204" pitchFamily="34" charset="-128"/>
              </a:defRPr>
            </a:lvl5pPr>
            <a:lvl6pPr marL="2491214"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44162"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397110"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50058"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6A335375-C64E-4164-B5D2-D26A587685C4}" type="slidenum">
              <a:rPr lang="en-US" altLang="en-US">
                <a:latin typeface="Times New Roman" panose="02020603050405020304" pitchFamily="18" charset="0"/>
              </a:rPr>
              <a:pPr/>
              <a:t>15</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A6C2F077-3D44-2645-E72C-C592F64A5CBE}"/>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6652A410-FF55-AD1E-F056-87DE8E24FB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8D3F8145-B03E-097A-532D-B9EAC33E17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1623">
              <a:defRPr>
                <a:solidFill>
                  <a:schemeClr val="tx1"/>
                </a:solidFill>
                <a:latin typeface="Verdana" panose="020B0604030504040204" pitchFamily="34" charset="0"/>
                <a:ea typeface="ＭＳ Ｐゴシック" panose="020B0600070205080204" pitchFamily="34" charset="-128"/>
              </a:defRPr>
            </a:lvl1pPr>
            <a:lvl2pPr marL="736041" indent="-283093" defTabSz="921623">
              <a:defRPr>
                <a:solidFill>
                  <a:schemeClr val="tx1"/>
                </a:solidFill>
                <a:latin typeface="Verdana" panose="020B0604030504040204" pitchFamily="34" charset="0"/>
                <a:ea typeface="ＭＳ Ｐゴシック" panose="020B0600070205080204" pitchFamily="34" charset="-128"/>
              </a:defRPr>
            </a:lvl2pPr>
            <a:lvl3pPr marL="1132370" indent="-226474" defTabSz="921623">
              <a:defRPr>
                <a:solidFill>
                  <a:schemeClr val="tx1"/>
                </a:solidFill>
                <a:latin typeface="Verdana" panose="020B0604030504040204" pitchFamily="34" charset="0"/>
                <a:ea typeface="ＭＳ Ｐゴシック" panose="020B0600070205080204" pitchFamily="34" charset="-128"/>
              </a:defRPr>
            </a:lvl3pPr>
            <a:lvl4pPr marL="1585318" indent="-226474" defTabSz="921623">
              <a:defRPr>
                <a:solidFill>
                  <a:schemeClr val="tx1"/>
                </a:solidFill>
                <a:latin typeface="Verdana" panose="020B0604030504040204" pitchFamily="34" charset="0"/>
                <a:ea typeface="ＭＳ Ｐゴシック" panose="020B0600070205080204" pitchFamily="34" charset="-128"/>
              </a:defRPr>
            </a:lvl4pPr>
            <a:lvl5pPr marL="2038266" indent="-226474" defTabSz="921623">
              <a:defRPr>
                <a:solidFill>
                  <a:schemeClr val="tx1"/>
                </a:solidFill>
                <a:latin typeface="Verdana" panose="020B0604030504040204" pitchFamily="34" charset="0"/>
                <a:ea typeface="ＭＳ Ｐゴシック" panose="020B0600070205080204" pitchFamily="34" charset="-128"/>
              </a:defRPr>
            </a:lvl5pPr>
            <a:lvl6pPr marL="2491214"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44162"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397110"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50058" indent="-226474" defTabSz="921623"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fld id="{53F0F713-7C94-44AF-9D31-90DE17C8EE35}" type="slidenum">
              <a:rPr lang="en-US" altLang="en-US">
                <a:latin typeface="Times New Roman" panose="02020603050405020304" pitchFamily="18" charset="0"/>
              </a:rPr>
              <a:pPr/>
              <a:t>16</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C7C7A6FB-2993-0B43-CB09-B7934F3E90AA}"/>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56C0C258-262B-78BC-8EC7-C3207058587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a:extLst>
              <a:ext uri="{FF2B5EF4-FFF2-40B4-BE49-F238E27FC236}">
                <a16:creationId xmlns:a16="http://schemas.microsoft.com/office/drawing/2014/main" id="{4C2245F4-0687-48BF-BF76-797F8BC2AC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99B002-221E-4ACE-82C8-ADA61FD05C07}" type="slidenum">
              <a:rPr lang="en-US" altLang="en-US" smtClean="0">
                <a:latin typeface="Times New Roman" panose="02020603050405020304" pitchFamily="18" charset="0"/>
              </a:rPr>
              <a:pPr/>
              <a:t>17</a:t>
            </a:fld>
            <a:endParaRPr lang="en-US" altLang="en-US">
              <a:latin typeface="Times New Roman" panose="02020603050405020304" pitchFamily="18" charset="0"/>
            </a:endParaRPr>
          </a:p>
        </p:txBody>
      </p:sp>
      <p:sp>
        <p:nvSpPr>
          <p:cNvPr id="38914" name="Rectangle 2">
            <a:extLst>
              <a:ext uri="{FF2B5EF4-FFF2-40B4-BE49-F238E27FC236}">
                <a16:creationId xmlns:a16="http://schemas.microsoft.com/office/drawing/2014/main" id="{2946022D-15EE-4829-ABB0-2302B5FB73E7}"/>
              </a:ext>
            </a:extLst>
          </p:cNvPr>
          <p:cNvSpPr>
            <a:spLocks noGrp="1" noRot="1" noChangeAspect="1" noChangeArrowheads="1" noTextEdit="1"/>
          </p:cNvSpPr>
          <p:nvPr>
            <p:ph type="sldImg"/>
          </p:nvPr>
        </p:nvSpPr>
        <p:spPr>
          <a:xfrm>
            <a:off x="407988" y="698500"/>
            <a:ext cx="6196012" cy="3486150"/>
          </a:xfrm>
          <a:ln/>
        </p:spPr>
      </p:sp>
      <p:sp>
        <p:nvSpPr>
          <p:cNvPr id="38915" name="Rectangle 3">
            <a:extLst>
              <a:ext uri="{FF2B5EF4-FFF2-40B4-BE49-F238E27FC236}">
                <a16:creationId xmlns:a16="http://schemas.microsoft.com/office/drawing/2014/main" id="{833E1FE6-F684-4288-B04E-1699B856B6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980054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a:extLst>
              <a:ext uri="{FF2B5EF4-FFF2-40B4-BE49-F238E27FC236}">
                <a16:creationId xmlns:a16="http://schemas.microsoft.com/office/drawing/2014/main" id="{7DB04AC4-9FA4-4B81-A2E4-1E6AFD4EE9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1B5580B-1301-4E06-BEA8-C7B0DE30B0A7}" type="slidenum">
              <a:rPr lang="en-US" altLang="en-US" smtClean="0">
                <a:latin typeface="Times New Roman" panose="02020603050405020304" pitchFamily="18" charset="0"/>
              </a:rPr>
              <a:pPr/>
              <a:t>18</a:t>
            </a:fld>
            <a:endParaRPr lang="en-US" altLang="en-US">
              <a:latin typeface="Times New Roman" panose="02020603050405020304" pitchFamily="18" charset="0"/>
            </a:endParaRPr>
          </a:p>
        </p:txBody>
      </p:sp>
      <p:sp>
        <p:nvSpPr>
          <p:cNvPr id="32770" name="Rectangle 2">
            <a:extLst>
              <a:ext uri="{FF2B5EF4-FFF2-40B4-BE49-F238E27FC236}">
                <a16:creationId xmlns:a16="http://schemas.microsoft.com/office/drawing/2014/main" id="{3F57FD02-2058-4DC0-B613-AD0294133A65}"/>
              </a:ext>
            </a:extLst>
          </p:cNvPr>
          <p:cNvSpPr>
            <a:spLocks noGrp="1" noRot="1" noChangeAspect="1" noChangeArrowheads="1" noTextEdit="1"/>
          </p:cNvSpPr>
          <p:nvPr>
            <p:ph type="sldImg"/>
          </p:nvPr>
        </p:nvSpPr>
        <p:spPr>
          <a:xfrm>
            <a:off x="407988" y="698500"/>
            <a:ext cx="6196012" cy="3486150"/>
          </a:xfrm>
          <a:ln/>
        </p:spPr>
      </p:sp>
      <p:sp>
        <p:nvSpPr>
          <p:cNvPr id="32771" name="Rectangle 3">
            <a:extLst>
              <a:ext uri="{FF2B5EF4-FFF2-40B4-BE49-F238E27FC236}">
                <a16:creationId xmlns:a16="http://schemas.microsoft.com/office/drawing/2014/main" id="{D6CEFB33-83BB-47AD-B7F4-C32DEBB57EE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a:extLst>
              <a:ext uri="{FF2B5EF4-FFF2-40B4-BE49-F238E27FC236}">
                <a16:creationId xmlns:a16="http://schemas.microsoft.com/office/drawing/2014/main" id="{9A34A2FC-C15D-4B2F-88BE-311A926B19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B7BE9DC-710B-4B65-BCCD-8107D53BC9BE}" type="slidenum">
              <a:rPr lang="en-US" altLang="en-US" smtClean="0">
                <a:latin typeface="Times New Roman" panose="02020603050405020304" pitchFamily="18" charset="0"/>
              </a:rPr>
              <a:pPr/>
              <a:t>19</a:t>
            </a:fld>
            <a:endParaRPr lang="en-US" altLang="en-US">
              <a:latin typeface="Times New Roman" panose="02020603050405020304" pitchFamily="18" charset="0"/>
            </a:endParaRPr>
          </a:p>
        </p:txBody>
      </p:sp>
      <p:sp>
        <p:nvSpPr>
          <p:cNvPr id="34818" name="Rectangle 2">
            <a:extLst>
              <a:ext uri="{FF2B5EF4-FFF2-40B4-BE49-F238E27FC236}">
                <a16:creationId xmlns:a16="http://schemas.microsoft.com/office/drawing/2014/main" id="{BE8EDEDD-05A4-4AB1-9D21-B8FD2F4A5551}"/>
              </a:ext>
            </a:extLst>
          </p:cNvPr>
          <p:cNvSpPr>
            <a:spLocks noGrp="1" noRot="1" noChangeAspect="1" noChangeArrowheads="1" noTextEdit="1"/>
          </p:cNvSpPr>
          <p:nvPr>
            <p:ph type="sldImg"/>
          </p:nvPr>
        </p:nvSpPr>
        <p:spPr>
          <a:xfrm>
            <a:off x="407988" y="698500"/>
            <a:ext cx="6196012" cy="3486150"/>
          </a:xfrm>
          <a:ln/>
        </p:spPr>
      </p:sp>
      <p:sp>
        <p:nvSpPr>
          <p:cNvPr id="34819" name="Rectangle 3">
            <a:extLst>
              <a:ext uri="{FF2B5EF4-FFF2-40B4-BE49-F238E27FC236}">
                <a16:creationId xmlns:a16="http://schemas.microsoft.com/office/drawing/2014/main" id="{5221A250-5591-4686-8986-7D36991F88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89ACFED5-FEE9-4052-81A1-4F4ACC8A40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6F1106F-71C9-45B5-A785-D6B08923631A}" type="slidenum">
              <a:rPr lang="en-US" altLang="en-US" smtClean="0">
                <a:latin typeface="Times New Roman" panose="02020603050405020304" pitchFamily="18" charset="0"/>
              </a:rPr>
              <a:pPr/>
              <a:t>20</a:t>
            </a:fld>
            <a:endParaRPr lang="en-US" altLang="en-US">
              <a:latin typeface="Times New Roman" panose="02020603050405020304" pitchFamily="18" charset="0"/>
            </a:endParaRPr>
          </a:p>
        </p:txBody>
      </p:sp>
      <p:sp>
        <p:nvSpPr>
          <p:cNvPr id="36866" name="Rectangle 2">
            <a:extLst>
              <a:ext uri="{FF2B5EF4-FFF2-40B4-BE49-F238E27FC236}">
                <a16:creationId xmlns:a16="http://schemas.microsoft.com/office/drawing/2014/main" id="{FB4DEBF9-633C-48A9-B2B4-116F70BEBD63}"/>
              </a:ext>
            </a:extLst>
          </p:cNvPr>
          <p:cNvSpPr>
            <a:spLocks noGrp="1" noRot="1" noChangeAspect="1" noChangeArrowheads="1" noTextEdit="1"/>
          </p:cNvSpPr>
          <p:nvPr>
            <p:ph type="sldImg"/>
          </p:nvPr>
        </p:nvSpPr>
        <p:spPr>
          <a:xfrm>
            <a:off x="407988" y="698500"/>
            <a:ext cx="6196012" cy="3486150"/>
          </a:xfrm>
          <a:ln/>
        </p:spPr>
      </p:sp>
      <p:sp>
        <p:nvSpPr>
          <p:cNvPr id="36867" name="Rectangle 3">
            <a:extLst>
              <a:ext uri="{FF2B5EF4-FFF2-40B4-BE49-F238E27FC236}">
                <a16:creationId xmlns:a16="http://schemas.microsoft.com/office/drawing/2014/main" id="{250F3D6F-9310-4C8C-BB98-4172C6D545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a:extLst>
              <a:ext uri="{FF2B5EF4-FFF2-40B4-BE49-F238E27FC236}">
                <a16:creationId xmlns:a16="http://schemas.microsoft.com/office/drawing/2014/main" id="{B1A60390-627A-4274-847E-47EB6019028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7320C0-8E4B-4B1E-A830-FE5886CA5D53}" type="slidenum">
              <a:rPr lang="en-US" altLang="en-US" smtClean="0">
                <a:latin typeface="Times New Roman" panose="02020603050405020304" pitchFamily="18" charset="0"/>
              </a:rPr>
              <a:pPr/>
              <a:t>21</a:t>
            </a:fld>
            <a:endParaRPr lang="en-US"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EA2463C4-B80E-4B8C-85AE-C8401A286E77}"/>
              </a:ext>
            </a:extLst>
          </p:cNvPr>
          <p:cNvSpPr>
            <a:spLocks noGrp="1" noRot="1" noChangeAspect="1" noChangeArrowheads="1" noTextEdit="1"/>
          </p:cNvSpPr>
          <p:nvPr>
            <p:ph type="sldImg"/>
          </p:nvPr>
        </p:nvSpPr>
        <p:spPr>
          <a:xfrm>
            <a:off x="407988" y="698500"/>
            <a:ext cx="6196012" cy="3486150"/>
          </a:xfrm>
          <a:ln/>
        </p:spPr>
      </p:sp>
      <p:sp>
        <p:nvSpPr>
          <p:cNvPr id="28675" name="Rectangle 3">
            <a:extLst>
              <a:ext uri="{FF2B5EF4-FFF2-40B4-BE49-F238E27FC236}">
                <a16:creationId xmlns:a16="http://schemas.microsoft.com/office/drawing/2014/main" id="{4309114D-ADAD-450C-8806-B9C750BE9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832233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a:extLst>
              <a:ext uri="{FF2B5EF4-FFF2-40B4-BE49-F238E27FC236}">
                <a16:creationId xmlns:a16="http://schemas.microsoft.com/office/drawing/2014/main" id="{7EFF896D-4723-4270-B5CE-3EAC199293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4057CCE-FB24-4DCD-B59A-EF29E3EC48F5}" type="slidenum">
              <a:rPr lang="en-US" altLang="en-US" smtClean="0">
                <a:latin typeface="Times New Roman" panose="02020603050405020304" pitchFamily="18" charset="0"/>
              </a:rPr>
              <a:pPr/>
              <a:t>22</a:t>
            </a:fld>
            <a:endParaRPr lang="en-US" altLang="en-US">
              <a:latin typeface="Times New Roman" panose="02020603050405020304" pitchFamily="18" charset="0"/>
            </a:endParaRPr>
          </a:p>
        </p:txBody>
      </p:sp>
      <p:sp>
        <p:nvSpPr>
          <p:cNvPr id="40962" name="Rectangle 2">
            <a:extLst>
              <a:ext uri="{FF2B5EF4-FFF2-40B4-BE49-F238E27FC236}">
                <a16:creationId xmlns:a16="http://schemas.microsoft.com/office/drawing/2014/main" id="{13E74FC7-08E4-41EE-B8E9-4784734F4560}"/>
              </a:ext>
            </a:extLst>
          </p:cNvPr>
          <p:cNvSpPr>
            <a:spLocks noGrp="1" noRot="1" noChangeAspect="1" noChangeArrowheads="1" noTextEdit="1"/>
          </p:cNvSpPr>
          <p:nvPr>
            <p:ph type="sldImg"/>
          </p:nvPr>
        </p:nvSpPr>
        <p:spPr>
          <a:xfrm>
            <a:off x="407988" y="698500"/>
            <a:ext cx="6196012" cy="3486150"/>
          </a:xfrm>
          <a:ln/>
        </p:spPr>
      </p:sp>
      <p:sp>
        <p:nvSpPr>
          <p:cNvPr id="40963" name="Rectangle 3">
            <a:extLst>
              <a:ext uri="{FF2B5EF4-FFF2-40B4-BE49-F238E27FC236}">
                <a16:creationId xmlns:a16="http://schemas.microsoft.com/office/drawing/2014/main" id="{ADA6752C-0B00-4DE8-BC1B-ED685E73B9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38BED452-4AFF-4E3B-8BDB-D1CDFE41C83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E953E37-7182-4EB1-8FE4-F2B2E6FF161A}" type="slidenum">
              <a:rPr lang="en-US" altLang="en-US" smtClean="0">
                <a:latin typeface="Times New Roman" panose="02020603050405020304" pitchFamily="18" charset="0"/>
              </a:rPr>
              <a:pPr/>
              <a:t>23</a:t>
            </a:fld>
            <a:endParaRPr lang="en-US" altLang="en-US">
              <a:latin typeface="Times New Roman" panose="02020603050405020304" pitchFamily="18" charset="0"/>
            </a:endParaRPr>
          </a:p>
        </p:txBody>
      </p:sp>
      <p:sp>
        <p:nvSpPr>
          <p:cNvPr id="43010" name="Rectangle 2">
            <a:extLst>
              <a:ext uri="{FF2B5EF4-FFF2-40B4-BE49-F238E27FC236}">
                <a16:creationId xmlns:a16="http://schemas.microsoft.com/office/drawing/2014/main" id="{B321B815-8EF8-44E7-95DE-2501AEDAD0FE}"/>
              </a:ext>
            </a:extLst>
          </p:cNvPr>
          <p:cNvSpPr>
            <a:spLocks noGrp="1" noRot="1" noChangeAspect="1" noChangeArrowheads="1" noTextEdit="1"/>
          </p:cNvSpPr>
          <p:nvPr>
            <p:ph type="sldImg"/>
          </p:nvPr>
        </p:nvSpPr>
        <p:spPr>
          <a:xfrm>
            <a:off x="407988" y="698500"/>
            <a:ext cx="6196012" cy="3486150"/>
          </a:xfrm>
          <a:ln/>
        </p:spPr>
      </p:sp>
      <p:sp>
        <p:nvSpPr>
          <p:cNvPr id="43011" name="Rectangle 3">
            <a:extLst>
              <a:ext uri="{FF2B5EF4-FFF2-40B4-BE49-F238E27FC236}">
                <a16:creationId xmlns:a16="http://schemas.microsoft.com/office/drawing/2014/main" id="{EE4E2E56-FB91-48A2-96D3-B738321EA95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a:extLst>
              <a:ext uri="{FF2B5EF4-FFF2-40B4-BE49-F238E27FC236}">
                <a16:creationId xmlns:a16="http://schemas.microsoft.com/office/drawing/2014/main" id="{C1EC5355-B083-4702-ABF4-E2BCA09291B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F2CFA1-F1C4-4CAE-A60E-FA4BA9406BF9}" type="slidenum">
              <a:rPr lang="en-US" altLang="en-US" smtClean="0">
                <a:latin typeface="Times New Roman" panose="02020603050405020304" pitchFamily="18" charset="0"/>
              </a:rPr>
              <a:pPr/>
              <a:t>24</a:t>
            </a:fld>
            <a:endParaRPr lang="en-US" altLang="en-US">
              <a:latin typeface="Times New Roman" panose="02020603050405020304" pitchFamily="18" charset="0"/>
            </a:endParaRPr>
          </a:p>
        </p:txBody>
      </p:sp>
      <p:sp>
        <p:nvSpPr>
          <p:cNvPr id="45058" name="Rectangle 2">
            <a:extLst>
              <a:ext uri="{FF2B5EF4-FFF2-40B4-BE49-F238E27FC236}">
                <a16:creationId xmlns:a16="http://schemas.microsoft.com/office/drawing/2014/main" id="{F745C6AB-0ABB-4D15-945B-36AE7232EF99}"/>
              </a:ext>
            </a:extLst>
          </p:cNvPr>
          <p:cNvSpPr>
            <a:spLocks noGrp="1" noRot="1" noChangeAspect="1" noChangeArrowheads="1" noTextEdit="1"/>
          </p:cNvSpPr>
          <p:nvPr>
            <p:ph type="sldImg"/>
          </p:nvPr>
        </p:nvSpPr>
        <p:spPr>
          <a:xfrm>
            <a:off x="407988" y="698500"/>
            <a:ext cx="6196012" cy="3486150"/>
          </a:xfrm>
          <a:ln/>
        </p:spPr>
      </p:sp>
      <p:sp>
        <p:nvSpPr>
          <p:cNvPr id="45059" name="Rectangle 3">
            <a:extLst>
              <a:ext uri="{FF2B5EF4-FFF2-40B4-BE49-F238E27FC236}">
                <a16:creationId xmlns:a16="http://schemas.microsoft.com/office/drawing/2014/main" id="{C1561A3E-BDF2-4110-B38B-723F414272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a:extLst>
              <a:ext uri="{FF2B5EF4-FFF2-40B4-BE49-F238E27FC236}">
                <a16:creationId xmlns:a16="http://schemas.microsoft.com/office/drawing/2014/main" id="{C4542300-0CB6-4A29-9D16-61BA981CC93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A7A2607-C363-42A4-A7E7-0B2A0C05B6FD}" type="slidenum">
              <a:rPr lang="en-US" altLang="en-US" smtClean="0">
                <a:latin typeface="Times New Roman" panose="02020603050405020304" pitchFamily="18" charset="0"/>
              </a:rPr>
              <a:pPr/>
              <a:t>25</a:t>
            </a:fld>
            <a:endParaRPr lang="en-US" altLang="en-US">
              <a:latin typeface="Times New Roman" panose="02020603050405020304" pitchFamily="18" charset="0"/>
            </a:endParaRPr>
          </a:p>
        </p:txBody>
      </p:sp>
      <p:sp>
        <p:nvSpPr>
          <p:cNvPr id="47106" name="Rectangle 2">
            <a:extLst>
              <a:ext uri="{FF2B5EF4-FFF2-40B4-BE49-F238E27FC236}">
                <a16:creationId xmlns:a16="http://schemas.microsoft.com/office/drawing/2014/main" id="{86EC9CC8-78B2-4FF3-AAE4-54ADF392848F}"/>
              </a:ext>
            </a:extLst>
          </p:cNvPr>
          <p:cNvSpPr>
            <a:spLocks noGrp="1" noRot="1" noChangeAspect="1" noChangeArrowheads="1" noTextEdit="1"/>
          </p:cNvSpPr>
          <p:nvPr>
            <p:ph type="sldImg"/>
          </p:nvPr>
        </p:nvSpPr>
        <p:spPr>
          <a:xfrm>
            <a:off x="407988" y="698500"/>
            <a:ext cx="6196012" cy="3486150"/>
          </a:xfrm>
          <a:ln/>
        </p:spPr>
      </p:sp>
      <p:sp>
        <p:nvSpPr>
          <p:cNvPr id="47107" name="Rectangle 3">
            <a:extLst>
              <a:ext uri="{FF2B5EF4-FFF2-40B4-BE49-F238E27FC236}">
                <a16:creationId xmlns:a16="http://schemas.microsoft.com/office/drawing/2014/main" id="{63C3F6B7-CCAA-4E66-935F-A90C69C8639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a:extLst>
              <a:ext uri="{FF2B5EF4-FFF2-40B4-BE49-F238E27FC236}">
                <a16:creationId xmlns:a16="http://schemas.microsoft.com/office/drawing/2014/main" id="{0A17CE6B-6039-43D7-A98A-F4F050EBD80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6B59C17-8BC0-4D12-8CAC-4CF08CD54505}" type="slidenum">
              <a:rPr lang="en-US" altLang="en-US" smtClean="0">
                <a:latin typeface="Times New Roman" panose="02020603050405020304" pitchFamily="18" charset="0"/>
              </a:rPr>
              <a:pPr/>
              <a:t>26</a:t>
            </a:fld>
            <a:endParaRPr lang="en-US"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069692E4-A9F9-42A3-BEE3-5D68069DF06C}"/>
              </a:ext>
            </a:extLst>
          </p:cNvPr>
          <p:cNvSpPr>
            <a:spLocks noGrp="1" noRot="1" noChangeAspect="1" noChangeArrowheads="1" noTextEdit="1"/>
          </p:cNvSpPr>
          <p:nvPr>
            <p:ph type="sldImg"/>
          </p:nvPr>
        </p:nvSpPr>
        <p:spPr>
          <a:xfrm>
            <a:off x="407988" y="698500"/>
            <a:ext cx="6196012" cy="3486150"/>
          </a:xfrm>
          <a:ln/>
        </p:spPr>
      </p:sp>
      <p:sp>
        <p:nvSpPr>
          <p:cNvPr id="49155" name="Rectangle 3">
            <a:extLst>
              <a:ext uri="{FF2B5EF4-FFF2-40B4-BE49-F238E27FC236}">
                <a16:creationId xmlns:a16="http://schemas.microsoft.com/office/drawing/2014/main" id="{F137D665-2B0C-4C02-9EBA-DAA2DE83B21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a:extLst>
              <a:ext uri="{FF2B5EF4-FFF2-40B4-BE49-F238E27FC236}">
                <a16:creationId xmlns:a16="http://schemas.microsoft.com/office/drawing/2014/main" id="{469870DE-ED07-4369-A35C-886FE9BF9D3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753270A-71CB-4C96-9EF2-586D51F6CA41}" type="slidenum">
              <a:rPr lang="en-US" altLang="en-US" smtClean="0">
                <a:latin typeface="Times New Roman" panose="02020603050405020304" pitchFamily="18" charset="0"/>
              </a:rPr>
              <a:pPr/>
              <a:t>27</a:t>
            </a:fld>
            <a:endParaRPr lang="en-US" altLang="en-US">
              <a:latin typeface="Times New Roman" panose="02020603050405020304" pitchFamily="18" charset="0"/>
            </a:endParaRPr>
          </a:p>
        </p:txBody>
      </p:sp>
      <p:sp>
        <p:nvSpPr>
          <p:cNvPr id="51202" name="Rectangle 2">
            <a:extLst>
              <a:ext uri="{FF2B5EF4-FFF2-40B4-BE49-F238E27FC236}">
                <a16:creationId xmlns:a16="http://schemas.microsoft.com/office/drawing/2014/main" id="{709C325C-9D3C-44A6-8500-BB6A220D2BE0}"/>
              </a:ext>
            </a:extLst>
          </p:cNvPr>
          <p:cNvSpPr>
            <a:spLocks noGrp="1" noRot="1" noChangeAspect="1" noChangeArrowheads="1" noTextEdit="1"/>
          </p:cNvSpPr>
          <p:nvPr>
            <p:ph type="sldImg"/>
          </p:nvPr>
        </p:nvSpPr>
        <p:spPr>
          <a:xfrm>
            <a:off x="407988" y="698500"/>
            <a:ext cx="6196012" cy="3486150"/>
          </a:xfrm>
          <a:ln/>
        </p:spPr>
      </p:sp>
      <p:sp>
        <p:nvSpPr>
          <p:cNvPr id="51203" name="Rectangle 3">
            <a:extLst>
              <a:ext uri="{FF2B5EF4-FFF2-40B4-BE49-F238E27FC236}">
                <a16:creationId xmlns:a16="http://schemas.microsoft.com/office/drawing/2014/main" id="{940CBAB1-EA8F-4B67-816C-288C9B09781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a:extLst>
              <a:ext uri="{FF2B5EF4-FFF2-40B4-BE49-F238E27FC236}">
                <a16:creationId xmlns:a16="http://schemas.microsoft.com/office/drawing/2014/main" id="{7EB3323C-06A1-4632-B138-3B73546F03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AD9CD47-795C-4CBD-956A-ABB15F37534F}" type="slidenum">
              <a:rPr lang="en-US" altLang="en-US" smtClean="0">
                <a:latin typeface="Times New Roman" panose="02020603050405020304" pitchFamily="18" charset="0"/>
              </a:rPr>
              <a:pPr/>
              <a:t>28</a:t>
            </a:fld>
            <a:endParaRPr lang="en-US" altLang="en-US">
              <a:latin typeface="Times New Roman" panose="02020603050405020304" pitchFamily="18" charset="0"/>
            </a:endParaRPr>
          </a:p>
        </p:txBody>
      </p:sp>
      <p:sp>
        <p:nvSpPr>
          <p:cNvPr id="53250" name="Rectangle 2">
            <a:extLst>
              <a:ext uri="{FF2B5EF4-FFF2-40B4-BE49-F238E27FC236}">
                <a16:creationId xmlns:a16="http://schemas.microsoft.com/office/drawing/2014/main" id="{3544896A-D075-4287-996D-AFC0058592F0}"/>
              </a:ext>
            </a:extLst>
          </p:cNvPr>
          <p:cNvSpPr>
            <a:spLocks noGrp="1" noRot="1" noChangeAspect="1" noChangeArrowheads="1" noTextEdit="1"/>
          </p:cNvSpPr>
          <p:nvPr>
            <p:ph type="sldImg"/>
          </p:nvPr>
        </p:nvSpPr>
        <p:spPr>
          <a:xfrm>
            <a:off x="407988" y="698500"/>
            <a:ext cx="6196012" cy="3486150"/>
          </a:xfrm>
          <a:ln/>
        </p:spPr>
      </p:sp>
      <p:sp>
        <p:nvSpPr>
          <p:cNvPr id="53251" name="Rectangle 3">
            <a:extLst>
              <a:ext uri="{FF2B5EF4-FFF2-40B4-BE49-F238E27FC236}">
                <a16:creationId xmlns:a16="http://schemas.microsoft.com/office/drawing/2014/main" id="{A3696E72-3E2A-4324-898F-E308110EBC7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040631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29</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750707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a:extLst>
              <a:ext uri="{FF2B5EF4-FFF2-40B4-BE49-F238E27FC236}">
                <a16:creationId xmlns:a16="http://schemas.microsoft.com/office/drawing/2014/main" id="{A3BC90D9-5B90-4947-BD85-211E37DDE91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111378-CDE2-4578-A4A0-6AE31376CE67}" type="slidenum">
              <a:rPr lang="en-US" altLang="en-US" smtClean="0">
                <a:latin typeface="Times New Roman" panose="02020603050405020304" pitchFamily="18" charset="0"/>
              </a:rPr>
              <a:pPr/>
              <a:t>30</a:t>
            </a:fld>
            <a:endParaRPr lang="en-US" altLang="en-US">
              <a:latin typeface="Times New Roman" panose="02020603050405020304" pitchFamily="18" charset="0"/>
            </a:endParaRPr>
          </a:p>
        </p:txBody>
      </p:sp>
      <p:sp>
        <p:nvSpPr>
          <p:cNvPr id="55298" name="Rectangle 2">
            <a:extLst>
              <a:ext uri="{FF2B5EF4-FFF2-40B4-BE49-F238E27FC236}">
                <a16:creationId xmlns:a16="http://schemas.microsoft.com/office/drawing/2014/main" id="{1CE51187-1D2B-4F17-B25B-73ADED5E0BBA}"/>
              </a:ext>
            </a:extLst>
          </p:cNvPr>
          <p:cNvSpPr>
            <a:spLocks noGrp="1" noRot="1" noChangeAspect="1" noChangeArrowheads="1" noTextEdit="1"/>
          </p:cNvSpPr>
          <p:nvPr>
            <p:ph type="sldImg"/>
          </p:nvPr>
        </p:nvSpPr>
        <p:spPr>
          <a:xfrm>
            <a:off x="407988" y="698500"/>
            <a:ext cx="6196012" cy="3486150"/>
          </a:xfrm>
          <a:ln/>
        </p:spPr>
      </p:sp>
      <p:sp>
        <p:nvSpPr>
          <p:cNvPr id="55299" name="Rectangle 3">
            <a:extLst>
              <a:ext uri="{FF2B5EF4-FFF2-40B4-BE49-F238E27FC236}">
                <a16:creationId xmlns:a16="http://schemas.microsoft.com/office/drawing/2014/main" id="{BAD6887A-FF32-4633-84E8-6615571843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0C285082-FC5A-4524-9220-A291758CFB8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F0E056A-E87D-4C53-83CF-B2CDD3330A52}" type="slidenum">
              <a:rPr lang="en-US" altLang="en-US" smtClean="0">
                <a:latin typeface="Times New Roman" panose="02020603050405020304" pitchFamily="18" charset="0"/>
              </a:rPr>
              <a:pPr/>
              <a:t>32</a:t>
            </a:fld>
            <a:endParaRPr lang="en-US" altLang="en-US">
              <a:latin typeface="Times New Roman" panose="02020603050405020304" pitchFamily="18" charset="0"/>
            </a:endParaRPr>
          </a:p>
        </p:txBody>
      </p:sp>
      <p:sp>
        <p:nvSpPr>
          <p:cNvPr id="58370" name="Rectangle 2">
            <a:extLst>
              <a:ext uri="{FF2B5EF4-FFF2-40B4-BE49-F238E27FC236}">
                <a16:creationId xmlns:a16="http://schemas.microsoft.com/office/drawing/2014/main" id="{08CE5910-3320-44A3-88ED-D22B8CE02913}"/>
              </a:ext>
            </a:extLst>
          </p:cNvPr>
          <p:cNvSpPr>
            <a:spLocks noGrp="1" noRot="1" noChangeAspect="1" noChangeArrowheads="1" noTextEdit="1"/>
          </p:cNvSpPr>
          <p:nvPr>
            <p:ph type="sldImg"/>
          </p:nvPr>
        </p:nvSpPr>
        <p:spPr>
          <a:xfrm>
            <a:off x="407988" y="698500"/>
            <a:ext cx="6196012" cy="3486150"/>
          </a:xfrm>
          <a:ln/>
        </p:spPr>
      </p:sp>
      <p:sp>
        <p:nvSpPr>
          <p:cNvPr id="58371" name="Rectangle 3">
            <a:extLst>
              <a:ext uri="{FF2B5EF4-FFF2-40B4-BE49-F238E27FC236}">
                <a16:creationId xmlns:a16="http://schemas.microsoft.com/office/drawing/2014/main" id="{3E335E27-02F0-4EF2-ADC1-CFAB027A3B6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4AC5CF01-D722-4A54-87E2-5ACC8F7C95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014E645-70B9-4D60-95A0-CCC1F65E091F}" type="slidenum">
              <a:rPr lang="en-US" altLang="en-US" smtClean="0">
                <a:latin typeface="Times New Roman" panose="02020603050405020304" pitchFamily="18" charset="0"/>
              </a:rPr>
              <a:pPr/>
              <a:t>33</a:t>
            </a:fld>
            <a:endParaRPr lang="en-US" altLang="en-US">
              <a:latin typeface="Times New Roman" panose="02020603050405020304" pitchFamily="18" charset="0"/>
            </a:endParaRPr>
          </a:p>
        </p:txBody>
      </p:sp>
      <p:sp>
        <p:nvSpPr>
          <p:cNvPr id="60418" name="Rectangle 2">
            <a:extLst>
              <a:ext uri="{FF2B5EF4-FFF2-40B4-BE49-F238E27FC236}">
                <a16:creationId xmlns:a16="http://schemas.microsoft.com/office/drawing/2014/main" id="{4260DBA0-67A3-4083-8D43-2641C27B526F}"/>
              </a:ext>
            </a:extLst>
          </p:cNvPr>
          <p:cNvSpPr>
            <a:spLocks noGrp="1" noRot="1" noChangeAspect="1" noChangeArrowheads="1" noTextEdit="1"/>
          </p:cNvSpPr>
          <p:nvPr>
            <p:ph type="sldImg"/>
          </p:nvPr>
        </p:nvSpPr>
        <p:spPr>
          <a:xfrm>
            <a:off x="407988" y="698500"/>
            <a:ext cx="6196012" cy="3486150"/>
          </a:xfrm>
          <a:ln/>
        </p:spPr>
      </p:sp>
      <p:sp>
        <p:nvSpPr>
          <p:cNvPr id="60419" name="Rectangle 3">
            <a:extLst>
              <a:ext uri="{FF2B5EF4-FFF2-40B4-BE49-F238E27FC236}">
                <a16:creationId xmlns:a16="http://schemas.microsoft.com/office/drawing/2014/main" id="{813C787B-5ED3-489E-A585-F3FD4B97B7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6136169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D45BD6AA-AA62-40DB-8F69-01F08437FCE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58947FA-5160-4BA9-85D0-928B39E24C9E}" type="slidenum">
              <a:rPr lang="en-US" altLang="en-US" smtClean="0">
                <a:latin typeface="Times New Roman" panose="02020603050405020304" pitchFamily="18" charset="0"/>
              </a:rPr>
              <a:pPr/>
              <a:t>34</a:t>
            </a:fld>
            <a:endParaRPr lang="en-US" altLang="en-US">
              <a:latin typeface="Times New Roman" panose="02020603050405020304" pitchFamily="18" charset="0"/>
            </a:endParaRPr>
          </a:p>
        </p:txBody>
      </p:sp>
      <p:sp>
        <p:nvSpPr>
          <p:cNvPr id="62466" name="Rectangle 2">
            <a:extLst>
              <a:ext uri="{FF2B5EF4-FFF2-40B4-BE49-F238E27FC236}">
                <a16:creationId xmlns:a16="http://schemas.microsoft.com/office/drawing/2014/main" id="{499FCC36-49F5-4AC9-B366-1E5304ED0614}"/>
              </a:ext>
            </a:extLst>
          </p:cNvPr>
          <p:cNvSpPr>
            <a:spLocks noGrp="1" noRot="1" noChangeAspect="1" noChangeArrowheads="1" noTextEdit="1"/>
          </p:cNvSpPr>
          <p:nvPr>
            <p:ph type="sldImg"/>
          </p:nvPr>
        </p:nvSpPr>
        <p:spPr>
          <a:xfrm>
            <a:off x="407988" y="698500"/>
            <a:ext cx="6196012" cy="3486150"/>
          </a:xfrm>
          <a:ln/>
        </p:spPr>
      </p:sp>
      <p:sp>
        <p:nvSpPr>
          <p:cNvPr id="62467" name="Rectangle 3">
            <a:extLst>
              <a:ext uri="{FF2B5EF4-FFF2-40B4-BE49-F238E27FC236}">
                <a16:creationId xmlns:a16="http://schemas.microsoft.com/office/drawing/2014/main" id="{86675AAA-4A00-4B97-B2FA-3C42BBC865B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ED2E23A-54E6-457E-AF1F-529DC7B6288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5FF144-0680-4B5D-ABBA-203C1672455E}" type="slidenum">
              <a:rPr lang="en-US" altLang="en-US" smtClean="0">
                <a:latin typeface="Times New Roman" panose="02020603050405020304" pitchFamily="18" charset="0"/>
              </a:rPr>
              <a:pPr/>
              <a:t>35</a:t>
            </a:fld>
            <a:endParaRPr lang="en-US" altLang="en-US">
              <a:latin typeface="Times New Roman" panose="02020603050405020304" pitchFamily="18" charset="0"/>
            </a:endParaRPr>
          </a:p>
        </p:txBody>
      </p:sp>
      <p:sp>
        <p:nvSpPr>
          <p:cNvPr id="64514" name="Rectangle 2">
            <a:extLst>
              <a:ext uri="{FF2B5EF4-FFF2-40B4-BE49-F238E27FC236}">
                <a16:creationId xmlns:a16="http://schemas.microsoft.com/office/drawing/2014/main" id="{E78DCE38-C266-4CF5-8650-D2917309FFA3}"/>
              </a:ext>
            </a:extLst>
          </p:cNvPr>
          <p:cNvSpPr>
            <a:spLocks noGrp="1" noRot="1" noChangeAspect="1" noChangeArrowheads="1" noTextEdit="1"/>
          </p:cNvSpPr>
          <p:nvPr>
            <p:ph type="sldImg"/>
          </p:nvPr>
        </p:nvSpPr>
        <p:spPr>
          <a:xfrm>
            <a:off x="407988" y="698500"/>
            <a:ext cx="6196012" cy="3486150"/>
          </a:xfrm>
          <a:ln/>
        </p:spPr>
      </p:sp>
      <p:sp>
        <p:nvSpPr>
          <p:cNvPr id="64515" name="Rectangle 3">
            <a:extLst>
              <a:ext uri="{FF2B5EF4-FFF2-40B4-BE49-F238E27FC236}">
                <a16:creationId xmlns:a16="http://schemas.microsoft.com/office/drawing/2014/main" id="{B27516E4-3894-4B74-9601-291D008930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36</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xfrm>
            <a:off x="407988" y="698500"/>
            <a:ext cx="6196012" cy="3486150"/>
          </a:xfrm>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E0397353-417D-41B7-9952-5281074BA3CD}"/>
              </a:ext>
            </a:extLst>
          </p:cNvPr>
          <p:cNvSpPr>
            <a:spLocks noGrp="1" noRot="1" noChangeAspect="1" noChangeArrowheads="1" noTextEdit="1"/>
          </p:cNvSpPr>
          <p:nvPr>
            <p:ph type="sldImg"/>
          </p:nvPr>
        </p:nvSpPr>
        <p:spPr>
          <a:xfrm>
            <a:off x="407988" y="698500"/>
            <a:ext cx="6196012" cy="3486150"/>
          </a:xfrm>
          <a:ln/>
        </p:spPr>
      </p:sp>
      <p:sp>
        <p:nvSpPr>
          <p:cNvPr id="73730" name="Rectangle 3">
            <a:extLst>
              <a:ext uri="{FF2B5EF4-FFF2-40B4-BE49-F238E27FC236}">
                <a16:creationId xmlns:a16="http://schemas.microsoft.com/office/drawing/2014/main" id="{C82FBBC2-631F-44E5-A9AF-36CCDAF3F13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a:extLst>
              <a:ext uri="{FF2B5EF4-FFF2-40B4-BE49-F238E27FC236}">
                <a16:creationId xmlns:a16="http://schemas.microsoft.com/office/drawing/2014/main" id="{B15668DC-5037-408F-A18B-C49D8F3C40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1FFB914-7B67-4023-B91D-BDAED6184615}" type="slidenum">
              <a:rPr lang="en-US" altLang="en-US" smtClean="0">
                <a:latin typeface="Times New Roman" panose="02020603050405020304" pitchFamily="18" charset="0"/>
              </a:rPr>
              <a:pPr/>
              <a:t>39</a:t>
            </a:fld>
            <a:endParaRPr lang="en-US" altLang="en-US">
              <a:latin typeface="Times New Roman" panose="02020603050405020304" pitchFamily="18" charset="0"/>
            </a:endParaRPr>
          </a:p>
        </p:txBody>
      </p:sp>
      <p:sp>
        <p:nvSpPr>
          <p:cNvPr id="70658" name="Rectangle 2">
            <a:extLst>
              <a:ext uri="{FF2B5EF4-FFF2-40B4-BE49-F238E27FC236}">
                <a16:creationId xmlns:a16="http://schemas.microsoft.com/office/drawing/2014/main" id="{D01442BD-7C9F-4C09-95EC-24ABEFC4AF51}"/>
              </a:ext>
            </a:extLst>
          </p:cNvPr>
          <p:cNvSpPr>
            <a:spLocks noGrp="1" noRot="1" noChangeAspect="1" noChangeArrowheads="1" noTextEdit="1"/>
          </p:cNvSpPr>
          <p:nvPr>
            <p:ph type="sldImg"/>
          </p:nvPr>
        </p:nvSpPr>
        <p:spPr>
          <a:xfrm>
            <a:off x="407988" y="698500"/>
            <a:ext cx="6196012" cy="3486150"/>
          </a:xfrm>
          <a:ln/>
        </p:spPr>
      </p:sp>
      <p:sp>
        <p:nvSpPr>
          <p:cNvPr id="70659" name="Rectangle 3">
            <a:extLst>
              <a:ext uri="{FF2B5EF4-FFF2-40B4-BE49-F238E27FC236}">
                <a16:creationId xmlns:a16="http://schemas.microsoft.com/office/drawing/2014/main" id="{542FF4BC-BEAF-4FA5-A3D8-E000D2F815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0945472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a:extLst>
              <a:ext uri="{FF2B5EF4-FFF2-40B4-BE49-F238E27FC236}">
                <a16:creationId xmlns:a16="http://schemas.microsoft.com/office/drawing/2014/main" id="{601D3384-8B05-485F-A2EF-9587B33F33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389D00-F0DB-4575-A202-8ED00A374984}"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
        <p:nvSpPr>
          <p:cNvPr id="79874" name="Rectangle 2">
            <a:extLst>
              <a:ext uri="{FF2B5EF4-FFF2-40B4-BE49-F238E27FC236}">
                <a16:creationId xmlns:a16="http://schemas.microsoft.com/office/drawing/2014/main" id="{7717566B-D582-4B91-9A71-0FBF1749F47A}"/>
              </a:ext>
            </a:extLst>
          </p:cNvPr>
          <p:cNvSpPr>
            <a:spLocks noGrp="1" noRot="1" noChangeAspect="1" noChangeArrowheads="1" noTextEdit="1"/>
          </p:cNvSpPr>
          <p:nvPr>
            <p:ph type="sldImg"/>
          </p:nvPr>
        </p:nvSpPr>
        <p:spPr>
          <a:xfrm>
            <a:off x="407988" y="698500"/>
            <a:ext cx="6196012" cy="3486150"/>
          </a:xfrm>
          <a:ln/>
        </p:spPr>
      </p:sp>
      <p:sp>
        <p:nvSpPr>
          <p:cNvPr id="79875" name="Rectangle 3">
            <a:extLst>
              <a:ext uri="{FF2B5EF4-FFF2-40B4-BE49-F238E27FC236}">
                <a16:creationId xmlns:a16="http://schemas.microsoft.com/office/drawing/2014/main" id="{7C69C62F-2959-411E-8350-C197A5B2F6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a:extLst>
              <a:ext uri="{FF2B5EF4-FFF2-40B4-BE49-F238E27FC236}">
                <a16:creationId xmlns:a16="http://schemas.microsoft.com/office/drawing/2014/main" id="{9744F318-B901-4759-942A-94AE30C6E7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556A34F-CE26-48DF-BDB6-8512C2015D3A}" type="slidenum">
              <a:rPr lang="en-US" altLang="en-US" smtClean="0">
                <a:latin typeface="Times New Roman" panose="02020603050405020304" pitchFamily="18" charset="0"/>
              </a:rPr>
              <a:pPr/>
              <a:t>43</a:t>
            </a:fld>
            <a:endParaRPr lang="en-US" altLang="en-US">
              <a:latin typeface="Times New Roman" panose="02020603050405020304" pitchFamily="18" charset="0"/>
            </a:endParaRPr>
          </a:p>
        </p:txBody>
      </p:sp>
      <p:sp>
        <p:nvSpPr>
          <p:cNvPr id="81922" name="Rectangle 2">
            <a:extLst>
              <a:ext uri="{FF2B5EF4-FFF2-40B4-BE49-F238E27FC236}">
                <a16:creationId xmlns:a16="http://schemas.microsoft.com/office/drawing/2014/main" id="{5C86FCDC-1A33-4EE6-8446-8BE755FA9381}"/>
              </a:ext>
            </a:extLst>
          </p:cNvPr>
          <p:cNvSpPr>
            <a:spLocks noGrp="1" noRot="1" noChangeAspect="1" noChangeArrowheads="1" noTextEdit="1"/>
          </p:cNvSpPr>
          <p:nvPr>
            <p:ph type="sldImg"/>
          </p:nvPr>
        </p:nvSpPr>
        <p:spPr>
          <a:xfrm>
            <a:off x="407988" y="698500"/>
            <a:ext cx="6196012" cy="3486150"/>
          </a:xfrm>
          <a:ln/>
        </p:spPr>
      </p:sp>
      <p:sp>
        <p:nvSpPr>
          <p:cNvPr id="81923" name="Rectangle 3">
            <a:extLst>
              <a:ext uri="{FF2B5EF4-FFF2-40B4-BE49-F238E27FC236}">
                <a16:creationId xmlns:a16="http://schemas.microsoft.com/office/drawing/2014/main" id="{2E8154DC-D491-430E-8E74-BCAA616BD2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a:extLst>
              <a:ext uri="{FF2B5EF4-FFF2-40B4-BE49-F238E27FC236}">
                <a16:creationId xmlns:a16="http://schemas.microsoft.com/office/drawing/2014/main" id="{DE094DDD-260E-455D-8EB0-8BB12FEAE4E8}"/>
              </a:ext>
            </a:extLst>
          </p:cNvPr>
          <p:cNvSpPr>
            <a:spLocks noGrp="1" noRot="1" noChangeAspect="1" noChangeArrowheads="1" noTextEdit="1"/>
          </p:cNvSpPr>
          <p:nvPr>
            <p:ph type="sldImg"/>
          </p:nvPr>
        </p:nvSpPr>
        <p:spPr>
          <a:xfrm>
            <a:off x="407988" y="698500"/>
            <a:ext cx="6196012" cy="3486150"/>
          </a:xfrm>
          <a:ln/>
        </p:spPr>
      </p:sp>
      <p:sp>
        <p:nvSpPr>
          <p:cNvPr id="83970" name="Rectangle 3">
            <a:extLst>
              <a:ext uri="{FF2B5EF4-FFF2-40B4-BE49-F238E27FC236}">
                <a16:creationId xmlns:a16="http://schemas.microsoft.com/office/drawing/2014/main" id="{02F1DB9E-007C-446E-AB01-7ED8075C473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7">
            <a:extLst>
              <a:ext uri="{FF2B5EF4-FFF2-40B4-BE49-F238E27FC236}">
                <a16:creationId xmlns:a16="http://schemas.microsoft.com/office/drawing/2014/main" id="{51B6C076-F21F-4CA5-822D-C9D69050FB8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060">
              <a:defRPr>
                <a:solidFill>
                  <a:schemeClr val="tx1"/>
                </a:solidFill>
                <a:latin typeface="Verdana" panose="020B0604030504040204" pitchFamily="34" charset="0"/>
                <a:ea typeface="MS PGothic" panose="020B0600070205080204" pitchFamily="34" charset="-128"/>
              </a:defRPr>
            </a:lvl1pPr>
            <a:lvl2pPr marL="736041" indent="-283093" defTabSz="931060">
              <a:defRPr>
                <a:solidFill>
                  <a:schemeClr val="tx1"/>
                </a:solidFill>
                <a:latin typeface="Verdana" panose="020B0604030504040204" pitchFamily="34" charset="0"/>
                <a:ea typeface="MS PGothic" panose="020B0600070205080204" pitchFamily="34" charset="-128"/>
              </a:defRPr>
            </a:lvl2pPr>
            <a:lvl3pPr marL="1132370" indent="-226474" defTabSz="931060">
              <a:defRPr>
                <a:solidFill>
                  <a:schemeClr val="tx1"/>
                </a:solidFill>
                <a:latin typeface="Verdana" panose="020B0604030504040204" pitchFamily="34" charset="0"/>
                <a:ea typeface="MS PGothic" panose="020B0600070205080204" pitchFamily="34" charset="-128"/>
              </a:defRPr>
            </a:lvl3pPr>
            <a:lvl4pPr marL="1585318" indent="-226474" defTabSz="931060">
              <a:defRPr>
                <a:solidFill>
                  <a:schemeClr val="tx1"/>
                </a:solidFill>
                <a:latin typeface="Verdana" panose="020B0604030504040204" pitchFamily="34" charset="0"/>
                <a:ea typeface="MS PGothic" panose="020B0600070205080204" pitchFamily="34" charset="-128"/>
              </a:defRPr>
            </a:lvl4pPr>
            <a:lvl5pPr marL="2038266" indent="-226474" defTabSz="931060">
              <a:defRPr>
                <a:solidFill>
                  <a:schemeClr val="tx1"/>
                </a:solidFill>
                <a:latin typeface="Verdana" panose="020B0604030504040204" pitchFamily="34" charset="0"/>
                <a:ea typeface="MS PGothic" panose="020B0600070205080204" pitchFamily="34" charset="-128"/>
              </a:defRPr>
            </a:lvl5pPr>
            <a:lvl6pPr marL="2491214"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44162"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397110"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50058" indent="-226474" defTabSz="93106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8EB864C-7330-4E1B-A037-7D79409E01F4}" type="slidenum">
              <a:rPr lang="en-US" altLang="en-US" smtClean="0">
                <a:latin typeface="Times New Roman" panose="02020603050405020304" pitchFamily="18" charset="0"/>
              </a:rPr>
              <a:pPr/>
              <a:t>45</a:t>
            </a:fld>
            <a:endParaRPr lang="en-US" altLang="en-US">
              <a:latin typeface="Times New Roman" panose="02020603050405020304" pitchFamily="18" charset="0"/>
            </a:endParaRPr>
          </a:p>
        </p:txBody>
      </p:sp>
      <p:sp>
        <p:nvSpPr>
          <p:cNvPr id="141314" name="Rectangle 2">
            <a:extLst>
              <a:ext uri="{FF2B5EF4-FFF2-40B4-BE49-F238E27FC236}">
                <a16:creationId xmlns:a16="http://schemas.microsoft.com/office/drawing/2014/main" id="{5F4496CA-0A38-4ECE-A790-5883B82226E7}"/>
              </a:ext>
            </a:extLst>
          </p:cNvPr>
          <p:cNvSpPr>
            <a:spLocks noGrp="1" noRot="1" noChangeAspect="1" noChangeArrowheads="1" noTextEdit="1"/>
          </p:cNvSpPr>
          <p:nvPr>
            <p:ph type="sldImg"/>
          </p:nvPr>
        </p:nvSpPr>
        <p:spPr>
          <a:xfrm>
            <a:off x="407988" y="698500"/>
            <a:ext cx="6196012" cy="3486150"/>
          </a:xfrm>
          <a:ln/>
        </p:spPr>
      </p:sp>
      <p:sp>
        <p:nvSpPr>
          <p:cNvPr id="141315" name="Rectangle 3">
            <a:extLst>
              <a:ext uri="{FF2B5EF4-FFF2-40B4-BE49-F238E27FC236}">
                <a16:creationId xmlns:a16="http://schemas.microsoft.com/office/drawing/2014/main" id="{9685A671-4583-4556-B3BD-CB96D62C92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F9054E9F-B0F7-4A1B-8874-547788B722C4}"/>
              </a:ext>
            </a:extLst>
          </p:cNvPr>
          <p:cNvGrpSpPr>
            <a:grpSpLocks/>
          </p:cNvGrpSpPr>
          <p:nvPr/>
        </p:nvGrpSpPr>
        <p:grpSpPr bwMode="auto">
          <a:xfrm>
            <a:off x="264584" y="2960688"/>
            <a:ext cx="11480800" cy="201612"/>
            <a:chOff x="125" y="1865"/>
            <a:chExt cx="5424" cy="127"/>
          </a:xfrm>
        </p:grpSpPr>
        <p:sp>
          <p:nvSpPr>
            <p:cNvPr id="4" name="Rectangle 4">
              <a:extLst>
                <a:ext uri="{FF2B5EF4-FFF2-40B4-BE49-F238E27FC236}">
                  <a16:creationId xmlns:a16="http://schemas.microsoft.com/office/drawing/2014/main" id="{1B0B5327-705F-4338-8684-BE3C6B32B1E1}"/>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F9912C43-735E-4FCD-9C20-4B4E9F5D4C0F}"/>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8B2B38F7-FF3D-4D34-8AF3-C5E2B22472FA}"/>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39D6487E-E59C-4825-A316-F9FD0074A55B}"/>
              </a:ext>
            </a:extLst>
          </p:cNvPr>
          <p:cNvSpPr txBox="1">
            <a:spLocks noChangeArrowheads="1"/>
          </p:cNvSpPr>
          <p:nvPr/>
        </p:nvSpPr>
        <p:spPr bwMode="auto">
          <a:xfrm>
            <a:off x="8652933" y="6588126"/>
            <a:ext cx="3617384"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336699"/>
                </a:solidFill>
                <a:latin typeface="Helvetica" pitchFamily="-84" charset="0"/>
              </a:rPr>
              <a:t>Silberschatz, Galvin and Gagne ©2018</a:t>
            </a:r>
          </a:p>
        </p:txBody>
      </p:sp>
      <p:sp>
        <p:nvSpPr>
          <p:cNvPr id="8" name="Text Box 8">
            <a:extLst>
              <a:ext uri="{FF2B5EF4-FFF2-40B4-BE49-F238E27FC236}">
                <a16:creationId xmlns:a16="http://schemas.microsoft.com/office/drawing/2014/main" id="{0BACFF7A-A989-4729-8688-C6C2FD0049F0}"/>
              </a:ext>
            </a:extLst>
          </p:cNvPr>
          <p:cNvSpPr txBox="1">
            <a:spLocks noChangeArrowheads="1"/>
          </p:cNvSpPr>
          <p:nvPr/>
        </p:nvSpPr>
        <p:spPr bwMode="auto">
          <a:xfrm>
            <a:off x="35984" y="6613526"/>
            <a:ext cx="2730235"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336699"/>
                </a:solidFill>
                <a:latin typeface="Helvetica" pitchFamily="-84" charset="0"/>
              </a:rPr>
              <a:t>Operating System Concepts – 10</a:t>
            </a:r>
            <a:r>
              <a:rPr lang="en-US" altLang="en-US" sz="1000" b="1" baseline="30000" dirty="0">
                <a:solidFill>
                  <a:srgbClr val="336699"/>
                </a:solidFill>
                <a:latin typeface="Helvetica" pitchFamily="-84" charset="0"/>
              </a:rPr>
              <a:t>th</a:t>
            </a:r>
            <a:r>
              <a:rPr lang="en-US" altLang="en-US" sz="1000" b="1" dirty="0">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62320D51-40DC-47DF-B772-6310A5073C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0984" y="4157663"/>
            <a:ext cx="2749549"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B4F18C78-A1C0-4229-859F-4A1EAA01B0EB}"/>
              </a:ext>
            </a:extLst>
          </p:cNvPr>
          <p:cNvSpPr>
            <a:spLocks noChangeArrowheads="1"/>
          </p:cNvSpPr>
          <p:nvPr/>
        </p:nvSpPr>
        <p:spPr bwMode="auto">
          <a:xfrm>
            <a:off x="4298951" y="4006850"/>
            <a:ext cx="3115733"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914400" y="685800"/>
            <a:ext cx="103632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2848305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7452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23410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75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663267" y="1233489"/>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31639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70134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854588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6302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44700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157027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8947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88451" y="277813"/>
            <a:ext cx="2859616"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7813"/>
            <a:ext cx="8375651"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127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a:extLst>
              <a:ext uri="{FF2B5EF4-FFF2-40B4-BE49-F238E27FC236}">
                <a16:creationId xmlns:a16="http://schemas.microsoft.com/office/drawing/2014/main" id="{DB124D09-86E8-40B1-99F0-1209287C139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1000" y="0"/>
            <a:ext cx="1593851"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a:extLst>
              <a:ext uri="{FF2B5EF4-FFF2-40B4-BE49-F238E27FC236}">
                <a16:creationId xmlns:a16="http://schemas.microsoft.com/office/drawing/2014/main" id="{101563B5-6DEC-40C9-94C1-11A3E355C2E2}"/>
              </a:ext>
            </a:extLst>
          </p:cNvPr>
          <p:cNvSpPr>
            <a:spLocks noGrp="1" noChangeArrowheads="1"/>
          </p:cNvSpPr>
          <p:nvPr>
            <p:ph type="title"/>
          </p:nvPr>
        </p:nvSpPr>
        <p:spPr bwMode="auto">
          <a:xfrm>
            <a:off x="609600" y="233853"/>
            <a:ext cx="10972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8" name="Rectangle 4">
            <a:extLst>
              <a:ext uri="{FF2B5EF4-FFF2-40B4-BE49-F238E27FC236}">
                <a16:creationId xmlns:a16="http://schemas.microsoft.com/office/drawing/2014/main" id="{97A89EDA-A1F4-4710-BBC1-A142F18D0927}"/>
              </a:ext>
            </a:extLst>
          </p:cNvPr>
          <p:cNvSpPr>
            <a:spLocks noGrp="1" noChangeArrowheads="1"/>
          </p:cNvSpPr>
          <p:nvPr>
            <p:ph type="body" idx="1"/>
          </p:nvPr>
        </p:nvSpPr>
        <p:spPr bwMode="auto">
          <a:xfrm>
            <a:off x="1075267" y="1233489"/>
            <a:ext cx="10303933"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7773D04D-003A-405C-9D9C-1709ED056175}"/>
              </a:ext>
            </a:extLst>
          </p:cNvPr>
          <p:cNvSpPr>
            <a:spLocks noChangeArrowheads="1"/>
          </p:cNvSpPr>
          <p:nvPr/>
        </p:nvSpPr>
        <p:spPr bwMode="auto">
          <a:xfrm>
            <a:off x="0" y="0"/>
            <a:ext cx="3048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7AA57875-966E-44EB-9268-6903F2C1DDAD}"/>
              </a:ext>
            </a:extLst>
          </p:cNvPr>
          <p:cNvSpPr>
            <a:spLocks noChangeShapeType="1"/>
          </p:cNvSpPr>
          <p:nvPr/>
        </p:nvSpPr>
        <p:spPr bwMode="auto">
          <a:xfrm>
            <a:off x="609600" y="860425"/>
            <a:ext cx="10769600" cy="0"/>
          </a:xfrm>
          <a:prstGeom prst="line">
            <a:avLst/>
          </a:prstGeom>
          <a:noFill/>
          <a:ln w="1905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1" name="Rectangle 7">
            <a:extLst>
              <a:ext uri="{FF2B5EF4-FFF2-40B4-BE49-F238E27FC236}">
                <a16:creationId xmlns:a16="http://schemas.microsoft.com/office/drawing/2014/main" id="{B805250A-2DE9-48CE-9970-F8DC7B1A9953}"/>
              </a:ext>
            </a:extLst>
          </p:cNvPr>
          <p:cNvSpPr>
            <a:spLocks noChangeArrowheads="1"/>
          </p:cNvSpPr>
          <p:nvPr/>
        </p:nvSpPr>
        <p:spPr bwMode="auto">
          <a:xfrm>
            <a:off x="0" y="2286000"/>
            <a:ext cx="3048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5DF010FB-BF4A-4539-85F6-EF017614C474}"/>
              </a:ext>
            </a:extLst>
          </p:cNvPr>
          <p:cNvSpPr>
            <a:spLocks noChangeArrowheads="1"/>
          </p:cNvSpPr>
          <p:nvPr/>
        </p:nvSpPr>
        <p:spPr bwMode="auto">
          <a:xfrm>
            <a:off x="0" y="4572000"/>
            <a:ext cx="3048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F35EB3C6-158A-401E-AF69-45BFE965FB7C}"/>
              </a:ext>
            </a:extLst>
          </p:cNvPr>
          <p:cNvSpPr txBox="1">
            <a:spLocks noChangeArrowheads="1"/>
          </p:cNvSpPr>
          <p:nvPr/>
        </p:nvSpPr>
        <p:spPr bwMode="auto">
          <a:xfrm>
            <a:off x="5749456" y="6613526"/>
            <a:ext cx="447558" cy="246221"/>
          </a:xfrm>
          <a:prstGeom prst="rect">
            <a:avLst/>
          </a:prstGeom>
          <a:noFill/>
          <a:ln>
            <a:noFill/>
          </a:ln>
        </p:spPr>
        <p:txBody>
          <a:bodyPr wrap="none">
            <a:spAutoFit/>
          </a:bodyPr>
          <a:lstStyle>
            <a:lvl1pPr>
              <a:defRPr>
                <a:solidFill>
                  <a:schemeClr val="tx1"/>
                </a:solidFill>
                <a:latin typeface="Verdana" charset="0"/>
                <a:ea typeface="MS PGothic" charset="-128"/>
              </a:defRPr>
            </a:lvl1pPr>
            <a:lvl2pPr marL="742950" indent="-285750">
              <a:defRPr>
                <a:solidFill>
                  <a:schemeClr val="tx1"/>
                </a:solidFill>
                <a:latin typeface="Verdana" charset="0"/>
                <a:ea typeface="MS PGothic" charset="-128"/>
              </a:defRPr>
            </a:lvl2pPr>
            <a:lvl3pPr marL="1143000" indent="-228600">
              <a:defRPr>
                <a:solidFill>
                  <a:schemeClr val="tx1"/>
                </a:solidFill>
                <a:latin typeface="Verdana" charset="0"/>
                <a:ea typeface="MS PGothic" charset="-128"/>
              </a:defRPr>
            </a:lvl3pPr>
            <a:lvl4pPr marL="1600200" indent="-228600">
              <a:defRPr>
                <a:solidFill>
                  <a:schemeClr val="tx1"/>
                </a:solidFill>
                <a:latin typeface="Verdana" charset="0"/>
                <a:ea typeface="MS PGothic" charset="-128"/>
              </a:defRPr>
            </a:lvl4pPr>
            <a:lvl5pPr marL="2057400" indent="-228600">
              <a:defRPr>
                <a:solidFill>
                  <a:schemeClr val="tx1"/>
                </a:solidFill>
                <a:latin typeface="Verdana" charset="0"/>
                <a:ea typeface="MS PGothic" charset="-128"/>
              </a:defRPr>
            </a:lvl5pPr>
            <a:lvl6pPr marL="2514600" indent="-228600" eaLnBrk="0" fontAlgn="base" hangingPunct="0">
              <a:spcBef>
                <a:spcPct val="0"/>
              </a:spcBef>
              <a:spcAft>
                <a:spcPct val="0"/>
              </a:spcAft>
              <a:defRPr>
                <a:solidFill>
                  <a:schemeClr val="tx1"/>
                </a:solidFill>
                <a:latin typeface="Verdana" charset="0"/>
                <a:ea typeface="MS PGothic" charset="-128"/>
              </a:defRPr>
            </a:lvl6pPr>
            <a:lvl7pPr marL="2971800" indent="-228600" eaLnBrk="0" fontAlgn="base" hangingPunct="0">
              <a:spcBef>
                <a:spcPct val="0"/>
              </a:spcBef>
              <a:spcAft>
                <a:spcPct val="0"/>
              </a:spcAft>
              <a:defRPr>
                <a:solidFill>
                  <a:schemeClr val="tx1"/>
                </a:solidFill>
                <a:latin typeface="Verdana" charset="0"/>
                <a:ea typeface="MS PGothic" charset="-128"/>
              </a:defRPr>
            </a:lvl7pPr>
            <a:lvl8pPr marL="3429000" indent="-228600" eaLnBrk="0" fontAlgn="base" hangingPunct="0">
              <a:spcBef>
                <a:spcPct val="0"/>
              </a:spcBef>
              <a:spcAft>
                <a:spcPct val="0"/>
              </a:spcAft>
              <a:defRPr>
                <a:solidFill>
                  <a:schemeClr val="tx1"/>
                </a:solidFill>
                <a:latin typeface="Verdana" charset="0"/>
                <a:ea typeface="MS PGothic" charset="-128"/>
              </a:defRPr>
            </a:lvl8pPr>
            <a:lvl9pPr marL="3886200" indent="-228600" eaLnBrk="0" fontAlgn="base" hangingPunct="0">
              <a:spcBef>
                <a:spcPct val="0"/>
              </a:spcBef>
              <a:spcAft>
                <a:spcPct val="0"/>
              </a:spcAft>
              <a:defRPr>
                <a:solidFill>
                  <a:schemeClr val="tx1"/>
                </a:solidFill>
                <a:latin typeface="Verdana" charset="0"/>
                <a:ea typeface="MS PGothic" charset="-128"/>
              </a:defRPr>
            </a:lvl9pPr>
          </a:lstStyle>
          <a:p>
            <a:pPr algn="ctr">
              <a:spcBef>
                <a:spcPct val="50000"/>
              </a:spcBef>
              <a:defRPr/>
            </a:pPr>
            <a:r>
              <a:rPr lang="en-US" altLang="en-US" sz="1000" b="1" dirty="0">
                <a:solidFill>
                  <a:srgbClr val="006699"/>
                </a:solidFill>
                <a:latin typeface="Helvetica" charset="0"/>
              </a:rPr>
              <a:t>5.</a:t>
            </a:r>
            <a:fld id="{4EB6AB46-21AB-49DC-9DBD-606B37BEB33B}" type="slidenum">
              <a:rPr lang="en-US" altLang="en-US" sz="1000" b="1" smtClean="0">
                <a:solidFill>
                  <a:srgbClr val="006699"/>
                </a:solidFill>
                <a:latin typeface="Helvetica" charset="0"/>
              </a:rPr>
              <a:pPr algn="ctr">
                <a:spcBef>
                  <a:spcPct val="50000"/>
                </a:spcBef>
                <a:defRPr/>
              </a:pPr>
              <a:t>‹#›</a:t>
            </a:fld>
            <a:endParaRPr lang="en-US" altLang="en-US" sz="1000" b="1" dirty="0">
              <a:solidFill>
                <a:srgbClr val="006699"/>
              </a:solidFill>
              <a:latin typeface="Helvetica" charset="0"/>
            </a:endParaRPr>
          </a:p>
        </p:txBody>
      </p:sp>
      <p:sp>
        <p:nvSpPr>
          <p:cNvPr id="1034" name="Text Box 10">
            <a:extLst>
              <a:ext uri="{FF2B5EF4-FFF2-40B4-BE49-F238E27FC236}">
                <a16:creationId xmlns:a16="http://schemas.microsoft.com/office/drawing/2014/main" id="{D78F82E7-FC4D-4DEF-BAC0-15DF6AAD70A5}"/>
              </a:ext>
            </a:extLst>
          </p:cNvPr>
          <p:cNvSpPr txBox="1">
            <a:spLocks noChangeArrowheads="1"/>
          </p:cNvSpPr>
          <p:nvPr/>
        </p:nvSpPr>
        <p:spPr bwMode="auto">
          <a:xfrm>
            <a:off x="8652933" y="6588126"/>
            <a:ext cx="3617384"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dirty="0">
                <a:solidFill>
                  <a:srgbClr val="006699"/>
                </a:solidFill>
                <a:latin typeface="Helvetica" pitchFamily="-84" charset="0"/>
              </a:rPr>
              <a:t>Silberschatz, Galvin and Gagne ©2018</a:t>
            </a:r>
          </a:p>
        </p:txBody>
      </p:sp>
      <p:sp>
        <p:nvSpPr>
          <p:cNvPr id="1035" name="Text Box 11">
            <a:extLst>
              <a:ext uri="{FF2B5EF4-FFF2-40B4-BE49-F238E27FC236}">
                <a16:creationId xmlns:a16="http://schemas.microsoft.com/office/drawing/2014/main" id="{A47C3AE5-5C42-45F2-A307-C022C640A4BF}"/>
              </a:ext>
            </a:extLst>
          </p:cNvPr>
          <p:cNvSpPr txBox="1">
            <a:spLocks noChangeArrowheads="1"/>
          </p:cNvSpPr>
          <p:nvPr/>
        </p:nvSpPr>
        <p:spPr bwMode="auto">
          <a:xfrm>
            <a:off x="247651" y="6595087"/>
            <a:ext cx="2730235" cy="246221"/>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dirty="0">
                <a:solidFill>
                  <a:srgbClr val="006699"/>
                </a:solidFill>
                <a:latin typeface="Helvetica" pitchFamily="-84" charset="0"/>
              </a:rPr>
              <a:t>Operating System Concepts – 10</a:t>
            </a:r>
            <a:r>
              <a:rPr lang="en-US" altLang="en-US" sz="1000" b="1" baseline="30000" dirty="0">
                <a:solidFill>
                  <a:srgbClr val="006699"/>
                </a:solidFill>
                <a:latin typeface="Helvetica" pitchFamily="-84" charset="0"/>
              </a:rPr>
              <a:t>th</a:t>
            </a:r>
            <a:r>
              <a:rPr lang="en-US" altLang="en-US" sz="1000" b="1" dirty="0">
                <a:solidFill>
                  <a:srgbClr val="006699"/>
                </a:solidFill>
                <a:latin typeface="Helvetica" pitchFamily="-84" charset="0"/>
              </a:rPr>
              <a:t> Edition</a:t>
            </a:r>
          </a:p>
        </p:txBody>
      </p:sp>
      <p:pic>
        <p:nvPicPr>
          <p:cNvPr id="1036" name="Picture 12" descr="dino_6">
            <a:extLst>
              <a:ext uri="{FF2B5EF4-FFF2-40B4-BE49-F238E27FC236}">
                <a16:creationId xmlns:a16="http://schemas.microsoft.com/office/drawing/2014/main" id="{502C53CD-F3D0-4970-8364-2ED201BCF77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365318" y="5849938"/>
            <a:ext cx="171238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07"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itchFamily="34" charset="-128"/>
          <a:cs typeface="MS PGothic" panose="020B0600070205080204" pitchFamily="34" charset="-128"/>
        </a:defRPr>
      </a:lvl1pPr>
      <a:lvl2pPr marL="742950" indent="-28575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a:extLst>
              <a:ext uri="{FF2B5EF4-FFF2-40B4-BE49-F238E27FC236}">
                <a16:creationId xmlns:a16="http://schemas.microsoft.com/office/drawing/2014/main" id="{218F8D62-A6F5-4F18-9BB3-A18FA6B4E228}"/>
              </a:ext>
            </a:extLst>
          </p:cNvPr>
          <p:cNvSpPr>
            <a:spLocks noGrp="1" noChangeArrowheads="1"/>
          </p:cNvSpPr>
          <p:nvPr>
            <p:ph type="ctrTitle"/>
          </p:nvPr>
        </p:nvSpPr>
        <p:spPr>
          <a:xfrm>
            <a:off x="2209800" y="782638"/>
            <a:ext cx="7772400" cy="2127250"/>
          </a:xfrm>
        </p:spPr>
        <p:txBody>
          <a:bodyPr/>
          <a:lstStyle/>
          <a:p>
            <a:pPr eaLnBrk="1" hangingPunct="1"/>
            <a:r>
              <a:rPr lang="en-US" altLang="en-US" dirty="0"/>
              <a:t>Chapter 5:  CPU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a:extLst>
              <a:ext uri="{FF2B5EF4-FFF2-40B4-BE49-F238E27FC236}">
                <a16:creationId xmlns:a16="http://schemas.microsoft.com/office/drawing/2014/main" id="{94B4645F-2E7F-4FF4-B07A-CC49BE5E143C}"/>
              </a:ext>
            </a:extLst>
          </p:cNvPr>
          <p:cNvSpPr>
            <a:spLocks noGrp="1" noChangeArrowheads="1"/>
          </p:cNvSpPr>
          <p:nvPr>
            <p:ph type="title"/>
          </p:nvPr>
        </p:nvSpPr>
        <p:spPr>
          <a:xfrm>
            <a:off x="2438400" y="222868"/>
            <a:ext cx="7772400" cy="576262"/>
          </a:xfrm>
        </p:spPr>
        <p:txBody>
          <a:bodyPr/>
          <a:lstStyle/>
          <a:p>
            <a:pPr eaLnBrk="1" hangingPunct="1"/>
            <a:r>
              <a:rPr lang="en-US" altLang="en-US" dirty="0"/>
              <a:t>Outline</a:t>
            </a:r>
          </a:p>
        </p:txBody>
      </p:sp>
      <p:sp>
        <p:nvSpPr>
          <p:cNvPr id="7170" name="Rectangle 3">
            <a:extLst>
              <a:ext uri="{FF2B5EF4-FFF2-40B4-BE49-F238E27FC236}">
                <a16:creationId xmlns:a16="http://schemas.microsoft.com/office/drawing/2014/main" id="{8762292C-9CCE-49EA-9062-F046A880FAC9}"/>
              </a:ext>
            </a:extLst>
          </p:cNvPr>
          <p:cNvSpPr>
            <a:spLocks noGrp="1" noChangeArrowheads="1"/>
          </p:cNvSpPr>
          <p:nvPr>
            <p:ph type="body" idx="1"/>
          </p:nvPr>
        </p:nvSpPr>
        <p:spPr>
          <a:xfrm>
            <a:off x="2381250" y="1195389"/>
            <a:ext cx="7335838" cy="3773487"/>
          </a:xfrm>
        </p:spPr>
        <p:txBody>
          <a:bodyPr/>
          <a:lstStyle/>
          <a:p>
            <a:r>
              <a:rPr lang="en-US" altLang="en-US" dirty="0"/>
              <a:t>Basic Concepts</a:t>
            </a:r>
          </a:p>
          <a:p>
            <a:r>
              <a:rPr lang="en-US" altLang="en-US" dirty="0"/>
              <a:t>Scheduling Criteria </a:t>
            </a:r>
          </a:p>
          <a:p>
            <a:r>
              <a:rPr lang="en-US" altLang="en-US" dirty="0"/>
              <a:t>Scheduling Algorithms</a:t>
            </a:r>
          </a:p>
          <a:p>
            <a:r>
              <a:rPr lang="en-US" altLang="en-US" dirty="0"/>
              <a:t>Thread Scheduling</a:t>
            </a:r>
          </a:p>
          <a:p>
            <a:r>
              <a:rPr lang="en-US" altLang="en-US" dirty="0"/>
              <a:t>Multi-Processor Scheduling</a:t>
            </a:r>
          </a:p>
          <a:p>
            <a:r>
              <a:rPr lang="en-US" altLang="en-US" dirty="0"/>
              <a:t>Real-Time CPU Scheduling</a:t>
            </a:r>
          </a:p>
          <a:p>
            <a:r>
              <a:rPr lang="en-US" altLang="en-US" dirty="0"/>
              <a:t>Operating Systems Examples</a:t>
            </a:r>
          </a:p>
          <a:p>
            <a:r>
              <a:rPr lang="en-US" altLang="en-US" dirty="0"/>
              <a:t>Algorithm Evaluation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a:extLst>
              <a:ext uri="{FF2B5EF4-FFF2-40B4-BE49-F238E27FC236}">
                <a16:creationId xmlns:a16="http://schemas.microsoft.com/office/drawing/2014/main" id="{BA2D33B9-5D6A-48BD-BC85-C1B098FA91BE}"/>
              </a:ext>
            </a:extLst>
          </p:cNvPr>
          <p:cNvSpPr>
            <a:spLocks noGrp="1"/>
          </p:cNvSpPr>
          <p:nvPr>
            <p:ph type="title"/>
          </p:nvPr>
        </p:nvSpPr>
        <p:spPr>
          <a:xfrm>
            <a:off x="1981200" y="222868"/>
            <a:ext cx="8229600" cy="576262"/>
          </a:xfrm>
        </p:spPr>
        <p:txBody>
          <a:bodyPr/>
          <a:lstStyle/>
          <a:p>
            <a:pPr eaLnBrk="1" hangingPunct="1"/>
            <a:r>
              <a:rPr lang="en-US" altLang="en-US" dirty="0"/>
              <a:t>Objectives</a:t>
            </a:r>
          </a:p>
        </p:txBody>
      </p:sp>
      <p:sp>
        <p:nvSpPr>
          <p:cNvPr id="9218" name="Content Placeholder 2">
            <a:extLst>
              <a:ext uri="{FF2B5EF4-FFF2-40B4-BE49-F238E27FC236}">
                <a16:creationId xmlns:a16="http://schemas.microsoft.com/office/drawing/2014/main" id="{3DAC903C-4247-4B47-AD8D-48C1A580FDF4}"/>
              </a:ext>
            </a:extLst>
          </p:cNvPr>
          <p:cNvSpPr>
            <a:spLocks noGrp="1"/>
          </p:cNvSpPr>
          <p:nvPr>
            <p:ph idx="1"/>
          </p:nvPr>
        </p:nvSpPr>
        <p:spPr>
          <a:xfrm>
            <a:off x="2376841" y="1233490"/>
            <a:ext cx="7575863" cy="4400395"/>
          </a:xfrm>
        </p:spPr>
        <p:txBody>
          <a:bodyPr/>
          <a:lstStyle/>
          <a:p>
            <a:r>
              <a:rPr lang="en-US" altLang="en-US" dirty="0"/>
              <a:t>Describe various CPU scheduling algorithms</a:t>
            </a:r>
          </a:p>
          <a:p>
            <a:r>
              <a:rPr lang="en-US" altLang="en-US" dirty="0"/>
              <a:t>Assess CPU scheduling algorithms based on scheduling criteria</a:t>
            </a:r>
          </a:p>
          <a:p>
            <a:r>
              <a:rPr lang="en-US" altLang="en-US" dirty="0"/>
              <a:t>Explain the issues related to multiprocessor and multicore scheduling</a:t>
            </a:r>
          </a:p>
          <a:p>
            <a:r>
              <a:rPr lang="en-US" altLang="en-US" dirty="0"/>
              <a:t>Describe various real-time scheduling algorithms</a:t>
            </a:r>
          </a:p>
          <a:p>
            <a:r>
              <a:rPr lang="en-US" altLang="en-US" dirty="0"/>
              <a:t>Describe the scheduling algorithms used in the Windows, Linux, and Solaris operating systems</a:t>
            </a:r>
          </a:p>
          <a:p>
            <a:r>
              <a:rPr lang="en-US" altLang="en-US" dirty="0"/>
              <a:t>Apply modeling and simulations to evaluate CPU scheduling algorithms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2">
            <a:extLst>
              <a:ext uri="{FF2B5EF4-FFF2-40B4-BE49-F238E27FC236}">
                <a16:creationId xmlns:a16="http://schemas.microsoft.com/office/drawing/2014/main" id="{AC8CABCD-F408-4385-AC6D-CB5E8038C31B}"/>
              </a:ext>
            </a:extLst>
          </p:cNvPr>
          <p:cNvSpPr>
            <a:spLocks noGrp="1" noChangeArrowheads="1"/>
          </p:cNvSpPr>
          <p:nvPr>
            <p:ph type="title"/>
          </p:nvPr>
        </p:nvSpPr>
        <p:spPr>
          <a:xfrm>
            <a:off x="1981200" y="223450"/>
            <a:ext cx="8229600" cy="576262"/>
          </a:xfrm>
        </p:spPr>
        <p:txBody>
          <a:bodyPr/>
          <a:lstStyle/>
          <a:p>
            <a:pPr eaLnBrk="1" hangingPunct="1"/>
            <a:r>
              <a:rPr lang="en-US" altLang="en-US" dirty="0"/>
              <a:t>Basic Concepts</a:t>
            </a:r>
          </a:p>
        </p:txBody>
      </p:sp>
      <p:sp>
        <p:nvSpPr>
          <p:cNvPr id="11266" name="Rectangle 3">
            <a:extLst>
              <a:ext uri="{FF2B5EF4-FFF2-40B4-BE49-F238E27FC236}">
                <a16:creationId xmlns:a16="http://schemas.microsoft.com/office/drawing/2014/main" id="{B2D356C4-1B27-4D4C-8A80-D241E2CD7B36}"/>
              </a:ext>
            </a:extLst>
          </p:cNvPr>
          <p:cNvSpPr>
            <a:spLocks noGrp="1" noChangeArrowheads="1"/>
          </p:cNvSpPr>
          <p:nvPr>
            <p:ph type="body" idx="1"/>
          </p:nvPr>
        </p:nvSpPr>
        <p:spPr>
          <a:xfrm>
            <a:off x="846293" y="1169989"/>
            <a:ext cx="3978275" cy="5057775"/>
          </a:xfrm>
        </p:spPr>
        <p:txBody>
          <a:bodyPr/>
          <a:lstStyle/>
          <a:p>
            <a:r>
              <a:rPr lang="en-US" altLang="en-US" sz="2000" dirty="0"/>
              <a:t>Maximum CPU utilization obtained with multiprogramming</a:t>
            </a:r>
          </a:p>
          <a:p>
            <a:r>
              <a:rPr lang="en-US" altLang="en-US" sz="2000" dirty="0"/>
              <a:t>CPU–I/O Burst Cycle – Process execution consists of a </a:t>
            </a:r>
            <a:r>
              <a:rPr lang="en-US" altLang="en-US" sz="2000" b="1" dirty="0">
                <a:solidFill>
                  <a:srgbClr val="006699"/>
                </a:solidFill>
                <a:latin typeface="+mj-lt"/>
              </a:rPr>
              <a:t>cycle</a:t>
            </a:r>
            <a:r>
              <a:rPr lang="en-US" altLang="en-US" sz="2000" dirty="0"/>
              <a:t> of CPU execution and I/O wait</a:t>
            </a:r>
          </a:p>
          <a:p>
            <a:r>
              <a:rPr lang="en-US" altLang="en-US" sz="2000" b="1" dirty="0">
                <a:solidFill>
                  <a:srgbClr val="006699"/>
                </a:solidFill>
                <a:latin typeface="+mj-lt"/>
              </a:rPr>
              <a:t>CPU</a:t>
            </a:r>
            <a:r>
              <a:rPr lang="en-US" altLang="en-US" sz="2000" b="1" dirty="0">
                <a:solidFill>
                  <a:srgbClr val="3366FF"/>
                </a:solidFill>
              </a:rPr>
              <a:t> </a:t>
            </a:r>
            <a:r>
              <a:rPr lang="en-US" altLang="en-US" sz="2000" b="1" dirty="0">
                <a:solidFill>
                  <a:srgbClr val="006699"/>
                </a:solidFill>
                <a:latin typeface="+mj-lt"/>
              </a:rPr>
              <a:t>burst</a:t>
            </a:r>
            <a:r>
              <a:rPr lang="en-US" altLang="en-US" sz="2000" b="1" dirty="0">
                <a:solidFill>
                  <a:srgbClr val="3366FF"/>
                </a:solidFill>
              </a:rPr>
              <a:t> </a:t>
            </a:r>
            <a:r>
              <a:rPr lang="en-US" altLang="en-US" sz="2000" dirty="0"/>
              <a:t>followed by </a:t>
            </a:r>
            <a:r>
              <a:rPr lang="en-US" altLang="en-US" sz="2000" b="1" dirty="0">
                <a:solidFill>
                  <a:srgbClr val="006699"/>
                </a:solidFill>
                <a:latin typeface="+mj-lt"/>
              </a:rPr>
              <a:t>I/O burst</a:t>
            </a:r>
          </a:p>
          <a:p>
            <a:r>
              <a:rPr lang="en-US" altLang="en-US" sz="2000" dirty="0"/>
              <a:t>CPU burst distribution is of main concern</a:t>
            </a:r>
          </a:p>
          <a:p>
            <a:pPr>
              <a:buFont typeface="Monotype Sorts" pitchFamily="-84" charset="2"/>
              <a:buNone/>
            </a:pPr>
            <a:endParaRPr lang="en-US" altLang="en-US" dirty="0"/>
          </a:p>
        </p:txBody>
      </p:sp>
      <p:pic>
        <p:nvPicPr>
          <p:cNvPr id="11267" name="Picture 1">
            <a:extLst>
              <a:ext uri="{FF2B5EF4-FFF2-40B4-BE49-F238E27FC236}">
                <a16:creationId xmlns:a16="http://schemas.microsoft.com/office/drawing/2014/main" id="{42D4194B-20FB-49DE-95E2-D3F1F7D61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30168" y="1005681"/>
            <a:ext cx="2985779" cy="5558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272FB29C-A265-4A5A-90F0-4EA35A17174F}"/>
              </a:ext>
            </a:extLst>
          </p:cNvPr>
          <p:cNvSpPr>
            <a:spLocks noGrp="1" noChangeArrowheads="1"/>
          </p:cNvSpPr>
          <p:nvPr>
            <p:ph type="title"/>
          </p:nvPr>
        </p:nvSpPr>
        <p:spPr>
          <a:xfrm>
            <a:off x="2590800" y="222868"/>
            <a:ext cx="7620000" cy="576262"/>
          </a:xfrm>
        </p:spPr>
        <p:txBody>
          <a:bodyPr/>
          <a:lstStyle/>
          <a:p>
            <a:pPr eaLnBrk="1" hangingPunct="1"/>
            <a:r>
              <a:rPr lang="en-US" altLang="en-US" dirty="0"/>
              <a:t>Histogram of CPU-burst Times</a:t>
            </a:r>
          </a:p>
        </p:txBody>
      </p:sp>
      <p:sp>
        <p:nvSpPr>
          <p:cNvPr id="13314" name="TextBox 2">
            <a:extLst>
              <a:ext uri="{FF2B5EF4-FFF2-40B4-BE49-F238E27FC236}">
                <a16:creationId xmlns:a16="http://schemas.microsoft.com/office/drawing/2014/main" id="{199A0D9E-EDB0-4B00-B274-814CD65DE927}"/>
              </a:ext>
            </a:extLst>
          </p:cNvPr>
          <p:cNvSpPr txBox="1">
            <a:spLocks noChangeArrowheads="1"/>
          </p:cNvSpPr>
          <p:nvPr/>
        </p:nvSpPr>
        <p:spPr bwMode="auto">
          <a:xfrm>
            <a:off x="2803526" y="1323975"/>
            <a:ext cx="3725863" cy="922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a:latin typeface="Verdana" panose="020B0604030504040204" pitchFamily="34" charset="0"/>
              </a:rPr>
              <a:t>Large number of short bursts</a:t>
            </a:r>
          </a:p>
          <a:p>
            <a:pPr>
              <a:spcBef>
                <a:spcPct val="0"/>
              </a:spcBef>
              <a:buClrTx/>
              <a:buSzTx/>
              <a:buFontTx/>
              <a:buNone/>
            </a:pPr>
            <a:endParaRPr kumimoji="0" lang="en-US" altLang="en-US">
              <a:latin typeface="Verdana" panose="020B0604030504040204" pitchFamily="34" charset="0"/>
            </a:endParaRPr>
          </a:p>
          <a:p>
            <a:pPr>
              <a:spcBef>
                <a:spcPct val="0"/>
              </a:spcBef>
              <a:buClrTx/>
              <a:buSzTx/>
              <a:buFontTx/>
              <a:buNone/>
            </a:pPr>
            <a:r>
              <a:rPr kumimoji="0" lang="en-US" altLang="en-US">
                <a:latin typeface="Verdana" panose="020B0604030504040204" pitchFamily="34" charset="0"/>
              </a:rPr>
              <a:t>Small number of longer bursts</a:t>
            </a:r>
          </a:p>
        </p:txBody>
      </p:sp>
      <p:pic>
        <p:nvPicPr>
          <p:cNvPr id="13315" name="Picture 1">
            <a:extLst>
              <a:ext uri="{FF2B5EF4-FFF2-40B4-BE49-F238E27FC236}">
                <a16:creationId xmlns:a16="http://schemas.microsoft.com/office/drawing/2014/main" id="{A278EA04-1701-4441-AB9A-E05347064EE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00811" y="2760164"/>
            <a:ext cx="6190377" cy="370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362200" y="229606"/>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1327356" y="1169989"/>
            <a:ext cx="10323870" cy="5157069"/>
          </a:xfrm>
        </p:spPr>
        <p:txBody>
          <a:bodyPr/>
          <a:lstStyle/>
          <a:p>
            <a:pPr>
              <a:defRPr/>
            </a:pPr>
            <a:r>
              <a:rPr lang="en-US" sz="2000" dirty="0">
                <a:ea typeface="ＭＳ Ｐゴシック" charset="0"/>
                <a:cs typeface="ＭＳ Ｐゴシック" charset="0"/>
              </a:rPr>
              <a:t>The</a:t>
            </a:r>
            <a:r>
              <a:rPr lang="en-US" sz="2000" b="1" dirty="0">
                <a:solidFill>
                  <a:srgbClr val="3366FF"/>
                </a:solidFill>
                <a:ea typeface="ＭＳ Ｐゴシック" charset="0"/>
                <a:cs typeface="ＭＳ Ｐゴシック" charset="0"/>
              </a:rPr>
              <a:t> </a:t>
            </a:r>
            <a:r>
              <a:rPr lang="en-US" sz="2000" b="1" dirty="0">
                <a:solidFill>
                  <a:srgbClr val="006699"/>
                </a:solidFill>
                <a:latin typeface="+mj-lt"/>
              </a:rPr>
              <a:t>CPU scheduler </a:t>
            </a:r>
            <a:r>
              <a:rPr lang="en-US" sz="2000" dirty="0">
                <a:ea typeface="ＭＳ Ｐゴシック" charset="-128"/>
                <a:cs typeface="ＭＳ Ｐゴシック" charset="-128"/>
              </a:rPr>
              <a:t>selects from among the processes in ready queue, and allocates a CPU core to one of them</a:t>
            </a:r>
          </a:p>
          <a:p>
            <a:pPr marL="742835" lvl="1">
              <a:defRPr/>
            </a:pPr>
            <a:r>
              <a:rPr lang="en-US" sz="2000" dirty="0">
                <a:ea typeface="ＭＳ Ｐゴシック" charset="-128"/>
              </a:rPr>
              <a:t>Queue may be ordered in various ways</a:t>
            </a:r>
          </a:p>
          <a:p>
            <a:pPr>
              <a:defRPr/>
            </a:pPr>
            <a:r>
              <a:rPr lang="en-US" sz="2000" dirty="0">
                <a:ea typeface="ＭＳ Ｐゴシック" charset="-128"/>
                <a:cs typeface="ＭＳ Ｐゴシック" charset="-128"/>
              </a:rPr>
              <a:t>CPU scheduling decisions may take place when a process:</a:t>
            </a:r>
          </a:p>
          <a:p>
            <a:pPr marL="799900" lvl="1" indent="-342815">
              <a:buNone/>
              <a:defRPr/>
            </a:pPr>
            <a:r>
              <a:rPr lang="en-US" sz="2000" dirty="0">
                <a:solidFill>
                  <a:srgbClr val="CC6600"/>
                </a:solidFill>
                <a:ea typeface="ＭＳ Ｐゴシック" charset="-128"/>
              </a:rPr>
              <a:t>1.	</a:t>
            </a:r>
            <a:r>
              <a:rPr lang="en-US" sz="2000" dirty="0">
                <a:ea typeface="ＭＳ Ｐゴシック" charset="-128"/>
              </a:rPr>
              <a:t>Switches from running to waiting state</a:t>
            </a:r>
          </a:p>
          <a:p>
            <a:pPr marL="799900" lvl="1" indent="-342815">
              <a:buNone/>
              <a:defRPr/>
            </a:pPr>
            <a:r>
              <a:rPr lang="en-US" sz="2000" dirty="0">
                <a:solidFill>
                  <a:srgbClr val="CC6600"/>
                </a:solidFill>
                <a:ea typeface="ＭＳ Ｐゴシック" charset="-128"/>
              </a:rPr>
              <a:t>2.</a:t>
            </a:r>
            <a:r>
              <a:rPr lang="en-US" sz="2000" dirty="0">
                <a:ea typeface="ＭＳ Ｐゴシック" charset="-128"/>
              </a:rPr>
              <a:t>	Switches from running to ready state</a:t>
            </a:r>
          </a:p>
          <a:p>
            <a:pPr marL="799900" lvl="1" indent="-342815">
              <a:buNone/>
              <a:defRPr/>
            </a:pPr>
            <a:r>
              <a:rPr lang="en-US" sz="2000" dirty="0">
                <a:solidFill>
                  <a:srgbClr val="CC6600"/>
                </a:solidFill>
                <a:ea typeface="ＭＳ Ｐゴシック" charset="-128"/>
              </a:rPr>
              <a:t>3.</a:t>
            </a:r>
            <a:r>
              <a:rPr lang="en-US" sz="2000" dirty="0">
                <a:ea typeface="ＭＳ Ｐゴシック" charset="-128"/>
              </a:rPr>
              <a:t>	Switches from waiting to ready</a:t>
            </a:r>
          </a:p>
          <a:p>
            <a:pPr marL="799900" lvl="1" indent="-342815">
              <a:buFont typeface="Monotype Sorts" charset="2"/>
              <a:buAutoNum type="arabicPeriod" startAt="4"/>
              <a:defRPr/>
            </a:pPr>
            <a:r>
              <a:rPr lang="en-US" sz="2000" dirty="0">
                <a:ea typeface="ＭＳ Ｐゴシック" charset="-128"/>
              </a:rPr>
              <a:t>Terminates</a:t>
            </a:r>
          </a:p>
          <a:p>
            <a:pPr>
              <a:defRPr/>
            </a:pPr>
            <a:r>
              <a:rPr lang="en-US" sz="2000" dirty="0">
                <a:ea typeface="ＭＳ Ｐゴシック" charset="-128"/>
                <a:cs typeface="ＭＳ Ｐゴシック" charset="-128"/>
              </a:rPr>
              <a:t>For situations 1 and 4, there is no choice in terms of scheduling. A new process (if one exists in the ready queue) must be selected for execution. </a:t>
            </a:r>
          </a:p>
          <a:p>
            <a:pPr>
              <a:defRPr/>
            </a:pPr>
            <a:r>
              <a:rPr lang="en-US" sz="2000" dirty="0">
                <a:ea typeface="ＭＳ Ｐゴシック" charset="-128"/>
                <a:cs typeface="ＭＳ Ｐゴシック" charset="-128"/>
              </a:rPr>
              <a:t>For situations 2 and 3, however, there is  a choice.</a:t>
            </a:r>
            <a:endParaRPr lang="en-US" sz="2000" b="1" dirty="0">
              <a:solidFill>
                <a:srgbClr val="3366FF"/>
              </a:solidFill>
              <a:ea typeface="ＭＳ Ｐゴシック" charset="0"/>
              <a:cs typeface="ＭＳ Ｐゴシック"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760777" y="167086"/>
            <a:ext cx="7848600" cy="576262"/>
          </a:xfrm>
        </p:spPr>
        <p:txBody>
          <a:bodyPr/>
          <a:lstStyle/>
          <a:p>
            <a:pPr eaLnBrk="1" hangingPunct="1"/>
            <a:r>
              <a:rPr lang="en-US" altLang="en-US" sz="2800" dirty="0"/>
              <a:t>Preemptive and Nonpreemptive Scheduling</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914400" y="1193435"/>
            <a:ext cx="10781071" cy="4707181"/>
          </a:xfrm>
        </p:spPr>
        <p:txBody>
          <a:bodyPr/>
          <a:lstStyle/>
          <a:p>
            <a:pPr>
              <a:defRPr/>
            </a:pPr>
            <a:r>
              <a:rPr lang="en-US" sz="2000" dirty="0">
                <a:ea typeface="ＭＳ Ｐゴシック" charset="0"/>
              </a:rPr>
              <a:t>When scheduling takes place only under circumstances 1 and 4, the scheduling scheme is </a:t>
            </a:r>
            <a:r>
              <a:rPr lang="en-US" sz="2000" b="1" dirty="0">
                <a:solidFill>
                  <a:srgbClr val="006699"/>
                </a:solidFill>
                <a:latin typeface="+mj-lt"/>
              </a:rPr>
              <a:t>nonpreemptive</a:t>
            </a:r>
            <a:r>
              <a:rPr lang="en-US" sz="2000" dirty="0">
                <a:ea typeface="ＭＳ Ｐゴシック" charset="0"/>
              </a:rPr>
              <a:t>.</a:t>
            </a:r>
          </a:p>
          <a:p>
            <a:pPr>
              <a:defRPr/>
            </a:pPr>
            <a:r>
              <a:rPr lang="en-US" sz="2000" dirty="0">
                <a:ea typeface="ＭＳ Ｐゴシック" charset="0"/>
              </a:rPr>
              <a:t>Otherwise, it is </a:t>
            </a:r>
            <a:r>
              <a:rPr lang="en-US" sz="2000" b="1" dirty="0">
                <a:solidFill>
                  <a:srgbClr val="006699"/>
                </a:solidFill>
                <a:latin typeface="+mj-lt"/>
              </a:rPr>
              <a:t>preemptive</a:t>
            </a:r>
            <a:r>
              <a:rPr lang="en-US" sz="2000" dirty="0">
                <a:ea typeface="ＭＳ Ｐゴシック" charset="0"/>
              </a:rPr>
              <a:t>. </a:t>
            </a:r>
          </a:p>
          <a:p>
            <a:pPr>
              <a:defRPr/>
            </a:pPr>
            <a:r>
              <a:rPr lang="en-US" sz="2000" dirty="0">
                <a:ea typeface="ＭＳ Ｐゴシック" charset="0"/>
              </a:rPr>
              <a:t>Under Nonpreemptive scheduling, once the CPU has been allocated to a process, the process keeps the CPU until it releases it either by terminating or by switching to the waiting state. </a:t>
            </a:r>
          </a:p>
          <a:p>
            <a:pPr>
              <a:defRPr/>
            </a:pPr>
            <a:r>
              <a:rPr lang="en-US" sz="2000" dirty="0">
                <a:ea typeface="ＭＳ Ｐゴシック" charset="0"/>
              </a:rPr>
              <a:t>Virtually all modern operating systems including Windows, MacOS, Linux, and UNIX use preemptive scheduling algorithms.</a:t>
            </a:r>
            <a:endParaRPr lang="en-US" sz="2000" dirty="0">
              <a:ea typeface="ＭＳ Ｐゴシック" charset="-128"/>
            </a:endParaRPr>
          </a:p>
        </p:txBody>
      </p:sp>
    </p:spTree>
    <p:extLst>
      <p:ext uri="{BB962C8B-B14F-4D97-AF65-F5344CB8AC3E}">
        <p14:creationId xmlns:p14="http://schemas.microsoft.com/office/powerpoint/2010/main" val="37287294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1EB4A270-3C01-4E70-B6CB-FA456BBCDA90}"/>
              </a:ext>
            </a:extLst>
          </p:cNvPr>
          <p:cNvSpPr>
            <a:spLocks noGrp="1" noChangeArrowheads="1"/>
          </p:cNvSpPr>
          <p:nvPr>
            <p:ph type="title"/>
          </p:nvPr>
        </p:nvSpPr>
        <p:spPr>
          <a:xfrm>
            <a:off x="2760777" y="167086"/>
            <a:ext cx="7848600" cy="576262"/>
          </a:xfrm>
        </p:spPr>
        <p:txBody>
          <a:bodyPr/>
          <a:lstStyle/>
          <a:p>
            <a:pPr eaLnBrk="1" hangingPunct="1"/>
            <a:r>
              <a:rPr lang="en-US" altLang="en-US" sz="2800" dirty="0"/>
              <a:t>Preemptive Scheduling and Race Conditions</a:t>
            </a:r>
          </a:p>
        </p:txBody>
      </p:sp>
      <p:sp>
        <p:nvSpPr>
          <p:cNvPr id="27651" name="Rectangle 3">
            <a:extLst>
              <a:ext uri="{FF2B5EF4-FFF2-40B4-BE49-F238E27FC236}">
                <a16:creationId xmlns:a16="http://schemas.microsoft.com/office/drawing/2014/main" id="{6B795676-7DD0-4F16-8B81-4EFFF754D531}"/>
              </a:ext>
            </a:extLst>
          </p:cNvPr>
          <p:cNvSpPr>
            <a:spLocks noGrp="1" noChangeArrowheads="1"/>
          </p:cNvSpPr>
          <p:nvPr>
            <p:ph type="body" idx="1"/>
          </p:nvPr>
        </p:nvSpPr>
        <p:spPr>
          <a:xfrm>
            <a:off x="1438346" y="1118394"/>
            <a:ext cx="8634802" cy="4621212"/>
          </a:xfrm>
        </p:spPr>
        <p:txBody>
          <a:bodyPr/>
          <a:lstStyle/>
          <a:p>
            <a:pPr>
              <a:defRPr/>
            </a:pPr>
            <a:r>
              <a:rPr lang="en-US" sz="2000" dirty="0">
                <a:ea typeface="ＭＳ Ｐゴシック" charset="0"/>
              </a:rPr>
              <a:t>Preemptive scheduling can result in race conditions when data are shared among several processes.</a:t>
            </a:r>
          </a:p>
          <a:p>
            <a:pPr>
              <a:defRPr/>
            </a:pPr>
            <a:r>
              <a:rPr lang="en-US" sz="2000" dirty="0">
                <a:ea typeface="ＭＳ Ｐゴシック" charset="0"/>
              </a:rPr>
              <a:t>Consider the case of two processes that share data. While one process is updating the data, it is preempted so that the second process can run. The second process then tries to read the data, which are in an inconsistent state. </a:t>
            </a:r>
          </a:p>
          <a:p>
            <a:pPr>
              <a:defRPr/>
            </a:pPr>
            <a:r>
              <a:rPr lang="en-US" sz="2000" dirty="0">
                <a:ea typeface="ＭＳ Ｐゴシック" charset="0"/>
              </a:rPr>
              <a:t>This issue will be explored in detail in Chapter 6.</a:t>
            </a:r>
            <a:endParaRPr lang="en-US" sz="2000" dirty="0">
              <a:ea typeface="ＭＳ Ｐゴシック" charset="-128"/>
            </a:endParaRPr>
          </a:p>
        </p:txBody>
      </p:sp>
    </p:spTree>
    <p:extLst>
      <p:ext uri="{BB962C8B-B14F-4D97-AF65-F5344CB8AC3E}">
        <p14:creationId xmlns:p14="http://schemas.microsoft.com/office/powerpoint/2010/main" val="30464567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C185CC1F-4F14-4AFD-8E13-6930EBB32CE9}"/>
              </a:ext>
            </a:extLst>
          </p:cNvPr>
          <p:cNvSpPr>
            <a:spLocks noGrp="1" noChangeArrowheads="1"/>
          </p:cNvSpPr>
          <p:nvPr>
            <p:ph type="title"/>
          </p:nvPr>
        </p:nvSpPr>
        <p:spPr>
          <a:xfrm>
            <a:off x="1981200" y="217330"/>
            <a:ext cx="8229600" cy="576263"/>
          </a:xfrm>
        </p:spPr>
        <p:txBody>
          <a:bodyPr/>
          <a:lstStyle/>
          <a:p>
            <a:pPr eaLnBrk="1" hangingPunct="1"/>
            <a:r>
              <a:rPr lang="en-US" altLang="en-US" dirty="0"/>
              <a:t>Dispatcher</a:t>
            </a:r>
          </a:p>
        </p:txBody>
      </p:sp>
      <p:sp>
        <p:nvSpPr>
          <p:cNvPr id="17410" name="Rectangle 3">
            <a:extLst>
              <a:ext uri="{FF2B5EF4-FFF2-40B4-BE49-F238E27FC236}">
                <a16:creationId xmlns:a16="http://schemas.microsoft.com/office/drawing/2014/main" id="{E113DAE6-D3A7-45EF-87B5-890976FCB8D4}"/>
              </a:ext>
            </a:extLst>
          </p:cNvPr>
          <p:cNvSpPr>
            <a:spLocks noGrp="1" noChangeArrowheads="1"/>
          </p:cNvSpPr>
          <p:nvPr>
            <p:ph type="body" idx="1"/>
          </p:nvPr>
        </p:nvSpPr>
        <p:spPr>
          <a:xfrm>
            <a:off x="671058" y="1098693"/>
            <a:ext cx="5424941" cy="5169372"/>
          </a:xfrm>
        </p:spPr>
        <p:txBody>
          <a:bodyPr/>
          <a:lstStyle/>
          <a:p>
            <a:r>
              <a:rPr lang="en-US" altLang="en-US" sz="2000" dirty="0"/>
              <a:t>Dispatcher module gives control of the CPU to the process selected by the CPU scheduler; this involves:</a:t>
            </a:r>
          </a:p>
          <a:p>
            <a:pPr lvl="1"/>
            <a:r>
              <a:rPr lang="en-US" altLang="en-US" sz="2000" dirty="0"/>
              <a:t>Switching context</a:t>
            </a:r>
          </a:p>
          <a:p>
            <a:pPr lvl="1"/>
            <a:r>
              <a:rPr lang="en-US" altLang="en-US" sz="2000" dirty="0"/>
              <a:t>Switching to user mode</a:t>
            </a:r>
          </a:p>
          <a:p>
            <a:pPr lvl="1"/>
            <a:r>
              <a:rPr lang="en-US" altLang="en-US" sz="2000" dirty="0"/>
              <a:t>Jumping to the proper location in the user program to restart that program</a:t>
            </a:r>
          </a:p>
          <a:p>
            <a:r>
              <a:rPr lang="en-US" altLang="en-US" sz="2000" b="1" dirty="0">
                <a:solidFill>
                  <a:srgbClr val="006699"/>
                </a:solidFill>
                <a:latin typeface="+mj-lt"/>
              </a:rPr>
              <a:t>Dispatch latency </a:t>
            </a:r>
            <a:r>
              <a:rPr lang="en-US" altLang="en-US" sz="2000" dirty="0"/>
              <a:t>– time it takes for the dispatcher to stop one process and start another running</a:t>
            </a:r>
          </a:p>
        </p:txBody>
      </p:sp>
      <p:pic>
        <p:nvPicPr>
          <p:cNvPr id="17411" name="Picture 1">
            <a:extLst>
              <a:ext uri="{FF2B5EF4-FFF2-40B4-BE49-F238E27FC236}">
                <a16:creationId xmlns:a16="http://schemas.microsoft.com/office/drawing/2014/main" id="{4B24D036-ECCD-4EE8-9908-C3EEA54E5C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53468" y="1209306"/>
            <a:ext cx="6162323" cy="4144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684BC100-CBCD-4FBD-A30F-9EBDD59CA0FB}"/>
              </a:ext>
            </a:extLst>
          </p:cNvPr>
          <p:cNvSpPr>
            <a:spLocks noGrp="1" noChangeArrowheads="1"/>
          </p:cNvSpPr>
          <p:nvPr>
            <p:ph type="title"/>
          </p:nvPr>
        </p:nvSpPr>
        <p:spPr>
          <a:xfrm>
            <a:off x="2514600" y="214313"/>
            <a:ext cx="7696200" cy="576262"/>
          </a:xfrm>
        </p:spPr>
        <p:txBody>
          <a:bodyPr/>
          <a:lstStyle/>
          <a:p>
            <a:pPr eaLnBrk="1" hangingPunct="1"/>
            <a:r>
              <a:rPr lang="en-US" altLang="en-US" dirty="0"/>
              <a:t>Scheduling Criteria</a:t>
            </a:r>
          </a:p>
        </p:txBody>
      </p:sp>
      <p:sp>
        <p:nvSpPr>
          <p:cNvPr id="19458" name="Rectangle 3">
            <a:extLst>
              <a:ext uri="{FF2B5EF4-FFF2-40B4-BE49-F238E27FC236}">
                <a16:creationId xmlns:a16="http://schemas.microsoft.com/office/drawing/2014/main" id="{4338C466-115B-47DE-A288-6C7152DF0770}"/>
              </a:ext>
            </a:extLst>
          </p:cNvPr>
          <p:cNvSpPr>
            <a:spLocks noGrp="1" noChangeArrowheads="1"/>
          </p:cNvSpPr>
          <p:nvPr>
            <p:ph type="body" idx="1"/>
          </p:nvPr>
        </p:nvSpPr>
        <p:spPr>
          <a:xfrm>
            <a:off x="1106129" y="1246189"/>
            <a:ext cx="10220631" cy="4904520"/>
          </a:xfrm>
        </p:spPr>
        <p:txBody>
          <a:bodyPr/>
          <a:lstStyle/>
          <a:p>
            <a:r>
              <a:rPr lang="en-US" altLang="en-US" sz="2000" b="1" dirty="0"/>
              <a:t>CPU utilization </a:t>
            </a:r>
            <a:r>
              <a:rPr lang="en-US" altLang="en-US" sz="2000" dirty="0"/>
              <a:t>– keep the CPU as busy as possible</a:t>
            </a:r>
          </a:p>
          <a:p>
            <a:endParaRPr lang="en-US" altLang="en-US" sz="2000" b="1" dirty="0"/>
          </a:p>
          <a:p>
            <a:r>
              <a:rPr lang="en-US" altLang="en-US" sz="2000" b="1" dirty="0"/>
              <a:t>Throughput</a:t>
            </a:r>
            <a:r>
              <a:rPr lang="en-US" altLang="en-US" sz="2000" dirty="0"/>
              <a:t> – # of processes that complete their execution per time unit</a:t>
            </a:r>
          </a:p>
          <a:p>
            <a:endParaRPr lang="en-US" altLang="en-US" sz="2000" b="1" dirty="0"/>
          </a:p>
          <a:p>
            <a:r>
              <a:rPr lang="en-US" altLang="en-US" sz="2000" b="1" dirty="0"/>
              <a:t>Turnaround time </a:t>
            </a:r>
            <a:r>
              <a:rPr lang="en-US" altLang="en-US" sz="2000" dirty="0"/>
              <a:t>– amount of time to execute a particular process</a:t>
            </a:r>
          </a:p>
          <a:p>
            <a:endParaRPr lang="en-US" altLang="en-US" sz="2000" b="1" dirty="0"/>
          </a:p>
          <a:p>
            <a:r>
              <a:rPr lang="en-US" altLang="en-US" sz="2000" b="1" dirty="0"/>
              <a:t>Waiting time </a:t>
            </a:r>
            <a:r>
              <a:rPr lang="en-US" altLang="en-US" sz="2000" dirty="0"/>
              <a:t>– amount of time a process has been waiting in the ready queue</a:t>
            </a:r>
          </a:p>
          <a:p>
            <a:endParaRPr lang="en-US" altLang="en-US" sz="2000" b="1" dirty="0"/>
          </a:p>
          <a:p>
            <a:r>
              <a:rPr lang="en-US" altLang="en-US" sz="2000" b="1" dirty="0"/>
              <a:t>Response time </a:t>
            </a:r>
            <a:r>
              <a:rPr lang="en-US" altLang="en-US" sz="2000" dirty="0"/>
              <a:t>– amount of time it takes from when a request was submitted until the first response is produced.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A22DB2EC-3AE5-4A50-BF1F-F8FE7B96CE4B}"/>
              </a:ext>
            </a:extLst>
          </p:cNvPr>
          <p:cNvSpPr>
            <a:spLocks noGrp="1" noChangeArrowheads="1"/>
          </p:cNvSpPr>
          <p:nvPr>
            <p:ph type="title"/>
          </p:nvPr>
        </p:nvSpPr>
        <p:spPr>
          <a:xfrm>
            <a:off x="2947451" y="143942"/>
            <a:ext cx="7513637" cy="576262"/>
          </a:xfrm>
        </p:spPr>
        <p:txBody>
          <a:bodyPr/>
          <a:lstStyle/>
          <a:p>
            <a:pPr eaLnBrk="1" hangingPunct="1"/>
            <a:r>
              <a:rPr lang="en-US" altLang="en-US" sz="2800" dirty="0"/>
              <a:t>Scheduling Algorithm Optimization Criteria</a:t>
            </a:r>
          </a:p>
        </p:txBody>
      </p:sp>
      <p:sp>
        <p:nvSpPr>
          <p:cNvPr id="21506" name="Rectangle 3">
            <a:extLst>
              <a:ext uri="{FF2B5EF4-FFF2-40B4-BE49-F238E27FC236}">
                <a16:creationId xmlns:a16="http://schemas.microsoft.com/office/drawing/2014/main" id="{DA102F21-0BD1-4162-8066-37183DF9B945}"/>
              </a:ext>
            </a:extLst>
          </p:cNvPr>
          <p:cNvSpPr>
            <a:spLocks noGrp="1" noChangeArrowheads="1"/>
          </p:cNvSpPr>
          <p:nvPr>
            <p:ph type="body" idx="1"/>
          </p:nvPr>
        </p:nvSpPr>
        <p:spPr>
          <a:xfrm>
            <a:off x="2376488" y="1113511"/>
            <a:ext cx="6115050" cy="4483100"/>
          </a:xfrm>
        </p:spPr>
        <p:txBody>
          <a:bodyPr/>
          <a:lstStyle/>
          <a:p>
            <a:r>
              <a:rPr lang="en-US" altLang="en-US" sz="2000" dirty="0"/>
              <a:t>Max CPU utilization</a:t>
            </a:r>
          </a:p>
          <a:p>
            <a:r>
              <a:rPr lang="en-US" altLang="en-US" sz="2000" dirty="0"/>
              <a:t>Max throughput</a:t>
            </a:r>
          </a:p>
          <a:p>
            <a:r>
              <a:rPr lang="en-US" altLang="en-US" sz="2000" dirty="0"/>
              <a:t>Min turnaround time </a:t>
            </a:r>
          </a:p>
          <a:p>
            <a:r>
              <a:rPr lang="en-US" altLang="en-US" sz="2000" dirty="0"/>
              <a:t>Min waiting time </a:t>
            </a:r>
          </a:p>
          <a:p>
            <a:r>
              <a:rPr lang="en-US" altLang="en-US" sz="2000" dirty="0"/>
              <a:t>Min response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a:extLst>
              <a:ext uri="{FF2B5EF4-FFF2-40B4-BE49-F238E27FC236}">
                <a16:creationId xmlns:a16="http://schemas.microsoft.com/office/drawing/2014/main" id="{A3AF8A99-5400-4B88-80AE-AE6C448E0574}"/>
              </a:ext>
            </a:extLst>
          </p:cNvPr>
          <p:cNvSpPr>
            <a:spLocks noGrp="1" noChangeArrowheads="1"/>
          </p:cNvSpPr>
          <p:nvPr>
            <p:ph type="title"/>
          </p:nvPr>
        </p:nvSpPr>
        <p:spPr>
          <a:xfrm>
            <a:off x="2631397" y="287515"/>
            <a:ext cx="7997825" cy="457200"/>
          </a:xfrm>
        </p:spPr>
        <p:txBody>
          <a:bodyPr/>
          <a:lstStyle/>
          <a:p>
            <a:pPr eaLnBrk="1" hangingPunct="1"/>
            <a:r>
              <a:rPr lang="en-US" altLang="en-US" sz="2800" dirty="0"/>
              <a:t>First- Come, First-Served (FCFS) Scheduling</a:t>
            </a:r>
          </a:p>
        </p:txBody>
      </p:sp>
      <p:sp>
        <p:nvSpPr>
          <p:cNvPr id="23554" name="Rectangle 3">
            <a:extLst>
              <a:ext uri="{FF2B5EF4-FFF2-40B4-BE49-F238E27FC236}">
                <a16:creationId xmlns:a16="http://schemas.microsoft.com/office/drawing/2014/main" id="{00593719-A5A4-4326-8529-37EC324927D6}"/>
              </a:ext>
            </a:extLst>
          </p:cNvPr>
          <p:cNvSpPr>
            <a:spLocks noGrp="1" noChangeArrowheads="1"/>
          </p:cNvSpPr>
          <p:nvPr>
            <p:ph type="body" idx="1"/>
          </p:nvPr>
        </p:nvSpPr>
        <p:spPr>
          <a:xfrm>
            <a:off x="1622323" y="1250949"/>
            <a:ext cx="9556954" cy="4810637"/>
          </a:xfrm>
        </p:spPr>
        <p:txBody>
          <a:bodyPr/>
          <a:lstStyle/>
          <a:p>
            <a:pPr>
              <a:lnSpc>
                <a:spcPct val="90000"/>
              </a:lnSpc>
              <a:buNone/>
              <a:tabLst>
                <a:tab pos="3028950" algn="ctr"/>
                <a:tab pos="4633913" algn="ctr"/>
              </a:tabLst>
            </a:pPr>
            <a:r>
              <a:rPr lang="en-US" altLang="en-US" sz="1600" dirty="0"/>
              <a:t>		</a:t>
            </a:r>
            <a:r>
              <a:rPr lang="en-US" altLang="en-US" u="sng" dirty="0"/>
              <a:t>Process</a:t>
            </a:r>
            <a:r>
              <a:rPr lang="en-US" altLang="en-US" dirty="0"/>
              <a:t>	</a:t>
            </a:r>
            <a:r>
              <a:rPr lang="en-US" altLang="en-US" u="sng" dirty="0"/>
              <a:t>Burst Time	</a:t>
            </a:r>
          </a:p>
          <a:p>
            <a:pPr>
              <a:lnSpc>
                <a:spcPct val="90000"/>
              </a:lnSpc>
              <a:buNone/>
              <a:tabLst>
                <a:tab pos="3028950" algn="ctr"/>
                <a:tab pos="4633913" algn="ctr"/>
              </a:tabLst>
            </a:pPr>
            <a:r>
              <a:rPr lang="en-US" altLang="en-US" dirty="0"/>
              <a:t>		 </a:t>
            </a:r>
            <a:r>
              <a:rPr lang="en-US" altLang="en-US" i="1" dirty="0"/>
              <a:t>P</a:t>
            </a:r>
            <a:r>
              <a:rPr lang="en-US" altLang="en-US" i="1" baseline="-25000" dirty="0"/>
              <a:t>1</a:t>
            </a:r>
            <a:r>
              <a:rPr lang="en-US" altLang="en-US" dirty="0"/>
              <a:t>	24</a:t>
            </a:r>
          </a:p>
          <a:p>
            <a:pPr>
              <a:lnSpc>
                <a:spcPct val="90000"/>
              </a:lnSpc>
              <a:buNone/>
              <a:tabLst>
                <a:tab pos="3028950" algn="ctr"/>
                <a:tab pos="4633913" algn="ctr"/>
              </a:tabLst>
            </a:pPr>
            <a:r>
              <a:rPr lang="en-US" altLang="en-US" dirty="0"/>
              <a:t>		 </a:t>
            </a:r>
            <a:r>
              <a:rPr lang="en-US" altLang="en-US" i="1" dirty="0"/>
              <a:t>P</a:t>
            </a:r>
            <a:r>
              <a:rPr lang="en-US" altLang="en-US" i="1" baseline="-25000" dirty="0"/>
              <a:t>2</a:t>
            </a:r>
            <a:r>
              <a:rPr lang="en-US" altLang="en-US" dirty="0"/>
              <a:t> 	3</a:t>
            </a:r>
          </a:p>
          <a:p>
            <a:pPr>
              <a:lnSpc>
                <a:spcPct val="90000"/>
              </a:lnSpc>
              <a:buNone/>
              <a:tabLst>
                <a:tab pos="3028950" algn="ctr"/>
                <a:tab pos="4633913" algn="ctr"/>
              </a:tabLst>
            </a:pPr>
            <a:r>
              <a:rPr lang="en-US" altLang="en-US" dirty="0"/>
              <a:t>		 </a:t>
            </a:r>
            <a:r>
              <a:rPr lang="en-US" altLang="en-US" i="1" dirty="0"/>
              <a:t>P</a:t>
            </a:r>
            <a:r>
              <a:rPr lang="en-US" altLang="en-US" i="1" baseline="-25000" dirty="0"/>
              <a:t>3	 </a:t>
            </a:r>
            <a:r>
              <a:rPr lang="en-US" altLang="en-US" dirty="0"/>
              <a:t>3</a:t>
            </a:r>
            <a:r>
              <a:rPr lang="en-US" altLang="en-US" i="1" baseline="-25000" dirty="0"/>
              <a:t> </a:t>
            </a:r>
          </a:p>
          <a:p>
            <a:pPr>
              <a:lnSpc>
                <a:spcPct val="90000"/>
              </a:lnSpc>
              <a:tabLst>
                <a:tab pos="3028950" algn="ctr"/>
                <a:tab pos="4633913" algn="ctr"/>
              </a:tabLst>
            </a:pPr>
            <a:r>
              <a:rPr lang="en-US" altLang="en-US" dirty="0"/>
              <a:t>Suppose that the processes arrive in the order: </a:t>
            </a:r>
            <a:r>
              <a:rPr lang="en-US" altLang="en-US" i="1" dirty="0"/>
              <a:t>P</a:t>
            </a:r>
            <a:r>
              <a:rPr lang="en-US" altLang="en-US" i="1" baseline="-25000" dirty="0"/>
              <a:t>1</a:t>
            </a:r>
            <a:r>
              <a:rPr lang="en-US" altLang="en-US" dirty="0"/>
              <a:t> , </a:t>
            </a:r>
            <a:r>
              <a:rPr lang="en-US" altLang="en-US" i="1" dirty="0"/>
              <a:t>P</a:t>
            </a:r>
            <a:r>
              <a:rPr lang="en-US" altLang="en-US" i="1" baseline="-25000" dirty="0"/>
              <a:t>2</a:t>
            </a:r>
            <a:r>
              <a:rPr lang="en-US" altLang="en-US" dirty="0"/>
              <a:t> , </a:t>
            </a:r>
            <a:r>
              <a:rPr lang="en-US" altLang="en-US" i="1" dirty="0"/>
              <a:t>P</a:t>
            </a:r>
            <a:r>
              <a:rPr lang="en-US" altLang="en-US" i="1" baseline="-25000" dirty="0"/>
              <a:t>3  </a:t>
            </a:r>
            <a:br>
              <a:rPr lang="en-US" altLang="en-US" i="1" baseline="-25000" dirty="0"/>
            </a:br>
            <a:r>
              <a:rPr lang="en-US" altLang="en-US" dirty="0"/>
              <a:t>The Gantt Chart for the schedule is:</a:t>
            </a:r>
            <a:br>
              <a:rPr lang="en-US" altLang="en-US" dirty="0"/>
            </a:br>
            <a:br>
              <a:rPr lang="en-US" altLang="en-US" sz="1600" dirty="0"/>
            </a:br>
            <a:br>
              <a:rPr lang="en-US" altLang="en-US" sz="1600" dirty="0"/>
            </a:br>
            <a:br>
              <a:rPr lang="en-US" altLang="en-US" sz="1600" dirty="0"/>
            </a:br>
            <a:br>
              <a:rPr lang="en-US" altLang="en-US" sz="1600" dirty="0"/>
            </a:br>
            <a:endParaRPr lang="en-US" altLang="en-US" sz="1600" dirty="0"/>
          </a:p>
          <a:p>
            <a:pPr>
              <a:lnSpc>
                <a:spcPct val="90000"/>
              </a:lnSpc>
              <a:buNone/>
              <a:tabLst>
                <a:tab pos="3028950" algn="ctr"/>
                <a:tab pos="4633913" algn="ctr"/>
              </a:tabLst>
            </a:pPr>
            <a:endParaRPr lang="en-US" altLang="en-US" sz="1600" dirty="0"/>
          </a:p>
          <a:p>
            <a:pPr>
              <a:lnSpc>
                <a:spcPct val="90000"/>
              </a:lnSpc>
              <a:tabLst>
                <a:tab pos="3028950" algn="ctr"/>
                <a:tab pos="4633913" algn="ctr"/>
              </a:tabLst>
            </a:pPr>
            <a:r>
              <a:rPr lang="en-US" altLang="en-US" dirty="0"/>
              <a:t>Waiting time for </a:t>
            </a:r>
            <a:r>
              <a:rPr lang="en-US" altLang="en-US" i="1" dirty="0"/>
              <a:t>P</a:t>
            </a:r>
            <a:r>
              <a:rPr lang="en-US" altLang="en-US" i="1" baseline="-25000" dirty="0"/>
              <a:t>1</a:t>
            </a:r>
            <a:r>
              <a:rPr lang="en-US" altLang="en-US" dirty="0"/>
              <a:t>  = 0; </a:t>
            </a:r>
            <a:r>
              <a:rPr lang="en-US" altLang="en-US" i="1" dirty="0"/>
              <a:t>P</a:t>
            </a:r>
            <a:r>
              <a:rPr lang="en-US" altLang="en-US" i="1" baseline="-25000" dirty="0"/>
              <a:t>2</a:t>
            </a:r>
            <a:r>
              <a:rPr lang="en-US" altLang="en-US" dirty="0"/>
              <a:t>  = 24; </a:t>
            </a:r>
            <a:r>
              <a:rPr lang="en-US" altLang="en-US" i="1" dirty="0"/>
              <a:t>P</a:t>
            </a:r>
            <a:r>
              <a:rPr lang="en-US" altLang="en-US" i="1" baseline="-25000" dirty="0"/>
              <a:t>3 </a:t>
            </a:r>
            <a:r>
              <a:rPr lang="en-US" altLang="en-US" dirty="0"/>
              <a:t>= 27</a:t>
            </a:r>
          </a:p>
          <a:p>
            <a:pPr>
              <a:lnSpc>
                <a:spcPct val="90000"/>
              </a:lnSpc>
              <a:tabLst>
                <a:tab pos="3028950" algn="ctr"/>
                <a:tab pos="4633913" algn="ctr"/>
              </a:tabLst>
            </a:pPr>
            <a:r>
              <a:rPr lang="en-US" altLang="en-US" dirty="0"/>
              <a:t>Average waiting time:  (0 + 24 + 27)/3 = 17</a:t>
            </a:r>
          </a:p>
        </p:txBody>
      </p:sp>
      <p:pic>
        <p:nvPicPr>
          <p:cNvPr id="23555" name="Picture 1">
            <a:extLst>
              <a:ext uri="{FF2B5EF4-FFF2-40B4-BE49-F238E27FC236}">
                <a16:creationId xmlns:a16="http://schemas.microsoft.com/office/drawing/2014/main" id="{6693C49E-F1BF-40FA-ACEB-79D52B112D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105639" y="3429000"/>
            <a:ext cx="7868671" cy="90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624DA10D-55B3-4B35-A002-F73DC17E003A}"/>
              </a:ext>
            </a:extLst>
          </p:cNvPr>
          <p:cNvSpPr>
            <a:spLocks noGrp="1" noChangeArrowheads="1"/>
          </p:cNvSpPr>
          <p:nvPr>
            <p:ph type="title"/>
          </p:nvPr>
        </p:nvSpPr>
        <p:spPr>
          <a:xfrm>
            <a:off x="2506664" y="231158"/>
            <a:ext cx="7704137" cy="576262"/>
          </a:xfrm>
        </p:spPr>
        <p:txBody>
          <a:bodyPr/>
          <a:lstStyle/>
          <a:p>
            <a:pPr eaLnBrk="1" hangingPunct="1"/>
            <a:r>
              <a:rPr lang="en-US" altLang="en-US" dirty="0"/>
              <a:t>FCFS Scheduling (Cont.)</a:t>
            </a:r>
          </a:p>
        </p:txBody>
      </p:sp>
      <p:sp>
        <p:nvSpPr>
          <p:cNvPr id="13315" name="Rectangle 3">
            <a:extLst>
              <a:ext uri="{FF2B5EF4-FFF2-40B4-BE49-F238E27FC236}">
                <a16:creationId xmlns:a16="http://schemas.microsoft.com/office/drawing/2014/main" id="{332EE341-968F-42D6-9F71-9462061509EC}"/>
              </a:ext>
            </a:extLst>
          </p:cNvPr>
          <p:cNvSpPr>
            <a:spLocks noGrp="1" noChangeArrowheads="1"/>
          </p:cNvSpPr>
          <p:nvPr>
            <p:ph type="body" idx="1"/>
          </p:nvPr>
        </p:nvSpPr>
        <p:spPr>
          <a:xfrm>
            <a:off x="2379664" y="1233489"/>
            <a:ext cx="7704137" cy="4530725"/>
          </a:xfrm>
        </p:spPr>
        <p:txBody>
          <a:bodyPr/>
          <a:lstStyle/>
          <a:p>
            <a:pPr>
              <a:buNone/>
              <a:tabLst>
                <a:tab pos="3649345" algn="ctr"/>
              </a:tabLst>
              <a:defRPr/>
            </a:pPr>
            <a:r>
              <a:rPr lang="en-US" altLang="en-US" dirty="0">
                <a:cs typeface="ＭＳ Ｐゴシック" charset="-128"/>
              </a:rPr>
              <a:t>Suppose that the processes arrive in the order:</a:t>
            </a:r>
          </a:p>
          <a:p>
            <a:pPr>
              <a:buNone/>
              <a:tabLst>
                <a:tab pos="3649345"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p>
          <a:p>
            <a:pPr>
              <a:tabLst>
                <a:tab pos="3649345" algn="ctr"/>
              </a:tabLst>
              <a:defRPr/>
            </a:pPr>
            <a:r>
              <a:rPr lang="en-US" altLang="en-US" dirty="0">
                <a:cs typeface="ＭＳ Ｐゴシック" charset="-128"/>
              </a:rPr>
              <a:t>The Gantt chart for the schedule is:</a:t>
            </a:r>
            <a:br>
              <a:rPr lang="en-US" altLang="en-US" dirty="0">
                <a:cs typeface="ＭＳ Ｐゴシック" charset="-128"/>
              </a:rPr>
            </a:br>
            <a:endParaRPr lang="en-US" altLang="en-US" dirty="0">
              <a:cs typeface="ＭＳ Ｐゴシック" charset="-128"/>
            </a:endParaRPr>
          </a:p>
          <a:p>
            <a:pPr>
              <a:tabLst>
                <a:tab pos="3649345" algn="ctr"/>
              </a:tabLst>
              <a:defRPr/>
            </a:pPr>
            <a:endParaRPr lang="en-US" altLang="en-US" dirty="0">
              <a:cs typeface="ＭＳ Ｐゴシック" charset="-128"/>
            </a:endParaRPr>
          </a:p>
          <a:p>
            <a:pPr>
              <a:tabLst>
                <a:tab pos="3649345" algn="ctr"/>
              </a:tabLst>
              <a:defRPr/>
            </a:pPr>
            <a:endParaRPr lang="en-US" altLang="en-US" dirty="0">
              <a:cs typeface="ＭＳ Ｐゴシック" charset="-128"/>
            </a:endParaRPr>
          </a:p>
          <a:p>
            <a:pPr marL="0" indent="0">
              <a:buNone/>
              <a:tabLst>
                <a:tab pos="3649345" algn="ctr"/>
              </a:tabLst>
              <a:defRPr/>
            </a:pPr>
            <a:endParaRPr lang="en-US" altLang="en-US" dirty="0">
              <a:cs typeface="ＭＳ Ｐゴシック" charset="-128"/>
            </a:endParaRPr>
          </a:p>
          <a:p>
            <a:pPr>
              <a:tabLst>
                <a:tab pos="3649345" algn="ctr"/>
              </a:tabLst>
              <a:defRPr/>
            </a:pPr>
            <a:r>
              <a:rPr lang="en-US" altLang="en-US" dirty="0">
                <a:cs typeface="ＭＳ Ｐゴシック" charset="-128"/>
              </a:rPr>
              <a:t>Waiting time for </a:t>
            </a:r>
            <a:r>
              <a:rPr lang="en-US" altLang="en-US" i="1" dirty="0">
                <a:cs typeface="ＭＳ Ｐゴシック" charset="-128"/>
              </a:rPr>
              <a:t>P</a:t>
            </a:r>
            <a:r>
              <a:rPr lang="en-US" altLang="en-US" i="1" baseline="-25000" dirty="0">
                <a:cs typeface="ＭＳ Ｐゴシック" charset="-128"/>
              </a:rPr>
              <a:t>1 </a:t>
            </a:r>
            <a:r>
              <a:rPr lang="en-US" altLang="en-US" i="1" dirty="0">
                <a:cs typeface="ＭＳ Ｐゴシック" charset="-128"/>
              </a:rPr>
              <a:t>=</a:t>
            </a:r>
            <a:r>
              <a:rPr lang="en-US" altLang="en-US" dirty="0">
                <a:cs typeface="ＭＳ Ｐゴシック" charset="-128"/>
              </a:rPr>
              <a:t> 6</a:t>
            </a:r>
            <a:r>
              <a:rPr lang="en-US" altLang="en-US" i="1" dirty="0">
                <a:cs typeface="ＭＳ Ｐゴシック" charset="-128"/>
              </a:rPr>
              <a:t>;</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2</a:t>
            </a:r>
            <a:r>
              <a:rPr lang="en-US" altLang="en-US" dirty="0">
                <a:cs typeface="ＭＳ Ｐゴシック" charset="-128"/>
              </a:rPr>
              <a:t> = 0</a:t>
            </a:r>
            <a:r>
              <a:rPr lang="en-US" altLang="en-US" i="1" baseline="-25000" dirty="0">
                <a:cs typeface="ＭＳ Ｐゴシック" charset="-128"/>
              </a:rPr>
              <a:t>; </a:t>
            </a:r>
            <a:r>
              <a:rPr lang="en-US" altLang="en-US" i="1" dirty="0">
                <a:cs typeface="ＭＳ Ｐゴシック" charset="-128"/>
              </a:rPr>
              <a:t>P</a:t>
            </a:r>
            <a:r>
              <a:rPr lang="en-US" altLang="en-US" i="1" baseline="-25000" dirty="0">
                <a:cs typeface="ＭＳ Ｐゴシック" charset="-128"/>
              </a:rPr>
              <a:t>3 </a:t>
            </a:r>
            <a:r>
              <a:rPr lang="en-US" altLang="en-US" i="1" dirty="0">
                <a:cs typeface="ＭＳ Ｐゴシック" charset="-128"/>
              </a:rPr>
              <a:t>= </a:t>
            </a:r>
            <a:r>
              <a:rPr lang="en-US" altLang="en-US" dirty="0">
                <a:cs typeface="ＭＳ Ｐゴシック" charset="-128"/>
              </a:rPr>
              <a:t>3</a:t>
            </a:r>
            <a:endParaRPr lang="en-US" altLang="en-US" i="1" dirty="0">
              <a:cs typeface="ＭＳ Ｐゴシック" charset="-128"/>
            </a:endParaRPr>
          </a:p>
          <a:p>
            <a:pPr>
              <a:tabLst>
                <a:tab pos="3649345" algn="ctr"/>
              </a:tabLst>
              <a:defRPr/>
            </a:pPr>
            <a:r>
              <a:rPr lang="en-US" altLang="en-US" dirty="0">
                <a:cs typeface="ＭＳ Ｐゴシック" charset="-128"/>
              </a:rPr>
              <a:t>Average waiting time:   (6 + 0 + 3)/3 = 3</a:t>
            </a:r>
          </a:p>
          <a:p>
            <a:pPr>
              <a:tabLst>
                <a:tab pos="3649345" algn="ctr"/>
              </a:tabLst>
              <a:defRPr/>
            </a:pPr>
            <a:r>
              <a:rPr lang="en-US" altLang="en-US" dirty="0">
                <a:cs typeface="ＭＳ Ｐゴシック" charset="-128"/>
              </a:rPr>
              <a:t>Much better than previous case</a:t>
            </a:r>
          </a:p>
          <a:p>
            <a:pPr>
              <a:tabLst>
                <a:tab pos="3649345" algn="ctr"/>
              </a:tabLst>
              <a:defRPr/>
            </a:pPr>
            <a:r>
              <a:rPr lang="en-US" altLang="en-US" b="1" dirty="0">
                <a:solidFill>
                  <a:srgbClr val="006699"/>
                </a:solidFill>
                <a:latin typeface="+mj-lt"/>
              </a:rPr>
              <a:t>Convoy</a:t>
            </a:r>
            <a:r>
              <a:rPr lang="en-US" altLang="en-US" b="1" dirty="0">
                <a:solidFill>
                  <a:srgbClr val="3366FF"/>
                </a:solidFill>
                <a:cs typeface="ＭＳ Ｐゴシック" charset="-128"/>
              </a:rPr>
              <a:t> </a:t>
            </a:r>
            <a:r>
              <a:rPr lang="en-US" altLang="en-US" b="1" dirty="0">
                <a:solidFill>
                  <a:srgbClr val="006699"/>
                </a:solidFill>
                <a:latin typeface="+mj-lt"/>
              </a:rPr>
              <a:t>effect</a:t>
            </a:r>
            <a:r>
              <a:rPr lang="en-US" altLang="en-US" b="1" dirty="0">
                <a:solidFill>
                  <a:srgbClr val="3366FF"/>
                </a:solidFill>
                <a:cs typeface="ＭＳ Ｐゴシック" charset="-128"/>
              </a:rPr>
              <a:t> </a:t>
            </a:r>
            <a:r>
              <a:rPr lang="en-US" altLang="en-US" dirty="0">
                <a:cs typeface="ＭＳ Ｐゴシック" charset="-128"/>
              </a:rPr>
              <a:t>- short process behind long process</a:t>
            </a:r>
          </a:p>
          <a:p>
            <a:pPr lvl="1">
              <a:tabLst>
                <a:tab pos="3649345" algn="ctr"/>
              </a:tabLst>
              <a:defRPr/>
            </a:pPr>
            <a:r>
              <a:rPr lang="en-US" altLang="en-US" dirty="0"/>
              <a:t>Consider one CPU-bound and many I/O-bound processes</a:t>
            </a:r>
          </a:p>
        </p:txBody>
      </p:sp>
      <p:pic>
        <p:nvPicPr>
          <p:cNvPr id="25603" name="Picture 1">
            <a:extLst>
              <a:ext uri="{FF2B5EF4-FFF2-40B4-BE49-F238E27FC236}">
                <a16:creationId xmlns:a16="http://schemas.microsoft.com/office/drawing/2014/main" id="{AA51E2F7-6758-4662-8420-58D4F08902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94001" y="2632076"/>
            <a:ext cx="7123113" cy="80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2632910" y="129252"/>
            <a:ext cx="7704137" cy="576262"/>
          </a:xfrm>
        </p:spPr>
        <p:txBody>
          <a:bodyPr/>
          <a:lstStyle/>
          <a:p>
            <a:pPr eaLnBrk="1" hangingPunct="1"/>
            <a:r>
              <a:rPr lang="en-US" altLang="en-US" dirty="0"/>
              <a:t>Shortest-Job-First (SJF)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1061884" y="1233489"/>
            <a:ext cx="9556955" cy="4345509"/>
          </a:xfrm>
        </p:spPr>
        <p:txBody>
          <a:bodyPr/>
          <a:lstStyle/>
          <a:p>
            <a:r>
              <a:rPr lang="en-US" altLang="en-US" sz="2000" dirty="0"/>
              <a:t>Associate with each process the length of its next CPU burst</a:t>
            </a:r>
          </a:p>
          <a:p>
            <a:pPr lvl="1"/>
            <a:r>
              <a:rPr lang="en-US" altLang="en-US" sz="2000" dirty="0"/>
              <a:t>Use these lengths to schedule the process with the shortest time</a:t>
            </a:r>
          </a:p>
          <a:p>
            <a:r>
              <a:rPr lang="en-US" altLang="en-US" sz="2000" dirty="0"/>
              <a:t>SJF is optimal – gives minimum average waiting time for a given set of processes</a:t>
            </a:r>
          </a:p>
          <a:p>
            <a:r>
              <a:rPr lang="en-US" altLang="en-US" sz="2000" dirty="0">
                <a:cs typeface="ＭＳ Ｐゴシック" charset="-128"/>
              </a:rPr>
              <a:t>Preemptive version called </a:t>
            </a:r>
            <a:r>
              <a:rPr lang="en-US" altLang="en-US" sz="2000" b="1" dirty="0">
                <a:solidFill>
                  <a:srgbClr val="006699"/>
                </a:solidFill>
                <a:latin typeface="+mj-lt"/>
              </a:rPr>
              <a:t>shortest-remaining-time-first</a:t>
            </a:r>
          </a:p>
          <a:p>
            <a:r>
              <a:rPr lang="en-US" altLang="en-US" sz="2000" dirty="0"/>
              <a:t>How do we determine the length of the next CPU burst?</a:t>
            </a:r>
          </a:p>
          <a:p>
            <a:pPr lvl="1"/>
            <a:r>
              <a:rPr lang="en-US" altLang="en-US" sz="2000" dirty="0"/>
              <a:t>Could ask the user</a:t>
            </a:r>
          </a:p>
          <a:p>
            <a:pPr lvl="1"/>
            <a:r>
              <a:rPr lang="en-US" altLang="en-US" sz="2000" dirty="0"/>
              <a:t>Estimate</a:t>
            </a:r>
          </a:p>
          <a:p>
            <a:pPr lvl="1"/>
            <a:endParaRPr lang="en-US" altLang="en-US" sz="2000" dirty="0"/>
          </a:p>
        </p:txBody>
      </p:sp>
    </p:spTree>
    <p:extLst>
      <p:ext uri="{BB962C8B-B14F-4D97-AF65-F5344CB8AC3E}">
        <p14:creationId xmlns:p14="http://schemas.microsoft.com/office/powerpoint/2010/main" val="4136779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3">
            <a:extLst>
              <a:ext uri="{FF2B5EF4-FFF2-40B4-BE49-F238E27FC236}">
                <a16:creationId xmlns:a16="http://schemas.microsoft.com/office/drawing/2014/main" id="{EF8CCD42-BB9A-0E33-9B2F-5B5C708CED13}"/>
              </a:ext>
            </a:extLst>
          </p:cNvPr>
          <p:cNvSpPr>
            <a:spLocks noGrp="1" noChangeArrowheads="1"/>
          </p:cNvSpPr>
          <p:nvPr>
            <p:ph type="body" idx="1"/>
          </p:nvPr>
        </p:nvSpPr>
        <p:spPr>
          <a:xfrm>
            <a:off x="2735264" y="1252539"/>
            <a:ext cx="6891337" cy="4530725"/>
          </a:xfrm>
        </p:spPr>
        <p:txBody>
          <a:bodyPr/>
          <a:lstStyle/>
          <a:p>
            <a:pPr eaLnBrk="1" hangingPunct="1">
              <a:buNone/>
              <a:tabLst>
                <a:tab pos="1603375" algn="ctr"/>
                <a:tab pos="3254375" algn="ctr"/>
                <a:tab pos="5143500" algn="ctr"/>
              </a:tabLst>
            </a:pPr>
            <a:r>
              <a:rPr lang="en-US" altLang="en-US"/>
              <a:t>		</a:t>
            </a:r>
            <a:r>
              <a:rPr lang="en-US" altLang="en-US" u="sng"/>
              <a:t>Process	Arrival Time</a:t>
            </a:r>
            <a:r>
              <a:rPr lang="en-US" altLang="en-US"/>
              <a:t>	</a:t>
            </a:r>
            <a:r>
              <a:rPr lang="en-US" altLang="en-US" u="sng"/>
              <a:t>Burst Time</a:t>
            </a:r>
            <a:endParaRPr lang="en-US" altLang="en-US"/>
          </a:p>
          <a:p>
            <a:pPr eaLnBrk="1" hangingPunct="1">
              <a:buNone/>
              <a:tabLst>
                <a:tab pos="1603375" algn="ctr"/>
                <a:tab pos="3254375" algn="ctr"/>
                <a:tab pos="5143500" algn="ctr"/>
              </a:tabLst>
            </a:pPr>
            <a:r>
              <a:rPr lang="en-US" altLang="en-US"/>
              <a:t>		</a:t>
            </a:r>
            <a:r>
              <a:rPr lang="en-US" altLang="en-US" i="1"/>
              <a:t>P</a:t>
            </a:r>
            <a:r>
              <a:rPr lang="en-US" altLang="en-US" i="1" baseline="-25000"/>
              <a:t>1</a:t>
            </a:r>
            <a:r>
              <a:rPr lang="en-US" altLang="en-US"/>
              <a:t>	0.0	7</a:t>
            </a:r>
          </a:p>
          <a:p>
            <a:pPr eaLnBrk="1" hangingPunct="1">
              <a:buNone/>
              <a:tabLst>
                <a:tab pos="1603375" algn="ctr"/>
                <a:tab pos="3254375" algn="ctr"/>
                <a:tab pos="5143500" algn="ctr"/>
              </a:tabLst>
            </a:pPr>
            <a:r>
              <a:rPr lang="en-US" altLang="en-US"/>
              <a:t>		 </a:t>
            </a:r>
            <a:r>
              <a:rPr lang="en-US" altLang="en-US" i="1"/>
              <a:t>P</a:t>
            </a:r>
            <a:r>
              <a:rPr lang="en-US" altLang="en-US" i="1" baseline="-25000"/>
              <a:t>2	</a:t>
            </a:r>
            <a:r>
              <a:rPr lang="en-US" altLang="en-US"/>
              <a:t>2.0	4</a:t>
            </a:r>
          </a:p>
          <a:p>
            <a:pPr eaLnBrk="1" hangingPunct="1">
              <a:buNone/>
              <a:tabLst>
                <a:tab pos="1603375" algn="ctr"/>
                <a:tab pos="3254375" algn="ctr"/>
                <a:tab pos="5143500" algn="ctr"/>
              </a:tabLst>
            </a:pPr>
            <a:r>
              <a:rPr lang="en-US" altLang="en-US"/>
              <a:t>		 </a:t>
            </a:r>
            <a:r>
              <a:rPr lang="en-US" altLang="en-US" i="1"/>
              <a:t>P</a:t>
            </a:r>
            <a:r>
              <a:rPr lang="en-US" altLang="en-US" i="1" baseline="-25000"/>
              <a:t>3</a:t>
            </a:r>
            <a:r>
              <a:rPr lang="en-US" altLang="en-US"/>
              <a:t>	4.0	1</a:t>
            </a:r>
          </a:p>
          <a:p>
            <a:pPr eaLnBrk="1" hangingPunct="1">
              <a:buNone/>
              <a:tabLst>
                <a:tab pos="1603375" algn="ctr"/>
                <a:tab pos="3254375" algn="ctr"/>
                <a:tab pos="5143500" algn="ctr"/>
              </a:tabLst>
            </a:pPr>
            <a:r>
              <a:rPr lang="en-US" altLang="en-US"/>
              <a:t>		 </a:t>
            </a:r>
            <a:r>
              <a:rPr lang="en-US" altLang="en-US" i="1"/>
              <a:t>P</a:t>
            </a:r>
            <a:r>
              <a:rPr lang="en-US" altLang="en-US" i="1" baseline="-25000"/>
              <a:t>4</a:t>
            </a:r>
            <a:r>
              <a:rPr lang="en-US" altLang="en-US"/>
              <a:t>	5.0	4</a:t>
            </a:r>
          </a:p>
          <a:p>
            <a:pPr eaLnBrk="1" hangingPunct="1">
              <a:tabLst>
                <a:tab pos="1603375" algn="ctr"/>
                <a:tab pos="3254375" algn="ctr"/>
                <a:tab pos="5143500" algn="ctr"/>
              </a:tabLst>
            </a:pPr>
            <a:r>
              <a:rPr lang="en-US" altLang="en-US"/>
              <a:t>SJF (non-preemptive)</a:t>
            </a:r>
          </a:p>
          <a:p>
            <a:pPr eaLnBrk="1" hangingPunct="1">
              <a:tabLst>
                <a:tab pos="1603375" algn="ctr"/>
                <a:tab pos="3254375" algn="ctr"/>
                <a:tab pos="5143500" algn="ctr"/>
              </a:tabLst>
            </a:pPr>
            <a:endParaRPr lang="en-US" altLang="en-US"/>
          </a:p>
          <a:p>
            <a:pPr eaLnBrk="1" hangingPunct="1">
              <a:tabLst>
                <a:tab pos="1603375" algn="ctr"/>
                <a:tab pos="3254375" algn="ctr"/>
                <a:tab pos="5143500" algn="ctr"/>
              </a:tabLst>
            </a:pPr>
            <a:endParaRPr lang="en-US" altLang="en-US"/>
          </a:p>
          <a:p>
            <a:pPr eaLnBrk="1" hangingPunct="1">
              <a:tabLst>
                <a:tab pos="1603375" algn="ctr"/>
                <a:tab pos="3254375" algn="ctr"/>
                <a:tab pos="5143500" algn="ctr"/>
              </a:tabLst>
            </a:pPr>
            <a:endParaRPr lang="en-US" altLang="en-US"/>
          </a:p>
          <a:p>
            <a:pPr eaLnBrk="1" hangingPunct="1">
              <a:tabLst>
                <a:tab pos="1603375" algn="ctr"/>
                <a:tab pos="3254375" algn="ctr"/>
                <a:tab pos="5143500" algn="ctr"/>
              </a:tabLst>
            </a:pPr>
            <a:endParaRPr lang="en-US" altLang="en-US"/>
          </a:p>
          <a:p>
            <a:pPr eaLnBrk="1" hangingPunct="1">
              <a:tabLst>
                <a:tab pos="1603375" algn="ctr"/>
                <a:tab pos="3254375" algn="ctr"/>
                <a:tab pos="5143500" algn="ctr"/>
              </a:tabLst>
            </a:pPr>
            <a:r>
              <a:rPr lang="en-US" altLang="en-US"/>
              <a:t>Average waiting time = (0 + 6 + 3 + 7)/4  = 4</a:t>
            </a:r>
            <a:endParaRPr lang="en-US" altLang="en-US" i="1" baseline="-25000"/>
          </a:p>
        </p:txBody>
      </p:sp>
      <p:sp>
        <p:nvSpPr>
          <p:cNvPr id="16387" name="Rectangle 4">
            <a:extLst>
              <a:ext uri="{FF2B5EF4-FFF2-40B4-BE49-F238E27FC236}">
                <a16:creationId xmlns:a16="http://schemas.microsoft.com/office/drawing/2014/main" id="{B8387D7B-9AEB-0831-0F60-D205F146BB55}"/>
              </a:ext>
            </a:extLst>
          </p:cNvPr>
          <p:cNvSpPr>
            <a:spLocks noGrp="1" noChangeArrowheads="1"/>
          </p:cNvSpPr>
          <p:nvPr>
            <p:ph type="title"/>
          </p:nvPr>
        </p:nvSpPr>
        <p:spPr>
          <a:noFill/>
        </p:spPr>
        <p:txBody>
          <a:bodyPr anchor="ctr"/>
          <a:lstStyle/>
          <a:p>
            <a:pPr eaLnBrk="1" hangingPunct="1"/>
            <a:r>
              <a:rPr lang="en-US" altLang="en-US"/>
              <a:t>Example of Non-Preemptive SJF</a:t>
            </a:r>
          </a:p>
        </p:txBody>
      </p:sp>
      <p:grpSp>
        <p:nvGrpSpPr>
          <p:cNvPr id="16388" name="Group 37">
            <a:extLst>
              <a:ext uri="{FF2B5EF4-FFF2-40B4-BE49-F238E27FC236}">
                <a16:creationId xmlns:a16="http://schemas.microsoft.com/office/drawing/2014/main" id="{9DB8283D-5BA3-C899-A22E-5AA143A033D9}"/>
              </a:ext>
            </a:extLst>
          </p:cNvPr>
          <p:cNvGrpSpPr>
            <a:grpSpLocks/>
          </p:cNvGrpSpPr>
          <p:nvPr/>
        </p:nvGrpSpPr>
        <p:grpSpPr bwMode="auto">
          <a:xfrm>
            <a:off x="3748088" y="3522663"/>
            <a:ext cx="5575300" cy="1128712"/>
            <a:chOff x="864" y="2325"/>
            <a:chExt cx="3512" cy="711"/>
          </a:xfrm>
        </p:grpSpPr>
        <p:sp>
          <p:nvSpPr>
            <p:cNvPr id="16389" name="Rectangle 5">
              <a:extLst>
                <a:ext uri="{FF2B5EF4-FFF2-40B4-BE49-F238E27FC236}">
                  <a16:creationId xmlns:a16="http://schemas.microsoft.com/office/drawing/2014/main" id="{60BD7BF6-41B8-16D8-DBEB-01366F82FA43}"/>
                </a:ext>
              </a:extLst>
            </p:cNvPr>
            <p:cNvSpPr>
              <a:spLocks noChangeArrowheads="1"/>
            </p:cNvSpPr>
            <p:nvPr/>
          </p:nvSpPr>
          <p:spPr bwMode="auto">
            <a:xfrm flipH="1">
              <a:off x="960" y="2325"/>
              <a:ext cx="3312" cy="384"/>
            </a:xfrm>
            <a:prstGeom prst="rect">
              <a:avLst/>
            </a:prstGeom>
            <a:solidFill>
              <a:schemeClr val="bg1"/>
            </a:solidFill>
            <a:ln w="9525">
              <a:solidFill>
                <a:schemeClr val="tx1"/>
              </a:solidFill>
              <a:miter lim="800000"/>
              <a:headEnd/>
              <a:tailEnd/>
            </a:ln>
          </p:spPr>
          <p:txBody>
            <a:bodyPr wrap="none" anchor="ct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16390" name="Text Box 6">
              <a:extLst>
                <a:ext uri="{FF2B5EF4-FFF2-40B4-BE49-F238E27FC236}">
                  <a16:creationId xmlns:a16="http://schemas.microsoft.com/office/drawing/2014/main" id="{06029879-B5BC-3BE8-2F0C-06E06F9A922E}"/>
                </a:ext>
              </a:extLst>
            </p:cNvPr>
            <p:cNvSpPr txBox="1">
              <a:spLocks noChangeArrowheads="1"/>
            </p:cNvSpPr>
            <p:nvPr/>
          </p:nvSpPr>
          <p:spPr bwMode="auto">
            <a:xfrm flipH="1">
              <a:off x="1392" y="237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1</a:t>
              </a:r>
              <a:endParaRPr kumimoji="0" lang="en-US" altLang="en-US"/>
            </a:p>
          </p:txBody>
        </p:sp>
        <p:sp>
          <p:nvSpPr>
            <p:cNvPr id="16391" name="Text Box 7">
              <a:extLst>
                <a:ext uri="{FF2B5EF4-FFF2-40B4-BE49-F238E27FC236}">
                  <a16:creationId xmlns:a16="http://schemas.microsoft.com/office/drawing/2014/main" id="{DBAC000F-3C48-2834-CF56-138E4717DA8F}"/>
                </a:ext>
              </a:extLst>
            </p:cNvPr>
            <p:cNvSpPr txBox="1">
              <a:spLocks noChangeArrowheads="1"/>
            </p:cNvSpPr>
            <p:nvPr/>
          </p:nvSpPr>
          <p:spPr bwMode="auto">
            <a:xfrm flipH="1">
              <a:off x="2400" y="237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3</a:t>
              </a:r>
              <a:endParaRPr kumimoji="0" lang="en-US" altLang="en-US"/>
            </a:p>
          </p:txBody>
        </p:sp>
        <p:sp>
          <p:nvSpPr>
            <p:cNvPr id="16392" name="Text Box 8">
              <a:extLst>
                <a:ext uri="{FF2B5EF4-FFF2-40B4-BE49-F238E27FC236}">
                  <a16:creationId xmlns:a16="http://schemas.microsoft.com/office/drawing/2014/main" id="{7D680603-BC11-C963-26DB-271BD0405E48}"/>
                </a:ext>
              </a:extLst>
            </p:cNvPr>
            <p:cNvSpPr txBox="1">
              <a:spLocks noChangeArrowheads="1"/>
            </p:cNvSpPr>
            <p:nvPr/>
          </p:nvSpPr>
          <p:spPr bwMode="auto">
            <a:xfrm flipH="1">
              <a:off x="2976" y="237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2</a:t>
              </a:r>
              <a:endParaRPr kumimoji="0" lang="en-US" altLang="en-US"/>
            </a:p>
          </p:txBody>
        </p:sp>
        <p:sp>
          <p:nvSpPr>
            <p:cNvPr id="16393" name="Line 9">
              <a:extLst>
                <a:ext uri="{FF2B5EF4-FFF2-40B4-BE49-F238E27FC236}">
                  <a16:creationId xmlns:a16="http://schemas.microsoft.com/office/drawing/2014/main" id="{56BE7D04-E95D-D9E5-DDC3-D65687673A09}"/>
                </a:ext>
              </a:extLst>
            </p:cNvPr>
            <p:cNvSpPr>
              <a:spLocks noChangeShapeType="1"/>
            </p:cNvSpPr>
            <p:nvPr/>
          </p:nvSpPr>
          <p:spPr bwMode="auto">
            <a:xfrm flipH="1">
              <a:off x="4272"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4" name="Line 10">
              <a:extLst>
                <a:ext uri="{FF2B5EF4-FFF2-40B4-BE49-F238E27FC236}">
                  <a16:creationId xmlns:a16="http://schemas.microsoft.com/office/drawing/2014/main" id="{F1B470B0-7361-5AF8-2865-08AD0312C6C3}"/>
                </a:ext>
              </a:extLst>
            </p:cNvPr>
            <p:cNvSpPr>
              <a:spLocks noChangeShapeType="1"/>
            </p:cNvSpPr>
            <p:nvPr/>
          </p:nvSpPr>
          <p:spPr bwMode="auto">
            <a:xfrm flipH="1">
              <a:off x="960"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5" name="Line 11">
              <a:extLst>
                <a:ext uri="{FF2B5EF4-FFF2-40B4-BE49-F238E27FC236}">
                  <a16:creationId xmlns:a16="http://schemas.microsoft.com/office/drawing/2014/main" id="{8D468940-7E00-B50D-1595-D785A0CABB96}"/>
                </a:ext>
              </a:extLst>
            </p:cNvPr>
            <p:cNvSpPr>
              <a:spLocks noChangeShapeType="1"/>
            </p:cNvSpPr>
            <p:nvPr/>
          </p:nvSpPr>
          <p:spPr bwMode="auto">
            <a:xfrm flipH="1">
              <a:off x="2688" y="2325"/>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6" name="Line 12">
              <a:extLst>
                <a:ext uri="{FF2B5EF4-FFF2-40B4-BE49-F238E27FC236}">
                  <a16:creationId xmlns:a16="http://schemas.microsoft.com/office/drawing/2014/main" id="{7473C388-14A1-D133-008E-887298713082}"/>
                </a:ext>
              </a:extLst>
            </p:cNvPr>
            <p:cNvSpPr>
              <a:spLocks noChangeShapeType="1"/>
            </p:cNvSpPr>
            <p:nvPr/>
          </p:nvSpPr>
          <p:spPr bwMode="auto">
            <a:xfrm flipH="1">
              <a:off x="2400" y="2325"/>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7" name="Line 13">
              <a:extLst>
                <a:ext uri="{FF2B5EF4-FFF2-40B4-BE49-F238E27FC236}">
                  <a16:creationId xmlns:a16="http://schemas.microsoft.com/office/drawing/2014/main" id="{EBF07297-D4C2-ADC1-DEDC-943FE69E85BC}"/>
                </a:ext>
              </a:extLst>
            </p:cNvPr>
            <p:cNvSpPr>
              <a:spLocks noChangeShapeType="1"/>
            </p:cNvSpPr>
            <p:nvPr/>
          </p:nvSpPr>
          <p:spPr bwMode="auto">
            <a:xfrm flipH="1">
              <a:off x="2400"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8" name="Line 14">
              <a:extLst>
                <a:ext uri="{FF2B5EF4-FFF2-40B4-BE49-F238E27FC236}">
                  <a16:creationId xmlns:a16="http://schemas.microsoft.com/office/drawing/2014/main" id="{A3730455-1A51-FAC8-9F04-4A30D48DEB8C}"/>
                </a:ext>
              </a:extLst>
            </p:cNvPr>
            <p:cNvSpPr>
              <a:spLocks noChangeShapeType="1"/>
            </p:cNvSpPr>
            <p:nvPr/>
          </p:nvSpPr>
          <p:spPr bwMode="auto">
            <a:xfrm flipH="1">
              <a:off x="139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9" name="Text Box 15">
              <a:extLst>
                <a:ext uri="{FF2B5EF4-FFF2-40B4-BE49-F238E27FC236}">
                  <a16:creationId xmlns:a16="http://schemas.microsoft.com/office/drawing/2014/main" id="{9A7686C3-2BFC-224C-6879-A630408CB14A}"/>
                </a:ext>
              </a:extLst>
            </p:cNvPr>
            <p:cNvSpPr txBox="1">
              <a:spLocks noChangeArrowheads="1"/>
            </p:cNvSpPr>
            <p:nvPr/>
          </p:nvSpPr>
          <p:spPr bwMode="auto">
            <a:xfrm flipH="1">
              <a:off x="2304" y="2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7</a:t>
              </a:r>
            </a:p>
          </p:txBody>
        </p:sp>
        <p:sp>
          <p:nvSpPr>
            <p:cNvPr id="16400" name="Text Box 16">
              <a:extLst>
                <a:ext uri="{FF2B5EF4-FFF2-40B4-BE49-F238E27FC236}">
                  <a16:creationId xmlns:a16="http://schemas.microsoft.com/office/drawing/2014/main" id="{64BC5F41-0B8D-B29B-FF89-FF83B090C30B}"/>
                </a:ext>
              </a:extLst>
            </p:cNvPr>
            <p:cNvSpPr txBox="1">
              <a:spLocks noChangeArrowheads="1"/>
            </p:cNvSpPr>
            <p:nvPr/>
          </p:nvSpPr>
          <p:spPr bwMode="auto">
            <a:xfrm flipH="1">
              <a:off x="1492" y="2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3</a:t>
              </a:r>
            </a:p>
          </p:txBody>
        </p:sp>
        <p:sp>
          <p:nvSpPr>
            <p:cNvPr id="16401" name="Text Box 17">
              <a:extLst>
                <a:ext uri="{FF2B5EF4-FFF2-40B4-BE49-F238E27FC236}">
                  <a16:creationId xmlns:a16="http://schemas.microsoft.com/office/drawing/2014/main" id="{D273E6D7-E39A-0B72-F64D-C0515C5D9268}"/>
                </a:ext>
              </a:extLst>
            </p:cNvPr>
            <p:cNvSpPr txBox="1">
              <a:spLocks noChangeArrowheads="1"/>
            </p:cNvSpPr>
            <p:nvPr/>
          </p:nvSpPr>
          <p:spPr bwMode="auto">
            <a:xfrm flipH="1">
              <a:off x="4100" y="280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16</a:t>
              </a:r>
            </a:p>
          </p:txBody>
        </p:sp>
        <p:sp>
          <p:nvSpPr>
            <p:cNvPr id="16402" name="Text Box 18">
              <a:extLst>
                <a:ext uri="{FF2B5EF4-FFF2-40B4-BE49-F238E27FC236}">
                  <a16:creationId xmlns:a16="http://schemas.microsoft.com/office/drawing/2014/main" id="{93D6EFA4-CC1B-1512-54E5-EC8259132B7B}"/>
                </a:ext>
              </a:extLst>
            </p:cNvPr>
            <p:cNvSpPr txBox="1">
              <a:spLocks noChangeArrowheads="1"/>
            </p:cNvSpPr>
            <p:nvPr/>
          </p:nvSpPr>
          <p:spPr bwMode="auto">
            <a:xfrm flipH="1">
              <a:off x="864" y="2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0</a:t>
              </a:r>
            </a:p>
          </p:txBody>
        </p:sp>
        <p:sp>
          <p:nvSpPr>
            <p:cNvPr id="16403" name="Text Box 20">
              <a:extLst>
                <a:ext uri="{FF2B5EF4-FFF2-40B4-BE49-F238E27FC236}">
                  <a16:creationId xmlns:a16="http://schemas.microsoft.com/office/drawing/2014/main" id="{41A3F3E4-8CAB-6B1D-3ABA-615EC7A70659}"/>
                </a:ext>
              </a:extLst>
            </p:cNvPr>
            <p:cNvSpPr txBox="1">
              <a:spLocks noChangeArrowheads="1"/>
            </p:cNvSpPr>
            <p:nvPr/>
          </p:nvSpPr>
          <p:spPr bwMode="auto">
            <a:xfrm flipH="1">
              <a:off x="3696" y="2373"/>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4</a:t>
              </a:r>
              <a:endParaRPr kumimoji="0" lang="en-US" altLang="en-US"/>
            </a:p>
          </p:txBody>
        </p:sp>
        <p:sp>
          <p:nvSpPr>
            <p:cNvPr id="16404" name="Line 21">
              <a:extLst>
                <a:ext uri="{FF2B5EF4-FFF2-40B4-BE49-F238E27FC236}">
                  <a16:creationId xmlns:a16="http://schemas.microsoft.com/office/drawing/2014/main" id="{78E39419-2539-1CE0-5AD7-C1154C9225FF}"/>
                </a:ext>
              </a:extLst>
            </p:cNvPr>
            <p:cNvSpPr>
              <a:spLocks noChangeShapeType="1"/>
            </p:cNvSpPr>
            <p:nvPr/>
          </p:nvSpPr>
          <p:spPr bwMode="auto">
            <a:xfrm flipH="1">
              <a:off x="3456" y="2325"/>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5" name="Line 22">
              <a:extLst>
                <a:ext uri="{FF2B5EF4-FFF2-40B4-BE49-F238E27FC236}">
                  <a16:creationId xmlns:a16="http://schemas.microsoft.com/office/drawing/2014/main" id="{C0FC934B-A398-9527-A7BA-5C447E765722}"/>
                </a:ext>
              </a:extLst>
            </p:cNvPr>
            <p:cNvSpPr>
              <a:spLocks noChangeShapeType="1"/>
            </p:cNvSpPr>
            <p:nvPr/>
          </p:nvSpPr>
          <p:spPr bwMode="auto">
            <a:xfrm flipH="1">
              <a:off x="115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6" name="Line 23">
              <a:extLst>
                <a:ext uri="{FF2B5EF4-FFF2-40B4-BE49-F238E27FC236}">
                  <a16:creationId xmlns:a16="http://schemas.microsoft.com/office/drawing/2014/main" id="{833B1E73-BD3D-BED8-29A2-B0452A754020}"/>
                </a:ext>
              </a:extLst>
            </p:cNvPr>
            <p:cNvSpPr>
              <a:spLocks noChangeShapeType="1"/>
            </p:cNvSpPr>
            <p:nvPr/>
          </p:nvSpPr>
          <p:spPr bwMode="auto">
            <a:xfrm flipH="1">
              <a:off x="163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7" name="Line 24">
              <a:extLst>
                <a:ext uri="{FF2B5EF4-FFF2-40B4-BE49-F238E27FC236}">
                  <a16:creationId xmlns:a16="http://schemas.microsoft.com/office/drawing/2014/main" id="{68D31C1F-08E1-561C-2CD8-B2127F071B2D}"/>
                </a:ext>
              </a:extLst>
            </p:cNvPr>
            <p:cNvSpPr>
              <a:spLocks noChangeShapeType="1"/>
            </p:cNvSpPr>
            <p:nvPr/>
          </p:nvSpPr>
          <p:spPr bwMode="auto">
            <a:xfrm flipH="1">
              <a:off x="187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8" name="Line 25">
              <a:extLst>
                <a:ext uri="{FF2B5EF4-FFF2-40B4-BE49-F238E27FC236}">
                  <a16:creationId xmlns:a16="http://schemas.microsoft.com/office/drawing/2014/main" id="{C995EE36-9E0B-35CD-8BE6-0CA4C0DFE6F2}"/>
                </a:ext>
              </a:extLst>
            </p:cNvPr>
            <p:cNvSpPr>
              <a:spLocks noChangeShapeType="1"/>
            </p:cNvSpPr>
            <p:nvPr/>
          </p:nvSpPr>
          <p:spPr bwMode="auto">
            <a:xfrm flipH="1">
              <a:off x="2064"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09" name="Line 26">
              <a:extLst>
                <a:ext uri="{FF2B5EF4-FFF2-40B4-BE49-F238E27FC236}">
                  <a16:creationId xmlns:a16="http://schemas.microsoft.com/office/drawing/2014/main" id="{F1D9F405-95A6-30C6-CF71-8E97788096BC}"/>
                </a:ext>
              </a:extLst>
            </p:cNvPr>
            <p:cNvSpPr>
              <a:spLocks noChangeShapeType="1"/>
            </p:cNvSpPr>
            <p:nvPr/>
          </p:nvSpPr>
          <p:spPr bwMode="auto">
            <a:xfrm flipH="1">
              <a:off x="2256"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0" name="Line 27">
              <a:extLst>
                <a:ext uri="{FF2B5EF4-FFF2-40B4-BE49-F238E27FC236}">
                  <a16:creationId xmlns:a16="http://schemas.microsoft.com/office/drawing/2014/main" id="{77BB96E7-4A6B-005D-EDA6-77B894AA8E5D}"/>
                </a:ext>
              </a:extLst>
            </p:cNvPr>
            <p:cNvSpPr>
              <a:spLocks noChangeShapeType="1"/>
            </p:cNvSpPr>
            <p:nvPr/>
          </p:nvSpPr>
          <p:spPr bwMode="auto">
            <a:xfrm flipH="1">
              <a:off x="2688"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1" name="Text Box 28">
              <a:extLst>
                <a:ext uri="{FF2B5EF4-FFF2-40B4-BE49-F238E27FC236}">
                  <a16:creationId xmlns:a16="http://schemas.microsoft.com/office/drawing/2014/main" id="{D892289B-7021-F684-140A-5E2F5123FBC5}"/>
                </a:ext>
              </a:extLst>
            </p:cNvPr>
            <p:cNvSpPr txBox="1">
              <a:spLocks noChangeArrowheads="1"/>
            </p:cNvSpPr>
            <p:nvPr/>
          </p:nvSpPr>
          <p:spPr bwMode="auto">
            <a:xfrm flipH="1">
              <a:off x="2592" y="2805"/>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8</a:t>
              </a:r>
            </a:p>
          </p:txBody>
        </p:sp>
        <p:sp>
          <p:nvSpPr>
            <p:cNvPr id="16412" name="Line 29">
              <a:extLst>
                <a:ext uri="{FF2B5EF4-FFF2-40B4-BE49-F238E27FC236}">
                  <a16:creationId xmlns:a16="http://schemas.microsoft.com/office/drawing/2014/main" id="{66F1D916-804B-B955-5C00-1AD25D050E8B}"/>
                </a:ext>
              </a:extLst>
            </p:cNvPr>
            <p:cNvSpPr>
              <a:spLocks noChangeShapeType="1"/>
            </p:cNvSpPr>
            <p:nvPr/>
          </p:nvSpPr>
          <p:spPr bwMode="auto">
            <a:xfrm flipH="1">
              <a:off x="2928"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3" name="Line 30">
              <a:extLst>
                <a:ext uri="{FF2B5EF4-FFF2-40B4-BE49-F238E27FC236}">
                  <a16:creationId xmlns:a16="http://schemas.microsoft.com/office/drawing/2014/main" id="{4D3424B4-7971-6C02-04F5-15BA52A1ACA1}"/>
                </a:ext>
              </a:extLst>
            </p:cNvPr>
            <p:cNvSpPr>
              <a:spLocks noChangeShapeType="1"/>
            </p:cNvSpPr>
            <p:nvPr/>
          </p:nvSpPr>
          <p:spPr bwMode="auto">
            <a:xfrm flipH="1">
              <a:off x="3120"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4" name="Line 31">
              <a:extLst>
                <a:ext uri="{FF2B5EF4-FFF2-40B4-BE49-F238E27FC236}">
                  <a16:creationId xmlns:a16="http://schemas.microsoft.com/office/drawing/2014/main" id="{95CB5A4D-1521-CD4A-E13A-2BF0E11E120F}"/>
                </a:ext>
              </a:extLst>
            </p:cNvPr>
            <p:cNvSpPr>
              <a:spLocks noChangeShapeType="1"/>
            </p:cNvSpPr>
            <p:nvPr/>
          </p:nvSpPr>
          <p:spPr bwMode="auto">
            <a:xfrm flipH="1">
              <a:off x="3312"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5" name="Line 32">
              <a:extLst>
                <a:ext uri="{FF2B5EF4-FFF2-40B4-BE49-F238E27FC236}">
                  <a16:creationId xmlns:a16="http://schemas.microsoft.com/office/drawing/2014/main" id="{D0B08E5D-821E-337B-F223-F265D5D2A642}"/>
                </a:ext>
              </a:extLst>
            </p:cNvPr>
            <p:cNvSpPr>
              <a:spLocks noChangeShapeType="1"/>
            </p:cNvSpPr>
            <p:nvPr/>
          </p:nvSpPr>
          <p:spPr bwMode="auto">
            <a:xfrm flipH="1">
              <a:off x="3456" y="2709"/>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6" name="Text Box 33">
              <a:extLst>
                <a:ext uri="{FF2B5EF4-FFF2-40B4-BE49-F238E27FC236}">
                  <a16:creationId xmlns:a16="http://schemas.microsoft.com/office/drawing/2014/main" id="{7154954D-8325-863A-8E16-736249290AD0}"/>
                </a:ext>
              </a:extLst>
            </p:cNvPr>
            <p:cNvSpPr txBox="1">
              <a:spLocks noChangeArrowheads="1"/>
            </p:cNvSpPr>
            <p:nvPr/>
          </p:nvSpPr>
          <p:spPr bwMode="auto">
            <a:xfrm flipH="1">
              <a:off x="3312" y="2805"/>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12</a:t>
              </a:r>
            </a:p>
          </p:txBody>
        </p:sp>
        <p:sp>
          <p:nvSpPr>
            <p:cNvPr id="16417" name="Line 34">
              <a:extLst>
                <a:ext uri="{FF2B5EF4-FFF2-40B4-BE49-F238E27FC236}">
                  <a16:creationId xmlns:a16="http://schemas.microsoft.com/office/drawing/2014/main" id="{EB103743-927F-89F3-1FDB-E66C4FEEB9CD}"/>
                </a:ext>
              </a:extLst>
            </p:cNvPr>
            <p:cNvSpPr>
              <a:spLocks noChangeShapeType="1"/>
            </p:cNvSpPr>
            <p:nvPr/>
          </p:nvSpPr>
          <p:spPr bwMode="auto">
            <a:xfrm flipH="1">
              <a:off x="3696"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8" name="Line 35">
              <a:extLst>
                <a:ext uri="{FF2B5EF4-FFF2-40B4-BE49-F238E27FC236}">
                  <a16:creationId xmlns:a16="http://schemas.microsoft.com/office/drawing/2014/main" id="{094C8560-7998-9AB2-3237-4ACEC69538EF}"/>
                </a:ext>
              </a:extLst>
            </p:cNvPr>
            <p:cNvSpPr>
              <a:spLocks noChangeShapeType="1"/>
            </p:cNvSpPr>
            <p:nvPr/>
          </p:nvSpPr>
          <p:spPr bwMode="auto">
            <a:xfrm flipH="1">
              <a:off x="3888"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419" name="Line 36">
              <a:extLst>
                <a:ext uri="{FF2B5EF4-FFF2-40B4-BE49-F238E27FC236}">
                  <a16:creationId xmlns:a16="http://schemas.microsoft.com/office/drawing/2014/main" id="{0651E2DA-1A2C-C308-2FCB-C534CD92FF96}"/>
                </a:ext>
              </a:extLst>
            </p:cNvPr>
            <p:cNvSpPr>
              <a:spLocks noChangeShapeType="1"/>
            </p:cNvSpPr>
            <p:nvPr/>
          </p:nvSpPr>
          <p:spPr bwMode="auto">
            <a:xfrm flipH="1">
              <a:off x="4080" y="263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ABFADED5-CDDF-5BB9-698F-931E54E14970}"/>
              </a:ext>
            </a:extLst>
          </p:cNvPr>
          <p:cNvSpPr>
            <a:spLocks noGrp="1" noChangeArrowheads="1"/>
          </p:cNvSpPr>
          <p:nvPr>
            <p:ph type="title"/>
          </p:nvPr>
        </p:nvSpPr>
        <p:spPr>
          <a:xfrm>
            <a:off x="427703" y="336552"/>
            <a:ext cx="11371007" cy="800100"/>
          </a:xfrm>
        </p:spPr>
        <p:txBody>
          <a:bodyPr/>
          <a:lstStyle/>
          <a:p>
            <a:pPr eaLnBrk="1" hangingPunct="1"/>
            <a:r>
              <a:rPr lang="en-US" altLang="en-US" dirty="0"/>
              <a:t>Example of Preemptive SJF</a:t>
            </a:r>
            <a:br>
              <a:rPr lang="en-US" altLang="en-US" dirty="0"/>
            </a:br>
            <a:r>
              <a:rPr lang="en-US" altLang="en-US" dirty="0"/>
              <a:t>Example of Shortest-remaining-time-first</a:t>
            </a:r>
          </a:p>
        </p:txBody>
      </p:sp>
      <p:sp>
        <p:nvSpPr>
          <p:cNvPr id="17411" name="Rectangle 36">
            <a:extLst>
              <a:ext uri="{FF2B5EF4-FFF2-40B4-BE49-F238E27FC236}">
                <a16:creationId xmlns:a16="http://schemas.microsoft.com/office/drawing/2014/main" id="{45617DF5-DDDB-F9DD-B2A9-5CEFEBCC741F}"/>
              </a:ext>
            </a:extLst>
          </p:cNvPr>
          <p:cNvSpPr>
            <a:spLocks noGrp="1" noChangeArrowheads="1"/>
          </p:cNvSpPr>
          <p:nvPr>
            <p:ph type="body" idx="1"/>
          </p:nvPr>
        </p:nvSpPr>
        <p:spPr>
          <a:xfrm>
            <a:off x="2792413" y="1252539"/>
            <a:ext cx="7110412" cy="4530725"/>
          </a:xfrm>
          <a:noFill/>
        </p:spPr>
        <p:txBody>
          <a:bodyPr/>
          <a:lstStyle/>
          <a:p>
            <a:pPr eaLnBrk="1" hangingPunct="1">
              <a:buNone/>
              <a:tabLst>
                <a:tab pos="1603375" algn="ctr"/>
                <a:tab pos="3254375" algn="ctr"/>
                <a:tab pos="5143500" algn="ctr"/>
              </a:tabLst>
            </a:pPr>
            <a:r>
              <a:rPr lang="en-US" altLang="en-US"/>
              <a:t>		</a:t>
            </a:r>
            <a:r>
              <a:rPr lang="en-US" altLang="en-US" sz="2000" u="sng"/>
              <a:t>Process	Arrival Time</a:t>
            </a:r>
            <a:r>
              <a:rPr lang="en-US" altLang="en-US" sz="2000"/>
              <a:t>	</a:t>
            </a:r>
            <a:r>
              <a:rPr lang="en-US" altLang="en-US" sz="2000" u="sng"/>
              <a:t>Burst Time</a:t>
            </a:r>
            <a:endParaRPr lang="en-US" altLang="en-US" sz="2000"/>
          </a:p>
          <a:p>
            <a:pPr eaLnBrk="1" hangingPunct="1">
              <a:buNone/>
              <a:tabLst>
                <a:tab pos="1603375" algn="ctr"/>
                <a:tab pos="3254375" algn="ctr"/>
                <a:tab pos="5143500" algn="ctr"/>
              </a:tabLst>
            </a:pPr>
            <a:r>
              <a:rPr lang="en-US" altLang="en-US" sz="2000"/>
              <a:t>		</a:t>
            </a:r>
            <a:r>
              <a:rPr lang="en-US" altLang="en-US" sz="2000" i="1"/>
              <a:t>P</a:t>
            </a:r>
            <a:r>
              <a:rPr lang="en-US" altLang="en-US" sz="2000" i="1" baseline="-25000"/>
              <a:t>1</a:t>
            </a:r>
            <a:r>
              <a:rPr lang="en-US" altLang="en-US" sz="2000"/>
              <a:t>	0.0	7</a:t>
            </a:r>
          </a:p>
          <a:p>
            <a:pPr eaLnBrk="1" hangingPunct="1">
              <a:buNone/>
              <a:tabLst>
                <a:tab pos="1603375" algn="ctr"/>
                <a:tab pos="3254375" algn="ctr"/>
                <a:tab pos="5143500" algn="ctr"/>
              </a:tabLst>
            </a:pPr>
            <a:r>
              <a:rPr lang="en-US" altLang="en-US" sz="2000"/>
              <a:t>		 </a:t>
            </a:r>
            <a:r>
              <a:rPr lang="en-US" altLang="en-US" sz="2000" i="1"/>
              <a:t>P</a:t>
            </a:r>
            <a:r>
              <a:rPr lang="en-US" altLang="en-US" sz="2000" i="1" baseline="-25000"/>
              <a:t>2	</a:t>
            </a:r>
            <a:r>
              <a:rPr lang="en-US" altLang="en-US" sz="2000"/>
              <a:t>2.0	4</a:t>
            </a:r>
          </a:p>
          <a:p>
            <a:pPr eaLnBrk="1" hangingPunct="1">
              <a:buNone/>
              <a:tabLst>
                <a:tab pos="1603375" algn="ctr"/>
                <a:tab pos="3254375" algn="ctr"/>
                <a:tab pos="5143500" algn="ctr"/>
              </a:tabLst>
            </a:pPr>
            <a:r>
              <a:rPr lang="en-US" altLang="en-US" sz="2000"/>
              <a:t>		 </a:t>
            </a:r>
            <a:r>
              <a:rPr lang="en-US" altLang="en-US" sz="2000" i="1"/>
              <a:t>P</a:t>
            </a:r>
            <a:r>
              <a:rPr lang="en-US" altLang="en-US" sz="2000" i="1" baseline="-25000"/>
              <a:t>3</a:t>
            </a:r>
            <a:r>
              <a:rPr lang="en-US" altLang="en-US" sz="2000"/>
              <a:t>	4.0	1</a:t>
            </a:r>
          </a:p>
          <a:p>
            <a:pPr eaLnBrk="1" hangingPunct="1">
              <a:buNone/>
              <a:tabLst>
                <a:tab pos="1603375" algn="ctr"/>
                <a:tab pos="3254375" algn="ctr"/>
                <a:tab pos="5143500" algn="ctr"/>
              </a:tabLst>
            </a:pPr>
            <a:r>
              <a:rPr lang="en-US" altLang="en-US" sz="2000"/>
              <a:t>		 </a:t>
            </a:r>
            <a:r>
              <a:rPr lang="en-US" altLang="en-US" sz="2000" i="1"/>
              <a:t>P</a:t>
            </a:r>
            <a:r>
              <a:rPr lang="en-US" altLang="en-US" sz="2000" i="1" baseline="-25000"/>
              <a:t>4</a:t>
            </a:r>
            <a:r>
              <a:rPr lang="en-US" altLang="en-US" sz="2000"/>
              <a:t>	5.0	4</a:t>
            </a:r>
          </a:p>
          <a:p>
            <a:pPr eaLnBrk="1" hangingPunct="1">
              <a:tabLst>
                <a:tab pos="1603375" algn="ctr"/>
                <a:tab pos="3254375" algn="ctr"/>
                <a:tab pos="5143500" algn="ctr"/>
              </a:tabLst>
            </a:pPr>
            <a:r>
              <a:rPr lang="en-US" altLang="en-US" sz="2000"/>
              <a:t>SJF (preemptive)</a:t>
            </a:r>
          </a:p>
          <a:p>
            <a:pPr eaLnBrk="1" hangingPunct="1">
              <a:tabLst>
                <a:tab pos="1603375" algn="ctr"/>
                <a:tab pos="3254375" algn="ctr"/>
                <a:tab pos="5143500" algn="ctr"/>
              </a:tabLst>
            </a:pPr>
            <a:endParaRPr lang="en-US" altLang="en-US" sz="2000"/>
          </a:p>
          <a:p>
            <a:pPr eaLnBrk="1" hangingPunct="1">
              <a:tabLst>
                <a:tab pos="1603375" algn="ctr"/>
                <a:tab pos="3254375" algn="ctr"/>
                <a:tab pos="5143500" algn="ctr"/>
              </a:tabLst>
            </a:pPr>
            <a:endParaRPr lang="en-US" altLang="en-US" sz="2000"/>
          </a:p>
          <a:p>
            <a:pPr eaLnBrk="1" hangingPunct="1">
              <a:tabLst>
                <a:tab pos="1603375" algn="ctr"/>
                <a:tab pos="3254375" algn="ctr"/>
                <a:tab pos="5143500" algn="ctr"/>
              </a:tabLst>
            </a:pPr>
            <a:endParaRPr lang="en-US" altLang="en-US" sz="2000"/>
          </a:p>
          <a:p>
            <a:pPr eaLnBrk="1" hangingPunct="1">
              <a:tabLst>
                <a:tab pos="1603375" algn="ctr"/>
                <a:tab pos="3254375" algn="ctr"/>
                <a:tab pos="5143500" algn="ctr"/>
              </a:tabLst>
            </a:pPr>
            <a:endParaRPr lang="en-US" altLang="en-US" sz="2000"/>
          </a:p>
          <a:p>
            <a:pPr eaLnBrk="1" hangingPunct="1">
              <a:tabLst>
                <a:tab pos="1603375" algn="ctr"/>
                <a:tab pos="3254375" algn="ctr"/>
                <a:tab pos="5143500" algn="ctr"/>
              </a:tabLst>
            </a:pPr>
            <a:r>
              <a:rPr lang="en-US" altLang="en-US" sz="2000"/>
              <a:t>Average waiting time = (9 + 1 + 0 +2)/4 = 3</a:t>
            </a:r>
            <a:endParaRPr lang="en-US" altLang="en-US" sz="2000" i="1" baseline="-25000"/>
          </a:p>
        </p:txBody>
      </p:sp>
      <p:grpSp>
        <p:nvGrpSpPr>
          <p:cNvPr id="17412" name="Group 74">
            <a:extLst>
              <a:ext uri="{FF2B5EF4-FFF2-40B4-BE49-F238E27FC236}">
                <a16:creationId xmlns:a16="http://schemas.microsoft.com/office/drawing/2014/main" id="{72E69606-FA80-0371-EF66-DED039E11DE8}"/>
              </a:ext>
            </a:extLst>
          </p:cNvPr>
          <p:cNvGrpSpPr>
            <a:grpSpLocks/>
          </p:cNvGrpSpPr>
          <p:nvPr/>
        </p:nvGrpSpPr>
        <p:grpSpPr bwMode="auto">
          <a:xfrm>
            <a:off x="3681413" y="3724276"/>
            <a:ext cx="5924550" cy="1204913"/>
            <a:chOff x="864" y="2364"/>
            <a:chExt cx="3732" cy="759"/>
          </a:xfrm>
        </p:grpSpPr>
        <p:sp>
          <p:nvSpPr>
            <p:cNvPr id="17413" name="Rectangle 37">
              <a:extLst>
                <a:ext uri="{FF2B5EF4-FFF2-40B4-BE49-F238E27FC236}">
                  <a16:creationId xmlns:a16="http://schemas.microsoft.com/office/drawing/2014/main" id="{637F208E-F752-A9B3-9E11-C9C412790E8E}"/>
                </a:ext>
              </a:extLst>
            </p:cNvPr>
            <p:cNvSpPr>
              <a:spLocks noChangeArrowheads="1"/>
            </p:cNvSpPr>
            <p:nvPr/>
          </p:nvSpPr>
          <p:spPr bwMode="auto">
            <a:xfrm flipH="1">
              <a:off x="960" y="2373"/>
              <a:ext cx="3504" cy="384"/>
            </a:xfrm>
            <a:prstGeom prst="rect">
              <a:avLst/>
            </a:prstGeom>
            <a:solidFill>
              <a:schemeClr val="bg1"/>
            </a:solidFill>
            <a:ln w="9525">
              <a:solidFill>
                <a:schemeClr val="tx1"/>
              </a:solidFill>
              <a:miter lim="800000"/>
              <a:headEnd/>
              <a:tailEnd/>
            </a:ln>
          </p:spPr>
          <p:txBody>
            <a:bodyPr wrap="none" anchor="ct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spcBef>
                  <a:spcPct val="0"/>
                </a:spcBef>
                <a:buClrTx/>
                <a:buSzTx/>
                <a:buFontTx/>
                <a:buNone/>
              </a:pPr>
              <a:endParaRPr kumimoji="0" lang="en-US" altLang="en-US">
                <a:latin typeface="Verdana" panose="020B0604030504040204" pitchFamily="34" charset="0"/>
              </a:endParaRPr>
            </a:p>
          </p:txBody>
        </p:sp>
        <p:sp>
          <p:nvSpPr>
            <p:cNvPr id="17414" name="Text Box 38">
              <a:extLst>
                <a:ext uri="{FF2B5EF4-FFF2-40B4-BE49-F238E27FC236}">
                  <a16:creationId xmlns:a16="http://schemas.microsoft.com/office/drawing/2014/main" id="{C2FB512A-4D6A-AFFF-68DC-3248B274D384}"/>
                </a:ext>
              </a:extLst>
            </p:cNvPr>
            <p:cNvSpPr txBox="1">
              <a:spLocks noChangeArrowheads="1"/>
            </p:cNvSpPr>
            <p:nvPr/>
          </p:nvSpPr>
          <p:spPr bwMode="auto">
            <a:xfrm flipH="1">
              <a:off x="1008"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1</a:t>
              </a:r>
              <a:endParaRPr kumimoji="0" lang="en-US" altLang="en-US"/>
            </a:p>
          </p:txBody>
        </p:sp>
        <p:sp>
          <p:nvSpPr>
            <p:cNvPr id="17415" name="Text Box 39">
              <a:extLst>
                <a:ext uri="{FF2B5EF4-FFF2-40B4-BE49-F238E27FC236}">
                  <a16:creationId xmlns:a16="http://schemas.microsoft.com/office/drawing/2014/main" id="{9E065661-A7E3-799A-0CE2-92699057C5AF}"/>
                </a:ext>
              </a:extLst>
            </p:cNvPr>
            <p:cNvSpPr txBox="1">
              <a:spLocks noChangeArrowheads="1"/>
            </p:cNvSpPr>
            <p:nvPr/>
          </p:nvSpPr>
          <p:spPr bwMode="auto">
            <a:xfrm flipH="1">
              <a:off x="1824"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3</a:t>
              </a:r>
              <a:endParaRPr kumimoji="0" lang="en-US" altLang="en-US"/>
            </a:p>
          </p:txBody>
        </p:sp>
        <p:sp>
          <p:nvSpPr>
            <p:cNvPr id="17416" name="Text Box 40">
              <a:extLst>
                <a:ext uri="{FF2B5EF4-FFF2-40B4-BE49-F238E27FC236}">
                  <a16:creationId xmlns:a16="http://schemas.microsoft.com/office/drawing/2014/main" id="{36E24627-D784-6701-E111-BCE994572FD3}"/>
                </a:ext>
              </a:extLst>
            </p:cNvPr>
            <p:cNvSpPr txBox="1">
              <a:spLocks noChangeArrowheads="1"/>
            </p:cNvSpPr>
            <p:nvPr/>
          </p:nvSpPr>
          <p:spPr bwMode="auto">
            <a:xfrm flipH="1">
              <a:off x="1488"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2</a:t>
              </a:r>
              <a:endParaRPr kumimoji="0" lang="en-US" altLang="en-US"/>
            </a:p>
          </p:txBody>
        </p:sp>
        <p:sp>
          <p:nvSpPr>
            <p:cNvPr id="17417" name="Line 41">
              <a:extLst>
                <a:ext uri="{FF2B5EF4-FFF2-40B4-BE49-F238E27FC236}">
                  <a16:creationId xmlns:a16="http://schemas.microsoft.com/office/drawing/2014/main" id="{A16D2F94-62A6-F20E-50C3-BC62249E4D2A}"/>
                </a:ext>
              </a:extLst>
            </p:cNvPr>
            <p:cNvSpPr>
              <a:spLocks noChangeShapeType="1"/>
            </p:cNvSpPr>
            <p:nvPr/>
          </p:nvSpPr>
          <p:spPr bwMode="auto">
            <a:xfrm flipH="1">
              <a:off x="4452" y="2748"/>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8" name="Line 42">
              <a:extLst>
                <a:ext uri="{FF2B5EF4-FFF2-40B4-BE49-F238E27FC236}">
                  <a16:creationId xmlns:a16="http://schemas.microsoft.com/office/drawing/2014/main" id="{74CD9D13-B487-CF71-EC4D-3A543A6B2E52}"/>
                </a:ext>
              </a:extLst>
            </p:cNvPr>
            <p:cNvSpPr>
              <a:spLocks noChangeShapeType="1"/>
            </p:cNvSpPr>
            <p:nvPr/>
          </p:nvSpPr>
          <p:spPr bwMode="auto">
            <a:xfrm flipH="1">
              <a:off x="960" y="275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19" name="Line 43">
              <a:extLst>
                <a:ext uri="{FF2B5EF4-FFF2-40B4-BE49-F238E27FC236}">
                  <a16:creationId xmlns:a16="http://schemas.microsoft.com/office/drawing/2014/main" id="{D673008E-D97E-13F3-E412-96F1B69E889B}"/>
                </a:ext>
              </a:extLst>
            </p:cNvPr>
            <p:cNvSpPr>
              <a:spLocks noChangeShapeType="1"/>
            </p:cNvSpPr>
            <p:nvPr/>
          </p:nvSpPr>
          <p:spPr bwMode="auto">
            <a:xfrm flipH="1">
              <a:off x="2688" y="2373"/>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0" name="Line 44">
              <a:extLst>
                <a:ext uri="{FF2B5EF4-FFF2-40B4-BE49-F238E27FC236}">
                  <a16:creationId xmlns:a16="http://schemas.microsoft.com/office/drawing/2014/main" id="{331CB070-9415-AFA8-A54E-D6D16C865A1F}"/>
                </a:ext>
              </a:extLst>
            </p:cNvPr>
            <p:cNvSpPr>
              <a:spLocks noChangeShapeType="1"/>
            </p:cNvSpPr>
            <p:nvPr/>
          </p:nvSpPr>
          <p:spPr bwMode="auto">
            <a:xfrm flipH="1">
              <a:off x="1344" y="236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1" name="Line 45">
              <a:extLst>
                <a:ext uri="{FF2B5EF4-FFF2-40B4-BE49-F238E27FC236}">
                  <a16:creationId xmlns:a16="http://schemas.microsoft.com/office/drawing/2014/main" id="{1464B2C7-6273-BAE6-9213-F553D54C7C98}"/>
                </a:ext>
              </a:extLst>
            </p:cNvPr>
            <p:cNvSpPr>
              <a:spLocks noChangeShapeType="1"/>
            </p:cNvSpPr>
            <p:nvPr/>
          </p:nvSpPr>
          <p:spPr bwMode="auto">
            <a:xfrm flipH="1">
              <a:off x="2400" y="275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2" name="Text Box 47">
              <a:extLst>
                <a:ext uri="{FF2B5EF4-FFF2-40B4-BE49-F238E27FC236}">
                  <a16:creationId xmlns:a16="http://schemas.microsoft.com/office/drawing/2014/main" id="{8C31498A-0418-BB35-ED22-934F9B553DE1}"/>
                </a:ext>
              </a:extLst>
            </p:cNvPr>
            <p:cNvSpPr txBox="1">
              <a:spLocks noChangeArrowheads="1"/>
            </p:cNvSpPr>
            <p:nvPr/>
          </p:nvSpPr>
          <p:spPr bwMode="auto">
            <a:xfrm flipH="1">
              <a:off x="1728" y="289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4</a:t>
              </a:r>
            </a:p>
          </p:txBody>
        </p:sp>
        <p:sp>
          <p:nvSpPr>
            <p:cNvPr id="17423" name="Text Box 48">
              <a:extLst>
                <a:ext uri="{FF2B5EF4-FFF2-40B4-BE49-F238E27FC236}">
                  <a16:creationId xmlns:a16="http://schemas.microsoft.com/office/drawing/2014/main" id="{57DB65C1-9BFA-97BD-D3DF-6F68638E9969}"/>
                </a:ext>
              </a:extLst>
            </p:cNvPr>
            <p:cNvSpPr txBox="1">
              <a:spLocks noChangeArrowheads="1"/>
            </p:cNvSpPr>
            <p:nvPr/>
          </p:nvSpPr>
          <p:spPr bwMode="auto">
            <a:xfrm flipH="1">
              <a:off x="1248" y="289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2</a:t>
              </a:r>
            </a:p>
          </p:txBody>
        </p:sp>
        <p:sp>
          <p:nvSpPr>
            <p:cNvPr id="17424" name="Text Box 49">
              <a:extLst>
                <a:ext uri="{FF2B5EF4-FFF2-40B4-BE49-F238E27FC236}">
                  <a16:creationId xmlns:a16="http://schemas.microsoft.com/office/drawing/2014/main" id="{D88E5A6E-A9B2-CFEC-162A-EC34E2308EC9}"/>
                </a:ext>
              </a:extLst>
            </p:cNvPr>
            <p:cNvSpPr txBox="1">
              <a:spLocks noChangeArrowheads="1"/>
            </p:cNvSpPr>
            <p:nvPr/>
          </p:nvSpPr>
          <p:spPr bwMode="auto">
            <a:xfrm flipH="1">
              <a:off x="3312" y="284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11</a:t>
              </a:r>
            </a:p>
          </p:txBody>
        </p:sp>
        <p:sp>
          <p:nvSpPr>
            <p:cNvPr id="17425" name="Text Box 50">
              <a:extLst>
                <a:ext uri="{FF2B5EF4-FFF2-40B4-BE49-F238E27FC236}">
                  <a16:creationId xmlns:a16="http://schemas.microsoft.com/office/drawing/2014/main" id="{4F49A979-CA12-3C65-C63C-43784086012C}"/>
                </a:ext>
              </a:extLst>
            </p:cNvPr>
            <p:cNvSpPr txBox="1">
              <a:spLocks noChangeArrowheads="1"/>
            </p:cNvSpPr>
            <p:nvPr/>
          </p:nvSpPr>
          <p:spPr bwMode="auto">
            <a:xfrm flipH="1">
              <a:off x="864" y="285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0</a:t>
              </a:r>
            </a:p>
          </p:txBody>
        </p:sp>
        <p:sp>
          <p:nvSpPr>
            <p:cNvPr id="17426" name="Text Box 51">
              <a:extLst>
                <a:ext uri="{FF2B5EF4-FFF2-40B4-BE49-F238E27FC236}">
                  <a16:creationId xmlns:a16="http://schemas.microsoft.com/office/drawing/2014/main" id="{7BE250CA-B320-4A79-DBCE-DCB22865AE69}"/>
                </a:ext>
              </a:extLst>
            </p:cNvPr>
            <p:cNvSpPr txBox="1">
              <a:spLocks noChangeArrowheads="1"/>
            </p:cNvSpPr>
            <p:nvPr/>
          </p:nvSpPr>
          <p:spPr bwMode="auto">
            <a:xfrm flipH="1">
              <a:off x="2976"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4</a:t>
              </a:r>
              <a:endParaRPr kumimoji="0" lang="en-US" altLang="en-US"/>
            </a:p>
          </p:txBody>
        </p:sp>
        <p:sp>
          <p:nvSpPr>
            <p:cNvPr id="17427" name="Line 52">
              <a:extLst>
                <a:ext uri="{FF2B5EF4-FFF2-40B4-BE49-F238E27FC236}">
                  <a16:creationId xmlns:a16="http://schemas.microsoft.com/office/drawing/2014/main" id="{757C2CD1-00D7-9802-2E61-DBB83A418240}"/>
                </a:ext>
              </a:extLst>
            </p:cNvPr>
            <p:cNvSpPr>
              <a:spLocks noChangeShapeType="1"/>
            </p:cNvSpPr>
            <p:nvPr/>
          </p:nvSpPr>
          <p:spPr bwMode="auto">
            <a:xfrm flipH="1">
              <a:off x="3456" y="2373"/>
              <a:ext cx="0" cy="3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8" name="Line 53">
              <a:extLst>
                <a:ext uri="{FF2B5EF4-FFF2-40B4-BE49-F238E27FC236}">
                  <a16:creationId xmlns:a16="http://schemas.microsoft.com/office/drawing/2014/main" id="{9B9F3EA0-490C-1575-EA11-AE414F05422D}"/>
                </a:ext>
              </a:extLst>
            </p:cNvPr>
            <p:cNvSpPr>
              <a:spLocks noChangeShapeType="1"/>
            </p:cNvSpPr>
            <p:nvPr/>
          </p:nvSpPr>
          <p:spPr bwMode="auto">
            <a:xfrm flipH="1">
              <a:off x="1152"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29" name="Line 54">
              <a:extLst>
                <a:ext uri="{FF2B5EF4-FFF2-40B4-BE49-F238E27FC236}">
                  <a16:creationId xmlns:a16="http://schemas.microsoft.com/office/drawing/2014/main" id="{6C743E14-EAA9-8FBE-81DF-CEC01F0EF8D0}"/>
                </a:ext>
              </a:extLst>
            </p:cNvPr>
            <p:cNvSpPr>
              <a:spLocks noChangeShapeType="1"/>
            </p:cNvSpPr>
            <p:nvPr/>
          </p:nvSpPr>
          <p:spPr bwMode="auto">
            <a:xfrm flipH="1">
              <a:off x="1632"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0" name="Line 58">
              <a:extLst>
                <a:ext uri="{FF2B5EF4-FFF2-40B4-BE49-F238E27FC236}">
                  <a16:creationId xmlns:a16="http://schemas.microsoft.com/office/drawing/2014/main" id="{BD5E3A08-965F-F3B8-F7C2-1382D6F8DE46}"/>
                </a:ext>
              </a:extLst>
            </p:cNvPr>
            <p:cNvSpPr>
              <a:spLocks noChangeShapeType="1"/>
            </p:cNvSpPr>
            <p:nvPr/>
          </p:nvSpPr>
          <p:spPr bwMode="auto">
            <a:xfrm flipH="1">
              <a:off x="2688" y="275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1" name="Text Box 59">
              <a:extLst>
                <a:ext uri="{FF2B5EF4-FFF2-40B4-BE49-F238E27FC236}">
                  <a16:creationId xmlns:a16="http://schemas.microsoft.com/office/drawing/2014/main" id="{B6E39C20-96FF-5CE1-67CA-6B0D6A20852F}"/>
                </a:ext>
              </a:extLst>
            </p:cNvPr>
            <p:cNvSpPr txBox="1">
              <a:spLocks noChangeArrowheads="1"/>
            </p:cNvSpPr>
            <p:nvPr/>
          </p:nvSpPr>
          <p:spPr bwMode="auto">
            <a:xfrm flipH="1">
              <a:off x="2064" y="289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5</a:t>
              </a:r>
            </a:p>
          </p:txBody>
        </p:sp>
        <p:sp>
          <p:nvSpPr>
            <p:cNvPr id="17432" name="Line 60">
              <a:extLst>
                <a:ext uri="{FF2B5EF4-FFF2-40B4-BE49-F238E27FC236}">
                  <a16:creationId xmlns:a16="http://schemas.microsoft.com/office/drawing/2014/main" id="{E378AAA0-F766-F2F1-CFB4-F61B011FEDE0}"/>
                </a:ext>
              </a:extLst>
            </p:cNvPr>
            <p:cNvSpPr>
              <a:spLocks noChangeShapeType="1"/>
            </p:cNvSpPr>
            <p:nvPr/>
          </p:nvSpPr>
          <p:spPr bwMode="auto">
            <a:xfrm flipH="1">
              <a:off x="2928"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3" name="Line 61">
              <a:extLst>
                <a:ext uri="{FF2B5EF4-FFF2-40B4-BE49-F238E27FC236}">
                  <a16:creationId xmlns:a16="http://schemas.microsoft.com/office/drawing/2014/main" id="{78CAE3BA-1796-1486-468F-5EAE111AAB90}"/>
                </a:ext>
              </a:extLst>
            </p:cNvPr>
            <p:cNvSpPr>
              <a:spLocks noChangeShapeType="1"/>
            </p:cNvSpPr>
            <p:nvPr/>
          </p:nvSpPr>
          <p:spPr bwMode="auto">
            <a:xfrm flipH="1">
              <a:off x="3120"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4" name="Line 62">
              <a:extLst>
                <a:ext uri="{FF2B5EF4-FFF2-40B4-BE49-F238E27FC236}">
                  <a16:creationId xmlns:a16="http://schemas.microsoft.com/office/drawing/2014/main" id="{8B90F9F6-B829-8B31-BD6E-7A056E3A8114}"/>
                </a:ext>
              </a:extLst>
            </p:cNvPr>
            <p:cNvSpPr>
              <a:spLocks noChangeShapeType="1"/>
            </p:cNvSpPr>
            <p:nvPr/>
          </p:nvSpPr>
          <p:spPr bwMode="auto">
            <a:xfrm flipH="1">
              <a:off x="3312"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5" name="Line 63">
              <a:extLst>
                <a:ext uri="{FF2B5EF4-FFF2-40B4-BE49-F238E27FC236}">
                  <a16:creationId xmlns:a16="http://schemas.microsoft.com/office/drawing/2014/main" id="{B3CD78E3-E886-4C1B-60EE-D7490B10E465}"/>
                </a:ext>
              </a:extLst>
            </p:cNvPr>
            <p:cNvSpPr>
              <a:spLocks noChangeShapeType="1"/>
            </p:cNvSpPr>
            <p:nvPr/>
          </p:nvSpPr>
          <p:spPr bwMode="auto">
            <a:xfrm flipH="1">
              <a:off x="3456" y="2757"/>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6" name="Text Box 64">
              <a:extLst>
                <a:ext uri="{FF2B5EF4-FFF2-40B4-BE49-F238E27FC236}">
                  <a16:creationId xmlns:a16="http://schemas.microsoft.com/office/drawing/2014/main" id="{2B39FCD2-D57D-20C2-B6A0-A7C8141DA5FF}"/>
                </a:ext>
              </a:extLst>
            </p:cNvPr>
            <p:cNvSpPr txBox="1">
              <a:spLocks noChangeArrowheads="1"/>
            </p:cNvSpPr>
            <p:nvPr/>
          </p:nvSpPr>
          <p:spPr bwMode="auto">
            <a:xfrm flipH="1">
              <a:off x="2592" y="2892"/>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7</a:t>
              </a:r>
            </a:p>
          </p:txBody>
        </p:sp>
        <p:sp>
          <p:nvSpPr>
            <p:cNvPr id="17437" name="Line 65">
              <a:extLst>
                <a:ext uri="{FF2B5EF4-FFF2-40B4-BE49-F238E27FC236}">
                  <a16:creationId xmlns:a16="http://schemas.microsoft.com/office/drawing/2014/main" id="{24FCAED6-18B4-4532-9FF9-409770D1FD1F}"/>
                </a:ext>
              </a:extLst>
            </p:cNvPr>
            <p:cNvSpPr>
              <a:spLocks noChangeShapeType="1"/>
            </p:cNvSpPr>
            <p:nvPr/>
          </p:nvSpPr>
          <p:spPr bwMode="auto">
            <a:xfrm flipH="1">
              <a:off x="3696"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8" name="Line 66">
              <a:extLst>
                <a:ext uri="{FF2B5EF4-FFF2-40B4-BE49-F238E27FC236}">
                  <a16:creationId xmlns:a16="http://schemas.microsoft.com/office/drawing/2014/main" id="{B2E8CE2B-CA58-2900-418B-8A5F7CBCD032}"/>
                </a:ext>
              </a:extLst>
            </p:cNvPr>
            <p:cNvSpPr>
              <a:spLocks noChangeShapeType="1"/>
            </p:cNvSpPr>
            <p:nvPr/>
          </p:nvSpPr>
          <p:spPr bwMode="auto">
            <a:xfrm flipH="1">
              <a:off x="3888"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39" name="Line 67">
              <a:extLst>
                <a:ext uri="{FF2B5EF4-FFF2-40B4-BE49-F238E27FC236}">
                  <a16:creationId xmlns:a16="http://schemas.microsoft.com/office/drawing/2014/main" id="{D2065091-3D2A-D37E-D997-1553EB478483}"/>
                </a:ext>
              </a:extLst>
            </p:cNvPr>
            <p:cNvSpPr>
              <a:spLocks noChangeShapeType="1"/>
            </p:cNvSpPr>
            <p:nvPr/>
          </p:nvSpPr>
          <p:spPr bwMode="auto">
            <a:xfrm flipH="1">
              <a:off x="4080"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0" name="Line 68">
              <a:extLst>
                <a:ext uri="{FF2B5EF4-FFF2-40B4-BE49-F238E27FC236}">
                  <a16:creationId xmlns:a16="http://schemas.microsoft.com/office/drawing/2014/main" id="{9772B0AD-CF30-FF32-EE3F-0F7861B63E03}"/>
                </a:ext>
              </a:extLst>
            </p:cNvPr>
            <p:cNvSpPr>
              <a:spLocks noChangeShapeType="1"/>
            </p:cNvSpPr>
            <p:nvPr/>
          </p:nvSpPr>
          <p:spPr bwMode="auto">
            <a:xfrm flipH="1">
              <a:off x="1824" y="236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1" name="Line 69">
              <a:extLst>
                <a:ext uri="{FF2B5EF4-FFF2-40B4-BE49-F238E27FC236}">
                  <a16:creationId xmlns:a16="http://schemas.microsoft.com/office/drawing/2014/main" id="{7914A459-D39E-1DB1-E5F4-58CFA006D079}"/>
                </a:ext>
              </a:extLst>
            </p:cNvPr>
            <p:cNvSpPr>
              <a:spLocks noChangeShapeType="1"/>
            </p:cNvSpPr>
            <p:nvPr/>
          </p:nvSpPr>
          <p:spPr bwMode="auto">
            <a:xfrm flipH="1">
              <a:off x="2160" y="2364"/>
              <a:ext cx="0" cy="57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2" name="Text Box 70">
              <a:extLst>
                <a:ext uri="{FF2B5EF4-FFF2-40B4-BE49-F238E27FC236}">
                  <a16:creationId xmlns:a16="http://schemas.microsoft.com/office/drawing/2014/main" id="{5FFFA0E1-5564-B4E9-0EAC-97001557A58A}"/>
                </a:ext>
              </a:extLst>
            </p:cNvPr>
            <p:cNvSpPr txBox="1">
              <a:spLocks noChangeArrowheads="1"/>
            </p:cNvSpPr>
            <p:nvPr/>
          </p:nvSpPr>
          <p:spPr bwMode="auto">
            <a:xfrm flipH="1">
              <a:off x="2256"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2</a:t>
              </a:r>
              <a:endParaRPr kumimoji="0" lang="en-US" altLang="en-US"/>
            </a:p>
          </p:txBody>
        </p:sp>
        <p:sp>
          <p:nvSpPr>
            <p:cNvPr id="17443" name="Text Box 71">
              <a:extLst>
                <a:ext uri="{FF2B5EF4-FFF2-40B4-BE49-F238E27FC236}">
                  <a16:creationId xmlns:a16="http://schemas.microsoft.com/office/drawing/2014/main" id="{0031C11D-F6FC-76BA-2CA6-B9F9659750EA}"/>
                </a:ext>
              </a:extLst>
            </p:cNvPr>
            <p:cNvSpPr txBox="1">
              <a:spLocks noChangeArrowheads="1"/>
            </p:cNvSpPr>
            <p:nvPr/>
          </p:nvSpPr>
          <p:spPr bwMode="auto">
            <a:xfrm flipH="1">
              <a:off x="3840" y="2412"/>
              <a:ext cx="26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P</a:t>
              </a:r>
              <a:r>
                <a:rPr kumimoji="0" lang="en-US" altLang="en-US" baseline="-25000"/>
                <a:t>1</a:t>
              </a:r>
              <a:endParaRPr kumimoji="0" lang="en-US" altLang="en-US"/>
            </a:p>
          </p:txBody>
        </p:sp>
        <p:sp>
          <p:nvSpPr>
            <p:cNvPr id="17444" name="Line 72">
              <a:extLst>
                <a:ext uri="{FF2B5EF4-FFF2-40B4-BE49-F238E27FC236}">
                  <a16:creationId xmlns:a16="http://schemas.microsoft.com/office/drawing/2014/main" id="{9A6DDAB2-FBD6-F35D-3D58-FAC01B5B95D0}"/>
                </a:ext>
              </a:extLst>
            </p:cNvPr>
            <p:cNvSpPr>
              <a:spLocks noChangeShapeType="1"/>
            </p:cNvSpPr>
            <p:nvPr/>
          </p:nvSpPr>
          <p:spPr bwMode="auto">
            <a:xfrm flipH="1">
              <a:off x="4272" y="2686"/>
              <a:ext cx="0" cy="1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445" name="Text Box 73">
              <a:extLst>
                <a:ext uri="{FF2B5EF4-FFF2-40B4-BE49-F238E27FC236}">
                  <a16:creationId xmlns:a16="http://schemas.microsoft.com/office/drawing/2014/main" id="{5AE11507-48E7-4536-75A0-F9D09B0767A1}"/>
                </a:ext>
              </a:extLst>
            </p:cNvPr>
            <p:cNvSpPr txBox="1">
              <a:spLocks noChangeArrowheads="1"/>
            </p:cNvSpPr>
            <p:nvPr/>
          </p:nvSpPr>
          <p:spPr bwMode="auto">
            <a:xfrm flipH="1">
              <a:off x="4320" y="2844"/>
              <a:ext cx="2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chemeClr val="bg2"/>
                </a:buClr>
                <a:buSzPct val="90000"/>
                <a:buFont typeface="Wingdings" panose="05000000000000000000" pitchFamily="2" charset="2"/>
                <a:buChar char="n"/>
                <a:defRPr kumimoji="1">
                  <a:solidFill>
                    <a:schemeClr val="tx1"/>
                  </a:solidFill>
                  <a:latin typeface="Helvetica" panose="020B0604020202020204" pitchFamily="34" charset="0"/>
                  <a:ea typeface="ＭＳ Ｐゴシック" panose="020B0600070205080204" pitchFamily="34" charset="-128"/>
                </a:defRPr>
              </a:lvl1pPr>
              <a:lvl2pPr marL="742950" indent="-285750">
                <a:spcBef>
                  <a:spcPct val="35000"/>
                </a:spcBef>
                <a:buClr>
                  <a:srgbClr val="FF3300"/>
                </a:buClr>
                <a:buSzPct val="80000"/>
                <a:buFont typeface="Wingdings" panose="05000000000000000000" pitchFamily="2" charset="2"/>
                <a:buChar char="l"/>
                <a:defRPr kumimoji="1">
                  <a:solidFill>
                    <a:schemeClr val="tx1"/>
                  </a:solidFill>
                  <a:latin typeface="Helvetica" panose="020B0604020202020204" pitchFamily="34" charset="0"/>
                  <a:ea typeface="ＭＳ Ｐゴシック" panose="020B0600070205080204" pitchFamily="34" charset="-128"/>
                </a:defRPr>
              </a:lvl2pPr>
              <a:lvl3pPr marL="1143000" indent="-228600">
                <a:spcBef>
                  <a:spcPct val="35000"/>
                </a:spcBef>
                <a:buClr>
                  <a:srgbClr val="336699"/>
                </a:buClr>
                <a:buSzPct val="75000"/>
                <a:buFont typeface="Webdings" panose="05030102010509060703" pitchFamily="18" charset="2"/>
                <a:buChar char="4"/>
                <a:defRPr kumimoji="1">
                  <a:solidFill>
                    <a:schemeClr val="tx1"/>
                  </a:solidFill>
                  <a:latin typeface="Helvetica" panose="020B0604020202020204" pitchFamily="34" charset="0"/>
                  <a:ea typeface="ＭＳ Ｐゴシック"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ＭＳ Ｐゴシック" panose="020B0600070205080204" pitchFamily="34" charset="-128"/>
                </a:defRPr>
              </a:lvl4pPr>
              <a:lvl5pPr marL="2057400" indent="-228600">
                <a:spcBef>
                  <a:spcPct val="35000"/>
                </a:spcBef>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5pPr>
              <a:lvl6pPr marL="25146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6pPr>
              <a:lvl7pPr marL="29718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7pPr>
              <a:lvl8pPr marL="34290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8pPr>
              <a:lvl9pPr marL="3886200" indent="-228600" eaLnBrk="0" fontAlgn="base" hangingPunct="0">
                <a:spcBef>
                  <a:spcPct val="35000"/>
                </a:spcBef>
                <a:spcAft>
                  <a:spcPct val="0"/>
                </a:spcAft>
                <a:buClr>
                  <a:srgbClr val="99CCFF"/>
                </a:buClr>
                <a:buSzPct val="75000"/>
                <a:buFont typeface="Arial" panose="020B0604020202020204" pitchFamily="34" charset="0"/>
                <a:buChar char="»"/>
                <a:defRPr kumimoji="1">
                  <a:solidFill>
                    <a:schemeClr val="tx1"/>
                  </a:solidFill>
                  <a:latin typeface="Helvetica" panose="020B0604020202020204" pitchFamily="34" charset="0"/>
                  <a:ea typeface="ＭＳ Ｐゴシック" panose="020B0600070205080204" pitchFamily="34" charset="-128"/>
                </a:defRPr>
              </a:lvl9pPr>
            </a:lstStyle>
            <a:p>
              <a:pPr algn="ctr">
                <a:spcBef>
                  <a:spcPct val="50000"/>
                </a:spcBef>
                <a:buClrTx/>
                <a:buSzTx/>
                <a:buFontTx/>
                <a:buNone/>
              </a:pPr>
              <a:r>
                <a:rPr kumimoji="0" lang="en-US" altLang="en-US"/>
                <a:t>16</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a:extLst>
              <a:ext uri="{FF2B5EF4-FFF2-40B4-BE49-F238E27FC236}">
                <a16:creationId xmlns:a16="http://schemas.microsoft.com/office/drawing/2014/main" id="{E841C6C2-8CFF-4FDC-A9E1-6B260CB17106}"/>
              </a:ext>
            </a:extLst>
          </p:cNvPr>
          <p:cNvSpPr>
            <a:spLocks noGrp="1" noChangeArrowheads="1"/>
          </p:cNvSpPr>
          <p:nvPr>
            <p:ph type="title"/>
          </p:nvPr>
        </p:nvSpPr>
        <p:spPr>
          <a:xfrm>
            <a:off x="2882420" y="163952"/>
            <a:ext cx="7594600" cy="576262"/>
          </a:xfrm>
        </p:spPr>
        <p:txBody>
          <a:bodyPr/>
          <a:lstStyle/>
          <a:p>
            <a:pPr eaLnBrk="1" hangingPunct="1"/>
            <a:r>
              <a:rPr lang="en-US" altLang="en-US" sz="3000" dirty="0"/>
              <a:t>Example of Shortest-remaining-time-first</a:t>
            </a:r>
          </a:p>
        </p:txBody>
      </p:sp>
      <p:sp>
        <p:nvSpPr>
          <p:cNvPr id="19459" name="Rectangle 36">
            <a:extLst>
              <a:ext uri="{FF2B5EF4-FFF2-40B4-BE49-F238E27FC236}">
                <a16:creationId xmlns:a16="http://schemas.microsoft.com/office/drawing/2014/main" id="{F6B280F4-20CD-4AA5-887B-A75AC06E0F7C}"/>
              </a:ext>
            </a:extLst>
          </p:cNvPr>
          <p:cNvSpPr>
            <a:spLocks noGrp="1" noChangeArrowheads="1"/>
          </p:cNvSpPr>
          <p:nvPr>
            <p:ph type="body" idx="1"/>
          </p:nvPr>
        </p:nvSpPr>
        <p:spPr>
          <a:xfrm>
            <a:off x="2326434" y="1233489"/>
            <a:ext cx="7707085" cy="4530725"/>
          </a:xfrm>
        </p:spPr>
        <p:txBody>
          <a:bodyPr/>
          <a:lstStyle/>
          <a:p>
            <a:pPr>
              <a:tabLst>
                <a:tab pos="1601312" algn="ctr"/>
                <a:tab pos="3252629" algn="ctr"/>
                <a:tab pos="5141754" algn="ctr"/>
              </a:tabLst>
              <a:defRPr/>
            </a:pPr>
            <a:r>
              <a:rPr lang="en-US" altLang="en-US" dirty="0">
                <a:cs typeface="ＭＳ Ｐゴシック" charset="-128"/>
              </a:rPr>
              <a:t>Now we add the concepts of varying arrival times and preemption to the analysis</a:t>
            </a:r>
          </a:p>
          <a:p>
            <a:pPr>
              <a:buNone/>
              <a:tabLst>
                <a:tab pos="1601312" algn="ctr"/>
                <a:tab pos="3252629" algn="ctr"/>
                <a:tab pos="5141754" algn="ctr"/>
              </a:tabLst>
              <a:defRPr/>
            </a:pPr>
            <a:r>
              <a:rPr lang="en-US" altLang="en-US" dirty="0">
                <a:cs typeface="ＭＳ Ｐゴシック" charset="-128"/>
              </a:rPr>
              <a:t>		               </a:t>
            </a:r>
            <a:r>
              <a:rPr lang="en-US" altLang="en-US" u="sng" dirty="0">
                <a:cs typeface="ＭＳ Ｐゴシック" charset="-128"/>
              </a:rPr>
              <a:t>Process</a:t>
            </a:r>
            <a:r>
              <a:rPr lang="en-US" altLang="en-US" u="sng" dirty="0">
                <a:solidFill>
                  <a:schemeClr val="bg1"/>
                </a:solidFill>
                <a:cs typeface="ＭＳ Ｐゴシック" charset="-128"/>
              </a:rPr>
              <a:t>      </a:t>
            </a:r>
            <a:r>
              <a:rPr lang="en-US" altLang="en-US" u="sng" dirty="0" err="1">
                <a:solidFill>
                  <a:schemeClr val="bg1"/>
                </a:solidFill>
                <a:cs typeface="ＭＳ Ｐゴシック" charset="-128"/>
              </a:rPr>
              <a:t>i</a:t>
            </a:r>
            <a:r>
              <a:rPr lang="en-US" altLang="en-US" u="sng" dirty="0">
                <a:solidFill>
                  <a:schemeClr val="bg1"/>
                </a:solidFill>
                <a:cs typeface="ＭＳ Ｐゴシック" charset="-128"/>
              </a:rPr>
              <a:t> </a:t>
            </a:r>
            <a:r>
              <a:rPr lang="en-US" altLang="en-US" i="1" u="sng" dirty="0">
                <a:cs typeface="ＭＳ Ｐゴシック" charset="-128"/>
              </a:rPr>
              <a:t>Arrival </a:t>
            </a:r>
            <a:r>
              <a:rPr lang="en-US" altLang="en-US" u="sng" dirty="0" err="1">
                <a:cs typeface="ＭＳ Ｐゴシック" charset="-128"/>
              </a:rPr>
              <a:t>Time</a:t>
            </a:r>
            <a:r>
              <a:rPr lang="en-US" altLang="en-US" u="sng" dirty="0" err="1">
                <a:solidFill>
                  <a:schemeClr val="bg1"/>
                </a:solidFill>
                <a:cs typeface="ＭＳ Ｐゴシック" charset="-128"/>
              </a:rPr>
              <a:t>T</a:t>
            </a:r>
            <a:r>
              <a:rPr lang="en-US" altLang="en-US" dirty="0">
                <a:cs typeface="ＭＳ Ｐゴシック" charset="-128"/>
              </a:rPr>
              <a:t>	</a:t>
            </a:r>
            <a:r>
              <a:rPr lang="en-US" altLang="en-US" u="sng" dirty="0">
                <a:cs typeface="ＭＳ Ｐゴシック" charset="-128"/>
              </a:rPr>
              <a:t>Burst Time</a:t>
            </a:r>
            <a:endParaRPr lang="en-US" altLang="en-US" dirty="0">
              <a:cs typeface="ＭＳ Ｐゴシック" charset="-128"/>
            </a:endParaRP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1</a:t>
            </a:r>
            <a:r>
              <a:rPr lang="en-US" altLang="en-US" dirty="0">
                <a:cs typeface="ＭＳ Ｐゴシック" charset="-128"/>
              </a:rPr>
              <a:t>	</a:t>
            </a:r>
            <a:r>
              <a:rPr lang="en-US" altLang="en-US" dirty="0">
                <a:solidFill>
                  <a:srgbClr val="000000"/>
                </a:solidFill>
                <a:cs typeface="ＭＳ Ｐゴシック" charset="-128"/>
              </a:rPr>
              <a:t>0</a:t>
            </a:r>
            <a:r>
              <a:rPr lang="en-US" altLang="en-US" dirty="0">
                <a:cs typeface="ＭＳ Ｐゴシック" charset="-128"/>
              </a:rPr>
              <a:t>	8</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2 	</a:t>
            </a:r>
            <a:r>
              <a:rPr lang="en-US" altLang="en-US" dirty="0">
                <a:solidFill>
                  <a:srgbClr val="000000"/>
                </a:solidFill>
                <a:cs typeface="ＭＳ Ｐゴシック" charset="-128"/>
              </a:rPr>
              <a:t>1</a:t>
            </a:r>
            <a:r>
              <a:rPr lang="en-US" altLang="en-US" dirty="0">
                <a:cs typeface="ＭＳ Ｐゴシック" charset="-128"/>
              </a:rPr>
              <a:t>	4</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3</a:t>
            </a:r>
            <a:r>
              <a:rPr lang="en-US" altLang="en-US" dirty="0">
                <a:cs typeface="ＭＳ Ｐゴシック" charset="-128"/>
              </a:rPr>
              <a:t>	</a:t>
            </a:r>
            <a:r>
              <a:rPr lang="en-US" altLang="en-US" dirty="0">
                <a:solidFill>
                  <a:srgbClr val="000000"/>
                </a:solidFill>
                <a:cs typeface="ＭＳ Ｐゴシック" charset="-128"/>
              </a:rPr>
              <a:t>2</a:t>
            </a:r>
            <a:r>
              <a:rPr lang="en-US" altLang="en-US" dirty="0">
                <a:cs typeface="ＭＳ Ｐゴシック" charset="-128"/>
              </a:rPr>
              <a:t>	9</a:t>
            </a:r>
          </a:p>
          <a:p>
            <a:pPr>
              <a:buNone/>
              <a:tabLst>
                <a:tab pos="1601312" algn="ctr"/>
                <a:tab pos="3252629" algn="ctr"/>
                <a:tab pos="5141754" algn="ctr"/>
              </a:tabLst>
              <a:defRPr/>
            </a:pPr>
            <a:r>
              <a:rPr lang="en-US" altLang="en-US" dirty="0">
                <a:cs typeface="ＭＳ Ｐゴシック" charset="-128"/>
              </a:rPr>
              <a:t>		 </a:t>
            </a:r>
            <a:r>
              <a:rPr lang="en-US" altLang="en-US" i="1" dirty="0">
                <a:cs typeface="ＭＳ Ｐゴシック" charset="-128"/>
              </a:rPr>
              <a:t>P</a:t>
            </a:r>
            <a:r>
              <a:rPr lang="en-US" altLang="en-US" i="1" baseline="-25000" dirty="0">
                <a:cs typeface="ＭＳ Ｐゴシック" charset="-128"/>
              </a:rPr>
              <a:t>4</a:t>
            </a:r>
            <a:r>
              <a:rPr lang="en-US" altLang="en-US" dirty="0">
                <a:cs typeface="ＭＳ Ｐゴシック" charset="-128"/>
              </a:rPr>
              <a:t>	</a:t>
            </a:r>
            <a:r>
              <a:rPr lang="en-US" altLang="en-US" dirty="0">
                <a:solidFill>
                  <a:srgbClr val="000000"/>
                </a:solidFill>
                <a:cs typeface="ＭＳ Ｐゴシック" charset="-128"/>
              </a:rPr>
              <a:t>3</a:t>
            </a:r>
            <a:r>
              <a:rPr lang="en-US" altLang="en-US" dirty="0">
                <a:cs typeface="ＭＳ Ｐゴシック" charset="-128"/>
              </a:rPr>
              <a:t>	5</a:t>
            </a:r>
          </a:p>
          <a:p>
            <a:pPr>
              <a:tabLst>
                <a:tab pos="1601312" algn="ctr"/>
                <a:tab pos="3252629" algn="ctr"/>
                <a:tab pos="5141754" algn="ctr"/>
              </a:tabLst>
              <a:defRPr/>
            </a:pPr>
            <a:r>
              <a:rPr lang="en-US" altLang="en-US" i="1" dirty="0">
                <a:cs typeface="ＭＳ Ｐゴシック" charset="-128"/>
              </a:rPr>
              <a:t>Preemptive </a:t>
            </a:r>
            <a:r>
              <a:rPr lang="en-US" altLang="en-US" dirty="0">
                <a:cs typeface="ＭＳ Ｐゴシック" charset="-128"/>
              </a:rPr>
              <a:t>SJF Gantt Chart</a:t>
            </a:r>
          </a:p>
          <a:p>
            <a:pPr>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endParaRPr lang="en-US" altLang="en-US" dirty="0">
              <a:cs typeface="ＭＳ Ｐゴシック" charset="-128"/>
            </a:endParaRPr>
          </a:p>
          <a:p>
            <a:pPr marL="0" indent="0">
              <a:buNone/>
              <a:tabLst>
                <a:tab pos="1601312" algn="ctr"/>
                <a:tab pos="3252629" algn="ctr"/>
                <a:tab pos="5141754" algn="ctr"/>
              </a:tabLst>
              <a:defRPr/>
            </a:pPr>
            <a:endParaRPr lang="en-US" altLang="en-US" dirty="0">
              <a:cs typeface="ＭＳ Ｐゴシック" charset="-128"/>
            </a:endParaRPr>
          </a:p>
          <a:p>
            <a:pPr>
              <a:tabLst>
                <a:tab pos="1601312" algn="ctr"/>
                <a:tab pos="3252629" algn="ctr"/>
                <a:tab pos="5141754" algn="ctr"/>
              </a:tabLst>
              <a:defRPr/>
            </a:pPr>
            <a:r>
              <a:rPr lang="en-US" altLang="en-US" dirty="0">
                <a:cs typeface="ＭＳ Ｐゴシック" charset="-128"/>
              </a:rPr>
              <a:t>Average waiting time = [(10-1)+(1-1)+(17-2)+(5-3)]/4 = 26/4 = 6.5</a:t>
            </a:r>
          </a:p>
          <a:p>
            <a:pPr>
              <a:tabLst>
                <a:tab pos="1601312" algn="ctr"/>
                <a:tab pos="3252629" algn="ctr"/>
                <a:tab pos="5141754" algn="ctr"/>
              </a:tabLst>
              <a:defRPr/>
            </a:pPr>
            <a:endParaRPr lang="en-US" altLang="en-US" i="1" baseline="-25000" dirty="0">
              <a:cs typeface="ＭＳ Ｐゴシック" charset="-128"/>
            </a:endParaRPr>
          </a:p>
          <a:p>
            <a:pPr>
              <a:buNone/>
              <a:tabLst>
                <a:tab pos="1601312" algn="ctr"/>
                <a:tab pos="3252629" algn="ctr"/>
                <a:tab pos="5141754" algn="ctr"/>
              </a:tabLst>
              <a:defRPr/>
            </a:pPr>
            <a:endParaRPr lang="en-US" altLang="en-US" i="1" baseline="-25000" dirty="0">
              <a:cs typeface="ＭＳ Ｐゴシック" charset="-128"/>
            </a:endParaRPr>
          </a:p>
        </p:txBody>
      </p:sp>
      <p:pic>
        <p:nvPicPr>
          <p:cNvPr id="37891" name="Picture 1">
            <a:extLst>
              <a:ext uri="{FF2B5EF4-FFF2-40B4-BE49-F238E27FC236}">
                <a16:creationId xmlns:a16="http://schemas.microsoft.com/office/drawing/2014/main" id="{100802A9-2833-4519-B21E-A1B2D0AF971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70214" y="4284663"/>
            <a:ext cx="6535737"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61837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7A3CFFB8-E2A9-4251-9DDA-A9BF289B2979}"/>
              </a:ext>
            </a:extLst>
          </p:cNvPr>
          <p:cNvSpPr>
            <a:spLocks noGrp="1" noChangeArrowheads="1"/>
          </p:cNvSpPr>
          <p:nvPr>
            <p:ph type="title"/>
          </p:nvPr>
        </p:nvSpPr>
        <p:spPr>
          <a:xfrm>
            <a:off x="2511629" y="165919"/>
            <a:ext cx="8249492" cy="611187"/>
          </a:xfrm>
        </p:spPr>
        <p:txBody>
          <a:bodyPr/>
          <a:lstStyle/>
          <a:p>
            <a:pPr eaLnBrk="1" hangingPunct="1"/>
            <a:r>
              <a:rPr lang="en-US" altLang="en-US" dirty="0"/>
              <a:t>Determining Length of Next CPU Burst</a:t>
            </a:r>
          </a:p>
        </p:txBody>
      </p:sp>
      <p:sp>
        <p:nvSpPr>
          <p:cNvPr id="16387" name="Rectangle 3">
            <a:extLst>
              <a:ext uri="{FF2B5EF4-FFF2-40B4-BE49-F238E27FC236}">
                <a16:creationId xmlns:a16="http://schemas.microsoft.com/office/drawing/2014/main" id="{8340EA5D-E641-4F83-8451-8011ACC73F79}"/>
              </a:ext>
            </a:extLst>
          </p:cNvPr>
          <p:cNvSpPr>
            <a:spLocks noGrp="1" noChangeArrowheads="1"/>
          </p:cNvSpPr>
          <p:nvPr>
            <p:ph type="body" idx="1"/>
          </p:nvPr>
        </p:nvSpPr>
        <p:spPr>
          <a:xfrm>
            <a:off x="1386348" y="1233489"/>
            <a:ext cx="9733936" cy="4935537"/>
          </a:xfrm>
        </p:spPr>
        <p:txBody>
          <a:bodyPr/>
          <a:lstStyle/>
          <a:p>
            <a:pPr>
              <a:defRPr/>
            </a:pPr>
            <a:r>
              <a:rPr lang="en-US" altLang="en-US" sz="2000" dirty="0">
                <a:cs typeface="ＭＳ Ｐゴシック" charset="-128"/>
              </a:rPr>
              <a:t>Can only estimate the length – should be similar to the previous one</a:t>
            </a:r>
          </a:p>
          <a:p>
            <a:pPr lvl="1">
              <a:defRPr/>
            </a:pPr>
            <a:r>
              <a:rPr lang="en-US" altLang="en-US" sz="2000" dirty="0"/>
              <a:t>Then pick process with shortest predicted next CPU burst</a:t>
            </a:r>
            <a:endParaRPr lang="en-US" altLang="en-US" sz="2000" dirty="0">
              <a:cs typeface="ＭＳ Ｐゴシック" charset="-128"/>
            </a:endParaRPr>
          </a:p>
          <a:p>
            <a:pPr>
              <a:defRPr/>
            </a:pPr>
            <a:r>
              <a:rPr lang="en-US" altLang="en-US" sz="2000" dirty="0">
                <a:cs typeface="ＭＳ Ｐゴシック" charset="-128"/>
              </a:rPr>
              <a:t>Can be done by using the length of previous CPU bursts, using exponential averaging</a:t>
            </a:r>
          </a:p>
          <a:p>
            <a:pPr>
              <a:defRPr/>
            </a:pPr>
            <a:endParaRPr lang="en-US" altLang="en-US" sz="2000" dirty="0">
              <a:cs typeface="ＭＳ Ｐゴシック" charset="-128"/>
            </a:endParaRPr>
          </a:p>
          <a:p>
            <a:pPr>
              <a:defRPr/>
            </a:pPr>
            <a:endParaRPr lang="en-US" altLang="en-US" sz="2000" dirty="0">
              <a:cs typeface="ＭＳ Ｐゴシック" charset="-128"/>
            </a:endParaRPr>
          </a:p>
          <a:p>
            <a:pPr>
              <a:defRPr/>
            </a:pPr>
            <a:endParaRPr lang="en-US" altLang="en-US" sz="2000" dirty="0">
              <a:cs typeface="ＭＳ Ｐゴシック" charset="-128"/>
            </a:endParaRPr>
          </a:p>
          <a:p>
            <a:pPr marL="0" indent="0">
              <a:buNone/>
              <a:defRPr/>
            </a:pPr>
            <a:endParaRPr lang="en-US" altLang="en-US" sz="2000" dirty="0">
              <a:cs typeface="ＭＳ Ｐゴシック" charset="-128"/>
            </a:endParaRPr>
          </a:p>
          <a:p>
            <a:pPr marL="0" indent="0">
              <a:buNone/>
              <a:defRPr/>
            </a:pPr>
            <a:endParaRPr lang="en-US" altLang="en-US" sz="2000" dirty="0">
              <a:cs typeface="ＭＳ Ｐゴシック" charset="-128"/>
            </a:endParaRPr>
          </a:p>
          <a:p>
            <a:pPr>
              <a:defRPr/>
            </a:pPr>
            <a:r>
              <a:rPr lang="en-US" altLang="en-US" sz="2000" dirty="0">
                <a:cs typeface="ＭＳ Ｐゴシック" charset="-128"/>
              </a:rPr>
              <a:t>Commonly, </a:t>
            </a:r>
            <a:r>
              <a:rPr lang="en-US" altLang="en-US" sz="2000" dirty="0">
                <a:latin typeface="Lucida Grande" pitchFamily="-84" charset="0"/>
                <a:cs typeface="ＭＳ Ｐゴシック" charset="-128"/>
              </a:rPr>
              <a:t>α </a:t>
            </a:r>
            <a:r>
              <a:rPr lang="en-US" altLang="en-US" sz="2000" dirty="0">
                <a:cs typeface="ＭＳ Ｐゴシック" charset="-128"/>
              </a:rPr>
              <a:t>set to ½</a:t>
            </a:r>
          </a:p>
        </p:txBody>
      </p:sp>
      <p:pic>
        <p:nvPicPr>
          <p:cNvPr id="31748" name="Picture 1">
            <a:extLst>
              <a:ext uri="{FF2B5EF4-FFF2-40B4-BE49-F238E27FC236}">
                <a16:creationId xmlns:a16="http://schemas.microsoft.com/office/drawing/2014/main" id="{E328DB97-6C8D-4434-AF77-5C40A02A28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02492" y="4144816"/>
            <a:ext cx="3458397" cy="808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descr="Graphical user interface, text, application&#10;&#10;Description automatically generated">
            <a:extLst>
              <a:ext uri="{FF2B5EF4-FFF2-40B4-BE49-F238E27FC236}">
                <a16:creationId xmlns:a16="http://schemas.microsoft.com/office/drawing/2014/main" id="{427B0884-5EC4-48E6-847A-70815D91C373}"/>
              </a:ext>
            </a:extLst>
          </p:cNvPr>
          <p:cNvPicPr>
            <a:picLocks noChangeAspect="1"/>
          </p:cNvPicPr>
          <p:nvPr/>
        </p:nvPicPr>
        <p:blipFill>
          <a:blip r:embed="rId4"/>
          <a:stretch>
            <a:fillRect/>
          </a:stretch>
        </p:blipFill>
        <p:spPr>
          <a:xfrm>
            <a:off x="3133722" y="2697445"/>
            <a:ext cx="5421252" cy="166807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a:extLst>
              <a:ext uri="{FF2B5EF4-FFF2-40B4-BE49-F238E27FC236}">
                <a16:creationId xmlns:a16="http://schemas.microsoft.com/office/drawing/2014/main" id="{3ABB015E-7AD3-4A84-AE93-94E9C1B95CA6}"/>
              </a:ext>
            </a:extLst>
          </p:cNvPr>
          <p:cNvSpPr>
            <a:spLocks noGrp="1" noChangeArrowheads="1"/>
          </p:cNvSpPr>
          <p:nvPr>
            <p:ph type="title"/>
          </p:nvPr>
        </p:nvSpPr>
        <p:spPr>
          <a:xfrm>
            <a:off x="2334949" y="131829"/>
            <a:ext cx="8223250" cy="677863"/>
          </a:xfrm>
        </p:spPr>
        <p:txBody>
          <a:bodyPr/>
          <a:lstStyle/>
          <a:p>
            <a:pPr eaLnBrk="1" hangingPunct="1"/>
            <a:r>
              <a:rPr lang="en-US" altLang="en-US" sz="2600" dirty="0"/>
              <a:t>Prediction of the Length of the Next CPU Burst</a:t>
            </a:r>
          </a:p>
        </p:txBody>
      </p:sp>
      <p:pic>
        <p:nvPicPr>
          <p:cNvPr id="33794" name="Picture 2">
            <a:extLst>
              <a:ext uri="{FF2B5EF4-FFF2-40B4-BE49-F238E27FC236}">
                <a16:creationId xmlns:a16="http://schemas.microsoft.com/office/drawing/2014/main" id="{13C6E507-3240-4702-A49A-38E2AFA029A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34949" y="1038735"/>
            <a:ext cx="7347564" cy="5326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D9F41D91-5CCD-4C10-BD4B-8757760950E9}"/>
              </a:ext>
            </a:extLst>
          </p:cNvPr>
          <p:cNvSpPr>
            <a:spLocks noGrp="1" noChangeArrowheads="1"/>
          </p:cNvSpPr>
          <p:nvPr>
            <p:ph type="title"/>
          </p:nvPr>
        </p:nvSpPr>
        <p:spPr>
          <a:xfrm>
            <a:off x="2699461" y="229606"/>
            <a:ext cx="7451725" cy="576262"/>
          </a:xfrm>
        </p:spPr>
        <p:txBody>
          <a:bodyPr/>
          <a:lstStyle/>
          <a:p>
            <a:pPr eaLnBrk="1" hangingPunct="1"/>
            <a:r>
              <a:rPr lang="en-US" altLang="en-US" dirty="0"/>
              <a:t>Examples of Exponential Averaging</a:t>
            </a:r>
          </a:p>
        </p:txBody>
      </p:sp>
      <p:sp>
        <p:nvSpPr>
          <p:cNvPr id="35842" name="Rectangle 3">
            <a:extLst>
              <a:ext uri="{FF2B5EF4-FFF2-40B4-BE49-F238E27FC236}">
                <a16:creationId xmlns:a16="http://schemas.microsoft.com/office/drawing/2014/main" id="{D651A984-67C5-468C-8F88-230FFA867BD5}"/>
              </a:ext>
            </a:extLst>
          </p:cNvPr>
          <p:cNvSpPr>
            <a:spLocks noGrp="1" noChangeArrowheads="1"/>
          </p:cNvSpPr>
          <p:nvPr>
            <p:ph type="body" idx="1"/>
          </p:nvPr>
        </p:nvSpPr>
        <p:spPr>
          <a:xfrm>
            <a:off x="1388749" y="1218740"/>
            <a:ext cx="10073147" cy="5019827"/>
          </a:xfrm>
        </p:spPr>
        <p:txBody>
          <a:bodyPr/>
          <a:lstStyle/>
          <a:p>
            <a:pPr>
              <a:lnSpc>
                <a:spcPct val="90000"/>
              </a:lnSpc>
            </a:pPr>
            <a:r>
              <a:rPr lang="en-US" altLang="en-US" sz="2000" dirty="0">
                <a:sym typeface="Symbol" panose="05050102010706020507" pitchFamily="18" charset="2"/>
              </a:rPr>
              <a:t> =0</a:t>
            </a:r>
          </a:p>
          <a:p>
            <a:pPr lvl="1">
              <a:lnSpc>
                <a:spcPct val="90000"/>
              </a:lnSpc>
            </a:pPr>
            <a:r>
              <a:rPr lang="en-US" altLang="en-US" sz="2000" dirty="0">
                <a:sym typeface="Symbol" panose="05050102010706020507" pitchFamily="18" charset="2"/>
              </a:rPr>
              <a:t></a:t>
            </a:r>
            <a:r>
              <a:rPr lang="en-US" altLang="en-US" sz="2000" baseline="-25000" dirty="0">
                <a:sym typeface="Symbol" panose="05050102010706020507" pitchFamily="18" charset="2"/>
              </a:rPr>
              <a:t>n+1</a:t>
            </a:r>
            <a:r>
              <a:rPr lang="en-US" altLang="en-US" sz="2000" dirty="0">
                <a:sym typeface="Symbol" panose="05050102010706020507" pitchFamily="18" charset="2"/>
              </a:rPr>
              <a:t> = </a:t>
            </a:r>
            <a:r>
              <a:rPr lang="en-US" altLang="en-US" sz="2000" baseline="-25000" dirty="0">
                <a:sym typeface="Symbol" panose="05050102010706020507" pitchFamily="18" charset="2"/>
              </a:rPr>
              <a:t>n</a:t>
            </a:r>
          </a:p>
          <a:p>
            <a:pPr lvl="1">
              <a:lnSpc>
                <a:spcPct val="90000"/>
              </a:lnSpc>
            </a:pPr>
            <a:r>
              <a:rPr lang="en-US" altLang="en-US" sz="2000" dirty="0">
                <a:sym typeface="Symbol" panose="05050102010706020507" pitchFamily="18" charset="2"/>
              </a:rPr>
              <a:t>Recent history does not count</a:t>
            </a:r>
          </a:p>
          <a:p>
            <a:pPr>
              <a:lnSpc>
                <a:spcPct val="90000"/>
              </a:lnSpc>
            </a:pPr>
            <a:r>
              <a:rPr lang="en-US" altLang="en-US" sz="2000" dirty="0">
                <a:sym typeface="Symbol" panose="05050102010706020507" pitchFamily="18" charset="2"/>
              </a:rPr>
              <a:t> =1</a:t>
            </a:r>
          </a:p>
          <a:p>
            <a:pPr lvl="1">
              <a:lnSpc>
                <a:spcPct val="90000"/>
              </a:lnSpc>
            </a:pPr>
            <a:r>
              <a:rPr lang="en-US" altLang="en-US" sz="2000" dirty="0">
                <a:sym typeface="Symbol" panose="05050102010706020507" pitchFamily="18" charset="2"/>
              </a:rPr>
              <a:t> </a:t>
            </a:r>
            <a:r>
              <a:rPr lang="en-US" altLang="en-US" sz="2000" baseline="-25000" dirty="0">
                <a:sym typeface="Symbol" panose="05050102010706020507" pitchFamily="18" charset="2"/>
              </a:rPr>
              <a:t>n+1</a:t>
            </a:r>
            <a:r>
              <a:rPr lang="en-US" altLang="en-US" sz="2000" dirty="0">
                <a:sym typeface="Symbol" panose="05050102010706020507" pitchFamily="18" charset="2"/>
              </a:rPr>
              <a:t> =  </a:t>
            </a:r>
            <a:r>
              <a:rPr lang="en-US" altLang="en-US" sz="2000" i="1" dirty="0" err="1">
                <a:sym typeface="Symbol" panose="05050102010706020507" pitchFamily="18" charset="2"/>
              </a:rPr>
              <a:t>t</a:t>
            </a:r>
            <a:r>
              <a:rPr lang="en-US" altLang="en-US" sz="2000" baseline="-25000" dirty="0" err="1">
                <a:sym typeface="Symbol" panose="05050102010706020507" pitchFamily="18" charset="2"/>
              </a:rPr>
              <a:t>n</a:t>
            </a:r>
            <a:endParaRPr lang="en-US" altLang="en-US" sz="2000" baseline="-25000" dirty="0">
              <a:sym typeface="Symbol" panose="05050102010706020507" pitchFamily="18" charset="2"/>
            </a:endParaRPr>
          </a:p>
          <a:p>
            <a:pPr lvl="1">
              <a:lnSpc>
                <a:spcPct val="90000"/>
              </a:lnSpc>
            </a:pPr>
            <a:r>
              <a:rPr lang="en-US" altLang="en-US" sz="2000" dirty="0">
                <a:sym typeface="Symbol" panose="05050102010706020507" pitchFamily="18" charset="2"/>
              </a:rPr>
              <a:t>Only the actual last CPU burst counts</a:t>
            </a:r>
          </a:p>
          <a:p>
            <a:pPr>
              <a:lnSpc>
                <a:spcPct val="90000"/>
              </a:lnSpc>
            </a:pPr>
            <a:r>
              <a:rPr lang="en-US" altLang="en-US" sz="2000" dirty="0">
                <a:sym typeface="Symbol" panose="05050102010706020507" pitchFamily="18" charset="2"/>
              </a:rPr>
              <a:t>If we expand the formula, we get:</a:t>
            </a:r>
          </a:p>
          <a:p>
            <a:pPr lvl="2">
              <a:lnSpc>
                <a:spcPct val="90000"/>
              </a:lnSpc>
              <a:buFont typeface="Webdings" panose="05030102010509060703" pitchFamily="18" charset="2"/>
              <a:buNone/>
            </a:pPr>
            <a:r>
              <a:rPr lang="en-US" altLang="en-US" sz="2000" dirty="0">
                <a:sym typeface="Symbol" panose="05050102010706020507" pitchFamily="18" charset="2"/>
              </a:rPr>
              <a:t></a:t>
            </a:r>
            <a:r>
              <a:rPr lang="en-US" altLang="en-US" sz="2000" i="1" baseline="-25000" dirty="0">
                <a:sym typeface="Symbol" panose="05050102010706020507" pitchFamily="18" charset="2"/>
              </a:rPr>
              <a:t>n</a:t>
            </a:r>
            <a:r>
              <a:rPr lang="en-US" altLang="en-US" sz="2000" baseline="-25000" dirty="0">
                <a:sym typeface="Symbol" panose="05050102010706020507" pitchFamily="18" charset="2"/>
              </a:rPr>
              <a:t>+1</a:t>
            </a:r>
            <a:r>
              <a:rPr lang="en-US" altLang="en-US" sz="2000" dirty="0">
                <a:sym typeface="Symbol" panose="05050102010706020507" pitchFamily="18" charset="2"/>
              </a:rPr>
              <a:t> =  </a:t>
            </a:r>
            <a:r>
              <a:rPr lang="en-US" altLang="en-US" sz="2000"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+(1</a:t>
            </a:r>
            <a:r>
              <a:rPr lang="en-US" altLang="en-US" sz="2000" i="1" dirty="0">
                <a:sym typeface="Symbol" panose="05050102010706020507" pitchFamily="18" charset="2"/>
              </a:rPr>
              <a:t> - </a:t>
            </a:r>
            <a:r>
              <a:rPr lang="en-US" altLang="en-US" sz="2000" dirty="0">
                <a:sym typeface="Symbol" panose="05050102010706020507" pitchFamily="18" charset="2"/>
              </a:rPr>
              <a:t></a:t>
            </a:r>
            <a:r>
              <a:rPr lang="en-US" altLang="en-US" sz="2000" i="1" dirty="0">
                <a:sym typeface="Symbol" panose="05050102010706020507" pitchFamily="18" charset="2"/>
              </a:rPr>
              <a:t>)</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i="1" dirty="0">
                <a:sym typeface="Symbol" panose="05050102010706020507" pitchFamily="18" charset="2"/>
              </a:rPr>
              <a:t> </a:t>
            </a:r>
            <a:r>
              <a:rPr lang="en-US" altLang="en-US" sz="2000" baseline="-25000" dirty="0">
                <a:sym typeface="Symbol" panose="05050102010706020507" pitchFamily="18" charset="2"/>
              </a:rPr>
              <a:t>-1</a:t>
            </a:r>
            <a:r>
              <a:rPr lang="en-US" altLang="en-US" sz="2000" i="1" baseline="-25000"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j</a:t>
            </a:r>
            <a:r>
              <a:rPr lang="en-US" altLang="en-US" sz="2000" baseline="30000" dirty="0">
                <a:sym typeface="Symbol" panose="05050102010706020507" pitchFamily="18" charset="2"/>
              </a:rPr>
              <a:t> </a:t>
            </a:r>
            <a:r>
              <a:rPr lang="en-US" altLang="en-US" sz="2000" dirty="0">
                <a:sym typeface="Symbol" panose="05050102010706020507" pitchFamily="18" charset="2"/>
              </a:rPr>
              <a:t> </a:t>
            </a:r>
            <a:r>
              <a:rPr lang="en-US" altLang="en-US" sz="2000" i="1" dirty="0" err="1">
                <a:sym typeface="Symbol" panose="05050102010706020507" pitchFamily="18" charset="2"/>
              </a:rPr>
              <a:t>t</a:t>
            </a:r>
            <a:r>
              <a:rPr lang="en-US" altLang="en-US" sz="2000" i="1" baseline="-25000" dirty="0" err="1">
                <a:sym typeface="Symbol" panose="05050102010706020507" pitchFamily="18" charset="2"/>
              </a:rPr>
              <a:t>n</a:t>
            </a:r>
            <a:r>
              <a:rPr lang="en-US" altLang="en-US" sz="2000" dirty="0">
                <a:sym typeface="Symbol" panose="05050102010706020507" pitchFamily="18" charset="2"/>
              </a:rPr>
              <a:t> </a:t>
            </a:r>
            <a:r>
              <a:rPr lang="en-US" altLang="en-US" sz="2000" baseline="-25000" dirty="0">
                <a:sym typeface="Symbol" panose="05050102010706020507" pitchFamily="18" charset="2"/>
              </a:rPr>
              <a:t>-</a:t>
            </a:r>
            <a:r>
              <a:rPr lang="en-US" altLang="en-US" sz="2000" i="1" baseline="-25000" dirty="0">
                <a:sym typeface="Symbol" panose="05050102010706020507" pitchFamily="18" charset="2"/>
              </a:rPr>
              <a:t>j</a:t>
            </a:r>
            <a:r>
              <a:rPr lang="en-US" altLang="en-US" sz="2000" i="1" dirty="0">
                <a:sym typeface="Symbol" panose="05050102010706020507" pitchFamily="18" charset="2"/>
              </a:rPr>
              <a:t> </a:t>
            </a:r>
            <a:r>
              <a:rPr lang="en-US" altLang="en-US" sz="2000" dirty="0">
                <a:sym typeface="Symbol" panose="05050102010706020507" pitchFamily="18" charset="2"/>
              </a:rPr>
              <a:t>+ …</a:t>
            </a:r>
          </a:p>
          <a:p>
            <a:pPr lvl="2">
              <a:lnSpc>
                <a:spcPct val="90000"/>
              </a:lnSpc>
              <a:buFont typeface="Webdings" panose="05030102010509060703" pitchFamily="18" charset="2"/>
              <a:buNone/>
            </a:pPr>
            <a:r>
              <a:rPr lang="en-US" altLang="en-US" sz="2000" dirty="0">
                <a:sym typeface="Symbol" panose="05050102010706020507" pitchFamily="18" charset="2"/>
              </a:rPr>
              <a:t>            </a:t>
            </a:r>
            <a:r>
              <a:rPr lang="en-US" altLang="en-US" sz="2000" i="1" dirty="0">
                <a:sym typeface="Symbol" panose="05050102010706020507" pitchFamily="18" charset="2"/>
              </a:rPr>
              <a:t>+(</a:t>
            </a:r>
            <a:r>
              <a:rPr lang="en-US" altLang="en-US" sz="2000" dirty="0">
                <a:sym typeface="Symbol" panose="05050102010706020507" pitchFamily="18" charset="2"/>
              </a:rPr>
              <a:t>1 -  </a:t>
            </a:r>
            <a:r>
              <a:rPr lang="en-US" altLang="en-US" sz="2000" i="1" dirty="0">
                <a:sym typeface="Symbol" panose="05050102010706020507" pitchFamily="18" charset="2"/>
              </a:rPr>
              <a:t>)</a:t>
            </a:r>
            <a:r>
              <a:rPr lang="en-US" altLang="en-US" sz="2000" i="1" baseline="30000" dirty="0">
                <a:sym typeface="Symbol" panose="05050102010706020507" pitchFamily="18" charset="2"/>
              </a:rPr>
              <a:t>n</a:t>
            </a:r>
            <a:r>
              <a:rPr lang="en-US" altLang="en-US" sz="2000" baseline="30000" dirty="0">
                <a:sym typeface="Symbol" panose="05050102010706020507" pitchFamily="18" charset="2"/>
              </a:rPr>
              <a:t> +1 </a:t>
            </a:r>
            <a:r>
              <a:rPr lang="en-US" altLang="en-US" sz="2000" dirty="0">
                <a:sym typeface="Symbol" panose="05050102010706020507" pitchFamily="18" charset="2"/>
              </a:rPr>
              <a:t></a:t>
            </a:r>
            <a:r>
              <a:rPr lang="en-US" altLang="en-US" sz="2000" baseline="-25000" dirty="0">
                <a:sym typeface="Symbol" panose="05050102010706020507" pitchFamily="18" charset="2"/>
              </a:rPr>
              <a:t>0</a:t>
            </a:r>
            <a:br>
              <a:rPr lang="en-US" altLang="en-US" sz="2000" baseline="-25000" dirty="0">
                <a:sym typeface="Symbol" panose="05050102010706020507" pitchFamily="18" charset="2"/>
              </a:rPr>
            </a:br>
            <a:endParaRPr lang="en-US" altLang="en-US" sz="2000" baseline="-25000" dirty="0">
              <a:sym typeface="Symbol" panose="05050102010706020507" pitchFamily="18" charset="2"/>
            </a:endParaRPr>
          </a:p>
          <a:p>
            <a:pPr>
              <a:lnSpc>
                <a:spcPct val="90000"/>
              </a:lnSpc>
            </a:pPr>
            <a:r>
              <a:rPr lang="en-US" altLang="en-US" sz="2000" dirty="0">
                <a:sym typeface="Symbol" panose="05050102010706020507" pitchFamily="18" charset="2"/>
              </a:rPr>
              <a:t>Since both  and (1 - ) are less than or equal to 1, each successor predecessor  term has less weight than its predecessor</a:t>
            </a:r>
          </a:p>
          <a:p>
            <a:pPr>
              <a:lnSpc>
                <a:spcPct val="90000"/>
              </a:lnSpc>
              <a:buFont typeface="Monotype Sorts" pitchFamily="-84" charset="2"/>
              <a:buNone/>
            </a:pPr>
            <a:endParaRPr lang="en-US" altLang="en-US" sz="2000" dirty="0">
              <a:sym typeface="Symbol" panose="05050102010706020507" pitchFamily="18" charset="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75370DA6-23EE-4245-8D59-2BE3CA11205A}"/>
              </a:ext>
            </a:extLst>
          </p:cNvPr>
          <p:cNvSpPr>
            <a:spLocks noGrp="1" noChangeArrowheads="1"/>
          </p:cNvSpPr>
          <p:nvPr>
            <p:ph type="title"/>
          </p:nvPr>
        </p:nvSpPr>
        <p:spPr>
          <a:xfrm>
            <a:off x="2724350" y="129252"/>
            <a:ext cx="7709971" cy="576262"/>
          </a:xfrm>
        </p:spPr>
        <p:txBody>
          <a:bodyPr/>
          <a:lstStyle/>
          <a:p>
            <a:pPr eaLnBrk="1" hangingPunct="1"/>
            <a:r>
              <a:rPr lang="en-US" altLang="en-US" sz="2800" dirty="0"/>
              <a:t>Shortest Remaining Time First Scheduling</a:t>
            </a:r>
          </a:p>
        </p:txBody>
      </p:sp>
      <p:sp>
        <p:nvSpPr>
          <p:cNvPr id="27650" name="Rectangle 3">
            <a:extLst>
              <a:ext uri="{FF2B5EF4-FFF2-40B4-BE49-F238E27FC236}">
                <a16:creationId xmlns:a16="http://schemas.microsoft.com/office/drawing/2014/main" id="{823814F7-CEBB-4A55-80A1-4EA7BB1EEA9B}"/>
              </a:ext>
            </a:extLst>
          </p:cNvPr>
          <p:cNvSpPr>
            <a:spLocks noGrp="1" noChangeArrowheads="1"/>
          </p:cNvSpPr>
          <p:nvPr>
            <p:ph type="body" idx="1"/>
          </p:nvPr>
        </p:nvSpPr>
        <p:spPr>
          <a:xfrm>
            <a:off x="1297858" y="1139970"/>
            <a:ext cx="9136463" cy="4345509"/>
          </a:xfrm>
        </p:spPr>
        <p:txBody>
          <a:bodyPr/>
          <a:lstStyle/>
          <a:p>
            <a:endParaRPr lang="en-US" altLang="en-US" sz="2000" dirty="0">
              <a:cs typeface="ＭＳ Ｐゴシック" charset="-128"/>
            </a:endParaRPr>
          </a:p>
          <a:p>
            <a:r>
              <a:rPr lang="en-US" altLang="en-US" sz="2000" dirty="0">
                <a:cs typeface="ＭＳ Ｐゴシック" charset="-128"/>
              </a:rPr>
              <a:t>Preemptive version of SJF</a:t>
            </a:r>
            <a:endParaRPr lang="en-US" altLang="en-US" sz="2000" b="1" dirty="0">
              <a:solidFill>
                <a:srgbClr val="006699"/>
              </a:solidFill>
              <a:latin typeface="+mj-lt"/>
            </a:endParaRPr>
          </a:p>
          <a:p>
            <a:endParaRPr lang="en-US" altLang="en-US" sz="2000" dirty="0"/>
          </a:p>
          <a:p>
            <a:r>
              <a:rPr lang="en-US" altLang="en-US" sz="2000" dirty="0"/>
              <a:t>Whenever a new process arrives in the ready queue, the decision on which process to schedule next is redone using the SJF algorithm.</a:t>
            </a:r>
          </a:p>
          <a:p>
            <a:endParaRPr lang="en-US" altLang="en-US" sz="2000" dirty="0"/>
          </a:p>
          <a:p>
            <a:r>
              <a:rPr lang="en-US" altLang="en-US" sz="2000" dirty="0"/>
              <a:t>Is SRTF more “optimal” than SJF in terms of the minimum average waiting time for a given set of processes?</a:t>
            </a:r>
          </a:p>
          <a:p>
            <a:endParaRPr lang="en-US" altLang="en-US" sz="2000" dirty="0"/>
          </a:p>
          <a:p>
            <a:pPr lvl="1"/>
            <a:endParaRPr lang="en-US" altLang="en-US" sz="2000" dirty="0"/>
          </a:p>
        </p:txBody>
      </p:sp>
    </p:spTree>
    <p:extLst>
      <p:ext uri="{BB962C8B-B14F-4D97-AF65-F5344CB8AC3E}">
        <p14:creationId xmlns:p14="http://schemas.microsoft.com/office/powerpoint/2010/main" val="24526417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a:extLst>
              <a:ext uri="{FF2B5EF4-FFF2-40B4-BE49-F238E27FC236}">
                <a16:creationId xmlns:a16="http://schemas.microsoft.com/office/drawing/2014/main" id="{0C539CA8-5BE8-4B08-A540-B4382F3C2212}"/>
              </a:ext>
            </a:extLst>
          </p:cNvPr>
          <p:cNvSpPr>
            <a:spLocks noGrp="1" noChangeArrowheads="1"/>
          </p:cNvSpPr>
          <p:nvPr>
            <p:ph type="title"/>
          </p:nvPr>
        </p:nvSpPr>
        <p:spPr>
          <a:xfrm>
            <a:off x="1981200" y="153418"/>
            <a:ext cx="8229600" cy="576262"/>
          </a:xfrm>
        </p:spPr>
        <p:txBody>
          <a:bodyPr/>
          <a:lstStyle/>
          <a:p>
            <a:pPr eaLnBrk="1" hangingPunct="1"/>
            <a:r>
              <a:rPr lang="en-US" altLang="en-US" dirty="0"/>
              <a:t>Round Robin (RR)</a:t>
            </a:r>
          </a:p>
        </p:txBody>
      </p:sp>
      <p:sp>
        <p:nvSpPr>
          <p:cNvPr id="39938" name="Rectangle 3">
            <a:extLst>
              <a:ext uri="{FF2B5EF4-FFF2-40B4-BE49-F238E27FC236}">
                <a16:creationId xmlns:a16="http://schemas.microsoft.com/office/drawing/2014/main" id="{8A6C6617-67BF-4484-A025-320FA2994436}"/>
              </a:ext>
            </a:extLst>
          </p:cNvPr>
          <p:cNvSpPr>
            <a:spLocks noGrp="1" noChangeArrowheads="1"/>
          </p:cNvSpPr>
          <p:nvPr>
            <p:ph type="body" idx="1"/>
          </p:nvPr>
        </p:nvSpPr>
        <p:spPr>
          <a:xfrm>
            <a:off x="1032387" y="1058277"/>
            <a:ext cx="10427110" cy="5077052"/>
          </a:xfrm>
        </p:spPr>
        <p:txBody>
          <a:bodyPr/>
          <a:lstStyle/>
          <a:p>
            <a:r>
              <a:rPr lang="en-US" altLang="en-US" sz="2000" dirty="0"/>
              <a:t>Each process gets a small unit of CPU time (</a:t>
            </a:r>
            <a:r>
              <a:rPr lang="en-US" altLang="en-US" sz="2000" b="1" dirty="0">
                <a:solidFill>
                  <a:srgbClr val="006699"/>
                </a:solidFill>
                <a:latin typeface="+mj-lt"/>
              </a:rPr>
              <a:t>time quantum </a:t>
            </a:r>
            <a:r>
              <a:rPr lang="en-US" altLang="en-US" sz="2000" i="1" dirty="0"/>
              <a:t>q</a:t>
            </a:r>
            <a:r>
              <a:rPr lang="en-US" altLang="en-US" sz="2000" dirty="0"/>
              <a:t>), usually 10-100 milliseconds.  After this time has elapsed, the process is preempted and added to the end of the ready queue.</a:t>
            </a:r>
          </a:p>
          <a:p>
            <a:r>
              <a:rPr lang="en-US" altLang="en-US" sz="2000" dirty="0"/>
              <a:t>If there are </a:t>
            </a:r>
            <a:r>
              <a:rPr lang="en-US" altLang="en-US" sz="2000" i="1" dirty="0"/>
              <a:t>n</a:t>
            </a:r>
            <a:r>
              <a:rPr lang="en-US" altLang="en-US" sz="2000" dirty="0"/>
              <a:t> processes in the ready queue and the time quantum is </a:t>
            </a:r>
            <a:r>
              <a:rPr lang="en-US" altLang="en-US" sz="2000" i="1" dirty="0"/>
              <a:t>q</a:t>
            </a:r>
            <a:r>
              <a:rPr lang="en-US" altLang="en-US" sz="2000" dirty="0"/>
              <a:t>, then each process gets 1/</a:t>
            </a:r>
            <a:r>
              <a:rPr lang="en-US" altLang="en-US" sz="2000" i="1" dirty="0"/>
              <a:t>n</a:t>
            </a:r>
            <a:r>
              <a:rPr lang="en-US" altLang="en-US" sz="2000" dirty="0"/>
              <a:t> of the CPU time in chunks of at most </a:t>
            </a:r>
            <a:r>
              <a:rPr lang="en-US" altLang="en-US" sz="2000" i="1" dirty="0"/>
              <a:t>q</a:t>
            </a:r>
            <a:r>
              <a:rPr lang="en-US" altLang="en-US" sz="2000" dirty="0"/>
              <a:t> time units at once.  No process waits more than (</a:t>
            </a:r>
            <a:r>
              <a:rPr lang="en-US" altLang="en-US" sz="2000" i="1" dirty="0"/>
              <a:t>n</a:t>
            </a:r>
            <a:r>
              <a:rPr lang="en-US" altLang="en-US" sz="2000" dirty="0"/>
              <a:t>-1)</a:t>
            </a:r>
            <a:r>
              <a:rPr lang="en-US" altLang="en-US" sz="2000" i="1" dirty="0"/>
              <a:t>q </a:t>
            </a:r>
            <a:r>
              <a:rPr lang="en-US" altLang="en-US" sz="2000" dirty="0"/>
              <a:t>time units.</a:t>
            </a:r>
          </a:p>
          <a:p>
            <a:r>
              <a:rPr lang="en-US" altLang="en-US" sz="2000" dirty="0"/>
              <a:t>Timer interrupts every quantum to schedule next process</a:t>
            </a:r>
          </a:p>
          <a:p>
            <a:r>
              <a:rPr lang="en-US" altLang="en-US" sz="2000" dirty="0"/>
              <a:t>Performance</a:t>
            </a:r>
          </a:p>
          <a:p>
            <a:pPr lvl="1"/>
            <a:r>
              <a:rPr lang="en-US" altLang="en-US" sz="2000" i="1" dirty="0"/>
              <a:t>q</a:t>
            </a:r>
            <a:r>
              <a:rPr lang="en-US" altLang="en-US" sz="2000" dirty="0"/>
              <a:t> large </a:t>
            </a:r>
            <a:r>
              <a:rPr lang="en-US" altLang="en-US" sz="2000" dirty="0">
                <a:sym typeface="Symbol" panose="05050102010706020507" pitchFamily="18" charset="2"/>
              </a:rPr>
              <a:t> FIFO (FCFS)</a:t>
            </a:r>
          </a:p>
          <a:p>
            <a:pPr lvl="1"/>
            <a:r>
              <a:rPr lang="en-US" altLang="en-US" sz="2000" i="1" dirty="0">
                <a:sym typeface="Symbol" panose="05050102010706020507" pitchFamily="18" charset="2"/>
              </a:rPr>
              <a:t>q </a:t>
            </a:r>
            <a:r>
              <a:rPr lang="en-US" altLang="en-US" sz="2000" dirty="0">
                <a:sym typeface="Symbol" panose="05050102010706020507" pitchFamily="18" charset="2"/>
              </a:rPr>
              <a:t>small  RR</a:t>
            </a:r>
          </a:p>
          <a:p>
            <a:r>
              <a:rPr lang="en-US" altLang="en-US" sz="2000" dirty="0">
                <a:sym typeface="Symbol" panose="05050102010706020507" pitchFamily="18" charset="2"/>
              </a:rPr>
              <a:t>Note that q must be large with respect to context switch, otherwise overhead is too high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a:extLst>
              <a:ext uri="{FF2B5EF4-FFF2-40B4-BE49-F238E27FC236}">
                <a16:creationId xmlns:a16="http://schemas.microsoft.com/office/drawing/2014/main" id="{6DF101FA-59C2-4431-9504-FC73D47453BC}"/>
              </a:ext>
            </a:extLst>
          </p:cNvPr>
          <p:cNvSpPr>
            <a:spLocks noGrp="1" noChangeArrowheads="1"/>
          </p:cNvSpPr>
          <p:nvPr>
            <p:ph type="title"/>
          </p:nvPr>
        </p:nvSpPr>
        <p:spPr>
          <a:xfrm>
            <a:off x="2503833" y="86668"/>
            <a:ext cx="8418610" cy="647700"/>
          </a:xfrm>
        </p:spPr>
        <p:txBody>
          <a:bodyPr/>
          <a:lstStyle/>
          <a:p>
            <a:pPr eaLnBrk="1" hangingPunct="1"/>
            <a:r>
              <a:rPr lang="en-US" altLang="en-US" dirty="0"/>
              <a:t>Example of RR with Time Quantum = 4</a:t>
            </a:r>
          </a:p>
        </p:txBody>
      </p:sp>
      <p:sp>
        <p:nvSpPr>
          <p:cNvPr id="41986" name="Rectangle 3">
            <a:extLst>
              <a:ext uri="{FF2B5EF4-FFF2-40B4-BE49-F238E27FC236}">
                <a16:creationId xmlns:a16="http://schemas.microsoft.com/office/drawing/2014/main" id="{E17EE130-D776-4D6D-84E6-F464A160ACBF}"/>
              </a:ext>
            </a:extLst>
          </p:cNvPr>
          <p:cNvSpPr>
            <a:spLocks noGrp="1" noChangeArrowheads="1"/>
          </p:cNvSpPr>
          <p:nvPr>
            <p:ph type="body" idx="1"/>
          </p:nvPr>
        </p:nvSpPr>
        <p:spPr>
          <a:xfrm>
            <a:off x="2478088" y="1193800"/>
            <a:ext cx="7460707" cy="4639841"/>
          </a:xfrm>
        </p:spPr>
        <p:txBody>
          <a:bodyPr/>
          <a:lstStyle/>
          <a:p>
            <a:pPr>
              <a:lnSpc>
                <a:spcPct val="90000"/>
              </a:lnSpc>
              <a:buNone/>
              <a:tabLst>
                <a:tab pos="2219325" algn="ctr"/>
                <a:tab pos="3994150" algn="ctr"/>
              </a:tabLst>
            </a:pPr>
            <a:r>
              <a:rPr lang="en-US" altLang="en-US" dirty="0"/>
              <a:t>		</a:t>
            </a:r>
            <a:r>
              <a:rPr lang="en-US" altLang="en-US" u="sng" dirty="0"/>
              <a:t>Process</a:t>
            </a:r>
            <a:r>
              <a:rPr lang="en-US" altLang="en-US" dirty="0"/>
              <a:t>	</a:t>
            </a:r>
            <a:r>
              <a:rPr lang="en-US" altLang="en-US" u="sng" dirty="0"/>
              <a:t>Burst Time</a:t>
            </a:r>
          </a:p>
          <a:p>
            <a:pPr>
              <a:lnSpc>
                <a:spcPct val="90000"/>
              </a:lnSpc>
              <a:buNone/>
              <a:tabLst>
                <a:tab pos="2219325" algn="ctr"/>
                <a:tab pos="3994150" algn="ctr"/>
              </a:tabLst>
            </a:pPr>
            <a:r>
              <a:rPr lang="en-US" altLang="en-US" i="1" dirty="0"/>
              <a:t>		P</a:t>
            </a:r>
            <a:r>
              <a:rPr lang="en-US" altLang="en-US" i="1" baseline="-25000" dirty="0"/>
              <a:t>1	</a:t>
            </a:r>
            <a:r>
              <a:rPr lang="en-US" altLang="en-US" dirty="0"/>
              <a:t>24</a:t>
            </a:r>
          </a:p>
          <a:p>
            <a:pPr>
              <a:lnSpc>
                <a:spcPct val="90000"/>
              </a:lnSpc>
              <a:buNone/>
              <a:tabLst>
                <a:tab pos="2219325" algn="ctr"/>
                <a:tab pos="3994150" algn="ctr"/>
              </a:tabLst>
            </a:pPr>
            <a:r>
              <a:rPr lang="en-US" altLang="en-US" dirty="0"/>
              <a:t>		 </a:t>
            </a:r>
            <a:r>
              <a:rPr lang="en-US" altLang="en-US" i="1" dirty="0"/>
              <a:t>P</a:t>
            </a:r>
            <a:r>
              <a:rPr lang="en-US" altLang="en-US" i="1" baseline="-25000" dirty="0"/>
              <a:t>2	 </a:t>
            </a:r>
            <a:r>
              <a:rPr lang="en-US" altLang="en-US" dirty="0"/>
              <a:t>3</a:t>
            </a:r>
          </a:p>
          <a:p>
            <a:pPr>
              <a:lnSpc>
                <a:spcPct val="90000"/>
              </a:lnSpc>
              <a:buNone/>
              <a:tabLst>
                <a:tab pos="2219325" algn="ctr"/>
                <a:tab pos="3994150" algn="ctr"/>
              </a:tabLst>
            </a:pPr>
            <a:r>
              <a:rPr lang="en-US" altLang="en-US" dirty="0"/>
              <a:t>		 </a:t>
            </a:r>
            <a:r>
              <a:rPr lang="en-US" altLang="en-US" i="1" dirty="0"/>
              <a:t>P</a:t>
            </a:r>
            <a:r>
              <a:rPr lang="en-US" altLang="en-US" i="1" baseline="-25000" dirty="0"/>
              <a:t>3	</a:t>
            </a:r>
            <a:r>
              <a:rPr lang="en-US" altLang="en-US" dirty="0"/>
              <a:t>3	</a:t>
            </a:r>
          </a:p>
          <a:p>
            <a:pPr>
              <a:lnSpc>
                <a:spcPct val="90000"/>
              </a:lnSpc>
              <a:tabLst>
                <a:tab pos="2219325" algn="ctr"/>
                <a:tab pos="3994150" algn="ctr"/>
              </a:tabLst>
            </a:pPr>
            <a:r>
              <a:rPr lang="en-US" altLang="en-US" dirty="0"/>
              <a:t>The Gantt chart is: </a:t>
            </a:r>
            <a:br>
              <a:rPr lang="en-US" altLang="en-US" dirty="0"/>
            </a:br>
            <a:br>
              <a:rPr lang="en-US" altLang="en-US" dirty="0"/>
            </a:br>
            <a:br>
              <a:rPr lang="en-US" altLang="en-US" dirty="0"/>
            </a:br>
            <a:br>
              <a:rPr lang="en-US" altLang="en-US" dirty="0"/>
            </a:br>
            <a:endParaRPr lang="en-US" altLang="en-US" dirty="0"/>
          </a:p>
          <a:p>
            <a:pPr>
              <a:lnSpc>
                <a:spcPct val="90000"/>
              </a:lnSpc>
              <a:tabLst>
                <a:tab pos="2219325" algn="ctr"/>
                <a:tab pos="3994150" algn="ctr"/>
              </a:tabLst>
            </a:pPr>
            <a:r>
              <a:rPr lang="en-US" altLang="en-US" dirty="0"/>
              <a:t>Typically, higher average turnaround than SJF, but better </a:t>
            </a:r>
            <a:r>
              <a:rPr lang="en-US" altLang="en-US" b="1" i="1" dirty="0"/>
              <a:t>response</a:t>
            </a:r>
          </a:p>
          <a:p>
            <a:pPr>
              <a:lnSpc>
                <a:spcPct val="90000"/>
              </a:lnSpc>
              <a:tabLst>
                <a:tab pos="2219325" algn="ctr"/>
                <a:tab pos="3994150" algn="ctr"/>
              </a:tabLst>
            </a:pPr>
            <a:r>
              <a:rPr lang="en-US" altLang="en-US" dirty="0"/>
              <a:t>q should be large compared to context switch time</a:t>
            </a:r>
          </a:p>
          <a:p>
            <a:pPr lvl="1">
              <a:lnSpc>
                <a:spcPct val="90000"/>
              </a:lnSpc>
              <a:tabLst>
                <a:tab pos="2219325" algn="ctr"/>
                <a:tab pos="3994150" algn="ctr"/>
              </a:tabLst>
            </a:pPr>
            <a:r>
              <a:rPr lang="en-US" altLang="en-US" dirty="0"/>
              <a:t>q usually 10 milliseconds  to 100 milliseconds, </a:t>
            </a:r>
          </a:p>
          <a:p>
            <a:pPr lvl="1">
              <a:lnSpc>
                <a:spcPct val="90000"/>
              </a:lnSpc>
              <a:tabLst>
                <a:tab pos="2219325" algn="ctr"/>
                <a:tab pos="3994150" algn="ctr"/>
              </a:tabLst>
            </a:pPr>
            <a:r>
              <a:rPr lang="en-US" altLang="en-US" dirty="0"/>
              <a:t>Context switch &lt; 10 microseconds</a:t>
            </a:r>
          </a:p>
        </p:txBody>
      </p:sp>
      <p:pic>
        <p:nvPicPr>
          <p:cNvPr id="41987" name="Picture 1">
            <a:extLst>
              <a:ext uri="{FF2B5EF4-FFF2-40B4-BE49-F238E27FC236}">
                <a16:creationId xmlns:a16="http://schemas.microsoft.com/office/drawing/2014/main" id="{0835376E-2FE4-439A-B19A-4C86254AE5E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22589" y="2926443"/>
            <a:ext cx="6770687"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a:extLst>
              <a:ext uri="{FF2B5EF4-FFF2-40B4-BE49-F238E27FC236}">
                <a16:creationId xmlns:a16="http://schemas.microsoft.com/office/drawing/2014/main" id="{14D05664-D904-4350-AFC8-65EA9CF0431F}"/>
              </a:ext>
            </a:extLst>
          </p:cNvPr>
          <p:cNvSpPr>
            <a:spLocks noGrp="1" noChangeArrowheads="1"/>
          </p:cNvSpPr>
          <p:nvPr>
            <p:ph type="title"/>
          </p:nvPr>
        </p:nvSpPr>
        <p:spPr>
          <a:xfrm>
            <a:off x="2809078" y="183273"/>
            <a:ext cx="7829550" cy="525462"/>
          </a:xfrm>
        </p:spPr>
        <p:txBody>
          <a:bodyPr/>
          <a:lstStyle/>
          <a:p>
            <a:pPr eaLnBrk="1" hangingPunct="1"/>
            <a:r>
              <a:rPr lang="en-US" altLang="en-US" sz="3000" dirty="0"/>
              <a:t>Time Quantum and Context Switch Time</a:t>
            </a:r>
          </a:p>
        </p:txBody>
      </p:sp>
      <p:pic>
        <p:nvPicPr>
          <p:cNvPr id="44034" name="Picture 1">
            <a:extLst>
              <a:ext uri="{FF2B5EF4-FFF2-40B4-BE49-F238E27FC236}">
                <a16:creationId xmlns:a16="http://schemas.microsoft.com/office/drawing/2014/main" id="{3018707B-932C-4506-B190-526E13C4853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38838" y="1778641"/>
            <a:ext cx="7900918" cy="3300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a:extLst>
              <a:ext uri="{FF2B5EF4-FFF2-40B4-BE49-F238E27FC236}">
                <a16:creationId xmlns:a16="http://schemas.microsoft.com/office/drawing/2014/main" id="{A4B4E05D-43D4-46FF-8EED-AA150E4C753C}"/>
              </a:ext>
            </a:extLst>
          </p:cNvPr>
          <p:cNvSpPr>
            <a:spLocks noGrp="1" noChangeArrowheads="1"/>
          </p:cNvSpPr>
          <p:nvPr>
            <p:ph type="title"/>
          </p:nvPr>
        </p:nvSpPr>
        <p:spPr>
          <a:xfrm>
            <a:off x="2306711" y="260322"/>
            <a:ext cx="8722438" cy="457200"/>
          </a:xfrm>
        </p:spPr>
        <p:txBody>
          <a:bodyPr/>
          <a:lstStyle/>
          <a:p>
            <a:pPr eaLnBrk="1" hangingPunct="1"/>
            <a:r>
              <a:rPr lang="en-US" altLang="en-US" sz="2600" dirty="0"/>
              <a:t>Turnaround Time Varies With The Time Quantum</a:t>
            </a:r>
          </a:p>
        </p:txBody>
      </p:sp>
      <p:sp>
        <p:nvSpPr>
          <p:cNvPr id="46082" name="TextBox 3">
            <a:extLst>
              <a:ext uri="{FF2B5EF4-FFF2-40B4-BE49-F238E27FC236}">
                <a16:creationId xmlns:a16="http://schemas.microsoft.com/office/drawing/2014/main" id="{39A4C5F4-2866-44DE-AC4E-665A67CEF2FC}"/>
              </a:ext>
            </a:extLst>
          </p:cNvPr>
          <p:cNvSpPr txBox="1">
            <a:spLocks noChangeArrowheads="1"/>
          </p:cNvSpPr>
          <p:nvPr/>
        </p:nvSpPr>
        <p:spPr bwMode="auto">
          <a:xfrm>
            <a:off x="7691439" y="3354389"/>
            <a:ext cx="3782806" cy="707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17" tIns="45709" rIns="91417" bIns="45709">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Verdana" panose="020B0604030504040204" pitchFamily="34" charset="0"/>
              </a:rPr>
              <a:t>80% of CPU bursts should be shorter than q</a:t>
            </a:r>
          </a:p>
        </p:txBody>
      </p:sp>
      <p:pic>
        <p:nvPicPr>
          <p:cNvPr id="46083" name="Picture 1">
            <a:extLst>
              <a:ext uri="{FF2B5EF4-FFF2-40B4-BE49-F238E27FC236}">
                <a16:creationId xmlns:a16="http://schemas.microsoft.com/office/drawing/2014/main" id="{D2AB9074-3E6B-4C59-9AF1-F5390D98DA0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20711" y="1100139"/>
            <a:ext cx="5870728" cy="4880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97EB9085-4F50-4C0E-A2E6-8B8193DC54B9}"/>
              </a:ext>
            </a:extLst>
          </p:cNvPr>
          <p:cNvSpPr>
            <a:spLocks noGrp="1" noChangeArrowheads="1"/>
          </p:cNvSpPr>
          <p:nvPr>
            <p:ph type="title"/>
          </p:nvPr>
        </p:nvSpPr>
        <p:spPr>
          <a:xfrm>
            <a:off x="2487614" y="109861"/>
            <a:ext cx="7723187" cy="576262"/>
          </a:xfrm>
        </p:spPr>
        <p:txBody>
          <a:bodyPr/>
          <a:lstStyle/>
          <a:p>
            <a:pPr eaLnBrk="1" hangingPunct="1"/>
            <a:r>
              <a:rPr lang="en-US" altLang="en-US" dirty="0"/>
              <a:t>Priority Scheduling</a:t>
            </a:r>
          </a:p>
        </p:txBody>
      </p:sp>
      <p:sp>
        <p:nvSpPr>
          <p:cNvPr id="48130" name="Rectangle 3">
            <a:extLst>
              <a:ext uri="{FF2B5EF4-FFF2-40B4-BE49-F238E27FC236}">
                <a16:creationId xmlns:a16="http://schemas.microsoft.com/office/drawing/2014/main" id="{328AB413-1FAE-4AEC-A110-AFD45B9A75C2}"/>
              </a:ext>
            </a:extLst>
          </p:cNvPr>
          <p:cNvSpPr>
            <a:spLocks noGrp="1" noChangeArrowheads="1"/>
          </p:cNvSpPr>
          <p:nvPr>
            <p:ph type="body" idx="1"/>
          </p:nvPr>
        </p:nvSpPr>
        <p:spPr>
          <a:xfrm>
            <a:off x="1017639" y="1233489"/>
            <a:ext cx="10368116" cy="5005079"/>
          </a:xfrm>
        </p:spPr>
        <p:txBody>
          <a:bodyPr/>
          <a:lstStyle/>
          <a:p>
            <a:r>
              <a:rPr lang="en-US" altLang="en-US" sz="2000" dirty="0"/>
              <a:t>A priority number (integer) is associated with each process</a:t>
            </a:r>
          </a:p>
          <a:p>
            <a:endParaRPr lang="en-US" altLang="en-US" sz="2000" dirty="0"/>
          </a:p>
          <a:p>
            <a:r>
              <a:rPr lang="en-US" altLang="en-US" sz="2000" dirty="0"/>
              <a:t>The CPU is allocated to the process with the highest priority (smallest integer </a:t>
            </a:r>
            <a:r>
              <a:rPr lang="en-US" altLang="en-US" sz="2000" dirty="0">
                <a:sym typeface="Symbol" panose="05050102010706020507" pitchFamily="18" charset="2"/>
              </a:rPr>
              <a:t> highest priority)</a:t>
            </a:r>
          </a:p>
          <a:p>
            <a:pPr lvl="1"/>
            <a:r>
              <a:rPr lang="en-US" altLang="en-US" sz="2000" dirty="0"/>
              <a:t>Preemptive</a:t>
            </a:r>
          </a:p>
          <a:p>
            <a:pPr lvl="1"/>
            <a:r>
              <a:rPr lang="en-US" altLang="en-US" sz="2000" dirty="0"/>
              <a:t>Nonpreemptive</a:t>
            </a:r>
          </a:p>
          <a:p>
            <a:pPr lvl="1"/>
            <a:endParaRPr lang="en-US" altLang="en-US" sz="2000" dirty="0"/>
          </a:p>
          <a:p>
            <a:r>
              <a:rPr lang="en-US" altLang="en-US" sz="2000" dirty="0"/>
              <a:t>SJF is priority scheduling where priority is the predicted next CPU burst time</a:t>
            </a:r>
          </a:p>
          <a:p>
            <a:endParaRPr lang="en-US" altLang="en-US" sz="2000" dirty="0"/>
          </a:p>
          <a:p>
            <a:r>
              <a:rPr lang="en-US" altLang="en-US" sz="2000" dirty="0"/>
              <a:t>Problem </a:t>
            </a:r>
            <a:r>
              <a:rPr lang="en-US" altLang="en-US" sz="2000" dirty="0">
                <a:sym typeface="Symbol" panose="05050102010706020507" pitchFamily="18" charset="2"/>
              </a:rPr>
              <a:t> </a:t>
            </a:r>
            <a:r>
              <a:rPr lang="en-US" altLang="en-US" sz="2000" b="1" dirty="0">
                <a:solidFill>
                  <a:srgbClr val="006699"/>
                </a:solidFill>
                <a:latin typeface="+mj-lt"/>
                <a:sym typeface="Symbol" panose="05050102010706020507" pitchFamily="18" charset="2"/>
              </a:rPr>
              <a:t>Starvation</a:t>
            </a:r>
            <a:r>
              <a:rPr lang="en-US" altLang="en-US" sz="2000" b="1" dirty="0">
                <a:sym typeface="Symbol" panose="05050102010706020507" pitchFamily="18" charset="2"/>
              </a:rPr>
              <a:t> </a:t>
            </a:r>
            <a:r>
              <a:rPr lang="en-US" altLang="en-US" sz="2000" dirty="0">
                <a:sym typeface="Symbol" panose="05050102010706020507" pitchFamily="18" charset="2"/>
              </a:rPr>
              <a:t>– low priority processes may never execute</a:t>
            </a:r>
          </a:p>
          <a:p>
            <a:endParaRPr lang="en-US" altLang="en-US" sz="2000" dirty="0">
              <a:sym typeface="Symbol" panose="05050102010706020507" pitchFamily="18" charset="2"/>
            </a:endParaRPr>
          </a:p>
          <a:p>
            <a:r>
              <a:rPr lang="en-US" altLang="en-US" sz="2000" dirty="0">
                <a:sym typeface="Symbol" panose="05050102010706020507" pitchFamily="18" charset="2"/>
              </a:rPr>
              <a:t>Solution  </a:t>
            </a:r>
            <a:r>
              <a:rPr lang="en-US" altLang="en-US" sz="2000" b="1" dirty="0">
                <a:solidFill>
                  <a:srgbClr val="006699"/>
                </a:solidFill>
                <a:latin typeface="+mj-lt"/>
                <a:sym typeface="Symbol" panose="05050102010706020507" pitchFamily="18" charset="2"/>
              </a:rPr>
              <a:t>Aging</a:t>
            </a:r>
            <a:r>
              <a:rPr lang="en-US" altLang="en-US" sz="2000" b="1" dirty="0">
                <a:sym typeface="Symbol" panose="05050102010706020507" pitchFamily="18" charset="2"/>
              </a:rPr>
              <a:t> </a:t>
            </a:r>
            <a:r>
              <a:rPr lang="en-US" altLang="en-US" sz="2000" dirty="0">
                <a:sym typeface="Symbol" panose="05050102010706020507" pitchFamily="18" charset="2"/>
              </a:rPr>
              <a:t>– as time progresses increase the priority of the process</a:t>
            </a:r>
          </a:p>
          <a:p>
            <a:pPr>
              <a:buFont typeface="Monotype Sorts" pitchFamily="-84" charset="2"/>
              <a:buNone/>
            </a:pPr>
            <a:endParaRPr lang="en-US" altLang="en-US" sz="2000" b="1" dirty="0">
              <a:solidFill>
                <a:srgbClr val="3366FF"/>
              </a:solidFill>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BD1CE599-A709-401F-8DD0-F7F4CCB2DDF1}"/>
              </a:ext>
            </a:extLst>
          </p:cNvPr>
          <p:cNvSpPr>
            <a:spLocks noGrp="1" noChangeArrowheads="1"/>
          </p:cNvSpPr>
          <p:nvPr>
            <p:ph type="title"/>
          </p:nvPr>
        </p:nvSpPr>
        <p:spPr>
          <a:xfrm>
            <a:off x="2930526" y="136087"/>
            <a:ext cx="7280275" cy="576262"/>
          </a:xfrm>
        </p:spPr>
        <p:txBody>
          <a:bodyPr/>
          <a:lstStyle/>
          <a:p>
            <a:pPr eaLnBrk="1" hangingPunct="1"/>
            <a:r>
              <a:rPr lang="en-US" altLang="en-US" dirty="0"/>
              <a:t>Example of Priority Scheduling</a:t>
            </a:r>
          </a:p>
        </p:txBody>
      </p:sp>
      <p:sp>
        <p:nvSpPr>
          <p:cNvPr id="50178" name="Rectangle 36">
            <a:extLst>
              <a:ext uri="{FF2B5EF4-FFF2-40B4-BE49-F238E27FC236}">
                <a16:creationId xmlns:a16="http://schemas.microsoft.com/office/drawing/2014/main" id="{CDADF2B2-580D-4F09-8A23-D969CD614667}"/>
              </a:ext>
            </a:extLst>
          </p:cNvPr>
          <p:cNvSpPr>
            <a:spLocks noGrp="1" noChangeArrowheads="1"/>
          </p:cNvSpPr>
          <p:nvPr>
            <p:ph type="body" idx="1"/>
          </p:nvPr>
        </p:nvSpPr>
        <p:spPr>
          <a:xfrm>
            <a:off x="2330450" y="1233488"/>
            <a:ext cx="7973868" cy="4907539"/>
          </a:xfrm>
          <a:noFill/>
        </p:spPr>
        <p:txBody>
          <a:bodyPr/>
          <a:lstStyle/>
          <a:p>
            <a:pPr>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t>
            </a:r>
            <a:r>
              <a:rPr lang="en-US" altLang="en-US" u="sng" dirty="0"/>
              <a:t>Burst Time</a:t>
            </a:r>
            <a:r>
              <a:rPr lang="en-US" altLang="en-US" dirty="0"/>
              <a:t>	</a:t>
            </a:r>
            <a:r>
              <a:rPr lang="en-US" altLang="en-US" u="sng" dirty="0"/>
              <a:t>Priority</a:t>
            </a:r>
            <a:endParaRPr lang="en-US" altLang="en-US" dirty="0"/>
          </a:p>
          <a:p>
            <a:pPr>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1</a:t>
            </a:r>
            <a:r>
              <a:rPr lang="en-US" altLang="en-US" dirty="0">
                <a:solidFill>
                  <a:srgbClr val="000000"/>
                </a:solidFill>
              </a:rPr>
              <a:t>0</a:t>
            </a:r>
            <a:r>
              <a:rPr lang="en-US" altLang="en-US" dirty="0"/>
              <a:t>	3</a:t>
            </a:r>
          </a:p>
          <a:p>
            <a:pPr>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1</a:t>
            </a:r>
            <a:r>
              <a:rPr lang="en-US" altLang="en-US" dirty="0"/>
              <a:t>	1</a:t>
            </a:r>
          </a:p>
          <a:p>
            <a:pPr>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2</a:t>
            </a:r>
            <a:r>
              <a:rPr lang="en-US" altLang="en-US" dirty="0"/>
              <a:t>	4</a:t>
            </a:r>
          </a:p>
          <a:p>
            <a:pPr>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1</a:t>
            </a:r>
            <a:r>
              <a:rPr lang="en-US" altLang="en-US" dirty="0"/>
              <a:t>	5</a:t>
            </a:r>
          </a:p>
          <a:p>
            <a:pPr>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5	2</a:t>
            </a:r>
          </a:p>
          <a:p>
            <a:pPr>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dirty="0"/>
              <a:t>Priority scheduling Gantt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None/>
              <a:tabLst>
                <a:tab pos="1600200" algn="ctr"/>
                <a:tab pos="3251200" algn="ctr"/>
                <a:tab pos="5140325" algn="ctr"/>
              </a:tabLst>
            </a:pPr>
            <a:endParaRPr lang="en-US" altLang="en-US" dirty="0"/>
          </a:p>
          <a:p>
            <a:pPr>
              <a:tabLst>
                <a:tab pos="1600200" algn="ctr"/>
                <a:tab pos="3251200" algn="ctr"/>
                <a:tab pos="5140325" algn="ctr"/>
              </a:tabLst>
            </a:pPr>
            <a:r>
              <a:rPr lang="en-US" altLang="en-US" dirty="0"/>
              <a:t>Average waiting time = 8.2</a:t>
            </a:r>
            <a:endParaRPr lang="en-US" altLang="en-US" i="1" baseline="-25000" dirty="0"/>
          </a:p>
        </p:txBody>
      </p:sp>
      <p:pic>
        <p:nvPicPr>
          <p:cNvPr id="50179" name="Picture 1">
            <a:extLst>
              <a:ext uri="{FF2B5EF4-FFF2-40B4-BE49-F238E27FC236}">
                <a16:creationId xmlns:a16="http://schemas.microsoft.com/office/drawing/2014/main" id="{A77EE5E1-F152-4172-9935-567FC2AB99C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21051" y="4400551"/>
            <a:ext cx="6467475"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a:extLst>
              <a:ext uri="{FF2B5EF4-FFF2-40B4-BE49-F238E27FC236}">
                <a16:creationId xmlns:a16="http://schemas.microsoft.com/office/drawing/2014/main" id="{CDE24674-CB1D-4389-9B31-B04F87B0ABF8}"/>
              </a:ext>
            </a:extLst>
          </p:cNvPr>
          <p:cNvSpPr>
            <a:spLocks noGrp="1" noChangeArrowheads="1"/>
          </p:cNvSpPr>
          <p:nvPr>
            <p:ph type="title"/>
          </p:nvPr>
        </p:nvSpPr>
        <p:spPr>
          <a:xfrm>
            <a:off x="2976826" y="137006"/>
            <a:ext cx="7280275" cy="576262"/>
          </a:xfrm>
        </p:spPr>
        <p:txBody>
          <a:bodyPr/>
          <a:lstStyle/>
          <a:p>
            <a:pPr eaLnBrk="1" hangingPunct="1"/>
            <a:r>
              <a:rPr lang="en-US" altLang="en-US" dirty="0"/>
              <a:t>Priority Scheduling w/ Round-Robin</a:t>
            </a:r>
          </a:p>
        </p:txBody>
      </p:sp>
      <p:sp>
        <p:nvSpPr>
          <p:cNvPr id="52226" name="Rectangle 36">
            <a:extLst>
              <a:ext uri="{FF2B5EF4-FFF2-40B4-BE49-F238E27FC236}">
                <a16:creationId xmlns:a16="http://schemas.microsoft.com/office/drawing/2014/main" id="{2105BD44-B36B-488F-9B4A-6D230FFCC50A}"/>
              </a:ext>
            </a:extLst>
          </p:cNvPr>
          <p:cNvSpPr>
            <a:spLocks noGrp="1" noChangeArrowheads="1"/>
          </p:cNvSpPr>
          <p:nvPr>
            <p:ph type="body" idx="1"/>
          </p:nvPr>
        </p:nvSpPr>
        <p:spPr>
          <a:xfrm>
            <a:off x="2330451" y="1142048"/>
            <a:ext cx="7675077" cy="4887912"/>
          </a:xfrm>
          <a:noFill/>
        </p:spPr>
        <p:txBody>
          <a:bodyPr/>
          <a:lstStyle/>
          <a:p>
            <a:pPr>
              <a:tabLst>
                <a:tab pos="1600200" algn="ctr"/>
                <a:tab pos="3251200" algn="ctr"/>
                <a:tab pos="5140325" algn="ctr"/>
              </a:tabLst>
            </a:pPr>
            <a:r>
              <a:rPr lang="en-US" altLang="en-US" dirty="0"/>
              <a:t>Run the process with the highest priority. Processes with the same priority can run  </a:t>
            </a:r>
            <a:r>
              <a:rPr lang="en-US" altLang="en-US" b="1" i="1" dirty="0"/>
              <a:t>FCFS</a:t>
            </a:r>
            <a:r>
              <a:rPr lang="en-US" altLang="en-US" dirty="0"/>
              <a:t> or </a:t>
            </a:r>
            <a:r>
              <a:rPr lang="en-US" altLang="en-US" b="1" i="1" dirty="0"/>
              <a:t>round-robin</a:t>
            </a:r>
          </a:p>
          <a:p>
            <a:pPr>
              <a:tabLst>
                <a:tab pos="1600200" algn="ctr"/>
                <a:tab pos="3251200" algn="ctr"/>
                <a:tab pos="5140325" algn="ctr"/>
              </a:tabLst>
            </a:pPr>
            <a:r>
              <a:rPr lang="en-US" altLang="en-US" dirty="0"/>
              <a:t>Example:</a:t>
            </a:r>
          </a:p>
          <a:p>
            <a:pPr>
              <a:buNone/>
              <a:tabLst>
                <a:tab pos="1600200" algn="ctr"/>
                <a:tab pos="3251200" algn="ctr"/>
                <a:tab pos="5140325" algn="ctr"/>
              </a:tabLst>
            </a:pPr>
            <a:r>
              <a:rPr lang="en-US" altLang="en-US" dirty="0"/>
              <a:t>                     </a:t>
            </a:r>
            <a:r>
              <a:rPr lang="en-US" altLang="en-US" u="sng" dirty="0"/>
              <a:t>Process</a:t>
            </a:r>
            <a:r>
              <a:rPr lang="en-US" altLang="en-US" u="sng" dirty="0">
                <a:solidFill>
                  <a:schemeClr val="bg1"/>
                </a:solidFill>
              </a:rPr>
              <a:t>	a   </a:t>
            </a:r>
            <a:r>
              <a:rPr lang="en-US" altLang="en-US" u="sng" dirty="0"/>
              <a:t>Burst Time</a:t>
            </a:r>
            <a:r>
              <a:rPr lang="en-US" altLang="en-US" dirty="0"/>
              <a:t>	</a:t>
            </a:r>
            <a:r>
              <a:rPr lang="en-US" altLang="en-US" u="sng" dirty="0"/>
              <a:t>Priority</a:t>
            </a:r>
            <a:endParaRPr lang="en-US" altLang="en-US" dirty="0"/>
          </a:p>
          <a:p>
            <a:pPr>
              <a:buNone/>
              <a:tabLst>
                <a:tab pos="1600200" algn="ctr"/>
                <a:tab pos="3251200" algn="ctr"/>
                <a:tab pos="5140325" algn="ctr"/>
              </a:tabLst>
            </a:pPr>
            <a:r>
              <a:rPr lang="en-US" altLang="en-US" dirty="0"/>
              <a:t>		 </a:t>
            </a:r>
            <a:r>
              <a:rPr lang="en-US" altLang="en-US" i="1" dirty="0"/>
              <a:t>P</a:t>
            </a:r>
            <a:r>
              <a:rPr lang="en-US" altLang="en-US" i="1" baseline="-25000" dirty="0"/>
              <a:t>1</a:t>
            </a:r>
            <a:r>
              <a:rPr lang="en-US" altLang="en-US" dirty="0"/>
              <a:t>	4	3</a:t>
            </a:r>
          </a:p>
          <a:p>
            <a:pPr>
              <a:buNone/>
              <a:tabLst>
                <a:tab pos="1600200" algn="ctr"/>
                <a:tab pos="3251200" algn="ctr"/>
                <a:tab pos="5140325" algn="ctr"/>
              </a:tabLst>
            </a:pPr>
            <a:r>
              <a:rPr lang="en-US" altLang="en-US" dirty="0"/>
              <a:t>		 </a:t>
            </a:r>
            <a:r>
              <a:rPr lang="en-US" altLang="en-US" i="1" dirty="0"/>
              <a:t>P</a:t>
            </a:r>
            <a:r>
              <a:rPr lang="en-US" altLang="en-US" i="1" baseline="-25000" dirty="0"/>
              <a:t>2 	</a:t>
            </a:r>
            <a:r>
              <a:rPr lang="en-US" altLang="en-US" dirty="0">
                <a:solidFill>
                  <a:srgbClr val="000000"/>
                </a:solidFill>
              </a:rPr>
              <a:t>5</a:t>
            </a:r>
            <a:r>
              <a:rPr lang="en-US" altLang="en-US" dirty="0"/>
              <a:t>	2</a:t>
            </a:r>
          </a:p>
          <a:p>
            <a:pPr>
              <a:buNone/>
              <a:tabLst>
                <a:tab pos="1600200" algn="ctr"/>
                <a:tab pos="3251200" algn="ctr"/>
                <a:tab pos="5140325" algn="ctr"/>
              </a:tabLst>
            </a:pPr>
            <a:r>
              <a:rPr lang="en-US" altLang="en-US" dirty="0"/>
              <a:t>		 </a:t>
            </a:r>
            <a:r>
              <a:rPr lang="en-US" altLang="en-US" i="1" dirty="0"/>
              <a:t>P</a:t>
            </a:r>
            <a:r>
              <a:rPr lang="en-US" altLang="en-US" i="1" baseline="-25000" dirty="0"/>
              <a:t>3</a:t>
            </a:r>
            <a:r>
              <a:rPr lang="en-US" altLang="en-US" dirty="0"/>
              <a:t>	</a:t>
            </a:r>
            <a:r>
              <a:rPr lang="en-US" altLang="en-US" dirty="0">
                <a:solidFill>
                  <a:srgbClr val="000000"/>
                </a:solidFill>
              </a:rPr>
              <a:t>8</a:t>
            </a:r>
            <a:r>
              <a:rPr lang="en-US" altLang="en-US" dirty="0"/>
              <a:t>	2</a:t>
            </a:r>
          </a:p>
          <a:p>
            <a:pPr>
              <a:buNone/>
              <a:tabLst>
                <a:tab pos="1600200" algn="ctr"/>
                <a:tab pos="3251200" algn="ctr"/>
                <a:tab pos="5140325" algn="ctr"/>
              </a:tabLst>
            </a:pPr>
            <a:r>
              <a:rPr lang="en-US" altLang="en-US" dirty="0"/>
              <a:t>		 </a:t>
            </a:r>
            <a:r>
              <a:rPr lang="en-US" altLang="en-US" i="1" dirty="0"/>
              <a:t>P</a:t>
            </a:r>
            <a:r>
              <a:rPr lang="en-US" altLang="en-US" i="1" baseline="-25000" dirty="0"/>
              <a:t>4</a:t>
            </a:r>
            <a:r>
              <a:rPr lang="en-US" altLang="en-US" dirty="0"/>
              <a:t>	</a:t>
            </a:r>
            <a:r>
              <a:rPr lang="en-US" altLang="en-US" dirty="0">
                <a:solidFill>
                  <a:srgbClr val="000000"/>
                </a:solidFill>
              </a:rPr>
              <a:t>7</a:t>
            </a:r>
            <a:r>
              <a:rPr lang="en-US" altLang="en-US" dirty="0"/>
              <a:t>	1</a:t>
            </a:r>
          </a:p>
          <a:p>
            <a:pPr>
              <a:buNone/>
              <a:tabLst>
                <a:tab pos="1600200" algn="ctr"/>
                <a:tab pos="3251200" algn="ctr"/>
                <a:tab pos="5140325" algn="ctr"/>
              </a:tabLst>
            </a:pPr>
            <a:r>
              <a:rPr lang="en-US" altLang="en-US" dirty="0"/>
              <a:t>		</a:t>
            </a:r>
            <a:r>
              <a:rPr lang="en-US" altLang="en-US" i="1" dirty="0"/>
              <a:t>P</a:t>
            </a:r>
            <a:r>
              <a:rPr lang="en-US" altLang="en-US" i="1" baseline="-25000" dirty="0"/>
              <a:t>5	</a:t>
            </a:r>
            <a:r>
              <a:rPr lang="en-US" altLang="en-US" dirty="0"/>
              <a:t>3	3</a:t>
            </a:r>
            <a:endParaRPr lang="en-US" altLang="en-US" baseline="-25000" dirty="0"/>
          </a:p>
          <a:p>
            <a:pPr>
              <a:tabLst>
                <a:tab pos="1600200" algn="ctr"/>
                <a:tab pos="3251200" algn="ctr"/>
                <a:tab pos="5140325" algn="ctr"/>
              </a:tabLst>
            </a:pPr>
            <a:r>
              <a:rPr lang="en-US" altLang="en-US" dirty="0"/>
              <a:t>Gantt Chart with time quantum = 2</a:t>
            </a:r>
          </a:p>
          <a:p>
            <a:pPr>
              <a:tabLst>
                <a:tab pos="1600200" algn="ctr"/>
                <a:tab pos="3251200" algn="ctr"/>
                <a:tab pos="5140325" algn="ctr"/>
              </a:tabLst>
            </a:pPr>
            <a:endParaRPr lang="en-US" altLang="en-US" dirty="0"/>
          </a:p>
          <a:p>
            <a:pPr marL="0" indent="0">
              <a:buNone/>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None/>
              <a:tabLst>
                <a:tab pos="1600200" algn="ctr"/>
                <a:tab pos="3251200" algn="ctr"/>
                <a:tab pos="5140325" algn="ctr"/>
              </a:tabLst>
            </a:pPr>
            <a:endParaRPr lang="en-US" altLang="en-US" dirty="0"/>
          </a:p>
        </p:txBody>
      </p:sp>
      <p:pic>
        <p:nvPicPr>
          <p:cNvPr id="52227" name="Picture 2">
            <a:extLst>
              <a:ext uri="{FF2B5EF4-FFF2-40B4-BE49-F238E27FC236}">
                <a16:creationId xmlns:a16="http://schemas.microsoft.com/office/drawing/2014/main" id="{E776F08C-5E1F-44C8-AB6B-D21CDC72CD1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332481" y="4968241"/>
            <a:ext cx="6200925" cy="724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316952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2184400" y="181838"/>
            <a:ext cx="8026400" cy="576262"/>
          </a:xfrm>
        </p:spPr>
        <p:txBody>
          <a:bodyPr/>
          <a:lstStyle/>
          <a:p>
            <a:pPr eaLnBrk="1" hangingPunct="1"/>
            <a:r>
              <a:rPr lang="en-US" altLang="en-US" dirty="0"/>
              <a:t>Multilevel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1165123" y="1144346"/>
            <a:ext cx="9984658" cy="4456354"/>
          </a:xfrm>
        </p:spPr>
        <p:txBody>
          <a:bodyPr/>
          <a:lstStyle/>
          <a:p>
            <a:r>
              <a:rPr lang="en-US" altLang="en-US" sz="2000" dirty="0"/>
              <a:t>The ready queue consists of multiple queues</a:t>
            </a:r>
          </a:p>
          <a:p>
            <a:r>
              <a:rPr lang="en-US" altLang="en-US" sz="2000" dirty="0"/>
              <a:t>Multilevel 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which queue a process will enter when that process needs service</a:t>
            </a:r>
          </a:p>
          <a:p>
            <a:pPr lvl="1"/>
            <a:r>
              <a:rPr lang="en-US" altLang="en-US" sz="2000" dirty="0"/>
              <a:t>Scheduling among the queues</a:t>
            </a:r>
          </a:p>
          <a:p>
            <a:endParaRPr lang="en-US" altLang="en-US" sz="2000" dirty="0"/>
          </a:p>
        </p:txBody>
      </p:sp>
    </p:spTree>
    <p:extLst>
      <p:ext uri="{BB962C8B-B14F-4D97-AF65-F5344CB8AC3E}">
        <p14:creationId xmlns:p14="http://schemas.microsoft.com/office/powerpoint/2010/main" val="32068400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1CD96B60-8A48-434B-B0B3-7D137B28C363}"/>
              </a:ext>
            </a:extLst>
          </p:cNvPr>
          <p:cNvSpPr>
            <a:spLocks noGrp="1" noChangeArrowheads="1"/>
          </p:cNvSpPr>
          <p:nvPr>
            <p:ph type="title"/>
          </p:nvPr>
        </p:nvSpPr>
        <p:spPr>
          <a:xfrm>
            <a:off x="2497138" y="219305"/>
            <a:ext cx="7713662" cy="576262"/>
          </a:xfrm>
        </p:spPr>
        <p:txBody>
          <a:bodyPr/>
          <a:lstStyle/>
          <a:p>
            <a:pPr eaLnBrk="1" hangingPunct="1"/>
            <a:r>
              <a:rPr lang="en-US" altLang="en-US" dirty="0"/>
              <a:t>Multilevel Queue</a:t>
            </a:r>
          </a:p>
        </p:txBody>
      </p:sp>
      <p:sp>
        <p:nvSpPr>
          <p:cNvPr id="54274" name="Rectangle 3">
            <a:extLst>
              <a:ext uri="{FF2B5EF4-FFF2-40B4-BE49-F238E27FC236}">
                <a16:creationId xmlns:a16="http://schemas.microsoft.com/office/drawing/2014/main" id="{1C367D1A-7DE2-4C9D-8F9F-8D980F3D95B0}"/>
              </a:ext>
            </a:extLst>
          </p:cNvPr>
          <p:cNvSpPr>
            <a:spLocks noGrp="1" noChangeArrowheads="1"/>
          </p:cNvSpPr>
          <p:nvPr>
            <p:ph type="body" idx="1"/>
          </p:nvPr>
        </p:nvSpPr>
        <p:spPr>
          <a:xfrm>
            <a:off x="2335764" y="1068389"/>
            <a:ext cx="7570237" cy="5221287"/>
          </a:xfrm>
        </p:spPr>
        <p:txBody>
          <a:bodyPr/>
          <a:lstStyle/>
          <a:p>
            <a:r>
              <a:rPr lang="en-US" altLang="en-US" dirty="0"/>
              <a:t>With priority scheduling, have separate queues for each priority.</a:t>
            </a:r>
          </a:p>
          <a:p>
            <a:r>
              <a:rPr lang="en-US" altLang="en-US" dirty="0"/>
              <a:t>Schedule the process in the highest-priority queue!</a:t>
            </a:r>
          </a:p>
        </p:txBody>
      </p:sp>
      <p:pic>
        <p:nvPicPr>
          <p:cNvPr id="54275" name="Picture 1">
            <a:extLst>
              <a:ext uri="{FF2B5EF4-FFF2-40B4-BE49-F238E27FC236}">
                <a16:creationId xmlns:a16="http://schemas.microsoft.com/office/drawing/2014/main" id="{B29FEE3D-3750-4508-92A3-9B9E46FECE1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00574" y="2108199"/>
            <a:ext cx="3688019" cy="4076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6F1CB462-9D7D-4499-AF00-7FB8FBEF7A03}"/>
              </a:ext>
            </a:extLst>
          </p:cNvPr>
          <p:cNvSpPr>
            <a:spLocks noGrp="1"/>
          </p:cNvSpPr>
          <p:nvPr>
            <p:ph type="title"/>
          </p:nvPr>
        </p:nvSpPr>
        <p:spPr>
          <a:xfrm>
            <a:off x="2414429" y="215191"/>
            <a:ext cx="7880350" cy="576262"/>
          </a:xfrm>
        </p:spPr>
        <p:txBody>
          <a:bodyPr/>
          <a:lstStyle/>
          <a:p>
            <a:r>
              <a:rPr lang="en-US" altLang="en-US" dirty="0"/>
              <a:t>Multilevel Queue</a:t>
            </a:r>
          </a:p>
        </p:txBody>
      </p:sp>
      <p:sp>
        <p:nvSpPr>
          <p:cNvPr id="56322" name="Content Placeholder 2">
            <a:extLst>
              <a:ext uri="{FF2B5EF4-FFF2-40B4-BE49-F238E27FC236}">
                <a16:creationId xmlns:a16="http://schemas.microsoft.com/office/drawing/2014/main" id="{0F152084-C4F7-4F98-AC9A-7299EF5D225F}"/>
              </a:ext>
            </a:extLst>
          </p:cNvPr>
          <p:cNvSpPr>
            <a:spLocks noGrp="1"/>
          </p:cNvSpPr>
          <p:nvPr>
            <p:ph idx="1"/>
          </p:nvPr>
        </p:nvSpPr>
        <p:spPr/>
        <p:txBody>
          <a:bodyPr/>
          <a:lstStyle/>
          <a:p>
            <a:r>
              <a:rPr lang="en-US" altLang="en-US"/>
              <a:t>Prioritization based upon process type</a:t>
            </a:r>
          </a:p>
        </p:txBody>
      </p:sp>
      <p:pic>
        <p:nvPicPr>
          <p:cNvPr id="56323" name="Picture 3">
            <a:extLst>
              <a:ext uri="{FF2B5EF4-FFF2-40B4-BE49-F238E27FC236}">
                <a16:creationId xmlns:a16="http://schemas.microsoft.com/office/drawing/2014/main" id="{E45EDF43-47DE-4E7F-B77E-5ED79D91AC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14429" y="2067462"/>
            <a:ext cx="6948948" cy="3696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AF43CD99-B0BB-4EB6-B798-512BB1BA6A01}"/>
              </a:ext>
            </a:extLst>
          </p:cNvPr>
          <p:cNvSpPr>
            <a:spLocks noGrp="1" noChangeArrowheads="1"/>
          </p:cNvSpPr>
          <p:nvPr>
            <p:ph type="title"/>
          </p:nvPr>
        </p:nvSpPr>
        <p:spPr>
          <a:xfrm>
            <a:off x="2184400" y="181838"/>
            <a:ext cx="8026400" cy="576262"/>
          </a:xfrm>
        </p:spPr>
        <p:txBody>
          <a:bodyPr/>
          <a:lstStyle/>
          <a:p>
            <a:pPr eaLnBrk="1" hangingPunct="1"/>
            <a:r>
              <a:rPr lang="en-US" altLang="en-US" dirty="0"/>
              <a:t>Multilevel Feedback Queue</a:t>
            </a:r>
          </a:p>
        </p:txBody>
      </p:sp>
      <p:sp>
        <p:nvSpPr>
          <p:cNvPr id="57346" name="Rectangle 3">
            <a:extLst>
              <a:ext uri="{FF2B5EF4-FFF2-40B4-BE49-F238E27FC236}">
                <a16:creationId xmlns:a16="http://schemas.microsoft.com/office/drawing/2014/main" id="{ABB3FE17-4C94-4A31-A709-AB137253300C}"/>
              </a:ext>
            </a:extLst>
          </p:cNvPr>
          <p:cNvSpPr>
            <a:spLocks noGrp="1" noChangeArrowheads="1"/>
          </p:cNvSpPr>
          <p:nvPr>
            <p:ph type="body" idx="1"/>
          </p:nvPr>
        </p:nvSpPr>
        <p:spPr>
          <a:xfrm>
            <a:off x="1474839" y="1144347"/>
            <a:ext cx="9969909" cy="4399927"/>
          </a:xfrm>
        </p:spPr>
        <p:txBody>
          <a:bodyPr/>
          <a:lstStyle/>
          <a:p>
            <a:r>
              <a:rPr lang="en-US" altLang="en-US" dirty="0"/>
              <a:t>A process can move between the various queues.</a:t>
            </a:r>
          </a:p>
          <a:p>
            <a:r>
              <a:rPr lang="en-US" altLang="en-US" dirty="0"/>
              <a:t>Multilevel-feedback-queue scheduler defined by the following parameters:</a:t>
            </a:r>
          </a:p>
          <a:p>
            <a:pPr lvl="1"/>
            <a:r>
              <a:rPr lang="en-US" altLang="en-US" dirty="0"/>
              <a:t>Number of queues</a:t>
            </a:r>
          </a:p>
          <a:p>
            <a:pPr lvl="1"/>
            <a:r>
              <a:rPr lang="en-US" altLang="en-US" dirty="0"/>
              <a:t>Scheduling algorithms for each queue</a:t>
            </a:r>
          </a:p>
          <a:p>
            <a:pPr lvl="1"/>
            <a:r>
              <a:rPr lang="en-US" altLang="en-US" dirty="0"/>
              <a:t>Method used to determine when to upgrade a process</a:t>
            </a:r>
          </a:p>
          <a:p>
            <a:pPr lvl="1"/>
            <a:r>
              <a:rPr lang="en-US" altLang="en-US" dirty="0"/>
              <a:t>Method used to determine when to demote a process</a:t>
            </a:r>
          </a:p>
          <a:p>
            <a:pPr lvl="1"/>
            <a:r>
              <a:rPr lang="en-US" altLang="en-US" dirty="0"/>
              <a:t>Method used to determine which queue a process will enter when that process needs service</a:t>
            </a:r>
          </a:p>
          <a:p>
            <a:r>
              <a:rPr lang="en-US" altLang="en-US" dirty="0"/>
              <a:t>Aging can be implemented using multilevel feedback queue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a:extLst>
              <a:ext uri="{FF2B5EF4-FFF2-40B4-BE49-F238E27FC236}">
                <a16:creationId xmlns:a16="http://schemas.microsoft.com/office/drawing/2014/main" id="{4CCD566E-DD44-408E-84CD-E9F177C9548D}"/>
              </a:ext>
            </a:extLst>
          </p:cNvPr>
          <p:cNvSpPr>
            <a:spLocks noGrp="1" noChangeArrowheads="1"/>
          </p:cNvSpPr>
          <p:nvPr>
            <p:ph type="title"/>
          </p:nvPr>
        </p:nvSpPr>
        <p:spPr>
          <a:xfrm>
            <a:off x="2762138" y="42179"/>
            <a:ext cx="8186349" cy="679450"/>
          </a:xfrm>
        </p:spPr>
        <p:txBody>
          <a:bodyPr/>
          <a:lstStyle/>
          <a:p>
            <a:pPr eaLnBrk="1" hangingPunct="1"/>
            <a:r>
              <a:rPr lang="en-US" altLang="en-US" dirty="0"/>
              <a:t>Example of Multilevel Feedback Queue</a:t>
            </a:r>
          </a:p>
        </p:txBody>
      </p:sp>
      <p:sp>
        <p:nvSpPr>
          <p:cNvPr id="59394" name="Rectangle 3">
            <a:extLst>
              <a:ext uri="{FF2B5EF4-FFF2-40B4-BE49-F238E27FC236}">
                <a16:creationId xmlns:a16="http://schemas.microsoft.com/office/drawing/2014/main" id="{613E5F61-646B-48FF-83DC-0216A8F01A46}"/>
              </a:ext>
            </a:extLst>
          </p:cNvPr>
          <p:cNvSpPr>
            <a:spLocks noGrp="1" noChangeArrowheads="1"/>
          </p:cNvSpPr>
          <p:nvPr>
            <p:ph type="body" idx="1"/>
          </p:nvPr>
        </p:nvSpPr>
        <p:spPr>
          <a:xfrm>
            <a:off x="516194" y="1248496"/>
            <a:ext cx="6489290" cy="5167051"/>
          </a:xfrm>
        </p:spPr>
        <p:txBody>
          <a:bodyPr/>
          <a:lstStyle/>
          <a:p>
            <a:r>
              <a:rPr lang="en-US" altLang="en-US" dirty="0"/>
              <a:t>Three queues: </a:t>
            </a:r>
          </a:p>
          <a:p>
            <a:pPr lvl="1"/>
            <a:r>
              <a:rPr lang="en-US" altLang="en-US" i="1" dirty="0"/>
              <a:t>Q</a:t>
            </a:r>
            <a:r>
              <a:rPr lang="en-US" altLang="en-US" baseline="-25000" dirty="0"/>
              <a:t>0</a:t>
            </a:r>
            <a:r>
              <a:rPr lang="en-US" altLang="en-US" dirty="0"/>
              <a:t> – RR with time quantum 8 milliseconds</a:t>
            </a:r>
          </a:p>
          <a:p>
            <a:pPr lvl="1"/>
            <a:r>
              <a:rPr lang="en-US" altLang="en-US" i="1" dirty="0"/>
              <a:t>Q</a:t>
            </a:r>
            <a:r>
              <a:rPr lang="en-US" altLang="en-US" baseline="-25000" dirty="0"/>
              <a:t>1</a:t>
            </a:r>
            <a:r>
              <a:rPr lang="en-US" altLang="en-US" dirty="0"/>
              <a:t> – RR time quantum 16 milliseconds</a:t>
            </a:r>
          </a:p>
          <a:p>
            <a:pPr lvl="1"/>
            <a:r>
              <a:rPr lang="en-US" altLang="en-US" i="1" dirty="0"/>
              <a:t>Q</a:t>
            </a:r>
            <a:r>
              <a:rPr lang="en-US" altLang="en-US" baseline="-25000" dirty="0"/>
              <a:t>2</a:t>
            </a:r>
            <a:r>
              <a:rPr lang="en-US" altLang="en-US" dirty="0"/>
              <a:t> – FCFS</a:t>
            </a:r>
          </a:p>
          <a:p>
            <a:r>
              <a:rPr lang="en-US" altLang="en-US" dirty="0"/>
              <a:t>Scheduling</a:t>
            </a:r>
          </a:p>
          <a:p>
            <a:pPr lvl="1"/>
            <a:r>
              <a:rPr lang="en-US" altLang="en-US" dirty="0"/>
              <a:t>A new process enters queue </a:t>
            </a:r>
            <a:r>
              <a:rPr lang="en-US" altLang="en-US" i="1" dirty="0"/>
              <a:t>Q</a:t>
            </a:r>
            <a:r>
              <a:rPr lang="en-US" altLang="en-US" i="1" baseline="-25000" dirty="0"/>
              <a:t>0</a:t>
            </a:r>
            <a:r>
              <a:rPr lang="en-US" altLang="en-US" i="1" dirty="0"/>
              <a:t> </a:t>
            </a:r>
            <a:r>
              <a:rPr lang="en-US" altLang="en-US" dirty="0"/>
              <a:t>which is served</a:t>
            </a:r>
            <a:r>
              <a:rPr lang="en-US" altLang="en-US" i="1" dirty="0"/>
              <a:t> </a:t>
            </a:r>
            <a:r>
              <a:rPr lang="en-US" altLang="en-US" dirty="0"/>
              <a:t>in</a:t>
            </a:r>
            <a:r>
              <a:rPr lang="en-US" altLang="en-US" i="1" dirty="0"/>
              <a:t> </a:t>
            </a:r>
            <a:r>
              <a:rPr lang="en-US" altLang="en-US" dirty="0"/>
              <a:t>RR</a:t>
            </a:r>
          </a:p>
          <a:p>
            <a:pPr lvl="2"/>
            <a:r>
              <a:rPr lang="en-US" altLang="en-US" dirty="0"/>
              <a:t>When it gains CPU, the process receives 8 milliseconds</a:t>
            </a:r>
          </a:p>
          <a:p>
            <a:pPr lvl="2"/>
            <a:r>
              <a:rPr lang="en-US" altLang="en-US" dirty="0"/>
              <a:t>If it does not finish in 8 milliseconds, the process  is moved to queue </a:t>
            </a:r>
            <a:r>
              <a:rPr lang="en-US" altLang="en-US" i="1" dirty="0"/>
              <a:t>Q</a:t>
            </a:r>
            <a:r>
              <a:rPr lang="en-US" altLang="en-US" baseline="-25000" dirty="0"/>
              <a:t>1</a:t>
            </a:r>
            <a:endParaRPr lang="en-US" altLang="en-US" dirty="0"/>
          </a:p>
          <a:p>
            <a:pPr lvl="1"/>
            <a:r>
              <a:rPr lang="en-US" altLang="en-US" dirty="0"/>
              <a:t>At </a:t>
            </a:r>
            <a:r>
              <a:rPr lang="en-US" altLang="en-US" i="1" dirty="0"/>
              <a:t>Q</a:t>
            </a:r>
            <a:r>
              <a:rPr lang="en-US" altLang="en-US" baseline="-25000" dirty="0"/>
              <a:t>1</a:t>
            </a:r>
            <a:r>
              <a:rPr lang="en-US" altLang="en-US" dirty="0"/>
              <a:t> job is again served in RR and receives 16 additional milliseconds</a:t>
            </a:r>
          </a:p>
          <a:p>
            <a:pPr lvl="2"/>
            <a:r>
              <a:rPr lang="en-US" altLang="en-US" dirty="0"/>
              <a:t>If it still does not complete, it is preempted and moved to queue </a:t>
            </a:r>
            <a:r>
              <a:rPr lang="en-US" altLang="en-US" i="1" dirty="0"/>
              <a:t>Q</a:t>
            </a:r>
            <a:r>
              <a:rPr lang="en-US" altLang="en-US" baseline="-25000" dirty="0"/>
              <a:t>2</a:t>
            </a:r>
            <a:endParaRPr lang="en-US" altLang="en-US" dirty="0"/>
          </a:p>
        </p:txBody>
      </p:sp>
      <p:pic>
        <p:nvPicPr>
          <p:cNvPr id="59395" name="Picture 1">
            <a:extLst>
              <a:ext uri="{FF2B5EF4-FFF2-40B4-BE49-F238E27FC236}">
                <a16:creationId xmlns:a16="http://schemas.microsoft.com/office/drawing/2014/main" id="{BE9B9DB7-2D01-4469-B225-66245C9CC07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069918" y="2030050"/>
            <a:ext cx="4605888" cy="279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2647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5E530708-9C89-4AD9-BB13-73771C0F0AD7}"/>
              </a:ext>
            </a:extLst>
          </p:cNvPr>
          <p:cNvSpPr>
            <a:spLocks noGrp="1" noChangeArrowheads="1"/>
          </p:cNvSpPr>
          <p:nvPr>
            <p:ph type="title"/>
          </p:nvPr>
        </p:nvSpPr>
        <p:spPr>
          <a:xfrm>
            <a:off x="1981200" y="111760"/>
            <a:ext cx="8229600" cy="622988"/>
          </a:xfrm>
        </p:spPr>
        <p:txBody>
          <a:bodyPr/>
          <a:lstStyle/>
          <a:p>
            <a:pPr eaLnBrk="1" hangingPunct="1"/>
            <a:r>
              <a:rPr lang="en-US" altLang="en-US" dirty="0"/>
              <a:t>Thread Scheduling</a:t>
            </a:r>
          </a:p>
        </p:txBody>
      </p:sp>
      <p:sp>
        <p:nvSpPr>
          <p:cNvPr id="61442" name="Rectangle 3">
            <a:extLst>
              <a:ext uri="{FF2B5EF4-FFF2-40B4-BE49-F238E27FC236}">
                <a16:creationId xmlns:a16="http://schemas.microsoft.com/office/drawing/2014/main" id="{4EB10D59-818F-4E4B-B4C9-ED90EEB4FFA0}"/>
              </a:ext>
            </a:extLst>
          </p:cNvPr>
          <p:cNvSpPr>
            <a:spLocks noGrp="1" noChangeArrowheads="1"/>
          </p:cNvSpPr>
          <p:nvPr>
            <p:ph type="body" idx="1"/>
          </p:nvPr>
        </p:nvSpPr>
        <p:spPr>
          <a:xfrm>
            <a:off x="1091381" y="1087120"/>
            <a:ext cx="10589342" cy="4694247"/>
          </a:xfrm>
        </p:spPr>
        <p:txBody>
          <a:bodyPr/>
          <a:lstStyle/>
          <a:p>
            <a:r>
              <a:rPr lang="en-US" altLang="en-US" sz="2000" dirty="0"/>
              <a:t>Distinction between user-level and kernel-level threads</a:t>
            </a:r>
          </a:p>
          <a:p>
            <a:r>
              <a:rPr lang="en-US" altLang="en-US" sz="2000" dirty="0"/>
              <a:t>When threads supported, threads scheduled, not processes</a:t>
            </a:r>
          </a:p>
          <a:p>
            <a:r>
              <a:rPr lang="en-US" altLang="en-US" sz="2000" dirty="0"/>
              <a:t>Many-to-one and many-to-many models, thread library schedules user-level threads to run on LWP</a:t>
            </a:r>
          </a:p>
          <a:p>
            <a:pPr lvl="1"/>
            <a:r>
              <a:rPr lang="en-US" altLang="en-US" sz="2000" dirty="0"/>
              <a:t>Known as </a:t>
            </a:r>
            <a:r>
              <a:rPr lang="en-US" altLang="en-US" sz="2000" b="1" dirty="0">
                <a:solidFill>
                  <a:srgbClr val="006699"/>
                </a:solidFill>
                <a:latin typeface="+mj-lt"/>
              </a:rPr>
              <a:t>process-contention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solidFill>
                  <a:srgbClr val="3366FF"/>
                </a:solidFill>
              </a:rPr>
              <a:t> </a:t>
            </a:r>
            <a:r>
              <a:rPr lang="en-US" altLang="en-US" sz="2000" dirty="0"/>
              <a:t>(</a:t>
            </a:r>
            <a:r>
              <a:rPr lang="en-US" altLang="en-US" sz="2000" b="1" dirty="0">
                <a:solidFill>
                  <a:srgbClr val="006699"/>
                </a:solidFill>
                <a:latin typeface="+mj-lt"/>
              </a:rPr>
              <a:t>PCS</a:t>
            </a:r>
            <a:r>
              <a:rPr lang="en-US" altLang="en-US" sz="2000" dirty="0"/>
              <a:t>)</a:t>
            </a:r>
            <a:r>
              <a:rPr lang="en-US" altLang="en-US" sz="2000" b="1" dirty="0"/>
              <a:t> </a:t>
            </a:r>
            <a:r>
              <a:rPr lang="en-US" altLang="en-US" sz="2000" dirty="0"/>
              <a:t>since scheduling competition is within the process</a:t>
            </a:r>
          </a:p>
          <a:p>
            <a:pPr lvl="1"/>
            <a:r>
              <a:rPr lang="en-US" altLang="en-US" sz="2000" dirty="0"/>
              <a:t>Typically done via priority set by programmer</a:t>
            </a:r>
          </a:p>
          <a:p>
            <a:r>
              <a:rPr lang="en-US" altLang="en-US" sz="2000" dirty="0"/>
              <a:t>Kernel thread scheduled onto available CPU is </a:t>
            </a:r>
            <a:r>
              <a:rPr lang="en-US" altLang="en-US" sz="2000" b="1" dirty="0">
                <a:solidFill>
                  <a:srgbClr val="006699"/>
                </a:solidFill>
                <a:latin typeface="+mj-lt"/>
              </a:rPr>
              <a:t>system-contention</a:t>
            </a:r>
            <a:r>
              <a:rPr lang="en-US" altLang="en-US" sz="2000" b="1" dirty="0">
                <a:solidFill>
                  <a:srgbClr val="3366FF"/>
                </a:solidFill>
              </a:rPr>
              <a:t> </a:t>
            </a:r>
            <a:r>
              <a:rPr lang="en-US" altLang="en-US" sz="2000" b="1" dirty="0">
                <a:solidFill>
                  <a:srgbClr val="006699"/>
                </a:solidFill>
                <a:latin typeface="+mj-lt"/>
              </a:rPr>
              <a:t>scope</a:t>
            </a:r>
            <a:r>
              <a:rPr lang="en-US" altLang="en-US" sz="2000" b="1" dirty="0"/>
              <a:t> </a:t>
            </a:r>
            <a:r>
              <a:rPr lang="en-US" altLang="en-US" sz="2000" dirty="0"/>
              <a:t>(</a:t>
            </a:r>
            <a:r>
              <a:rPr lang="en-US" altLang="en-US" sz="2000" b="1" dirty="0">
                <a:solidFill>
                  <a:srgbClr val="006699"/>
                </a:solidFill>
                <a:latin typeface="+mj-lt"/>
              </a:rPr>
              <a:t>SCS</a:t>
            </a:r>
            <a:r>
              <a:rPr lang="en-US" altLang="en-US" sz="2000" dirty="0"/>
              <a:t>) – competition among all threads in system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103EDDAD-6601-404C-A683-E0A4F4E97AD4}"/>
              </a:ext>
            </a:extLst>
          </p:cNvPr>
          <p:cNvSpPr>
            <a:spLocks noGrp="1" noChangeArrowheads="1"/>
          </p:cNvSpPr>
          <p:nvPr>
            <p:ph type="title"/>
          </p:nvPr>
        </p:nvSpPr>
        <p:spPr>
          <a:xfrm>
            <a:off x="2233614" y="175437"/>
            <a:ext cx="7977187" cy="576262"/>
          </a:xfrm>
        </p:spPr>
        <p:txBody>
          <a:bodyPr/>
          <a:lstStyle/>
          <a:p>
            <a:pPr eaLnBrk="1" hangingPunct="1"/>
            <a:r>
              <a:rPr lang="en-US" altLang="en-US" dirty="0"/>
              <a:t>Pthread Scheduling</a:t>
            </a:r>
          </a:p>
        </p:txBody>
      </p:sp>
      <p:sp>
        <p:nvSpPr>
          <p:cNvPr id="63490" name="Rectangle 3">
            <a:extLst>
              <a:ext uri="{FF2B5EF4-FFF2-40B4-BE49-F238E27FC236}">
                <a16:creationId xmlns:a16="http://schemas.microsoft.com/office/drawing/2014/main" id="{05F13962-8C93-49C9-9F65-D56A140A3D17}"/>
              </a:ext>
            </a:extLst>
          </p:cNvPr>
          <p:cNvSpPr>
            <a:spLocks noGrp="1" noChangeArrowheads="1"/>
          </p:cNvSpPr>
          <p:nvPr>
            <p:ph type="body" idx="1"/>
          </p:nvPr>
        </p:nvSpPr>
        <p:spPr>
          <a:xfrm>
            <a:off x="1607574" y="1137920"/>
            <a:ext cx="9704439" cy="4333732"/>
          </a:xfrm>
        </p:spPr>
        <p:txBody>
          <a:bodyPr/>
          <a:lstStyle/>
          <a:p>
            <a:r>
              <a:rPr lang="en-US" altLang="en-US" sz="2000" dirty="0"/>
              <a:t>API allows specifying either PCS or SCS during thread creation</a:t>
            </a:r>
          </a:p>
          <a:p>
            <a:pPr lvl="1"/>
            <a:r>
              <a:rPr lang="en-US" altLang="en-US" sz="2000" dirty="0"/>
              <a:t>PTHREAD_SCOPE_PROCESS schedules threads using PCS scheduling</a:t>
            </a:r>
          </a:p>
          <a:p>
            <a:pPr lvl="1"/>
            <a:r>
              <a:rPr lang="en-US" altLang="en-US" sz="2000" dirty="0"/>
              <a:t>PTHREAD_SCOPE_SYSTEM schedules threads using SCS scheduling</a:t>
            </a:r>
          </a:p>
          <a:p>
            <a:endParaRPr lang="en-US" altLang="en-US" sz="2000" dirty="0"/>
          </a:p>
          <a:p>
            <a:r>
              <a:rPr lang="en-US" altLang="en-US" sz="2000" dirty="0"/>
              <a:t>Can be limited by OS – Linux and macOS only allow PTHREAD_SCOPE_SYSTEM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2487614" y="121920"/>
            <a:ext cx="7723187" cy="601892"/>
          </a:xfrm>
        </p:spPr>
        <p:txBody>
          <a:bodyPr/>
          <a:lstStyle/>
          <a:p>
            <a:pPr eaLnBrk="1" hangingPunct="1"/>
            <a:r>
              <a:rPr lang="en-US" altLang="en-US" dirty="0"/>
              <a:t>Multiple-Processor Scheduling</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1902542" y="1122364"/>
            <a:ext cx="8184401" cy="4808537"/>
          </a:xfrm>
        </p:spPr>
        <p:txBody>
          <a:bodyPr/>
          <a:lstStyle/>
          <a:p>
            <a:r>
              <a:rPr lang="en-US" altLang="en-US" sz="2000" dirty="0"/>
              <a:t>CPU scheduling more complex when multiple CPUs are available</a:t>
            </a:r>
          </a:p>
          <a:p>
            <a:r>
              <a:rPr lang="en-US" altLang="en-US" sz="2000" dirty="0" err="1"/>
              <a:t>Multiprocess</a:t>
            </a:r>
            <a:r>
              <a:rPr lang="en-US" altLang="en-US" sz="2000" dirty="0"/>
              <a:t> may be any one of the following architectures:</a:t>
            </a:r>
          </a:p>
          <a:p>
            <a:pPr lvl="1"/>
            <a:r>
              <a:rPr lang="en-US" altLang="en-US" sz="2000" dirty="0"/>
              <a:t>Multicore CPUs</a:t>
            </a:r>
          </a:p>
          <a:p>
            <a:pPr lvl="1"/>
            <a:r>
              <a:rPr lang="en-US" altLang="en-US" sz="2000" dirty="0"/>
              <a:t>Multithreaded cores</a:t>
            </a:r>
          </a:p>
          <a:p>
            <a:pPr lvl="1"/>
            <a:r>
              <a:rPr lang="en-US" altLang="en-US" sz="2000" dirty="0"/>
              <a:t>NUMA systems</a:t>
            </a:r>
          </a:p>
          <a:p>
            <a:pPr lvl="1"/>
            <a:r>
              <a:rPr lang="en-US" altLang="en-US" sz="2000" dirty="0"/>
              <a:t>Heterogeneous multiprocessing</a:t>
            </a:r>
          </a:p>
          <a:p>
            <a:pPr lvl="1"/>
            <a:endParaRPr lang="en-US" altLang="en-US" sz="2000" b="1" dirty="0">
              <a:solidFill>
                <a:srgbClr val="3366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C7F1E55F-983C-47F8-ADBE-54E15FEFD9AB}"/>
              </a:ext>
            </a:extLst>
          </p:cNvPr>
          <p:cNvSpPr>
            <a:spLocks noGrp="1"/>
          </p:cNvSpPr>
          <p:nvPr>
            <p:ph type="title"/>
          </p:nvPr>
        </p:nvSpPr>
        <p:spPr>
          <a:xfrm>
            <a:off x="2418080" y="173722"/>
            <a:ext cx="8229600" cy="576262"/>
          </a:xfrm>
        </p:spPr>
        <p:txBody>
          <a:bodyPr/>
          <a:lstStyle/>
          <a:p>
            <a:r>
              <a:rPr lang="en-US" altLang="en-US" dirty="0"/>
              <a:t>Multiple-Processor Scheduling</a:t>
            </a:r>
          </a:p>
        </p:txBody>
      </p:sp>
      <p:sp>
        <p:nvSpPr>
          <p:cNvPr id="71682" name="Content Placeholder 2">
            <a:extLst>
              <a:ext uri="{FF2B5EF4-FFF2-40B4-BE49-F238E27FC236}">
                <a16:creationId xmlns:a16="http://schemas.microsoft.com/office/drawing/2014/main" id="{7A08C823-220F-4189-B103-BC03391E7F6B}"/>
              </a:ext>
            </a:extLst>
          </p:cNvPr>
          <p:cNvSpPr>
            <a:spLocks noGrp="1"/>
          </p:cNvSpPr>
          <p:nvPr>
            <p:ph idx="1"/>
          </p:nvPr>
        </p:nvSpPr>
        <p:spPr/>
        <p:txBody>
          <a:bodyPr/>
          <a:lstStyle/>
          <a:p>
            <a:r>
              <a:rPr lang="en-US" altLang="en-US" sz="2000" dirty="0"/>
              <a:t>Symmetric multiprocessing (SMP) is where each processor is self scheduling.</a:t>
            </a:r>
          </a:p>
          <a:p>
            <a:r>
              <a:rPr lang="en-US" altLang="en-US" sz="2000" dirty="0"/>
              <a:t>All threads may be in a common ready queue (a)</a:t>
            </a:r>
          </a:p>
          <a:p>
            <a:r>
              <a:rPr lang="en-US" altLang="en-US" sz="2000" dirty="0"/>
              <a:t>Each processor may have its own private queue of threads (b)</a:t>
            </a:r>
          </a:p>
        </p:txBody>
      </p:sp>
      <p:pic>
        <p:nvPicPr>
          <p:cNvPr id="71683" name="Picture 3">
            <a:extLst>
              <a:ext uri="{FF2B5EF4-FFF2-40B4-BE49-F238E27FC236}">
                <a16:creationId xmlns:a16="http://schemas.microsoft.com/office/drawing/2014/main" id="{4F31D85D-3236-4616-BD79-8F32A1CE24E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757600" y="2793115"/>
            <a:ext cx="6676800" cy="345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4EE83DAD-0182-4281-9CC2-965A55B66551}"/>
              </a:ext>
            </a:extLst>
          </p:cNvPr>
          <p:cNvSpPr>
            <a:spLocks noGrp="1"/>
          </p:cNvSpPr>
          <p:nvPr>
            <p:ph type="title"/>
          </p:nvPr>
        </p:nvSpPr>
        <p:spPr>
          <a:xfrm>
            <a:off x="2389188" y="121920"/>
            <a:ext cx="7821612" cy="575610"/>
          </a:xfrm>
        </p:spPr>
        <p:txBody>
          <a:bodyPr/>
          <a:lstStyle/>
          <a:p>
            <a:pPr eaLnBrk="1" hangingPunct="1"/>
            <a:r>
              <a:rPr lang="en-US" altLang="en-US" dirty="0"/>
              <a:t>Multicore Processors</a:t>
            </a:r>
          </a:p>
        </p:txBody>
      </p:sp>
      <p:sp>
        <p:nvSpPr>
          <p:cNvPr id="72706" name="Content Placeholder 2">
            <a:extLst>
              <a:ext uri="{FF2B5EF4-FFF2-40B4-BE49-F238E27FC236}">
                <a16:creationId xmlns:a16="http://schemas.microsoft.com/office/drawing/2014/main" id="{AEEE112F-E1F9-4A4D-91F5-E4A039580C88}"/>
              </a:ext>
            </a:extLst>
          </p:cNvPr>
          <p:cNvSpPr>
            <a:spLocks noGrp="1"/>
          </p:cNvSpPr>
          <p:nvPr>
            <p:ph idx="1"/>
          </p:nvPr>
        </p:nvSpPr>
        <p:spPr>
          <a:xfrm>
            <a:off x="2326434" y="1020129"/>
            <a:ext cx="9029824" cy="5395419"/>
          </a:xfrm>
        </p:spPr>
        <p:txBody>
          <a:bodyPr/>
          <a:lstStyle/>
          <a:p>
            <a:r>
              <a:rPr lang="en-US" altLang="en-US" sz="2000" dirty="0"/>
              <a:t>Recent trend to place multiple processor cores on same physical chip</a:t>
            </a:r>
          </a:p>
          <a:p>
            <a:r>
              <a:rPr lang="en-US" altLang="en-US" sz="2000" dirty="0"/>
              <a:t>Faster and consumes less power</a:t>
            </a:r>
          </a:p>
          <a:p>
            <a:r>
              <a:rPr lang="en-US" altLang="en-US" sz="2000" dirty="0"/>
              <a:t>Multiple threads per core also growing</a:t>
            </a:r>
          </a:p>
          <a:p>
            <a:pPr lvl="1"/>
            <a:r>
              <a:rPr lang="en-US" altLang="en-US" sz="2000" dirty="0"/>
              <a:t>Takes advantage of memory stall to make progress on another thread while memory retrieve happens</a:t>
            </a:r>
          </a:p>
          <a:p>
            <a:r>
              <a:rPr lang="en-US" altLang="en-US" sz="2000" dirty="0"/>
              <a:t>Figure</a:t>
            </a:r>
          </a:p>
          <a:p>
            <a:pPr lvl="1"/>
            <a:endParaRPr lang="en-US" altLang="en-US" sz="2000" dirty="0"/>
          </a:p>
          <a:p>
            <a:pPr lvl="1">
              <a:buFont typeface="Monotype Sorts" pitchFamily="-84" charset="2"/>
              <a:buNone/>
            </a:pPr>
            <a:r>
              <a:rPr lang="en-US" altLang="en-US" sz="2000" dirty="0"/>
              <a:t> </a:t>
            </a:r>
          </a:p>
        </p:txBody>
      </p:sp>
      <p:pic>
        <p:nvPicPr>
          <p:cNvPr id="72707" name="Picture 1">
            <a:extLst>
              <a:ext uri="{FF2B5EF4-FFF2-40B4-BE49-F238E27FC236}">
                <a16:creationId xmlns:a16="http://schemas.microsoft.com/office/drawing/2014/main" id="{0F6CBE17-826B-42D1-8128-EDC6A8A7083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94054" y="3933200"/>
            <a:ext cx="7755883" cy="1904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BF0D8640-FCB0-4988-9C40-1D8E1028F211}"/>
              </a:ext>
            </a:extLst>
          </p:cNvPr>
          <p:cNvSpPr>
            <a:spLocks noGrp="1" noChangeArrowheads="1"/>
          </p:cNvSpPr>
          <p:nvPr>
            <p:ph type="title"/>
          </p:nvPr>
        </p:nvSpPr>
        <p:spPr>
          <a:xfrm>
            <a:off x="2487614" y="121920"/>
            <a:ext cx="7723187" cy="601892"/>
          </a:xfrm>
        </p:spPr>
        <p:txBody>
          <a:bodyPr/>
          <a:lstStyle/>
          <a:p>
            <a:pPr eaLnBrk="1" hangingPunct="1"/>
            <a:r>
              <a:rPr lang="en-US" altLang="en-US" dirty="0"/>
              <a:t>Multithreaded Multicore System</a:t>
            </a:r>
          </a:p>
        </p:txBody>
      </p:sp>
      <p:sp>
        <p:nvSpPr>
          <p:cNvPr id="69634" name="Rectangle 3">
            <a:extLst>
              <a:ext uri="{FF2B5EF4-FFF2-40B4-BE49-F238E27FC236}">
                <a16:creationId xmlns:a16="http://schemas.microsoft.com/office/drawing/2014/main" id="{2B71E613-2379-4021-8ED5-E283592561A9}"/>
              </a:ext>
            </a:extLst>
          </p:cNvPr>
          <p:cNvSpPr>
            <a:spLocks noGrp="1" noChangeArrowheads="1"/>
          </p:cNvSpPr>
          <p:nvPr>
            <p:ph type="body" idx="1"/>
          </p:nvPr>
        </p:nvSpPr>
        <p:spPr>
          <a:xfrm>
            <a:off x="2298442" y="1122364"/>
            <a:ext cx="7788501" cy="4808537"/>
          </a:xfrm>
        </p:spPr>
        <p:txBody>
          <a:bodyPr/>
          <a:lstStyle/>
          <a:p>
            <a:r>
              <a:rPr kumimoji="0" lang="en-US" altLang="en-US" sz="2000" dirty="0"/>
              <a:t>Each core has &gt; 1 hardware threads. </a:t>
            </a:r>
          </a:p>
          <a:p>
            <a:r>
              <a:rPr kumimoji="0" lang="en-US" altLang="en-US" sz="2000" dirty="0"/>
              <a:t>If one thread has a memory stall, switch to another thread!</a:t>
            </a:r>
          </a:p>
          <a:p>
            <a:r>
              <a:rPr kumimoji="0" lang="en-US" altLang="en-US" sz="2000" dirty="0"/>
              <a:t>Figure</a:t>
            </a:r>
          </a:p>
          <a:p>
            <a:endParaRPr kumimoji="0" lang="en-US" altLang="en-US" dirty="0"/>
          </a:p>
          <a:p>
            <a:endParaRPr kumimoji="0" lang="en-US" altLang="en-US" dirty="0"/>
          </a:p>
          <a:p>
            <a:pPr>
              <a:spcBef>
                <a:spcPct val="0"/>
              </a:spcBef>
              <a:buClrTx/>
              <a:buSzTx/>
              <a:buFontTx/>
              <a:buNone/>
            </a:pPr>
            <a:endParaRPr kumimoji="0" lang="en-US" altLang="en-US" dirty="0"/>
          </a:p>
          <a:p>
            <a:endParaRPr lang="en-US" altLang="en-US" dirty="0"/>
          </a:p>
        </p:txBody>
      </p:sp>
      <p:pic>
        <p:nvPicPr>
          <p:cNvPr id="4" name="Picture 2">
            <a:extLst>
              <a:ext uri="{FF2B5EF4-FFF2-40B4-BE49-F238E27FC236}">
                <a16:creationId xmlns:a16="http://schemas.microsoft.com/office/drawing/2014/main" id="{5E06ED42-4179-4AE5-A555-4A875686258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80802" y="3130730"/>
            <a:ext cx="9948801" cy="2429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368285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Content Placeholder 2">
            <a:extLst>
              <a:ext uri="{FF2B5EF4-FFF2-40B4-BE49-F238E27FC236}">
                <a16:creationId xmlns:a16="http://schemas.microsoft.com/office/drawing/2014/main" id="{A98C968A-AF4F-450D-BAED-792FA6118868}"/>
              </a:ext>
            </a:extLst>
          </p:cNvPr>
          <p:cNvSpPr>
            <a:spLocks noGrp="1"/>
          </p:cNvSpPr>
          <p:nvPr>
            <p:ph idx="1"/>
          </p:nvPr>
        </p:nvSpPr>
        <p:spPr>
          <a:xfrm>
            <a:off x="604685" y="1046481"/>
            <a:ext cx="5500842" cy="4524693"/>
          </a:xfrm>
        </p:spPr>
        <p:txBody>
          <a:bodyPr/>
          <a:lstStyle/>
          <a:p>
            <a:r>
              <a:rPr lang="en-US" altLang="en-US" sz="2000" b="1" dirty="0"/>
              <a:t>Chip-multithreading</a:t>
            </a:r>
            <a:r>
              <a:rPr lang="en-US" altLang="en-US" sz="2000" dirty="0"/>
              <a:t> (CMT) assigns each core multiple hardware threads. (Intel refers to this as </a:t>
            </a:r>
            <a:r>
              <a:rPr lang="en-US" altLang="en-US" sz="2000" b="1" dirty="0">
                <a:solidFill>
                  <a:srgbClr val="FF0000"/>
                </a:solidFill>
              </a:rPr>
              <a:t>hyperthreading***</a:t>
            </a:r>
            <a:r>
              <a:rPr lang="en-US" altLang="en-US" sz="2000" dirty="0"/>
              <a:t>.)</a:t>
            </a:r>
            <a:br>
              <a:rPr lang="en-US" altLang="en-US" sz="2000" dirty="0"/>
            </a:br>
            <a:br>
              <a:rPr lang="en-US" altLang="en-US" sz="2000" dirty="0"/>
            </a:br>
            <a:r>
              <a:rPr lang="en-US" altLang="en-US" sz="2000" dirty="0"/>
              <a:t>*** Refer to the discussion in class</a:t>
            </a:r>
            <a:br>
              <a:rPr lang="en-US" altLang="en-US" sz="2000" dirty="0"/>
            </a:br>
            <a:br>
              <a:rPr lang="en-US" altLang="en-US" sz="2000" dirty="0"/>
            </a:br>
            <a:endParaRPr lang="en-US" altLang="en-US" sz="2000" dirty="0"/>
          </a:p>
          <a:p>
            <a:r>
              <a:rPr lang="en-US" altLang="en-US" sz="2000" dirty="0"/>
              <a:t>On a quad-core system with 2 hardware threads per core, the operating system sees 8 logical processors.</a:t>
            </a:r>
          </a:p>
          <a:p>
            <a:endParaRPr lang="en-US" altLang="en-US" sz="2000" dirty="0"/>
          </a:p>
        </p:txBody>
      </p:sp>
      <p:pic>
        <p:nvPicPr>
          <p:cNvPr id="76803" name="Picture 3">
            <a:extLst>
              <a:ext uri="{FF2B5EF4-FFF2-40B4-BE49-F238E27FC236}">
                <a16:creationId xmlns:a16="http://schemas.microsoft.com/office/drawing/2014/main" id="{DF01EFD5-3757-4F74-AA03-D72BD641811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25638" y="857269"/>
            <a:ext cx="4060465" cy="5876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itle 1">
            <a:extLst>
              <a:ext uri="{FF2B5EF4-FFF2-40B4-BE49-F238E27FC236}">
                <a16:creationId xmlns:a16="http://schemas.microsoft.com/office/drawing/2014/main" id="{4B1BCE2B-FB82-4DE4-8AC5-8A0BF114B3D4}"/>
              </a:ext>
            </a:extLst>
          </p:cNvPr>
          <p:cNvSpPr>
            <a:spLocks noGrp="1"/>
          </p:cNvSpPr>
          <p:nvPr>
            <p:ph type="title"/>
          </p:nvPr>
        </p:nvSpPr>
        <p:spPr>
          <a:xfrm>
            <a:off x="2690328" y="123751"/>
            <a:ext cx="7557796" cy="576262"/>
          </a:xfrm>
        </p:spPr>
        <p:txBody>
          <a:bodyPr/>
          <a:lstStyle/>
          <a:p>
            <a:pPr eaLnBrk="1" hangingPunct="1"/>
            <a:r>
              <a:rPr lang="en-US" altLang="en-US" dirty="0"/>
              <a:t>Multithreaded Multicore System</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72A2F406-D6BE-4B79-BE65-E498FF964134}"/>
              </a:ext>
            </a:extLst>
          </p:cNvPr>
          <p:cNvSpPr>
            <a:spLocks noGrp="1"/>
          </p:cNvSpPr>
          <p:nvPr>
            <p:ph type="title"/>
          </p:nvPr>
        </p:nvSpPr>
        <p:spPr>
          <a:xfrm>
            <a:off x="2569032" y="123751"/>
            <a:ext cx="7809722" cy="576262"/>
          </a:xfrm>
        </p:spPr>
        <p:txBody>
          <a:bodyPr/>
          <a:lstStyle/>
          <a:p>
            <a:r>
              <a:rPr lang="en-US" altLang="en-US" dirty="0"/>
              <a:t>Multithreaded Multicore System</a:t>
            </a:r>
          </a:p>
        </p:txBody>
      </p:sp>
      <p:sp>
        <p:nvSpPr>
          <p:cNvPr id="77826" name="Content Placeholder 2">
            <a:extLst>
              <a:ext uri="{FF2B5EF4-FFF2-40B4-BE49-F238E27FC236}">
                <a16:creationId xmlns:a16="http://schemas.microsoft.com/office/drawing/2014/main" id="{1282DD5F-B7F7-4A28-B908-F260F89F83FA}"/>
              </a:ext>
            </a:extLst>
          </p:cNvPr>
          <p:cNvSpPr>
            <a:spLocks noGrp="1"/>
          </p:cNvSpPr>
          <p:nvPr>
            <p:ph idx="1"/>
          </p:nvPr>
        </p:nvSpPr>
        <p:spPr>
          <a:xfrm>
            <a:off x="1179871" y="1570190"/>
            <a:ext cx="4292243" cy="4530725"/>
          </a:xfrm>
        </p:spPr>
        <p:txBody>
          <a:bodyPr/>
          <a:lstStyle/>
          <a:p>
            <a:r>
              <a:rPr lang="en-US" altLang="en-US" sz="2000" dirty="0"/>
              <a:t>Two levels of scheduling:</a:t>
            </a:r>
            <a:br>
              <a:rPr lang="en-US" altLang="en-US" sz="2000" dirty="0"/>
            </a:br>
            <a:endParaRPr lang="en-US" altLang="en-US" sz="2000" dirty="0"/>
          </a:p>
          <a:p>
            <a:pPr lvl="1">
              <a:buFont typeface="Arial" panose="020B0604020202020204" pitchFamily="34" charset="0"/>
              <a:buAutoNum type="arabicPeriod"/>
            </a:pPr>
            <a:r>
              <a:rPr lang="en-US" altLang="en-US" sz="2000" dirty="0"/>
              <a:t>The operating system deciding which software thread to run on a logical CPU</a:t>
            </a:r>
            <a:br>
              <a:rPr lang="en-US" altLang="en-US" sz="2000" dirty="0"/>
            </a:br>
            <a:br>
              <a:rPr lang="en-US" altLang="en-US" sz="2000" dirty="0"/>
            </a:br>
            <a:endParaRPr lang="en-US" altLang="en-US" sz="2000" dirty="0"/>
          </a:p>
          <a:p>
            <a:pPr lvl="1">
              <a:buFont typeface="Arial" panose="020B0604020202020204" pitchFamily="34" charset="0"/>
              <a:buAutoNum type="arabicPeriod"/>
            </a:pPr>
            <a:r>
              <a:rPr lang="en-US" altLang="en-US" sz="2000" dirty="0"/>
              <a:t>How each core decides which hardware thread to run on the physical core.</a:t>
            </a:r>
            <a:br>
              <a:rPr lang="en-US" altLang="en-US" sz="2000" dirty="0"/>
            </a:br>
            <a:br>
              <a:rPr lang="en-US" altLang="en-US" sz="2000" dirty="0"/>
            </a:br>
            <a:br>
              <a:rPr lang="en-US" altLang="en-US" sz="2000" dirty="0"/>
            </a:br>
            <a:endParaRPr lang="en-US" altLang="en-US" sz="2000" dirty="0"/>
          </a:p>
        </p:txBody>
      </p:sp>
      <p:pic>
        <p:nvPicPr>
          <p:cNvPr id="77827" name="Picture 4">
            <a:extLst>
              <a:ext uri="{FF2B5EF4-FFF2-40B4-BE49-F238E27FC236}">
                <a16:creationId xmlns:a16="http://schemas.microsoft.com/office/drawing/2014/main" id="{CDFC70F4-8A1C-480B-820D-DE1F116FFD4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72114" y="1190626"/>
            <a:ext cx="6231683" cy="4841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54839094-C3D3-496D-831C-D61F7F14A2B2}"/>
              </a:ext>
            </a:extLst>
          </p:cNvPr>
          <p:cNvSpPr>
            <a:spLocks noGrp="1" noChangeArrowheads="1"/>
          </p:cNvSpPr>
          <p:nvPr>
            <p:ph type="title"/>
          </p:nvPr>
        </p:nvSpPr>
        <p:spPr>
          <a:xfrm>
            <a:off x="2599512" y="121920"/>
            <a:ext cx="7917024" cy="566312"/>
          </a:xfrm>
        </p:spPr>
        <p:txBody>
          <a:bodyPr/>
          <a:lstStyle/>
          <a:p>
            <a:pPr eaLnBrk="1" hangingPunct="1"/>
            <a:r>
              <a:rPr lang="en-US" altLang="en-US" sz="2400" dirty="0"/>
              <a:t>Multiple-Processor Scheduling – Load Balancing</a:t>
            </a:r>
          </a:p>
        </p:txBody>
      </p:sp>
      <p:sp>
        <p:nvSpPr>
          <p:cNvPr id="78850" name="Rectangle 3">
            <a:extLst>
              <a:ext uri="{FF2B5EF4-FFF2-40B4-BE49-F238E27FC236}">
                <a16:creationId xmlns:a16="http://schemas.microsoft.com/office/drawing/2014/main" id="{820781A6-111F-4348-AA18-D0475B89840C}"/>
              </a:ext>
            </a:extLst>
          </p:cNvPr>
          <p:cNvSpPr>
            <a:spLocks noGrp="1" noChangeArrowheads="1"/>
          </p:cNvSpPr>
          <p:nvPr>
            <p:ph type="body" idx="1"/>
          </p:nvPr>
        </p:nvSpPr>
        <p:spPr>
          <a:xfrm>
            <a:off x="1386348" y="1030289"/>
            <a:ext cx="8819786" cy="4699952"/>
          </a:xfrm>
        </p:spPr>
        <p:txBody>
          <a:bodyPr/>
          <a:lstStyle/>
          <a:p>
            <a:r>
              <a:rPr lang="en-US" altLang="en-US" sz="2000" dirty="0"/>
              <a:t>If SMP, need to keep all CPUs loaded for efficiency</a:t>
            </a:r>
          </a:p>
          <a:p>
            <a:r>
              <a:rPr lang="en-US" altLang="en-US" sz="2000" b="1" dirty="0">
                <a:solidFill>
                  <a:srgbClr val="006699"/>
                </a:solidFill>
                <a:latin typeface="+mj-lt"/>
              </a:rPr>
              <a:t>Load</a:t>
            </a:r>
            <a:r>
              <a:rPr lang="en-US" altLang="en-US" sz="2000" b="1" dirty="0">
                <a:solidFill>
                  <a:srgbClr val="3366FF"/>
                </a:solidFill>
              </a:rPr>
              <a:t> </a:t>
            </a:r>
            <a:r>
              <a:rPr lang="en-US" altLang="en-US" sz="2000" b="1" dirty="0">
                <a:solidFill>
                  <a:srgbClr val="006699"/>
                </a:solidFill>
                <a:latin typeface="+mj-lt"/>
              </a:rPr>
              <a:t>balancing</a:t>
            </a:r>
            <a:r>
              <a:rPr lang="en-US" altLang="en-US" sz="2000" b="1" dirty="0">
                <a:solidFill>
                  <a:srgbClr val="3366FF"/>
                </a:solidFill>
              </a:rPr>
              <a:t> </a:t>
            </a:r>
            <a:r>
              <a:rPr lang="en-US" altLang="en-US" sz="2000" dirty="0"/>
              <a:t>attempts to keep workload evenly distributed</a:t>
            </a:r>
          </a:p>
          <a:p>
            <a:r>
              <a:rPr lang="en-US" altLang="en-US" sz="2000" b="1" dirty="0">
                <a:solidFill>
                  <a:srgbClr val="006699"/>
                </a:solidFill>
                <a:latin typeface="+mj-lt"/>
              </a:rPr>
              <a:t>Push</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periodic task checks load on each processor, and if found pushes task from overloaded CPU to other CPUs</a:t>
            </a:r>
            <a:endParaRPr lang="en-US" altLang="en-US" sz="2000" b="1" dirty="0">
              <a:solidFill>
                <a:srgbClr val="3366FF"/>
              </a:solidFill>
            </a:endParaRPr>
          </a:p>
          <a:p>
            <a:r>
              <a:rPr lang="en-US" altLang="en-US" sz="2000" b="1" dirty="0">
                <a:solidFill>
                  <a:srgbClr val="006699"/>
                </a:solidFill>
                <a:latin typeface="+mj-lt"/>
              </a:rPr>
              <a:t>Pull</a:t>
            </a:r>
            <a:r>
              <a:rPr lang="en-US" altLang="en-US" sz="2000" b="1" dirty="0">
                <a:solidFill>
                  <a:srgbClr val="3366FF"/>
                </a:solidFill>
              </a:rPr>
              <a:t> </a:t>
            </a:r>
            <a:r>
              <a:rPr lang="en-US" altLang="en-US" sz="2000" b="1" dirty="0">
                <a:solidFill>
                  <a:srgbClr val="006699"/>
                </a:solidFill>
                <a:latin typeface="+mj-lt"/>
              </a:rPr>
              <a:t>migration</a:t>
            </a:r>
            <a:r>
              <a:rPr lang="en-US" altLang="en-US" sz="2000" b="1" dirty="0">
                <a:solidFill>
                  <a:srgbClr val="3366FF"/>
                </a:solidFill>
              </a:rPr>
              <a:t> </a:t>
            </a:r>
            <a:r>
              <a:rPr lang="en-US" altLang="en-US" sz="2000" dirty="0"/>
              <a:t>– idle processors pulls waiting task from busy processor</a:t>
            </a:r>
          </a:p>
          <a:p>
            <a:endParaRPr lang="en-US" alt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4A39CD83-8114-4F93-99FA-773F54549A49}"/>
              </a:ext>
            </a:extLst>
          </p:cNvPr>
          <p:cNvSpPr>
            <a:spLocks noGrp="1" noChangeArrowheads="1"/>
          </p:cNvSpPr>
          <p:nvPr>
            <p:ph type="title"/>
          </p:nvPr>
        </p:nvSpPr>
        <p:spPr>
          <a:xfrm>
            <a:off x="2506029" y="142240"/>
            <a:ext cx="8253411" cy="535832"/>
          </a:xfrm>
        </p:spPr>
        <p:txBody>
          <a:bodyPr/>
          <a:lstStyle/>
          <a:p>
            <a:pPr eaLnBrk="1" hangingPunct="1"/>
            <a:r>
              <a:rPr lang="en-US" altLang="en-US" sz="2400" dirty="0"/>
              <a:t>Multiple-Processor Scheduling – Processor Affinity</a:t>
            </a:r>
          </a:p>
        </p:txBody>
      </p:sp>
      <p:sp>
        <p:nvSpPr>
          <p:cNvPr id="80898" name="Rectangle 3">
            <a:extLst>
              <a:ext uri="{FF2B5EF4-FFF2-40B4-BE49-F238E27FC236}">
                <a16:creationId xmlns:a16="http://schemas.microsoft.com/office/drawing/2014/main" id="{94EFBBBE-DEF2-46B3-983A-153F37FA81BA}"/>
              </a:ext>
            </a:extLst>
          </p:cNvPr>
          <p:cNvSpPr>
            <a:spLocks noGrp="1" noChangeArrowheads="1"/>
          </p:cNvSpPr>
          <p:nvPr>
            <p:ph type="body" idx="1"/>
          </p:nvPr>
        </p:nvSpPr>
        <p:spPr>
          <a:xfrm>
            <a:off x="678426" y="1070929"/>
            <a:ext cx="11105535" cy="4808537"/>
          </a:xfrm>
        </p:spPr>
        <p:txBody>
          <a:bodyPr/>
          <a:lstStyle/>
          <a:p>
            <a:r>
              <a:rPr lang="en-US" altLang="en-US" sz="2000" dirty="0"/>
              <a:t>When a thread has been running on one processor, the cache contents of that processor stores the memory accesses by that thread.</a:t>
            </a:r>
          </a:p>
          <a:p>
            <a:r>
              <a:rPr lang="en-US" altLang="en-US" sz="2000" dirty="0"/>
              <a:t>We refer to this as a thread having affinity for a processor (i.e., “processor affinity”)</a:t>
            </a:r>
          </a:p>
          <a:p>
            <a:r>
              <a:rPr lang="en-US" altLang="en-US" sz="2000" dirty="0"/>
              <a:t>Load balancing may affect processor affinity as a thread may be moved from one processor to another to balance loads, yet that thread loses the contents of what it had in the cache of the processor it was moved off of.</a:t>
            </a:r>
          </a:p>
          <a:p>
            <a:r>
              <a:rPr lang="en-US" altLang="en-US" sz="2000" b="1" dirty="0"/>
              <a:t>Soft affinity </a:t>
            </a:r>
            <a:r>
              <a:rPr lang="en-US" altLang="en-US" sz="2000" dirty="0"/>
              <a:t>– the operating system attempts to keep a thread running on the same processor, but no guarantees.</a:t>
            </a:r>
          </a:p>
          <a:p>
            <a:r>
              <a:rPr lang="en-US" altLang="en-US" sz="2000" b="1" dirty="0"/>
              <a:t>Hard affinity </a:t>
            </a:r>
            <a:r>
              <a:rPr lang="en-US" altLang="en-US" sz="2000" dirty="0"/>
              <a:t>– allows a process to specify a set of processors it may run on.</a:t>
            </a:r>
          </a:p>
          <a:p>
            <a:endParaRPr lang="en-US" alt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F506B49-8507-4B53-82D1-3323C7D17F8E}"/>
              </a:ext>
            </a:extLst>
          </p:cNvPr>
          <p:cNvSpPr>
            <a:spLocks noGrp="1"/>
          </p:cNvSpPr>
          <p:nvPr>
            <p:ph type="title"/>
          </p:nvPr>
        </p:nvSpPr>
        <p:spPr>
          <a:xfrm>
            <a:off x="2643188" y="91440"/>
            <a:ext cx="7567612" cy="653468"/>
          </a:xfrm>
        </p:spPr>
        <p:txBody>
          <a:bodyPr/>
          <a:lstStyle/>
          <a:p>
            <a:pPr eaLnBrk="1" hangingPunct="1"/>
            <a:r>
              <a:rPr lang="en-US" altLang="en-US" dirty="0"/>
              <a:t>NUMA and CPU Scheduling</a:t>
            </a:r>
          </a:p>
        </p:txBody>
      </p:sp>
      <p:pic>
        <p:nvPicPr>
          <p:cNvPr id="82946" name="Picture 1" descr="6_09.pdf">
            <a:extLst>
              <a:ext uri="{FF2B5EF4-FFF2-40B4-BE49-F238E27FC236}">
                <a16:creationId xmlns:a16="http://schemas.microsoft.com/office/drawing/2014/main" id="{980E063E-45DD-4BA6-BC11-815B31E3F0B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83367" y="1696305"/>
            <a:ext cx="7827433" cy="4766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7" name="TextBox 1">
            <a:extLst>
              <a:ext uri="{FF2B5EF4-FFF2-40B4-BE49-F238E27FC236}">
                <a16:creationId xmlns:a16="http://schemas.microsoft.com/office/drawing/2014/main" id="{D8060294-AB44-4240-A269-8D0E3CF3A7C3}"/>
              </a:ext>
            </a:extLst>
          </p:cNvPr>
          <p:cNvSpPr txBox="1">
            <a:spLocks noChangeArrowheads="1"/>
          </p:cNvSpPr>
          <p:nvPr/>
        </p:nvSpPr>
        <p:spPr bwMode="auto">
          <a:xfrm>
            <a:off x="1356852" y="1049974"/>
            <a:ext cx="939472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cs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0"/>
              </a:spcBef>
              <a:buClrTx/>
              <a:buSzTx/>
              <a:buFontTx/>
              <a:buNone/>
            </a:pPr>
            <a:r>
              <a:rPr kumimoji="0" lang="en-US" altLang="en-US" sz="2000" dirty="0">
                <a:latin typeface="+mn-lt"/>
              </a:rPr>
              <a:t>If the operating system is </a:t>
            </a:r>
            <a:r>
              <a:rPr kumimoji="0" lang="en-US" altLang="en-US" sz="2000" b="1" dirty="0">
                <a:latin typeface="+mn-lt"/>
              </a:rPr>
              <a:t>NUMA-aware</a:t>
            </a:r>
            <a:r>
              <a:rPr kumimoji="0" lang="en-US" altLang="en-US" sz="2000" dirty="0">
                <a:latin typeface="+mn-lt"/>
              </a:rPr>
              <a:t>, it will assign memory closes to the CPU the thread is running on.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F2E0C1D0-A1A4-4022-95CF-B15DED9ADA75}"/>
              </a:ext>
            </a:extLst>
          </p:cNvPr>
          <p:cNvSpPr>
            <a:spLocks noGrp="1" noChangeArrowheads="1"/>
          </p:cNvSpPr>
          <p:nvPr>
            <p:ph type="ctrTitle"/>
          </p:nvPr>
        </p:nvSpPr>
        <p:spPr/>
        <p:txBody>
          <a:bodyPr/>
          <a:lstStyle/>
          <a:p>
            <a:pPr eaLnBrk="1" hangingPunct="1"/>
            <a:r>
              <a:rPr lang="en-US" altLang="en-US" dirty="0"/>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13636</TotalTime>
  <Words>2524</Words>
  <Application>Microsoft Office PowerPoint</Application>
  <PresentationFormat>Widescreen</PresentationFormat>
  <Paragraphs>373</Paragraphs>
  <Slides>45</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45</vt:i4>
      </vt:variant>
    </vt:vector>
  </HeadingPairs>
  <TitlesOfParts>
    <vt:vector size="54" baseType="lpstr">
      <vt:lpstr>Arial</vt:lpstr>
      <vt:lpstr>Helvetica</vt:lpstr>
      <vt:lpstr>Lucida Grande</vt:lpstr>
      <vt:lpstr>Monotype Sorts</vt:lpstr>
      <vt:lpstr>Times New Roman</vt:lpstr>
      <vt:lpstr>Verdana</vt:lpstr>
      <vt:lpstr>Webdings</vt:lpstr>
      <vt:lpstr>Wingdings</vt:lpstr>
      <vt:lpstr>os-8</vt:lpstr>
      <vt:lpstr>Chapter 5:  CPU Scheduling</vt:lpstr>
      <vt:lpstr>Outline</vt:lpstr>
      <vt:lpstr>Objectives</vt:lpstr>
      <vt:lpstr>Basic Concepts</vt:lpstr>
      <vt:lpstr>Histogram of CPU-burst Times</vt:lpstr>
      <vt:lpstr>CPU Scheduler</vt:lpstr>
      <vt:lpstr>Preemptive and Nonpreemptive Scheduling</vt:lpstr>
      <vt:lpstr>Preemptive Scheduling and Race Conditions</vt:lpstr>
      <vt:lpstr>Dispatcher</vt:lpstr>
      <vt:lpstr>Scheduling Criteria</vt:lpstr>
      <vt:lpstr>Scheduling Algorithm Optimization Criteria</vt:lpstr>
      <vt:lpstr>First- Come, First-Served (FCFS) Scheduling</vt:lpstr>
      <vt:lpstr>FCFS Scheduling (Cont.)</vt:lpstr>
      <vt:lpstr>Shortest-Job-First (SJF) Scheduling</vt:lpstr>
      <vt:lpstr>Example of Non-Preemptive SJF</vt:lpstr>
      <vt:lpstr>Example of Preemptive SJF Example of Shortest-remaining-time-first</vt:lpstr>
      <vt:lpstr>Example of Shortest-remaining-time-first</vt:lpstr>
      <vt:lpstr>Determining Length of Next CPU Burst</vt:lpstr>
      <vt:lpstr>Prediction of the Length of the Next CPU Burst</vt:lpstr>
      <vt:lpstr>Examples of Exponential Averaging</vt:lpstr>
      <vt:lpstr>Shortest Remaining Time First Scheduling</vt:lpstr>
      <vt:lpstr>Round Robin (RR)</vt:lpstr>
      <vt:lpstr>Example of RR with Time Quantum = 4</vt:lpstr>
      <vt:lpstr>Time Quantum and Context Switch Time</vt:lpstr>
      <vt:lpstr>Turnaround Time Varies With The Time Quantum</vt:lpstr>
      <vt:lpstr>Priority Scheduling</vt:lpstr>
      <vt:lpstr>Example of Priority Scheduling</vt:lpstr>
      <vt:lpstr>Priority Scheduling w/ Round-Robin</vt:lpstr>
      <vt:lpstr>Multilevel Queue</vt:lpstr>
      <vt:lpstr>Multilevel Queue</vt:lpstr>
      <vt:lpstr>Multilevel Queue</vt:lpstr>
      <vt:lpstr>Multilevel Feedback Queue</vt:lpstr>
      <vt:lpstr>Example of Multilevel Feedback Queue</vt:lpstr>
      <vt:lpstr>Thread Scheduling</vt:lpstr>
      <vt:lpstr>Pthread Scheduling</vt:lpstr>
      <vt:lpstr>Multiple-Processor Scheduling</vt:lpstr>
      <vt:lpstr>Multiple-Processor Scheduling</vt:lpstr>
      <vt:lpstr>Multicore Processors</vt:lpstr>
      <vt:lpstr>Multithreaded Multicore System</vt:lpstr>
      <vt:lpstr>Multithreaded Multicore System</vt:lpstr>
      <vt:lpstr>Multithreaded Multicore System</vt:lpstr>
      <vt:lpstr>Multiple-Processor Scheduling – Load Balancing</vt:lpstr>
      <vt:lpstr>Multiple-Processor Scheduling – Processor Affinity</vt:lpstr>
      <vt:lpstr>NUMA and CPU Scheduling</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Usman Ali Shah</cp:lastModifiedBy>
  <cp:revision>283</cp:revision>
  <cp:lastPrinted>2025-10-16T12:47:13Z</cp:lastPrinted>
  <dcterms:created xsi:type="dcterms:W3CDTF">2011-01-13T23:43:38Z</dcterms:created>
  <dcterms:modified xsi:type="dcterms:W3CDTF">2026-03-22T07:15:44Z</dcterms:modified>
</cp:coreProperties>
</file>