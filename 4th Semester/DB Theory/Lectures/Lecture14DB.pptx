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81" r:id="rId3"/>
    <p:sldId id="282" r:id="rId4"/>
    <p:sldId id="306" r:id="rId5"/>
    <p:sldId id="307" r:id="rId6"/>
    <p:sldId id="30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6BFE-8D3E-9630-0823-731F270C8C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B92005-20F2-BB88-ADA2-0C6FA42F30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87E460-F9AC-F1FA-3921-9455B202923D}"/>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5" name="Footer Placeholder 4">
            <a:extLst>
              <a:ext uri="{FF2B5EF4-FFF2-40B4-BE49-F238E27FC236}">
                <a16:creationId xmlns:a16="http://schemas.microsoft.com/office/drawing/2014/main" id="{4D829A9B-3462-4AE0-13E1-8334049C9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D8082-97B9-BFDC-D2A4-4047BC095184}"/>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2835475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DA7E3-EA45-9B2F-30BA-6146C12B99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EF8C67-F281-FC75-DFC9-17E7FCA309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C99A0-C60D-5657-5BBB-72F9EDCEF4BA}"/>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5" name="Footer Placeholder 4">
            <a:extLst>
              <a:ext uri="{FF2B5EF4-FFF2-40B4-BE49-F238E27FC236}">
                <a16:creationId xmlns:a16="http://schemas.microsoft.com/office/drawing/2014/main" id="{80A05015-36BC-6FB8-D46E-FBFF2D9D9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A203F-5B10-5691-92D4-0F9D79920A0B}"/>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418912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D5311-4431-25BC-F1CB-9DCBFE2F60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05A854-A860-A799-8415-EA8769F778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111CA5-944C-DF9B-D21E-3E54C8C0CD9C}"/>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5" name="Footer Placeholder 4">
            <a:extLst>
              <a:ext uri="{FF2B5EF4-FFF2-40B4-BE49-F238E27FC236}">
                <a16:creationId xmlns:a16="http://schemas.microsoft.com/office/drawing/2014/main" id="{70380CED-8D48-8F34-DC8D-CCA051A30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22374D-7098-C48D-69A5-530128C9CAC3}"/>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1186234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CBEE0-156B-F523-3639-4FBB655767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BE3175-E662-45FC-54DF-4BEF3C694A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70D9D9-8971-A009-B006-1EF3A4B8CA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979D6C-D640-DA50-9BE8-CF6ACFFF8DF2}"/>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6" name="Footer Placeholder 5">
            <a:extLst>
              <a:ext uri="{FF2B5EF4-FFF2-40B4-BE49-F238E27FC236}">
                <a16:creationId xmlns:a16="http://schemas.microsoft.com/office/drawing/2014/main" id="{C9C2BDFD-DC93-A323-8444-66D97960D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7AEFC-519F-03F7-176D-5FD6E26B897E}"/>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509600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9612-67BF-1C00-D28F-FE6AA2E06E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3FF6F2-5B6A-90BC-C159-FFF7B5DB7E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014F4B-67AE-307E-B235-E54EBCC7A3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146ABC-730C-F388-6E85-0E22C807D7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1404CD-39B9-2C68-9330-DCA29CC94F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561327-CBD3-B0E6-EE0C-F59B90B1D48F}"/>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8" name="Footer Placeholder 7">
            <a:extLst>
              <a:ext uri="{FF2B5EF4-FFF2-40B4-BE49-F238E27FC236}">
                <a16:creationId xmlns:a16="http://schemas.microsoft.com/office/drawing/2014/main" id="{E355A6A0-5300-CE87-B2DC-5033CC4146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F18697-DC05-8F46-377E-567FDFAE8EE3}"/>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87392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DA2E-EDB6-A27C-CF45-F121593112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9F440C-66CE-755F-8146-B99F2E713C8A}"/>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4" name="Footer Placeholder 3">
            <a:extLst>
              <a:ext uri="{FF2B5EF4-FFF2-40B4-BE49-F238E27FC236}">
                <a16:creationId xmlns:a16="http://schemas.microsoft.com/office/drawing/2014/main" id="{D7274064-D4D6-D29B-4BA0-21F03E1172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D56AE4-3212-F7AD-FB88-8565B888242F}"/>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3781916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EB249-33F3-30BE-5548-549F6A4B7F97}"/>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3" name="Footer Placeholder 2">
            <a:extLst>
              <a:ext uri="{FF2B5EF4-FFF2-40B4-BE49-F238E27FC236}">
                <a16:creationId xmlns:a16="http://schemas.microsoft.com/office/drawing/2014/main" id="{76737A48-0E86-7CE7-03E7-53F709850C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376742-D623-DE00-BAD6-0C44421FAD1F}"/>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2448224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A83EB-444E-73CC-B87F-3B06C3C567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55C033-3014-3025-F544-03F2BD75C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1D473D-333C-1FEA-B439-8EC195CE89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54BE8-7069-C50D-DE51-DB73645C6F1B}"/>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6" name="Footer Placeholder 5">
            <a:extLst>
              <a:ext uri="{FF2B5EF4-FFF2-40B4-BE49-F238E27FC236}">
                <a16:creationId xmlns:a16="http://schemas.microsoft.com/office/drawing/2014/main" id="{8A791C86-C3E9-C00E-FA0E-31D84458C3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065F80-C2FC-10A6-7A04-DEE7921A909A}"/>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425512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5CF8-E0C0-ACB8-2123-9D189A2DA3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C0B83C-7D8B-4075-57AB-78D2E1DD70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72BD8F-007D-7166-3D37-2A503104C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3BF09B-5AAC-5CDD-2784-ACF43CCD03F4}"/>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6" name="Footer Placeholder 5">
            <a:extLst>
              <a:ext uri="{FF2B5EF4-FFF2-40B4-BE49-F238E27FC236}">
                <a16:creationId xmlns:a16="http://schemas.microsoft.com/office/drawing/2014/main" id="{8B376D06-4A49-D3CA-4B41-B120EF0D52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8A51DA-FF8F-8B7D-9D21-EA9202282785}"/>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1970526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1130-CFDA-8F49-4C80-3D4DB1E538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B1D7FD-6DAD-5C1C-AF29-6BCF2FA511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16FB80-01D2-2B5C-2B67-703197E038B7}"/>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5" name="Footer Placeholder 4">
            <a:extLst>
              <a:ext uri="{FF2B5EF4-FFF2-40B4-BE49-F238E27FC236}">
                <a16:creationId xmlns:a16="http://schemas.microsoft.com/office/drawing/2014/main" id="{33152373-F114-A71E-D787-CCF222F9D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510D13-A9B2-80AE-81FA-C3D89921487A}"/>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1428441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D1C3A9-586E-182B-DBBE-8C5BFC149D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4194BF-C3FA-EDED-54A1-D416156EC0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621EB1-241C-967D-F458-314497A1B007}"/>
              </a:ext>
            </a:extLst>
          </p:cNvPr>
          <p:cNvSpPr>
            <a:spLocks noGrp="1"/>
          </p:cNvSpPr>
          <p:nvPr>
            <p:ph type="dt" sz="half" idx="10"/>
          </p:nvPr>
        </p:nvSpPr>
        <p:spPr/>
        <p:txBody>
          <a:bodyPr/>
          <a:lstStyle/>
          <a:p>
            <a:fld id="{274ED439-FA4D-48A4-BA4E-404F1B4C7F2E}" type="datetimeFigureOut">
              <a:rPr lang="en-US" smtClean="0"/>
              <a:t>4/12/2025</a:t>
            </a:fld>
            <a:endParaRPr lang="en-US"/>
          </a:p>
        </p:txBody>
      </p:sp>
      <p:sp>
        <p:nvSpPr>
          <p:cNvPr id="5" name="Footer Placeholder 4">
            <a:extLst>
              <a:ext uri="{FF2B5EF4-FFF2-40B4-BE49-F238E27FC236}">
                <a16:creationId xmlns:a16="http://schemas.microsoft.com/office/drawing/2014/main" id="{0AF494C0-30C6-FE87-5DA0-6AE821949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02102C-3D01-893A-E44F-2D3BDA7E932C}"/>
              </a:ext>
            </a:extLst>
          </p:cNvPr>
          <p:cNvSpPr>
            <a:spLocks noGrp="1"/>
          </p:cNvSpPr>
          <p:nvPr>
            <p:ph type="sldNum" sz="quarter" idx="12"/>
          </p:nvPr>
        </p:nvSpPr>
        <p:spPr/>
        <p:txBody>
          <a:bodyPr/>
          <a:lstStyle/>
          <a:p>
            <a:fld id="{F7F0C9F7-7AA2-4BEF-9AC6-BB56D5841849}" type="slidenum">
              <a:rPr lang="en-US" smtClean="0"/>
              <a:t>‹#›</a:t>
            </a:fld>
            <a:endParaRPr lang="en-US"/>
          </a:p>
        </p:txBody>
      </p:sp>
    </p:spTree>
    <p:extLst>
      <p:ext uri="{BB962C8B-B14F-4D97-AF65-F5344CB8AC3E}">
        <p14:creationId xmlns:p14="http://schemas.microsoft.com/office/powerpoint/2010/main" val="4083226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CAAE6-0116-5964-7F2E-47B8E21796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13BF5-1E19-012E-C5AA-AC47F8B91F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0E3D9-DF7D-2C2D-716A-5F6C7D58CA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4ED439-FA4D-48A4-BA4E-404F1B4C7F2E}" type="datetimeFigureOut">
              <a:rPr lang="en-US" smtClean="0"/>
              <a:t>4/12/2025</a:t>
            </a:fld>
            <a:endParaRPr lang="en-US"/>
          </a:p>
        </p:txBody>
      </p:sp>
      <p:sp>
        <p:nvSpPr>
          <p:cNvPr id="5" name="Footer Placeholder 4">
            <a:extLst>
              <a:ext uri="{FF2B5EF4-FFF2-40B4-BE49-F238E27FC236}">
                <a16:creationId xmlns:a16="http://schemas.microsoft.com/office/drawing/2014/main" id="{A327C40B-EC77-B11C-7DF4-5E8667F5BD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4DE580-348C-95AB-4F56-4DF9BB774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F0C9F7-7AA2-4BEF-9AC6-BB56D5841849}" type="slidenum">
              <a:rPr lang="en-US" smtClean="0"/>
              <a:t>‹#›</a:t>
            </a:fld>
            <a:endParaRPr lang="en-US"/>
          </a:p>
        </p:txBody>
      </p:sp>
    </p:spTree>
    <p:extLst>
      <p:ext uri="{BB962C8B-B14F-4D97-AF65-F5344CB8AC3E}">
        <p14:creationId xmlns:p14="http://schemas.microsoft.com/office/powerpoint/2010/main" val="2341970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20DC-5D49-5D3E-D64E-0B2711ECD850}"/>
              </a:ext>
            </a:extLst>
          </p:cNvPr>
          <p:cNvSpPr>
            <a:spLocks noGrp="1"/>
          </p:cNvSpPr>
          <p:nvPr>
            <p:ph type="title"/>
          </p:nvPr>
        </p:nvSpPr>
        <p:spPr/>
        <p:txBody>
          <a:bodyPr/>
          <a:lstStyle/>
          <a:p>
            <a:r>
              <a:rPr lang="en-US" b="1" dirty="0"/>
              <a:t>Boyce-Codd Normal Form (BCNF)</a:t>
            </a:r>
            <a:endParaRPr lang="en-US" dirty="0"/>
          </a:p>
        </p:txBody>
      </p:sp>
      <p:sp>
        <p:nvSpPr>
          <p:cNvPr id="5" name="Slide Number Placeholder 4">
            <a:extLst>
              <a:ext uri="{FF2B5EF4-FFF2-40B4-BE49-F238E27FC236}">
                <a16:creationId xmlns:a16="http://schemas.microsoft.com/office/drawing/2014/main" id="{67FE2D09-7431-7A1F-04F5-2102A937F1B7}"/>
              </a:ext>
            </a:extLst>
          </p:cNvPr>
          <p:cNvSpPr>
            <a:spLocks noGrp="1"/>
          </p:cNvSpPr>
          <p:nvPr>
            <p:ph type="sldNum" sz="quarter" idx="12"/>
          </p:nvPr>
        </p:nvSpPr>
        <p:spPr/>
        <p:txBody>
          <a:bodyPr/>
          <a:lstStyle/>
          <a:p>
            <a:fld id="{730D99DD-0FD7-4FE1-9C2D-B50BA73855FC}" type="slidenum">
              <a:rPr lang="en-US" smtClean="0"/>
              <a:t>1</a:t>
            </a:fld>
            <a:endParaRPr lang="en-US"/>
          </a:p>
        </p:txBody>
      </p:sp>
      <p:sp>
        <p:nvSpPr>
          <p:cNvPr id="8" name="Content Placeholder 7">
            <a:extLst>
              <a:ext uri="{FF2B5EF4-FFF2-40B4-BE49-F238E27FC236}">
                <a16:creationId xmlns:a16="http://schemas.microsoft.com/office/drawing/2014/main" id="{FD133D67-2C2A-B38B-A85F-DD1EBC38AAA5}"/>
              </a:ext>
            </a:extLst>
          </p:cNvPr>
          <p:cNvSpPr>
            <a:spLocks noGrp="1"/>
          </p:cNvSpPr>
          <p:nvPr>
            <p:ph idx="1"/>
          </p:nvPr>
        </p:nvSpPr>
        <p:spPr>
          <a:xfrm>
            <a:off x="838200" y="1389789"/>
            <a:ext cx="10515600" cy="1603375"/>
          </a:xfrm>
        </p:spPr>
        <p:txBody>
          <a:bodyPr>
            <a:normAutofit/>
          </a:bodyPr>
          <a:lstStyle/>
          <a:p>
            <a:r>
              <a:rPr lang="en-US" b="0" i="0" dirty="0">
                <a:solidFill>
                  <a:srgbClr val="1F1F1F"/>
                </a:solidFill>
                <a:effectLst/>
                <a:latin typeface="+mj-lt"/>
              </a:rPr>
              <a:t>BCNF is </a:t>
            </a:r>
            <a:r>
              <a:rPr lang="en-US" b="0" i="0" dirty="0">
                <a:solidFill>
                  <a:srgbClr val="040C28"/>
                </a:solidFill>
                <a:effectLst/>
                <a:latin typeface="+mj-lt"/>
              </a:rPr>
              <a:t>a stricter form of 3NF that ensures that each determinant in a table is a candidate key</a:t>
            </a:r>
            <a:r>
              <a:rPr lang="en-US" b="0" i="0" dirty="0">
                <a:solidFill>
                  <a:srgbClr val="1F1F1F"/>
                </a:solidFill>
                <a:effectLst/>
                <a:latin typeface="+mj-lt"/>
              </a:rPr>
              <a:t>. </a:t>
            </a:r>
          </a:p>
          <a:p>
            <a:r>
              <a:rPr lang="en-US" dirty="0">
                <a:latin typeface="+mj-lt"/>
              </a:rPr>
              <a:t>Consider a relation R with attributes (student, subject, teacher).</a:t>
            </a:r>
          </a:p>
        </p:txBody>
      </p:sp>
      <p:graphicFrame>
        <p:nvGraphicFramePr>
          <p:cNvPr id="9" name="Content Placeholder 5">
            <a:extLst>
              <a:ext uri="{FF2B5EF4-FFF2-40B4-BE49-F238E27FC236}">
                <a16:creationId xmlns:a16="http://schemas.microsoft.com/office/drawing/2014/main" id="{624B5E93-96B5-427B-90E7-2391760E1D10}"/>
              </a:ext>
            </a:extLst>
          </p:cNvPr>
          <p:cNvGraphicFramePr>
            <a:graphicFrameLocks/>
          </p:cNvGraphicFramePr>
          <p:nvPr/>
        </p:nvGraphicFramePr>
        <p:xfrm>
          <a:off x="1204958" y="3258411"/>
          <a:ext cx="5093292" cy="2209800"/>
        </p:xfrm>
        <a:graphic>
          <a:graphicData uri="http://schemas.openxmlformats.org/drawingml/2006/table">
            <a:tbl>
              <a:tblPr/>
              <a:tblGrid>
                <a:gridCol w="1697764">
                  <a:extLst>
                    <a:ext uri="{9D8B030D-6E8A-4147-A177-3AD203B41FA5}">
                      <a16:colId xmlns:a16="http://schemas.microsoft.com/office/drawing/2014/main" val="4051913954"/>
                    </a:ext>
                  </a:extLst>
                </a:gridCol>
                <a:gridCol w="1697764">
                  <a:extLst>
                    <a:ext uri="{9D8B030D-6E8A-4147-A177-3AD203B41FA5}">
                      <a16:colId xmlns:a16="http://schemas.microsoft.com/office/drawing/2014/main" val="1553099585"/>
                    </a:ext>
                  </a:extLst>
                </a:gridCol>
                <a:gridCol w="1697764">
                  <a:extLst>
                    <a:ext uri="{9D8B030D-6E8A-4147-A177-3AD203B41FA5}">
                      <a16:colId xmlns:a16="http://schemas.microsoft.com/office/drawing/2014/main" val="23333812"/>
                    </a:ext>
                  </a:extLst>
                </a:gridCol>
              </a:tblGrid>
              <a:tr h="381924">
                <a:tc>
                  <a:txBody>
                    <a:bodyPr/>
                    <a:lstStyle/>
                    <a:p>
                      <a:pPr algn="ctr"/>
                      <a:r>
                        <a:rPr lang="en-US" b="1" dirty="0">
                          <a:solidFill>
                            <a:srgbClr val="000000"/>
                          </a:solidFill>
                          <a:effectLst/>
                          <a:latin typeface="inherit"/>
                        </a:rPr>
                        <a:t>Student</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tc>
                  <a:txBody>
                    <a:bodyPr/>
                    <a:lstStyle/>
                    <a:p>
                      <a:pPr algn="ctr"/>
                      <a:r>
                        <a:rPr lang="en-US" b="1">
                          <a:solidFill>
                            <a:srgbClr val="000000"/>
                          </a:solidFill>
                          <a:effectLst/>
                          <a:latin typeface="inherit"/>
                        </a:rPr>
                        <a:t>Teacher</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tc>
                  <a:txBody>
                    <a:bodyPr/>
                    <a:lstStyle/>
                    <a:p>
                      <a:pPr algn="ctr"/>
                      <a:r>
                        <a:rPr lang="en-US" b="1">
                          <a:solidFill>
                            <a:srgbClr val="000000"/>
                          </a:solidFill>
                          <a:effectLst/>
                          <a:latin typeface="inherit"/>
                        </a:rPr>
                        <a:t>Subject</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extLst>
                  <a:ext uri="{0D108BD9-81ED-4DB2-BD59-A6C34878D82A}">
                    <a16:rowId xmlns:a16="http://schemas.microsoft.com/office/drawing/2014/main" val="203010328"/>
                  </a:ext>
                </a:extLst>
              </a:tr>
              <a:tr h="324057">
                <a:tc>
                  <a:txBody>
                    <a:bodyPr/>
                    <a:lstStyle/>
                    <a:p>
                      <a:pPr algn="l"/>
                      <a:r>
                        <a:rPr lang="en-US" dirty="0">
                          <a:effectLst/>
                        </a:rPr>
                        <a:t>Ali</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Shoaib</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Database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608931765"/>
                  </a:ext>
                </a:extLst>
              </a:tr>
              <a:tr h="324057">
                <a:tc>
                  <a:txBody>
                    <a:bodyPr/>
                    <a:lstStyle/>
                    <a:p>
                      <a:pPr algn="l"/>
                      <a:r>
                        <a:rPr lang="en-US" dirty="0">
                          <a:effectLst/>
                        </a:rPr>
                        <a:t>Ali</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Algo</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603343275"/>
                  </a:ext>
                </a:extLst>
              </a:tr>
              <a:tr h="324057">
                <a:tc>
                  <a:txBody>
                    <a:bodyPr/>
                    <a:lstStyle/>
                    <a:p>
                      <a:pPr algn="l"/>
                      <a:r>
                        <a:rPr lang="en-US" dirty="0">
                          <a:effectLst/>
                        </a:rPr>
                        <a:t>Ahmad</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Sana</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Database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307893224"/>
                  </a:ext>
                </a:extLst>
              </a:tr>
              <a:tr h="324057">
                <a:tc>
                  <a:txBody>
                    <a:bodyPr/>
                    <a:lstStyle/>
                    <a:p>
                      <a:pPr algn="l"/>
                      <a:r>
                        <a:rPr lang="en-US" dirty="0">
                          <a:effectLst/>
                        </a:rPr>
                        <a:t>Ahmad</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Algo</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511939395"/>
                  </a:ext>
                </a:extLst>
              </a:tr>
            </a:tbl>
          </a:graphicData>
        </a:graphic>
      </p:graphicFrame>
      <p:sp>
        <p:nvSpPr>
          <p:cNvPr id="10" name="Rectangle 1">
            <a:extLst>
              <a:ext uri="{FF2B5EF4-FFF2-40B4-BE49-F238E27FC236}">
                <a16:creationId xmlns:a16="http://schemas.microsoft.com/office/drawing/2014/main" id="{9B19416B-95BF-270C-D653-293E80D8A661}"/>
              </a:ext>
            </a:extLst>
          </p:cNvPr>
          <p:cNvSpPr>
            <a:spLocks noChangeArrowheads="1"/>
          </p:cNvSpPr>
          <p:nvPr/>
        </p:nvSpPr>
        <p:spPr bwMode="auto">
          <a:xfrm>
            <a:off x="7101555" y="3105153"/>
            <a:ext cx="4354795" cy="2807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1" dirty="0">
                <a:solidFill>
                  <a:srgbClr val="000000"/>
                </a:solidFill>
                <a:latin typeface="+mj-lt"/>
              </a:rPr>
              <a:t>Functional Dependencies are:</a:t>
            </a:r>
            <a:endParaRPr kumimoji="0" lang="en-US" altLang="en-US" sz="2800" b="1" i="0" u="none" strike="noStrike" cap="none" normalizeH="0" baseline="0" dirty="0">
              <a:ln>
                <a:noFill/>
              </a:ln>
              <a:solidFill>
                <a:srgbClr val="000000"/>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mj-lt"/>
              </a:rPr>
              <a:t>(student, Teacher) -&gt; subject</a:t>
            </a:r>
            <a:endParaRPr lang="en-US" altLang="en-US" sz="2400" dirty="0">
              <a:solidFill>
                <a:srgbClr val="000000"/>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mj-lt"/>
              </a:rPr>
              <a:t>(student, subject) -&gt; Teacher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mj-lt"/>
              </a:rPr>
              <a:t> Teacher -&gt; subject</a:t>
            </a:r>
            <a:r>
              <a:rPr kumimoji="0" lang="en-US" altLang="en-US" sz="2400"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mj-lt"/>
              </a:rPr>
              <a:t>Candidate keys </a:t>
            </a:r>
            <a:r>
              <a:rPr lang="en-US" altLang="en-US" sz="2400" dirty="0">
                <a:latin typeface="+mj-lt"/>
              </a:rPr>
              <a:t>are (student, teacher) and (student, subject).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0430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F769A-ED2D-3E66-B7DF-1D2403494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D4B82-34A1-E832-A4E6-A0FEF1C72A9C}"/>
              </a:ext>
            </a:extLst>
          </p:cNvPr>
          <p:cNvSpPr>
            <a:spLocks noGrp="1"/>
          </p:cNvSpPr>
          <p:nvPr>
            <p:ph type="title"/>
          </p:nvPr>
        </p:nvSpPr>
        <p:spPr/>
        <p:txBody>
          <a:bodyPr/>
          <a:lstStyle/>
          <a:p>
            <a:r>
              <a:rPr lang="en-US" b="1" dirty="0"/>
              <a:t>Boyce-Codd Normal Form (BCNF)</a:t>
            </a:r>
            <a:endParaRPr lang="en-US" dirty="0"/>
          </a:p>
        </p:txBody>
      </p:sp>
      <p:sp>
        <p:nvSpPr>
          <p:cNvPr id="5" name="Slide Number Placeholder 4">
            <a:extLst>
              <a:ext uri="{FF2B5EF4-FFF2-40B4-BE49-F238E27FC236}">
                <a16:creationId xmlns:a16="http://schemas.microsoft.com/office/drawing/2014/main" id="{7DFAE0DF-6671-E991-6191-68C100135ACD}"/>
              </a:ext>
            </a:extLst>
          </p:cNvPr>
          <p:cNvSpPr>
            <a:spLocks noGrp="1"/>
          </p:cNvSpPr>
          <p:nvPr>
            <p:ph type="sldNum" sz="quarter" idx="12"/>
          </p:nvPr>
        </p:nvSpPr>
        <p:spPr/>
        <p:txBody>
          <a:bodyPr/>
          <a:lstStyle/>
          <a:p>
            <a:fld id="{730D99DD-0FD7-4FE1-9C2D-B50BA73855FC}" type="slidenum">
              <a:rPr lang="en-US" smtClean="0"/>
              <a:t>2</a:t>
            </a:fld>
            <a:endParaRPr lang="en-US"/>
          </a:p>
        </p:txBody>
      </p:sp>
      <p:sp>
        <p:nvSpPr>
          <p:cNvPr id="8" name="Content Placeholder 7">
            <a:extLst>
              <a:ext uri="{FF2B5EF4-FFF2-40B4-BE49-F238E27FC236}">
                <a16:creationId xmlns:a16="http://schemas.microsoft.com/office/drawing/2014/main" id="{D021E2BB-28A5-81C1-F12D-684F3FB6495D}"/>
              </a:ext>
            </a:extLst>
          </p:cNvPr>
          <p:cNvSpPr>
            <a:spLocks noGrp="1"/>
          </p:cNvSpPr>
          <p:nvPr>
            <p:ph idx="1"/>
          </p:nvPr>
        </p:nvSpPr>
        <p:spPr>
          <a:xfrm>
            <a:off x="838200" y="1389789"/>
            <a:ext cx="10515600" cy="1603375"/>
          </a:xfrm>
        </p:spPr>
        <p:txBody>
          <a:bodyPr>
            <a:noAutofit/>
          </a:bodyPr>
          <a:lstStyle/>
          <a:p>
            <a:r>
              <a:rPr lang="en-US" sz="2400" b="0" i="0" dirty="0">
                <a:solidFill>
                  <a:srgbClr val="1F1F1F"/>
                </a:solidFill>
                <a:effectLst/>
                <a:latin typeface="+mj-lt"/>
              </a:rPr>
              <a:t>The given relation is not in BCNF, because in the FD (teacher-&gt;subject), teacher is not a Candidate key. </a:t>
            </a:r>
          </a:p>
          <a:p>
            <a:r>
              <a:rPr lang="en-US" sz="2400" b="0" i="0" dirty="0">
                <a:solidFill>
                  <a:srgbClr val="1F1F1F"/>
                </a:solidFill>
                <a:effectLst/>
                <a:latin typeface="+mj-lt"/>
              </a:rPr>
              <a:t>This relation have an anomalies For example, if we try to delete the student Ahmad, we will lose the information that Sana teaches Database. These difficulties are caused by the fact the teacher is determinant but not a candidate key.</a:t>
            </a:r>
          </a:p>
        </p:txBody>
      </p:sp>
      <p:graphicFrame>
        <p:nvGraphicFramePr>
          <p:cNvPr id="9" name="Content Placeholder 5">
            <a:extLst>
              <a:ext uri="{FF2B5EF4-FFF2-40B4-BE49-F238E27FC236}">
                <a16:creationId xmlns:a16="http://schemas.microsoft.com/office/drawing/2014/main" id="{DBA018E9-F3C2-59D1-5463-7929E004F87E}"/>
              </a:ext>
            </a:extLst>
          </p:cNvPr>
          <p:cNvGraphicFramePr>
            <a:graphicFrameLocks/>
          </p:cNvGraphicFramePr>
          <p:nvPr/>
        </p:nvGraphicFramePr>
        <p:xfrm>
          <a:off x="2242914" y="3499519"/>
          <a:ext cx="7904859" cy="2209800"/>
        </p:xfrm>
        <a:graphic>
          <a:graphicData uri="http://schemas.openxmlformats.org/drawingml/2006/table">
            <a:tbl>
              <a:tblPr/>
              <a:tblGrid>
                <a:gridCol w="2634953">
                  <a:extLst>
                    <a:ext uri="{9D8B030D-6E8A-4147-A177-3AD203B41FA5}">
                      <a16:colId xmlns:a16="http://schemas.microsoft.com/office/drawing/2014/main" val="4051913954"/>
                    </a:ext>
                  </a:extLst>
                </a:gridCol>
                <a:gridCol w="2634953">
                  <a:extLst>
                    <a:ext uri="{9D8B030D-6E8A-4147-A177-3AD203B41FA5}">
                      <a16:colId xmlns:a16="http://schemas.microsoft.com/office/drawing/2014/main" val="1553099585"/>
                    </a:ext>
                  </a:extLst>
                </a:gridCol>
                <a:gridCol w="2634953">
                  <a:extLst>
                    <a:ext uri="{9D8B030D-6E8A-4147-A177-3AD203B41FA5}">
                      <a16:colId xmlns:a16="http://schemas.microsoft.com/office/drawing/2014/main" val="23333812"/>
                    </a:ext>
                  </a:extLst>
                </a:gridCol>
              </a:tblGrid>
              <a:tr h="392310">
                <a:tc>
                  <a:txBody>
                    <a:bodyPr/>
                    <a:lstStyle/>
                    <a:p>
                      <a:pPr algn="ctr"/>
                      <a:r>
                        <a:rPr lang="en-US" b="1" dirty="0">
                          <a:solidFill>
                            <a:srgbClr val="000000"/>
                          </a:solidFill>
                          <a:effectLst/>
                          <a:latin typeface="inherit"/>
                        </a:rPr>
                        <a:t>Student</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tc>
                  <a:txBody>
                    <a:bodyPr/>
                    <a:lstStyle/>
                    <a:p>
                      <a:pPr algn="ctr"/>
                      <a:r>
                        <a:rPr lang="en-US" b="1" dirty="0">
                          <a:solidFill>
                            <a:srgbClr val="000000"/>
                          </a:solidFill>
                          <a:effectLst/>
                          <a:latin typeface="inherit"/>
                        </a:rPr>
                        <a:t>Teacher</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tc>
                  <a:txBody>
                    <a:bodyPr/>
                    <a:lstStyle/>
                    <a:p>
                      <a:pPr algn="ctr"/>
                      <a:r>
                        <a:rPr lang="en-US" b="1">
                          <a:solidFill>
                            <a:srgbClr val="000000"/>
                          </a:solidFill>
                          <a:effectLst/>
                          <a:latin typeface="inherit"/>
                        </a:rPr>
                        <a:t>Subject</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extLst>
                  <a:ext uri="{0D108BD9-81ED-4DB2-BD59-A6C34878D82A}">
                    <a16:rowId xmlns:a16="http://schemas.microsoft.com/office/drawing/2014/main" val="203010328"/>
                  </a:ext>
                </a:extLst>
              </a:tr>
              <a:tr h="332869">
                <a:tc>
                  <a:txBody>
                    <a:bodyPr/>
                    <a:lstStyle/>
                    <a:p>
                      <a:pPr algn="l"/>
                      <a:r>
                        <a:rPr lang="en-US" dirty="0">
                          <a:effectLst/>
                        </a:rPr>
                        <a:t>Ali</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Shoaib</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Database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608931765"/>
                  </a:ext>
                </a:extLst>
              </a:tr>
              <a:tr h="332869">
                <a:tc>
                  <a:txBody>
                    <a:bodyPr/>
                    <a:lstStyle/>
                    <a:p>
                      <a:pPr algn="l"/>
                      <a:r>
                        <a:rPr lang="en-US" dirty="0">
                          <a:effectLst/>
                        </a:rPr>
                        <a:t>Ali</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Algo</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603343275"/>
                  </a:ext>
                </a:extLst>
              </a:tr>
              <a:tr h="332869">
                <a:tc>
                  <a:txBody>
                    <a:bodyPr/>
                    <a:lstStyle/>
                    <a:p>
                      <a:pPr algn="l"/>
                      <a:r>
                        <a:rPr lang="en-US" dirty="0">
                          <a:effectLst/>
                        </a:rPr>
                        <a:t>Ahmad</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Sana</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Database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307893224"/>
                  </a:ext>
                </a:extLst>
              </a:tr>
              <a:tr h="332869">
                <a:tc>
                  <a:txBody>
                    <a:bodyPr/>
                    <a:lstStyle/>
                    <a:p>
                      <a:pPr algn="l"/>
                      <a:r>
                        <a:rPr lang="en-US" dirty="0">
                          <a:effectLst/>
                        </a:rPr>
                        <a:t>Ahmad</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Algo</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511939395"/>
                  </a:ext>
                </a:extLst>
              </a:tr>
            </a:tbl>
          </a:graphicData>
        </a:graphic>
      </p:graphicFrame>
    </p:spTree>
    <p:extLst>
      <p:ext uri="{BB962C8B-B14F-4D97-AF65-F5344CB8AC3E}">
        <p14:creationId xmlns:p14="http://schemas.microsoft.com/office/powerpoint/2010/main" val="2906073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E4AA-FF22-5730-4AD6-4CC5C9B7C80C}"/>
              </a:ext>
            </a:extLst>
          </p:cNvPr>
          <p:cNvSpPr>
            <a:spLocks noGrp="1"/>
          </p:cNvSpPr>
          <p:nvPr>
            <p:ph type="title"/>
          </p:nvPr>
        </p:nvSpPr>
        <p:spPr/>
        <p:txBody>
          <a:bodyPr/>
          <a:lstStyle/>
          <a:p>
            <a:r>
              <a:rPr lang="en-US" b="1" i="0" dirty="0">
                <a:solidFill>
                  <a:srgbClr val="000000"/>
                </a:solidFill>
                <a:effectLst/>
              </a:rPr>
              <a:t>Decomposition for BCNF</a:t>
            </a:r>
            <a:br>
              <a:rPr lang="en-US" b="0" i="0" dirty="0">
                <a:solidFill>
                  <a:srgbClr val="000000"/>
                </a:solidFill>
                <a:effectLst/>
                <a:latin typeface="Lato" panose="020F0502020204030203" pitchFamily="34" charset="0"/>
              </a:rPr>
            </a:br>
            <a:endParaRPr lang="en-US" dirty="0"/>
          </a:p>
        </p:txBody>
      </p:sp>
      <p:sp>
        <p:nvSpPr>
          <p:cNvPr id="3" name="Content Placeholder 2">
            <a:extLst>
              <a:ext uri="{FF2B5EF4-FFF2-40B4-BE49-F238E27FC236}">
                <a16:creationId xmlns:a16="http://schemas.microsoft.com/office/drawing/2014/main" id="{1C141A65-B7C9-45AA-4FC6-450BD80E9751}"/>
              </a:ext>
            </a:extLst>
          </p:cNvPr>
          <p:cNvSpPr>
            <a:spLocks noGrp="1"/>
          </p:cNvSpPr>
          <p:nvPr>
            <p:ph idx="1"/>
          </p:nvPr>
        </p:nvSpPr>
        <p:spPr>
          <a:xfrm>
            <a:off x="641646" y="1253331"/>
            <a:ext cx="10515600" cy="1002759"/>
          </a:xfrm>
        </p:spPr>
        <p:txBody>
          <a:bodyPr>
            <a:normAutofit fontScale="77500" lnSpcReduction="20000"/>
          </a:bodyPr>
          <a:lstStyle/>
          <a:p>
            <a:r>
              <a:rPr lang="en-US" b="0" i="0" dirty="0">
                <a:solidFill>
                  <a:srgbClr val="000000"/>
                </a:solidFill>
                <a:effectLst/>
                <a:latin typeface="+mj-lt"/>
              </a:rPr>
              <a:t>So, R is divided into two relations R1(student, Teacher)</a:t>
            </a:r>
            <a:r>
              <a:rPr lang="en-US" dirty="0">
                <a:solidFill>
                  <a:srgbClr val="000000"/>
                </a:solidFill>
                <a:latin typeface="+mj-lt"/>
              </a:rPr>
              <a:t> and R2(Teacher, subject</a:t>
            </a:r>
            <a:r>
              <a:rPr lang="en-US">
                <a:solidFill>
                  <a:srgbClr val="000000"/>
                </a:solidFill>
                <a:latin typeface="+mj-lt"/>
              </a:rPr>
              <a:t>) </a:t>
            </a:r>
            <a:r>
              <a:rPr lang="en-US" altLang="en-US">
                <a:solidFill>
                  <a:srgbClr val="000000"/>
                </a:solidFill>
                <a:latin typeface="Verdana" panose="020B0604030504040204" pitchFamily="34" charset="0"/>
              </a:rPr>
              <a:t> </a:t>
            </a:r>
            <a:endParaRPr lang="en-US" altLang="en-US" dirty="0">
              <a:solidFill>
                <a:srgbClr val="000000"/>
              </a:solidFill>
              <a:latin typeface="Verdana" panose="020B0604030504040204" pitchFamily="34" charset="0"/>
            </a:endParaRPr>
          </a:p>
          <a:p>
            <a:r>
              <a:rPr lang="en-US" altLang="en-US" dirty="0">
                <a:solidFill>
                  <a:srgbClr val="000000"/>
                </a:solidFill>
                <a:latin typeface="+mj-lt"/>
              </a:rPr>
              <a:t>All the anomalies which were present in R, now removed in the following two relations</a:t>
            </a:r>
            <a:endParaRPr lang="en-US" dirty="0">
              <a:latin typeface="+mj-lt"/>
            </a:endParaRPr>
          </a:p>
        </p:txBody>
      </p:sp>
      <p:sp>
        <p:nvSpPr>
          <p:cNvPr id="5" name="Slide Number Placeholder 4">
            <a:extLst>
              <a:ext uri="{FF2B5EF4-FFF2-40B4-BE49-F238E27FC236}">
                <a16:creationId xmlns:a16="http://schemas.microsoft.com/office/drawing/2014/main" id="{312E7856-72C8-AAA4-17D0-F37D663B1448}"/>
              </a:ext>
            </a:extLst>
          </p:cNvPr>
          <p:cNvSpPr>
            <a:spLocks noGrp="1"/>
          </p:cNvSpPr>
          <p:nvPr>
            <p:ph type="sldNum" sz="quarter" idx="12"/>
          </p:nvPr>
        </p:nvSpPr>
        <p:spPr/>
        <p:txBody>
          <a:bodyPr/>
          <a:lstStyle/>
          <a:p>
            <a:fld id="{730D99DD-0FD7-4FE1-9C2D-B50BA73855FC}" type="slidenum">
              <a:rPr lang="en-US" smtClean="0"/>
              <a:t>3</a:t>
            </a:fld>
            <a:endParaRPr lang="en-US"/>
          </a:p>
        </p:txBody>
      </p:sp>
      <p:graphicFrame>
        <p:nvGraphicFramePr>
          <p:cNvPr id="6" name="Table 5">
            <a:extLst>
              <a:ext uri="{FF2B5EF4-FFF2-40B4-BE49-F238E27FC236}">
                <a16:creationId xmlns:a16="http://schemas.microsoft.com/office/drawing/2014/main" id="{E1057E4C-588E-2D75-94B0-4E43F574B95A}"/>
              </a:ext>
            </a:extLst>
          </p:cNvPr>
          <p:cNvGraphicFramePr>
            <a:graphicFrameLocks noGrp="1"/>
          </p:cNvGraphicFramePr>
          <p:nvPr/>
        </p:nvGraphicFramePr>
        <p:xfrm>
          <a:off x="7125138" y="2847833"/>
          <a:ext cx="3593124" cy="1783080"/>
        </p:xfrm>
        <a:graphic>
          <a:graphicData uri="http://schemas.openxmlformats.org/drawingml/2006/table">
            <a:tbl>
              <a:tblPr/>
              <a:tblGrid>
                <a:gridCol w="1796562">
                  <a:extLst>
                    <a:ext uri="{9D8B030D-6E8A-4147-A177-3AD203B41FA5}">
                      <a16:colId xmlns:a16="http://schemas.microsoft.com/office/drawing/2014/main" val="1475432127"/>
                    </a:ext>
                  </a:extLst>
                </a:gridCol>
                <a:gridCol w="1796562">
                  <a:extLst>
                    <a:ext uri="{9D8B030D-6E8A-4147-A177-3AD203B41FA5}">
                      <a16:colId xmlns:a16="http://schemas.microsoft.com/office/drawing/2014/main" val="3587891994"/>
                    </a:ext>
                  </a:extLst>
                </a:gridCol>
              </a:tblGrid>
              <a:tr h="476924">
                <a:tc>
                  <a:txBody>
                    <a:bodyPr/>
                    <a:lstStyle/>
                    <a:p>
                      <a:pPr algn="ctr"/>
                      <a:r>
                        <a:rPr lang="en-US" b="1" dirty="0">
                          <a:solidFill>
                            <a:srgbClr val="000000"/>
                          </a:solidFill>
                          <a:effectLst/>
                          <a:latin typeface="inherit"/>
                        </a:rPr>
                        <a:t>Teacher</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tc>
                  <a:txBody>
                    <a:bodyPr/>
                    <a:lstStyle/>
                    <a:p>
                      <a:pPr algn="ctr"/>
                      <a:r>
                        <a:rPr lang="en-US" b="1" dirty="0">
                          <a:solidFill>
                            <a:srgbClr val="000000"/>
                          </a:solidFill>
                          <a:effectLst/>
                          <a:latin typeface="inherit"/>
                        </a:rPr>
                        <a:t>Subject</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extLst>
                  <a:ext uri="{0D108BD9-81ED-4DB2-BD59-A6C34878D82A}">
                    <a16:rowId xmlns:a16="http://schemas.microsoft.com/office/drawing/2014/main" val="1892256477"/>
                  </a:ext>
                </a:extLst>
              </a:tr>
              <a:tr h="404663">
                <a:tc>
                  <a:txBody>
                    <a:bodyPr/>
                    <a:lstStyle/>
                    <a:p>
                      <a:pPr algn="l"/>
                      <a:r>
                        <a:rPr lang="en-US" dirty="0">
                          <a:effectLst/>
                        </a:rPr>
                        <a:t>Shoaib</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Database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212727313"/>
                  </a:ext>
                </a:extLst>
              </a:tr>
              <a:tr h="404663">
                <a:tc>
                  <a:txBody>
                    <a:bodyPr/>
                    <a:lstStyle/>
                    <a:p>
                      <a:pPr algn="l"/>
                      <a:r>
                        <a:rPr lang="en-US" dirty="0">
                          <a:effectLst/>
                        </a:rPr>
                        <a:t>Sana</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Database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58370987"/>
                  </a:ext>
                </a:extLst>
              </a:tr>
              <a:tr h="404663">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Algo</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385800358"/>
                  </a:ext>
                </a:extLst>
              </a:tr>
            </a:tbl>
          </a:graphicData>
        </a:graphic>
      </p:graphicFrame>
      <p:sp>
        <p:nvSpPr>
          <p:cNvPr id="7" name="Rectangle 1">
            <a:extLst>
              <a:ext uri="{FF2B5EF4-FFF2-40B4-BE49-F238E27FC236}">
                <a16:creationId xmlns:a16="http://schemas.microsoft.com/office/drawing/2014/main" id="{E7FE65E8-F3B8-65F9-4254-30428D1AE97D}"/>
              </a:ext>
            </a:extLst>
          </p:cNvPr>
          <p:cNvSpPr>
            <a:spLocks noChangeArrowheads="1"/>
          </p:cNvSpPr>
          <p:nvPr/>
        </p:nvSpPr>
        <p:spPr bwMode="auto">
          <a:xfrm>
            <a:off x="1059136" y="2600344"/>
            <a:ext cx="279277" cy="1692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inherit"/>
              </a:rPr>
              <a:t>R1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7D0C0713-CAA3-F70D-1A0D-E8DD6EE0C60F}"/>
              </a:ext>
            </a:extLst>
          </p:cNvPr>
          <p:cNvGraphicFramePr>
            <a:graphicFrameLocks noGrp="1"/>
          </p:cNvGraphicFramePr>
          <p:nvPr/>
        </p:nvGraphicFramePr>
        <p:xfrm>
          <a:off x="1059136" y="2847833"/>
          <a:ext cx="5059710" cy="2209800"/>
        </p:xfrm>
        <a:graphic>
          <a:graphicData uri="http://schemas.openxmlformats.org/drawingml/2006/table">
            <a:tbl>
              <a:tblPr/>
              <a:tblGrid>
                <a:gridCol w="2529855">
                  <a:extLst>
                    <a:ext uri="{9D8B030D-6E8A-4147-A177-3AD203B41FA5}">
                      <a16:colId xmlns:a16="http://schemas.microsoft.com/office/drawing/2014/main" val="2237582264"/>
                    </a:ext>
                  </a:extLst>
                </a:gridCol>
                <a:gridCol w="2529855">
                  <a:extLst>
                    <a:ext uri="{9D8B030D-6E8A-4147-A177-3AD203B41FA5}">
                      <a16:colId xmlns:a16="http://schemas.microsoft.com/office/drawing/2014/main" val="2839800702"/>
                    </a:ext>
                  </a:extLst>
                </a:gridCol>
              </a:tblGrid>
              <a:tr h="427368">
                <a:tc>
                  <a:txBody>
                    <a:bodyPr/>
                    <a:lstStyle/>
                    <a:p>
                      <a:pPr algn="ctr"/>
                      <a:r>
                        <a:rPr lang="en-US" b="1" dirty="0">
                          <a:solidFill>
                            <a:srgbClr val="000000"/>
                          </a:solidFill>
                          <a:effectLst/>
                          <a:latin typeface="inherit"/>
                        </a:rPr>
                        <a:t>Student</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tc>
                  <a:txBody>
                    <a:bodyPr/>
                    <a:lstStyle/>
                    <a:p>
                      <a:pPr algn="ctr"/>
                      <a:r>
                        <a:rPr lang="en-US" b="1">
                          <a:solidFill>
                            <a:srgbClr val="000000"/>
                          </a:solidFill>
                          <a:effectLst/>
                          <a:latin typeface="inherit"/>
                        </a:rPr>
                        <a:t>Teacher</a:t>
                      </a:r>
                    </a:p>
                  </a:txBody>
                  <a:tcPr marL="95250" marR="95250" marT="114300" marB="11430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3F3CF"/>
                    </a:solidFill>
                  </a:tcPr>
                </a:tc>
                <a:extLst>
                  <a:ext uri="{0D108BD9-81ED-4DB2-BD59-A6C34878D82A}">
                    <a16:rowId xmlns:a16="http://schemas.microsoft.com/office/drawing/2014/main" val="2587506201"/>
                  </a:ext>
                </a:extLst>
              </a:tr>
              <a:tr h="362615">
                <a:tc>
                  <a:txBody>
                    <a:bodyPr/>
                    <a:lstStyle/>
                    <a:p>
                      <a:pPr algn="l"/>
                      <a:r>
                        <a:rPr lang="en-US" dirty="0">
                          <a:effectLst/>
                        </a:rPr>
                        <a:t>Ali</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Shoaib</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142985564"/>
                  </a:ext>
                </a:extLst>
              </a:tr>
              <a:tr h="362615">
                <a:tc>
                  <a:txBody>
                    <a:bodyPr/>
                    <a:lstStyle/>
                    <a:p>
                      <a:pPr algn="l"/>
                      <a:r>
                        <a:rPr lang="en-US" dirty="0">
                          <a:effectLst/>
                        </a:rPr>
                        <a:t>Ali</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983553046"/>
                  </a:ext>
                </a:extLst>
              </a:tr>
              <a:tr h="362615">
                <a:tc>
                  <a:txBody>
                    <a:bodyPr/>
                    <a:lstStyle/>
                    <a:p>
                      <a:pPr algn="l"/>
                      <a:r>
                        <a:rPr lang="en-US" dirty="0">
                          <a:effectLst/>
                        </a:rPr>
                        <a:t>Ahmad</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Sana</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762230805"/>
                  </a:ext>
                </a:extLst>
              </a:tr>
              <a:tr h="362615">
                <a:tc>
                  <a:txBody>
                    <a:bodyPr/>
                    <a:lstStyle/>
                    <a:p>
                      <a:pPr algn="l"/>
                      <a:r>
                        <a:rPr lang="en-US" dirty="0">
                          <a:effectLst/>
                        </a:rPr>
                        <a:t>Ahmad</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dirty="0">
                          <a:effectLst/>
                        </a:rPr>
                        <a:t>Qasim</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274701332"/>
                  </a:ext>
                </a:extLst>
              </a:tr>
            </a:tbl>
          </a:graphicData>
        </a:graphic>
      </p:graphicFrame>
      <p:sp>
        <p:nvSpPr>
          <p:cNvPr id="9" name="Rectangle 2">
            <a:extLst>
              <a:ext uri="{FF2B5EF4-FFF2-40B4-BE49-F238E27FC236}">
                <a16:creationId xmlns:a16="http://schemas.microsoft.com/office/drawing/2014/main" id="{8B19F23E-0E16-2B60-3679-3B32091F7930}"/>
              </a:ext>
            </a:extLst>
          </p:cNvPr>
          <p:cNvSpPr>
            <a:spLocks noChangeArrowheads="1"/>
          </p:cNvSpPr>
          <p:nvPr/>
        </p:nvSpPr>
        <p:spPr bwMode="auto">
          <a:xfrm flipH="1">
            <a:off x="7125138" y="2600344"/>
            <a:ext cx="279277" cy="1692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inherit"/>
              </a:rPr>
              <a:t>R2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4397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CF59BAD-985D-6CDF-5EF7-B09B4F24AE93}"/>
              </a:ext>
            </a:extLst>
          </p:cNvPr>
          <p:cNvSpPr>
            <a:spLocks noGrp="1" noChangeArrowheads="1"/>
          </p:cNvSpPr>
          <p:nvPr>
            <p:ph type="title"/>
          </p:nvPr>
        </p:nvSpPr>
        <p:spPr/>
        <p:txBody>
          <a:bodyPr/>
          <a:lstStyle/>
          <a:p>
            <a:r>
              <a:rPr lang="en-US" altLang="en-US" dirty="0"/>
              <a:t>Superclass / Subclass Relationship</a:t>
            </a:r>
          </a:p>
        </p:txBody>
      </p:sp>
      <p:sp>
        <p:nvSpPr>
          <p:cNvPr id="9219" name="Rectangle 3">
            <a:extLst>
              <a:ext uri="{FF2B5EF4-FFF2-40B4-BE49-F238E27FC236}">
                <a16:creationId xmlns:a16="http://schemas.microsoft.com/office/drawing/2014/main" id="{86A32F49-7AE9-BF63-41F9-EBDE19152F9B}"/>
              </a:ext>
            </a:extLst>
          </p:cNvPr>
          <p:cNvSpPr>
            <a:spLocks noGrp="1" noChangeArrowheads="1"/>
          </p:cNvSpPr>
          <p:nvPr>
            <p:ph type="body" idx="1"/>
          </p:nvPr>
        </p:nvSpPr>
        <p:spPr/>
        <p:txBody>
          <a:bodyPr/>
          <a:lstStyle/>
          <a:p>
            <a:r>
              <a:rPr lang="en-US" altLang="en-US" sz="2000" dirty="0"/>
              <a:t>An entity Type can have groups of such entities that contain some special properties, not immanent to the other ones</a:t>
            </a:r>
          </a:p>
          <a:p>
            <a:r>
              <a:rPr lang="en-US" altLang="en-US" sz="2000" dirty="0"/>
              <a:t>e.g.</a:t>
            </a:r>
          </a:p>
          <a:p>
            <a:pPr lvl="1"/>
            <a:r>
              <a:rPr lang="en-US" altLang="en-US" sz="2000" dirty="0">
                <a:solidFill>
                  <a:srgbClr val="E20000"/>
                </a:solidFill>
              </a:rPr>
              <a:t>Person</a:t>
            </a:r>
            <a:r>
              <a:rPr lang="en-US" altLang="en-US" sz="2000" dirty="0"/>
              <a:t> class contains many such groups like: </a:t>
            </a:r>
            <a:r>
              <a:rPr lang="en-US" altLang="en-US" sz="2000" dirty="0">
                <a:solidFill>
                  <a:schemeClr val="accent2"/>
                </a:solidFill>
              </a:rPr>
              <a:t>students</a:t>
            </a:r>
            <a:r>
              <a:rPr lang="en-US" altLang="en-US" sz="2000" dirty="0"/>
              <a:t>, </a:t>
            </a:r>
            <a:r>
              <a:rPr lang="en-US" altLang="en-US" sz="2000" dirty="0">
                <a:solidFill>
                  <a:schemeClr val="accent2"/>
                </a:solidFill>
              </a:rPr>
              <a:t>teachers, drivers</a:t>
            </a:r>
            <a:r>
              <a:rPr lang="en-US" altLang="en-US" sz="2000" dirty="0"/>
              <a:t>,…</a:t>
            </a:r>
          </a:p>
          <a:p>
            <a:pPr lvl="1"/>
            <a:r>
              <a:rPr lang="en-US" altLang="en-US" sz="2000" dirty="0">
                <a:solidFill>
                  <a:srgbClr val="E20000"/>
                </a:solidFill>
              </a:rPr>
              <a:t>Student</a:t>
            </a:r>
            <a:r>
              <a:rPr lang="en-US" altLang="en-US" sz="2000" dirty="0"/>
              <a:t> class may be divided </a:t>
            </a:r>
            <a:r>
              <a:rPr lang="en-US" altLang="en-US" sz="2000" dirty="0">
                <a:solidFill>
                  <a:schemeClr val="accent2"/>
                </a:solidFill>
              </a:rPr>
              <a:t>undergraduate</a:t>
            </a:r>
            <a:r>
              <a:rPr lang="en-US" altLang="en-US" sz="2000" dirty="0"/>
              <a:t>, </a:t>
            </a:r>
            <a:r>
              <a:rPr lang="en-US" altLang="en-US" sz="2000" dirty="0">
                <a:solidFill>
                  <a:schemeClr val="accent2"/>
                </a:solidFill>
              </a:rPr>
              <a:t>graduate</a:t>
            </a:r>
            <a:r>
              <a:rPr lang="en-US" altLang="en-US" sz="2000" dirty="0"/>
              <a:t>, and </a:t>
            </a:r>
            <a:r>
              <a:rPr lang="en-US" altLang="en-US" sz="2000" dirty="0">
                <a:solidFill>
                  <a:schemeClr val="accent2"/>
                </a:solidFill>
              </a:rPr>
              <a:t>doctorate</a:t>
            </a:r>
            <a:r>
              <a:rPr lang="en-US" altLang="en-US" sz="2000" dirty="0"/>
              <a:t> students</a:t>
            </a:r>
          </a:p>
          <a:p>
            <a:r>
              <a:rPr lang="en-US" altLang="en-US" sz="2000" dirty="0"/>
              <a:t>To enhance the semantic power of the ER data model, there is a </a:t>
            </a:r>
            <a:r>
              <a:rPr lang="en-US" altLang="en-US" sz="2000" dirty="0">
                <a:solidFill>
                  <a:srgbClr val="FF0000"/>
                </a:solidFill>
              </a:rPr>
              <a:t>superclass</a:t>
            </a:r>
            <a:r>
              <a:rPr lang="en-US" altLang="en-US" sz="2000" dirty="0"/>
              <a:t> / </a:t>
            </a:r>
            <a:r>
              <a:rPr lang="en-US" altLang="en-US" sz="2000" dirty="0">
                <a:solidFill>
                  <a:srgbClr val="FF0000"/>
                </a:solidFill>
              </a:rPr>
              <a:t>subclass</a:t>
            </a:r>
            <a:r>
              <a:rPr lang="en-US" altLang="en-US" sz="2000" dirty="0"/>
              <a:t> relationship introduced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D3BEB2D-7294-6889-F8F2-9942895B265C}"/>
              </a:ext>
            </a:extLst>
          </p:cNvPr>
          <p:cNvSpPr>
            <a:spLocks noGrp="1" noChangeArrowheads="1"/>
          </p:cNvSpPr>
          <p:nvPr>
            <p:ph type="title"/>
          </p:nvPr>
        </p:nvSpPr>
        <p:spPr>
          <a:xfrm>
            <a:off x="2238375" y="214313"/>
            <a:ext cx="7772400" cy="1143000"/>
          </a:xfrm>
        </p:spPr>
        <p:txBody>
          <a:bodyPr/>
          <a:lstStyle/>
          <a:p>
            <a:r>
              <a:rPr lang="en-US" altLang="en-US" sz="2800" dirty="0"/>
              <a:t>Superclass / Subclass Relationship</a:t>
            </a:r>
          </a:p>
        </p:txBody>
      </p:sp>
      <p:sp>
        <p:nvSpPr>
          <p:cNvPr id="10243" name="Rectangle 3">
            <a:extLst>
              <a:ext uri="{FF2B5EF4-FFF2-40B4-BE49-F238E27FC236}">
                <a16:creationId xmlns:a16="http://schemas.microsoft.com/office/drawing/2014/main" id="{F119DB88-5D0A-43B6-5462-E765346D190B}"/>
              </a:ext>
            </a:extLst>
          </p:cNvPr>
          <p:cNvSpPr>
            <a:spLocks noChangeArrowheads="1"/>
          </p:cNvSpPr>
          <p:nvPr/>
        </p:nvSpPr>
        <p:spPr bwMode="auto">
          <a:xfrm rot="13466298">
            <a:off x="8674100" y="5026025"/>
            <a:ext cx="914400" cy="914400"/>
          </a:xfrm>
          <a:prstGeom prst="rect">
            <a:avLst/>
          </a:prstGeom>
          <a:solidFill>
            <a:schemeClr val="bg1"/>
          </a:solidFill>
          <a:ln w="28575">
            <a:solidFill>
              <a:schemeClr val="tx1"/>
            </a:solidFill>
            <a:miter lim="800000"/>
            <a:headEnd/>
            <a:tailEnd/>
          </a:ln>
        </p:spPr>
        <p:txBody>
          <a:bodyPr rot="10800000"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endParaRPr lang="en-US" altLang="en-US" sz="2400">
              <a:solidFill>
                <a:srgbClr val="000099"/>
              </a:solidFill>
              <a:latin typeface="Times New Roman" panose="02020603050405020304" pitchFamily="18" charset="0"/>
            </a:endParaRPr>
          </a:p>
        </p:txBody>
      </p:sp>
      <p:sp>
        <p:nvSpPr>
          <p:cNvPr id="10244" name="Rectangle 4">
            <a:extLst>
              <a:ext uri="{FF2B5EF4-FFF2-40B4-BE49-F238E27FC236}">
                <a16:creationId xmlns:a16="http://schemas.microsoft.com/office/drawing/2014/main" id="{88395A0A-A4D3-0B00-4A44-D2DE8D560067}"/>
              </a:ext>
            </a:extLst>
          </p:cNvPr>
          <p:cNvSpPr>
            <a:spLocks noChangeArrowheads="1"/>
          </p:cNvSpPr>
          <p:nvPr/>
        </p:nvSpPr>
        <p:spPr bwMode="auto">
          <a:xfrm>
            <a:off x="7764463" y="2843213"/>
            <a:ext cx="2514600" cy="533400"/>
          </a:xfrm>
          <a:prstGeom prst="rect">
            <a:avLst/>
          </a:prstGeom>
          <a:solidFill>
            <a:schemeClr val="bg1"/>
          </a:solidFill>
          <a:ln w="28575">
            <a:solidFill>
              <a:schemeClr val="tx1"/>
            </a:solidFill>
            <a:miter lim="800000"/>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400" i="1">
                <a:solidFill>
                  <a:srgbClr val="000099"/>
                </a:solidFill>
                <a:latin typeface="Times New Roman" panose="02020603050405020304" pitchFamily="18" charset="0"/>
              </a:rPr>
              <a:t>Department</a:t>
            </a:r>
          </a:p>
        </p:txBody>
      </p:sp>
      <p:sp>
        <p:nvSpPr>
          <p:cNvPr id="10245" name="Rectangle 5">
            <a:extLst>
              <a:ext uri="{FF2B5EF4-FFF2-40B4-BE49-F238E27FC236}">
                <a16:creationId xmlns:a16="http://schemas.microsoft.com/office/drawing/2014/main" id="{C18311F6-D462-EAF5-411D-2F1966FD53E5}"/>
              </a:ext>
            </a:extLst>
          </p:cNvPr>
          <p:cNvSpPr>
            <a:spLocks noChangeArrowheads="1"/>
          </p:cNvSpPr>
          <p:nvPr/>
        </p:nvSpPr>
        <p:spPr bwMode="auto">
          <a:xfrm>
            <a:off x="3013075" y="2022475"/>
            <a:ext cx="2514600" cy="533400"/>
          </a:xfrm>
          <a:prstGeom prst="rect">
            <a:avLst/>
          </a:prstGeom>
          <a:solidFill>
            <a:srgbClr val="FF66FF"/>
          </a:solidFill>
          <a:ln w="28575">
            <a:solidFill>
              <a:schemeClr val="tx1"/>
            </a:solidFill>
            <a:miter lim="800000"/>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400" i="1">
                <a:solidFill>
                  <a:srgbClr val="000099"/>
                </a:solidFill>
                <a:latin typeface="Times New Roman" panose="02020603050405020304" pitchFamily="18" charset="0"/>
              </a:rPr>
              <a:t>Employee</a:t>
            </a:r>
          </a:p>
        </p:txBody>
      </p:sp>
      <p:sp>
        <p:nvSpPr>
          <p:cNvPr id="10246" name="Text Box 9">
            <a:extLst>
              <a:ext uri="{FF2B5EF4-FFF2-40B4-BE49-F238E27FC236}">
                <a16:creationId xmlns:a16="http://schemas.microsoft.com/office/drawing/2014/main" id="{1EA0419A-9300-406C-CC14-3A0112F3CADF}"/>
              </a:ext>
            </a:extLst>
          </p:cNvPr>
          <p:cNvSpPr txBox="1">
            <a:spLocks noChangeArrowheads="1"/>
          </p:cNvSpPr>
          <p:nvPr/>
        </p:nvSpPr>
        <p:spPr bwMode="auto">
          <a:xfrm>
            <a:off x="5657850" y="2428876"/>
            <a:ext cx="465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000" i="1">
                <a:solidFill>
                  <a:srgbClr val="000099"/>
                </a:solidFill>
                <a:latin typeface="Times New Roman" panose="02020603050405020304" pitchFamily="18" charset="0"/>
              </a:rPr>
              <a:t> M</a:t>
            </a:r>
          </a:p>
        </p:txBody>
      </p:sp>
      <p:sp>
        <p:nvSpPr>
          <p:cNvPr id="10247" name="Text Box 10">
            <a:extLst>
              <a:ext uri="{FF2B5EF4-FFF2-40B4-BE49-F238E27FC236}">
                <a16:creationId xmlns:a16="http://schemas.microsoft.com/office/drawing/2014/main" id="{78BAF20D-4B65-20DF-2145-41DB4F5C7322}"/>
              </a:ext>
            </a:extLst>
          </p:cNvPr>
          <p:cNvSpPr txBox="1">
            <a:spLocks noChangeArrowheads="1"/>
          </p:cNvSpPr>
          <p:nvPr/>
        </p:nvSpPr>
        <p:spPr bwMode="auto">
          <a:xfrm>
            <a:off x="8686800" y="5286375"/>
            <a:ext cx="120173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lnSpc>
                <a:spcPct val="90000"/>
              </a:lnSpc>
              <a:spcBef>
                <a:spcPct val="0"/>
              </a:spcBef>
              <a:buFontTx/>
              <a:buNone/>
            </a:pPr>
            <a:r>
              <a:rPr lang="en-US" altLang="en-US" sz="1800" i="1">
                <a:solidFill>
                  <a:srgbClr val="000099"/>
                </a:solidFill>
                <a:latin typeface="Times New Roman" panose="02020603050405020304" pitchFamily="18" charset="0"/>
              </a:rPr>
              <a:t>Works_</a:t>
            </a:r>
          </a:p>
          <a:p>
            <a:pPr>
              <a:lnSpc>
                <a:spcPct val="90000"/>
              </a:lnSpc>
              <a:spcBef>
                <a:spcPct val="0"/>
              </a:spcBef>
              <a:buFontTx/>
              <a:buNone/>
            </a:pPr>
            <a:r>
              <a:rPr lang="en-US" altLang="en-US" sz="1800" i="1">
                <a:solidFill>
                  <a:srgbClr val="000099"/>
                </a:solidFill>
                <a:latin typeface="Times New Roman" panose="02020603050405020304" pitchFamily="18" charset="0"/>
              </a:rPr>
              <a:t>on</a:t>
            </a:r>
          </a:p>
        </p:txBody>
      </p:sp>
      <p:sp>
        <p:nvSpPr>
          <p:cNvPr id="10248" name="Text Box 11">
            <a:extLst>
              <a:ext uri="{FF2B5EF4-FFF2-40B4-BE49-F238E27FC236}">
                <a16:creationId xmlns:a16="http://schemas.microsoft.com/office/drawing/2014/main" id="{C8ACB0A1-FDFE-ABC1-A9DA-6C9EE4CC22CA}"/>
              </a:ext>
            </a:extLst>
          </p:cNvPr>
          <p:cNvSpPr txBox="1">
            <a:spLocks noChangeArrowheads="1"/>
          </p:cNvSpPr>
          <p:nvPr/>
        </p:nvSpPr>
        <p:spPr bwMode="auto">
          <a:xfrm>
            <a:off x="9226550" y="4391026"/>
            <a:ext cx="465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000" i="1">
                <a:solidFill>
                  <a:srgbClr val="000099"/>
                </a:solidFill>
                <a:latin typeface="Times New Roman" panose="02020603050405020304" pitchFamily="18" charset="0"/>
              </a:rPr>
              <a:t> M</a:t>
            </a:r>
            <a:endParaRPr lang="en-US" altLang="en-US" sz="2000">
              <a:solidFill>
                <a:srgbClr val="000099"/>
              </a:solidFill>
              <a:latin typeface="Times New Roman" panose="02020603050405020304" pitchFamily="18" charset="0"/>
            </a:endParaRPr>
          </a:p>
        </p:txBody>
      </p:sp>
      <p:sp>
        <p:nvSpPr>
          <p:cNvPr id="10249" name="Line 13">
            <a:extLst>
              <a:ext uri="{FF2B5EF4-FFF2-40B4-BE49-F238E27FC236}">
                <a16:creationId xmlns:a16="http://schemas.microsoft.com/office/drawing/2014/main" id="{9FC934A3-AA7C-2F3D-FE40-A0ECCA3AD6AC}"/>
              </a:ext>
            </a:extLst>
          </p:cNvPr>
          <p:cNvSpPr>
            <a:spLocks noChangeShapeType="1"/>
          </p:cNvSpPr>
          <p:nvPr/>
        </p:nvSpPr>
        <p:spPr bwMode="auto">
          <a:xfrm flipH="1" flipV="1">
            <a:off x="5524501" y="2278063"/>
            <a:ext cx="7461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50" name="Line 16">
            <a:extLst>
              <a:ext uri="{FF2B5EF4-FFF2-40B4-BE49-F238E27FC236}">
                <a16:creationId xmlns:a16="http://schemas.microsoft.com/office/drawing/2014/main" id="{3DE3B106-267D-3531-4205-AE52B166FA5C}"/>
              </a:ext>
            </a:extLst>
          </p:cNvPr>
          <p:cNvSpPr>
            <a:spLocks noChangeShapeType="1"/>
          </p:cNvSpPr>
          <p:nvPr/>
        </p:nvSpPr>
        <p:spPr bwMode="auto">
          <a:xfrm rot="5400000" flipV="1">
            <a:off x="8759032" y="2575720"/>
            <a:ext cx="531813"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51" name="Line 17">
            <a:extLst>
              <a:ext uri="{FF2B5EF4-FFF2-40B4-BE49-F238E27FC236}">
                <a16:creationId xmlns:a16="http://schemas.microsoft.com/office/drawing/2014/main" id="{607CAE7C-2EAF-4AB8-1E57-FC6B2CD6F706}"/>
              </a:ext>
            </a:extLst>
          </p:cNvPr>
          <p:cNvSpPr>
            <a:spLocks noChangeShapeType="1"/>
          </p:cNvSpPr>
          <p:nvPr/>
        </p:nvSpPr>
        <p:spPr bwMode="auto">
          <a:xfrm flipH="1">
            <a:off x="7380289" y="2303463"/>
            <a:ext cx="1660525"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52" name="Rectangle 18">
            <a:extLst>
              <a:ext uri="{FF2B5EF4-FFF2-40B4-BE49-F238E27FC236}">
                <a16:creationId xmlns:a16="http://schemas.microsoft.com/office/drawing/2014/main" id="{EEA5FB68-ABFC-977F-4B5E-D28C7D0E9037}"/>
              </a:ext>
            </a:extLst>
          </p:cNvPr>
          <p:cNvSpPr>
            <a:spLocks noChangeArrowheads="1"/>
          </p:cNvSpPr>
          <p:nvPr/>
        </p:nvSpPr>
        <p:spPr bwMode="auto">
          <a:xfrm rot="13466298">
            <a:off x="6453188" y="1854200"/>
            <a:ext cx="914400" cy="914400"/>
          </a:xfrm>
          <a:prstGeom prst="rect">
            <a:avLst/>
          </a:prstGeom>
          <a:solidFill>
            <a:schemeClr val="bg1"/>
          </a:solidFill>
          <a:ln w="28575">
            <a:solidFill>
              <a:schemeClr val="tx1"/>
            </a:solidFill>
            <a:miter lim="800000"/>
            <a:headEnd/>
            <a:tailEnd/>
          </a:ln>
        </p:spPr>
        <p:txBody>
          <a:bodyPr rot="10800000"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endParaRPr lang="en-US" altLang="en-US" sz="2400">
              <a:solidFill>
                <a:srgbClr val="000099"/>
              </a:solidFill>
              <a:latin typeface="Times New Roman" panose="02020603050405020304" pitchFamily="18" charset="0"/>
            </a:endParaRPr>
          </a:p>
        </p:txBody>
      </p:sp>
      <p:sp>
        <p:nvSpPr>
          <p:cNvPr id="10253" name="Text Box 19">
            <a:extLst>
              <a:ext uri="{FF2B5EF4-FFF2-40B4-BE49-F238E27FC236}">
                <a16:creationId xmlns:a16="http://schemas.microsoft.com/office/drawing/2014/main" id="{E478E49A-EFD7-96B4-C95F-7553888C4D7C}"/>
              </a:ext>
            </a:extLst>
          </p:cNvPr>
          <p:cNvSpPr txBox="1">
            <a:spLocks noChangeArrowheads="1"/>
          </p:cNvSpPr>
          <p:nvPr/>
        </p:nvSpPr>
        <p:spPr bwMode="auto">
          <a:xfrm>
            <a:off x="6556375" y="2097089"/>
            <a:ext cx="120173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lnSpc>
                <a:spcPct val="90000"/>
              </a:lnSpc>
              <a:spcBef>
                <a:spcPct val="0"/>
              </a:spcBef>
              <a:buFontTx/>
              <a:buNone/>
            </a:pPr>
            <a:r>
              <a:rPr lang="en-US" altLang="en-US" sz="1800" i="1">
                <a:solidFill>
                  <a:srgbClr val="000099"/>
                </a:solidFill>
                <a:latin typeface="Times New Roman" panose="02020603050405020304" pitchFamily="18" charset="0"/>
              </a:rPr>
              <a:t>Works_</a:t>
            </a:r>
          </a:p>
          <a:p>
            <a:pPr>
              <a:lnSpc>
                <a:spcPct val="90000"/>
              </a:lnSpc>
              <a:spcBef>
                <a:spcPct val="0"/>
              </a:spcBef>
              <a:buFontTx/>
              <a:buNone/>
            </a:pPr>
            <a:r>
              <a:rPr lang="en-US" altLang="en-US" sz="1800" i="1">
                <a:solidFill>
                  <a:srgbClr val="000099"/>
                </a:solidFill>
                <a:latin typeface="Times New Roman" panose="02020603050405020304" pitchFamily="18" charset="0"/>
              </a:rPr>
              <a:t>for</a:t>
            </a:r>
          </a:p>
        </p:txBody>
      </p:sp>
      <p:sp>
        <p:nvSpPr>
          <p:cNvPr id="10254" name="Text Box 20">
            <a:extLst>
              <a:ext uri="{FF2B5EF4-FFF2-40B4-BE49-F238E27FC236}">
                <a16:creationId xmlns:a16="http://schemas.microsoft.com/office/drawing/2014/main" id="{63AF97E1-17C5-F38B-3AEF-9CFDEEED76E2}"/>
              </a:ext>
            </a:extLst>
          </p:cNvPr>
          <p:cNvSpPr txBox="1">
            <a:spLocks noChangeArrowheads="1"/>
          </p:cNvSpPr>
          <p:nvPr/>
        </p:nvSpPr>
        <p:spPr bwMode="auto">
          <a:xfrm>
            <a:off x="9258300" y="2357438"/>
            <a:ext cx="28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000" i="1">
                <a:solidFill>
                  <a:srgbClr val="000099"/>
                </a:solidFill>
                <a:latin typeface="Times New Roman" panose="02020603050405020304" pitchFamily="18" charset="0"/>
              </a:rPr>
              <a:t>1</a:t>
            </a:r>
          </a:p>
        </p:txBody>
      </p:sp>
      <p:sp>
        <p:nvSpPr>
          <p:cNvPr id="10255" name="Oval 23">
            <a:extLst>
              <a:ext uri="{FF2B5EF4-FFF2-40B4-BE49-F238E27FC236}">
                <a16:creationId xmlns:a16="http://schemas.microsoft.com/office/drawing/2014/main" id="{6EDCB47E-9886-76D9-7F4D-53C32C60550E}"/>
              </a:ext>
            </a:extLst>
          </p:cNvPr>
          <p:cNvSpPr>
            <a:spLocks noChangeArrowheads="1"/>
          </p:cNvSpPr>
          <p:nvPr/>
        </p:nvSpPr>
        <p:spPr bwMode="auto">
          <a:xfrm>
            <a:off x="3910013" y="2897189"/>
            <a:ext cx="635000" cy="592137"/>
          </a:xfrm>
          <a:prstGeom prst="ellipse">
            <a:avLst/>
          </a:prstGeom>
          <a:solidFill>
            <a:schemeClr val="bg1"/>
          </a:solidFill>
          <a:ln w="28575">
            <a:solidFill>
              <a:srgbClr val="FF0000"/>
            </a:solidFill>
            <a:round/>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endParaRPr lang="en-US" altLang="en-US" sz="3200">
              <a:solidFill>
                <a:srgbClr val="FF0000"/>
              </a:solidFill>
              <a:latin typeface="Times New Roman" panose="02020603050405020304" pitchFamily="18" charset="0"/>
            </a:endParaRPr>
          </a:p>
        </p:txBody>
      </p:sp>
      <p:sp>
        <p:nvSpPr>
          <p:cNvPr id="10256" name="Rectangle 26">
            <a:extLst>
              <a:ext uri="{FF2B5EF4-FFF2-40B4-BE49-F238E27FC236}">
                <a16:creationId xmlns:a16="http://schemas.microsoft.com/office/drawing/2014/main" id="{257B56A0-C9D3-66DF-5D2C-0539A2E4ADA3}"/>
              </a:ext>
            </a:extLst>
          </p:cNvPr>
          <p:cNvSpPr>
            <a:spLocks noChangeArrowheads="1"/>
          </p:cNvSpPr>
          <p:nvPr/>
        </p:nvSpPr>
        <p:spPr bwMode="auto">
          <a:xfrm>
            <a:off x="7783514" y="3787775"/>
            <a:ext cx="2514600" cy="533400"/>
          </a:xfrm>
          <a:prstGeom prst="rect">
            <a:avLst/>
          </a:prstGeom>
          <a:solidFill>
            <a:schemeClr val="bg1"/>
          </a:solidFill>
          <a:ln w="28575">
            <a:solidFill>
              <a:schemeClr val="tx1"/>
            </a:solidFill>
            <a:miter lim="800000"/>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400" i="1">
                <a:solidFill>
                  <a:srgbClr val="000099"/>
                </a:solidFill>
                <a:latin typeface="Times New Roman" panose="02020603050405020304" pitchFamily="18" charset="0"/>
              </a:rPr>
              <a:t>Project</a:t>
            </a:r>
          </a:p>
        </p:txBody>
      </p:sp>
      <p:sp>
        <p:nvSpPr>
          <p:cNvPr id="10257" name="Line 27">
            <a:extLst>
              <a:ext uri="{FF2B5EF4-FFF2-40B4-BE49-F238E27FC236}">
                <a16:creationId xmlns:a16="http://schemas.microsoft.com/office/drawing/2014/main" id="{AD7D79FA-2603-2D6A-FF6C-47021D91B23D}"/>
              </a:ext>
            </a:extLst>
          </p:cNvPr>
          <p:cNvSpPr>
            <a:spLocks noChangeShapeType="1"/>
          </p:cNvSpPr>
          <p:nvPr/>
        </p:nvSpPr>
        <p:spPr bwMode="auto">
          <a:xfrm flipH="1">
            <a:off x="9109076" y="4321175"/>
            <a:ext cx="4763" cy="522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58" name="AutoShape 28">
            <a:extLst>
              <a:ext uri="{FF2B5EF4-FFF2-40B4-BE49-F238E27FC236}">
                <a16:creationId xmlns:a16="http://schemas.microsoft.com/office/drawing/2014/main" id="{3B32ADBE-7D70-5EBB-2AE4-65DAADAD84C6}"/>
              </a:ext>
            </a:extLst>
          </p:cNvPr>
          <p:cNvSpPr>
            <a:spLocks noChangeArrowheads="1"/>
          </p:cNvSpPr>
          <p:nvPr/>
        </p:nvSpPr>
        <p:spPr bwMode="auto">
          <a:xfrm>
            <a:off x="2166938" y="1309688"/>
            <a:ext cx="1479550" cy="457200"/>
          </a:xfrm>
          <a:prstGeom prst="roundRect">
            <a:avLst>
              <a:gd name="adj" fmla="val 16667"/>
            </a:avLst>
          </a:prstGeom>
          <a:solidFill>
            <a:schemeClr val="bg1"/>
          </a:solidFill>
          <a:ln w="28575">
            <a:solidFill>
              <a:schemeClr val="tx1"/>
            </a:solidFill>
            <a:round/>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800" i="1">
                <a:solidFill>
                  <a:srgbClr val="000099"/>
                </a:solidFill>
                <a:latin typeface="Times New Roman" panose="02020603050405020304" pitchFamily="18" charset="0"/>
              </a:rPr>
              <a:t>EmployeeID</a:t>
            </a:r>
          </a:p>
        </p:txBody>
      </p:sp>
      <p:sp>
        <p:nvSpPr>
          <p:cNvPr id="10259" name="AutoShape 29">
            <a:extLst>
              <a:ext uri="{FF2B5EF4-FFF2-40B4-BE49-F238E27FC236}">
                <a16:creationId xmlns:a16="http://schemas.microsoft.com/office/drawing/2014/main" id="{32515E71-9042-DA34-EFDB-C42503B53800}"/>
              </a:ext>
            </a:extLst>
          </p:cNvPr>
          <p:cNvSpPr>
            <a:spLocks noChangeArrowheads="1"/>
          </p:cNvSpPr>
          <p:nvPr/>
        </p:nvSpPr>
        <p:spPr bwMode="auto">
          <a:xfrm>
            <a:off x="3783013" y="1317625"/>
            <a:ext cx="1270000" cy="457200"/>
          </a:xfrm>
          <a:prstGeom prst="roundRect">
            <a:avLst>
              <a:gd name="adj" fmla="val 16667"/>
            </a:avLst>
          </a:prstGeom>
          <a:solidFill>
            <a:schemeClr val="bg1"/>
          </a:solidFill>
          <a:ln w="28575">
            <a:solidFill>
              <a:schemeClr val="tx1"/>
            </a:solidFill>
            <a:round/>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800" i="1">
                <a:solidFill>
                  <a:srgbClr val="000099"/>
                </a:solidFill>
                <a:latin typeface="Times New Roman" panose="02020603050405020304" pitchFamily="18" charset="0"/>
              </a:rPr>
              <a:t>Name</a:t>
            </a:r>
          </a:p>
        </p:txBody>
      </p:sp>
      <p:sp>
        <p:nvSpPr>
          <p:cNvPr id="10260" name="Line 30">
            <a:extLst>
              <a:ext uri="{FF2B5EF4-FFF2-40B4-BE49-F238E27FC236}">
                <a16:creationId xmlns:a16="http://schemas.microsoft.com/office/drawing/2014/main" id="{AFE4B76B-FF45-374D-7C4E-74B831BF98F4}"/>
              </a:ext>
            </a:extLst>
          </p:cNvPr>
          <p:cNvSpPr>
            <a:spLocks noChangeShapeType="1"/>
          </p:cNvSpPr>
          <p:nvPr/>
        </p:nvSpPr>
        <p:spPr bwMode="auto">
          <a:xfrm>
            <a:off x="3187700" y="1752601"/>
            <a:ext cx="274638" cy="24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1" name="Line 32">
            <a:extLst>
              <a:ext uri="{FF2B5EF4-FFF2-40B4-BE49-F238E27FC236}">
                <a16:creationId xmlns:a16="http://schemas.microsoft.com/office/drawing/2014/main" id="{28B74FCC-08A4-B4FB-573F-90161E89A28F}"/>
              </a:ext>
            </a:extLst>
          </p:cNvPr>
          <p:cNvSpPr>
            <a:spLocks noChangeShapeType="1"/>
          </p:cNvSpPr>
          <p:nvPr/>
        </p:nvSpPr>
        <p:spPr bwMode="auto">
          <a:xfrm flipH="1">
            <a:off x="4235450" y="1768475"/>
            <a:ext cx="198438"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2" name="Line 33">
            <a:extLst>
              <a:ext uri="{FF2B5EF4-FFF2-40B4-BE49-F238E27FC236}">
                <a16:creationId xmlns:a16="http://schemas.microsoft.com/office/drawing/2014/main" id="{5892F9CC-9C42-233A-AA07-4149EE970EDB}"/>
              </a:ext>
            </a:extLst>
          </p:cNvPr>
          <p:cNvSpPr>
            <a:spLocks noChangeShapeType="1"/>
          </p:cNvSpPr>
          <p:nvPr/>
        </p:nvSpPr>
        <p:spPr bwMode="auto">
          <a:xfrm>
            <a:off x="4241800" y="2546351"/>
            <a:ext cx="0" cy="3651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3" name="Rectangle 34">
            <a:extLst>
              <a:ext uri="{FF2B5EF4-FFF2-40B4-BE49-F238E27FC236}">
                <a16:creationId xmlns:a16="http://schemas.microsoft.com/office/drawing/2014/main" id="{CC2A5216-C716-C7E4-6923-20C63414D686}"/>
              </a:ext>
            </a:extLst>
          </p:cNvPr>
          <p:cNvSpPr>
            <a:spLocks noChangeArrowheads="1"/>
          </p:cNvSpPr>
          <p:nvPr/>
        </p:nvSpPr>
        <p:spPr bwMode="auto">
          <a:xfrm>
            <a:off x="2105025" y="4478338"/>
            <a:ext cx="1951038" cy="533400"/>
          </a:xfrm>
          <a:prstGeom prst="rect">
            <a:avLst/>
          </a:prstGeom>
          <a:solidFill>
            <a:srgbClr val="99FFCC"/>
          </a:solidFill>
          <a:ln w="28575">
            <a:solidFill>
              <a:schemeClr val="tx1"/>
            </a:solidFill>
            <a:miter lim="800000"/>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400" i="1">
                <a:solidFill>
                  <a:srgbClr val="000099"/>
                </a:solidFill>
                <a:latin typeface="Times New Roman" panose="02020603050405020304" pitchFamily="18" charset="0"/>
              </a:rPr>
              <a:t>Secretary</a:t>
            </a:r>
          </a:p>
        </p:txBody>
      </p:sp>
      <p:sp>
        <p:nvSpPr>
          <p:cNvPr id="10264" name="Rectangle 35">
            <a:extLst>
              <a:ext uri="{FF2B5EF4-FFF2-40B4-BE49-F238E27FC236}">
                <a16:creationId xmlns:a16="http://schemas.microsoft.com/office/drawing/2014/main" id="{1E799BC3-F865-45FA-CC47-CFA342C65CE5}"/>
              </a:ext>
            </a:extLst>
          </p:cNvPr>
          <p:cNvSpPr>
            <a:spLocks noChangeArrowheads="1"/>
          </p:cNvSpPr>
          <p:nvPr/>
        </p:nvSpPr>
        <p:spPr bwMode="auto">
          <a:xfrm>
            <a:off x="4464050" y="4487863"/>
            <a:ext cx="1951038" cy="533400"/>
          </a:xfrm>
          <a:prstGeom prst="rect">
            <a:avLst/>
          </a:prstGeom>
          <a:solidFill>
            <a:srgbClr val="99FFCC"/>
          </a:solidFill>
          <a:ln w="28575">
            <a:solidFill>
              <a:schemeClr val="tx1"/>
            </a:solidFill>
            <a:miter lim="800000"/>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400" i="1">
                <a:solidFill>
                  <a:srgbClr val="000099"/>
                </a:solidFill>
                <a:latin typeface="Times New Roman" panose="02020603050405020304" pitchFamily="18" charset="0"/>
              </a:rPr>
              <a:t>Programmer</a:t>
            </a:r>
          </a:p>
        </p:txBody>
      </p:sp>
      <p:sp>
        <p:nvSpPr>
          <p:cNvPr id="10265" name="Line 36">
            <a:extLst>
              <a:ext uri="{FF2B5EF4-FFF2-40B4-BE49-F238E27FC236}">
                <a16:creationId xmlns:a16="http://schemas.microsoft.com/office/drawing/2014/main" id="{2E70346E-262D-FF49-259B-813A9D0F89C3}"/>
              </a:ext>
            </a:extLst>
          </p:cNvPr>
          <p:cNvSpPr>
            <a:spLocks noChangeShapeType="1"/>
          </p:cNvSpPr>
          <p:nvPr/>
        </p:nvSpPr>
        <p:spPr bwMode="auto">
          <a:xfrm flipH="1">
            <a:off x="3194050" y="3459164"/>
            <a:ext cx="901700" cy="974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6" name="Line 37">
            <a:extLst>
              <a:ext uri="{FF2B5EF4-FFF2-40B4-BE49-F238E27FC236}">
                <a16:creationId xmlns:a16="http://schemas.microsoft.com/office/drawing/2014/main" id="{605C9BA6-F6EB-81D5-E62B-D3F29BD2D743}"/>
              </a:ext>
            </a:extLst>
          </p:cNvPr>
          <p:cNvSpPr>
            <a:spLocks noChangeShapeType="1"/>
          </p:cNvSpPr>
          <p:nvPr/>
        </p:nvSpPr>
        <p:spPr bwMode="auto">
          <a:xfrm>
            <a:off x="4306888" y="3459164"/>
            <a:ext cx="1052512" cy="10048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7" name="Line 38">
            <a:extLst>
              <a:ext uri="{FF2B5EF4-FFF2-40B4-BE49-F238E27FC236}">
                <a16:creationId xmlns:a16="http://schemas.microsoft.com/office/drawing/2014/main" id="{7553118C-BC67-EDF4-D856-69527EB4A193}"/>
              </a:ext>
            </a:extLst>
          </p:cNvPr>
          <p:cNvSpPr>
            <a:spLocks noChangeShapeType="1"/>
          </p:cNvSpPr>
          <p:nvPr/>
        </p:nvSpPr>
        <p:spPr bwMode="auto">
          <a:xfrm>
            <a:off x="6394450" y="4708525"/>
            <a:ext cx="13731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8" name="Line 39">
            <a:extLst>
              <a:ext uri="{FF2B5EF4-FFF2-40B4-BE49-F238E27FC236}">
                <a16:creationId xmlns:a16="http://schemas.microsoft.com/office/drawing/2014/main" id="{7548CAE2-4EE7-D594-2D0C-43FCFA81BD15}"/>
              </a:ext>
            </a:extLst>
          </p:cNvPr>
          <p:cNvSpPr>
            <a:spLocks noChangeShapeType="1"/>
          </p:cNvSpPr>
          <p:nvPr/>
        </p:nvSpPr>
        <p:spPr bwMode="auto">
          <a:xfrm>
            <a:off x="7756525" y="4694239"/>
            <a:ext cx="0" cy="808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69" name="Line 40">
            <a:extLst>
              <a:ext uri="{FF2B5EF4-FFF2-40B4-BE49-F238E27FC236}">
                <a16:creationId xmlns:a16="http://schemas.microsoft.com/office/drawing/2014/main" id="{EA558CEE-BE04-8FA7-252D-F4B66969D01A}"/>
              </a:ext>
            </a:extLst>
          </p:cNvPr>
          <p:cNvSpPr>
            <a:spLocks noChangeShapeType="1"/>
          </p:cNvSpPr>
          <p:nvPr/>
        </p:nvSpPr>
        <p:spPr bwMode="auto">
          <a:xfrm flipH="1">
            <a:off x="7750175" y="5499100"/>
            <a:ext cx="7318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70" name="AutoShape 41">
            <a:extLst>
              <a:ext uri="{FF2B5EF4-FFF2-40B4-BE49-F238E27FC236}">
                <a16:creationId xmlns:a16="http://schemas.microsoft.com/office/drawing/2014/main" id="{526540C2-284B-42AA-07F4-886A207F56E7}"/>
              </a:ext>
            </a:extLst>
          </p:cNvPr>
          <p:cNvSpPr>
            <a:spLocks noChangeArrowheads="1"/>
          </p:cNvSpPr>
          <p:nvPr/>
        </p:nvSpPr>
        <p:spPr bwMode="auto">
          <a:xfrm>
            <a:off x="2090738" y="5500688"/>
            <a:ext cx="1479550" cy="457200"/>
          </a:xfrm>
          <a:prstGeom prst="roundRect">
            <a:avLst>
              <a:gd name="adj" fmla="val 16667"/>
            </a:avLst>
          </a:prstGeom>
          <a:solidFill>
            <a:schemeClr val="bg1"/>
          </a:solidFill>
          <a:ln w="28575">
            <a:solidFill>
              <a:schemeClr val="tx1"/>
            </a:solidFill>
            <a:round/>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800" i="1">
                <a:solidFill>
                  <a:srgbClr val="000099"/>
                </a:solidFill>
                <a:latin typeface="Times New Roman" panose="02020603050405020304" pitchFamily="18" charset="0"/>
              </a:rPr>
              <a:t>TypeSpeed</a:t>
            </a:r>
          </a:p>
        </p:txBody>
      </p:sp>
      <p:sp>
        <p:nvSpPr>
          <p:cNvPr id="10271" name="AutoShape 42">
            <a:extLst>
              <a:ext uri="{FF2B5EF4-FFF2-40B4-BE49-F238E27FC236}">
                <a16:creationId xmlns:a16="http://schemas.microsoft.com/office/drawing/2014/main" id="{DD2B58BC-D777-3481-193E-A19AC2CC4966}"/>
              </a:ext>
            </a:extLst>
          </p:cNvPr>
          <p:cNvSpPr>
            <a:spLocks noChangeArrowheads="1"/>
          </p:cNvSpPr>
          <p:nvPr/>
        </p:nvSpPr>
        <p:spPr bwMode="auto">
          <a:xfrm>
            <a:off x="4624388" y="5500688"/>
            <a:ext cx="1479550" cy="457200"/>
          </a:xfrm>
          <a:prstGeom prst="roundRect">
            <a:avLst>
              <a:gd name="adj" fmla="val 16667"/>
            </a:avLst>
          </a:prstGeom>
          <a:solidFill>
            <a:schemeClr val="bg1"/>
          </a:solidFill>
          <a:ln w="28575">
            <a:solidFill>
              <a:schemeClr val="tx1"/>
            </a:solidFill>
            <a:round/>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800" i="1">
                <a:solidFill>
                  <a:srgbClr val="000099"/>
                </a:solidFill>
                <a:latin typeface="Times New Roman" panose="02020603050405020304" pitchFamily="18" charset="0"/>
              </a:rPr>
              <a:t>NoOfLang</a:t>
            </a:r>
          </a:p>
        </p:txBody>
      </p:sp>
      <p:sp>
        <p:nvSpPr>
          <p:cNvPr id="10272" name="Line 43">
            <a:extLst>
              <a:ext uri="{FF2B5EF4-FFF2-40B4-BE49-F238E27FC236}">
                <a16:creationId xmlns:a16="http://schemas.microsoft.com/office/drawing/2014/main" id="{331FFB42-F787-49CD-82CB-4322231DD34B}"/>
              </a:ext>
            </a:extLst>
          </p:cNvPr>
          <p:cNvSpPr>
            <a:spLocks noChangeShapeType="1"/>
          </p:cNvSpPr>
          <p:nvPr/>
        </p:nvSpPr>
        <p:spPr bwMode="auto">
          <a:xfrm flipH="1">
            <a:off x="2692401" y="4999039"/>
            <a:ext cx="182563" cy="4714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73" name="Line 44">
            <a:extLst>
              <a:ext uri="{FF2B5EF4-FFF2-40B4-BE49-F238E27FC236}">
                <a16:creationId xmlns:a16="http://schemas.microsoft.com/office/drawing/2014/main" id="{B31681AB-5047-14A7-C790-9ADD7990BD6A}"/>
              </a:ext>
            </a:extLst>
          </p:cNvPr>
          <p:cNvSpPr>
            <a:spLocks noChangeShapeType="1"/>
          </p:cNvSpPr>
          <p:nvPr/>
        </p:nvSpPr>
        <p:spPr bwMode="auto">
          <a:xfrm>
            <a:off x="5130800" y="4999039"/>
            <a:ext cx="166688" cy="4714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74" name="Text Box 46">
            <a:extLst>
              <a:ext uri="{FF2B5EF4-FFF2-40B4-BE49-F238E27FC236}">
                <a16:creationId xmlns:a16="http://schemas.microsoft.com/office/drawing/2014/main" id="{AB0E3A0F-2BBB-770E-4B98-A58B427BE284}"/>
              </a:ext>
            </a:extLst>
          </p:cNvPr>
          <p:cNvSpPr txBox="1">
            <a:spLocks noChangeArrowheads="1"/>
          </p:cNvSpPr>
          <p:nvPr/>
        </p:nvSpPr>
        <p:spPr bwMode="auto">
          <a:xfrm>
            <a:off x="3005138" y="2590801"/>
            <a:ext cx="1104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50000"/>
              </a:spcBef>
              <a:buFontTx/>
              <a:buNone/>
            </a:pPr>
            <a:r>
              <a:rPr lang="en-US" altLang="en-US" sz="1800" i="1">
                <a:solidFill>
                  <a:srgbClr val="000099"/>
                </a:solidFill>
                <a:latin typeface="Times New Roman" panose="02020603050405020304" pitchFamily="18" charset="0"/>
              </a:rPr>
              <a:t>Position</a:t>
            </a:r>
          </a:p>
        </p:txBody>
      </p:sp>
      <p:sp>
        <p:nvSpPr>
          <p:cNvPr id="10275" name="AutoShape 47">
            <a:extLst>
              <a:ext uri="{FF2B5EF4-FFF2-40B4-BE49-F238E27FC236}">
                <a16:creationId xmlns:a16="http://schemas.microsoft.com/office/drawing/2014/main" id="{66349B6B-2E1A-BBD5-5026-D1914EA9415C}"/>
              </a:ext>
            </a:extLst>
          </p:cNvPr>
          <p:cNvSpPr>
            <a:spLocks noChangeArrowheads="1"/>
          </p:cNvSpPr>
          <p:nvPr/>
        </p:nvSpPr>
        <p:spPr bwMode="auto">
          <a:xfrm>
            <a:off x="5268913" y="1317625"/>
            <a:ext cx="1479550" cy="457200"/>
          </a:xfrm>
          <a:prstGeom prst="roundRect">
            <a:avLst>
              <a:gd name="adj" fmla="val 16667"/>
            </a:avLst>
          </a:prstGeom>
          <a:solidFill>
            <a:schemeClr val="bg1"/>
          </a:solidFill>
          <a:ln w="28575">
            <a:solidFill>
              <a:schemeClr val="tx1"/>
            </a:solidFill>
            <a:round/>
            <a:headEnd/>
            <a:tailEnd/>
          </a:ln>
        </p:spPr>
        <p:txBody>
          <a:bodyPr wrap="none"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800" i="1">
                <a:solidFill>
                  <a:srgbClr val="000099"/>
                </a:solidFill>
                <a:latin typeface="Times New Roman" panose="02020603050405020304" pitchFamily="18" charset="0"/>
              </a:rPr>
              <a:t>Position</a:t>
            </a:r>
          </a:p>
        </p:txBody>
      </p:sp>
      <p:sp>
        <p:nvSpPr>
          <p:cNvPr id="10276" name="Line 48">
            <a:extLst>
              <a:ext uri="{FF2B5EF4-FFF2-40B4-BE49-F238E27FC236}">
                <a16:creationId xmlns:a16="http://schemas.microsoft.com/office/drawing/2014/main" id="{E599367C-5CD9-237E-1461-2CB89D36D139}"/>
              </a:ext>
            </a:extLst>
          </p:cNvPr>
          <p:cNvSpPr>
            <a:spLocks noChangeShapeType="1"/>
          </p:cNvSpPr>
          <p:nvPr/>
        </p:nvSpPr>
        <p:spPr bwMode="auto">
          <a:xfrm flipH="1">
            <a:off x="5321300" y="1768475"/>
            <a:ext cx="198438"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0277" name="AutoShape 49">
            <a:extLst>
              <a:ext uri="{FF2B5EF4-FFF2-40B4-BE49-F238E27FC236}">
                <a16:creationId xmlns:a16="http://schemas.microsoft.com/office/drawing/2014/main" id="{37AB5B99-6808-CE5C-A851-1CC13F5C593F}"/>
              </a:ext>
            </a:extLst>
          </p:cNvPr>
          <p:cNvSpPr>
            <a:spLocks noChangeArrowheads="1"/>
          </p:cNvSpPr>
          <p:nvPr/>
        </p:nvSpPr>
        <p:spPr bwMode="auto">
          <a:xfrm>
            <a:off x="2243138" y="3149600"/>
            <a:ext cx="1473200" cy="609600"/>
          </a:xfrm>
          <a:prstGeom prst="wedgeRoundRectCallout">
            <a:avLst>
              <a:gd name="adj1" fmla="val -3880"/>
              <a:gd name="adj2" fmla="val -150782"/>
              <a:gd name="adj3" fmla="val 16667"/>
            </a:avLst>
          </a:prstGeom>
          <a:solidFill>
            <a:schemeClr val="bg1"/>
          </a:solidFill>
          <a:ln w="28575">
            <a:solidFill>
              <a:srgbClr val="FF66FF"/>
            </a:solidFill>
            <a:miter lim="800000"/>
            <a:headEnd/>
            <a:tailEnd/>
          </a:ln>
        </p:spPr>
        <p:txBody>
          <a:bodyPr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600">
                <a:solidFill>
                  <a:srgbClr val="FF66FF"/>
                </a:solidFill>
                <a:latin typeface="Times New Roman" panose="02020603050405020304" pitchFamily="18" charset="0"/>
              </a:rPr>
              <a:t>Superclass</a:t>
            </a:r>
            <a:endParaRPr lang="en-GB" altLang="en-US" sz="1600">
              <a:solidFill>
                <a:srgbClr val="FF66FF"/>
              </a:solidFill>
              <a:latin typeface="Times New Roman" panose="02020603050405020304" pitchFamily="18" charset="0"/>
            </a:endParaRPr>
          </a:p>
        </p:txBody>
      </p:sp>
      <p:sp>
        <p:nvSpPr>
          <p:cNvPr id="10278" name="AutoShape 50">
            <a:extLst>
              <a:ext uri="{FF2B5EF4-FFF2-40B4-BE49-F238E27FC236}">
                <a16:creationId xmlns:a16="http://schemas.microsoft.com/office/drawing/2014/main" id="{37CC01C5-194E-BA1C-B498-EAC8ADFA8BCB}"/>
              </a:ext>
            </a:extLst>
          </p:cNvPr>
          <p:cNvSpPr>
            <a:spLocks noChangeArrowheads="1"/>
          </p:cNvSpPr>
          <p:nvPr/>
        </p:nvSpPr>
        <p:spPr bwMode="auto">
          <a:xfrm>
            <a:off x="6434138" y="5588000"/>
            <a:ext cx="1422400" cy="609600"/>
          </a:xfrm>
          <a:prstGeom prst="wedgeRoundRectCallout">
            <a:avLst>
              <a:gd name="adj1" fmla="val -59375"/>
              <a:gd name="adj2" fmla="val -142449"/>
              <a:gd name="adj3" fmla="val 16667"/>
            </a:avLst>
          </a:prstGeom>
          <a:solidFill>
            <a:schemeClr val="bg1"/>
          </a:solidFill>
          <a:ln w="28575">
            <a:solidFill>
              <a:schemeClr val="accent1"/>
            </a:solidFill>
            <a:miter lim="800000"/>
            <a:headEnd/>
            <a:tailEnd/>
          </a:ln>
        </p:spPr>
        <p:txBody>
          <a:bodyPr anchor="ct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1600">
                <a:solidFill>
                  <a:schemeClr val="accent1"/>
                </a:solidFill>
                <a:latin typeface="Times New Roman" panose="02020603050405020304" pitchFamily="18" charset="0"/>
              </a:rPr>
              <a:t>Subclass</a:t>
            </a:r>
            <a:endParaRPr lang="en-GB" altLang="en-US" sz="1600">
              <a:solidFill>
                <a:schemeClr val="accent1"/>
              </a:solidFill>
              <a:latin typeface="Times New Roman" panose="02020603050405020304" pitchFamily="18" charset="0"/>
            </a:endParaRPr>
          </a:p>
        </p:txBody>
      </p:sp>
      <p:sp>
        <p:nvSpPr>
          <p:cNvPr id="10279" name="Text Box 20">
            <a:extLst>
              <a:ext uri="{FF2B5EF4-FFF2-40B4-BE49-F238E27FC236}">
                <a16:creationId xmlns:a16="http://schemas.microsoft.com/office/drawing/2014/main" id="{739772C0-8AE7-5435-FA49-73F55E992C72}"/>
              </a:ext>
            </a:extLst>
          </p:cNvPr>
          <p:cNvSpPr txBox="1">
            <a:spLocks noChangeArrowheads="1"/>
          </p:cNvSpPr>
          <p:nvPr/>
        </p:nvSpPr>
        <p:spPr bwMode="auto">
          <a:xfrm>
            <a:off x="6543675" y="4214813"/>
            <a:ext cx="28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16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Verdana" panose="020B0604030504040204" pitchFamily="34" charset="0"/>
              </a:defRPr>
            </a:lvl9pPr>
          </a:lstStyle>
          <a:p>
            <a:pPr>
              <a:spcBef>
                <a:spcPct val="0"/>
              </a:spcBef>
              <a:buFontTx/>
              <a:buNone/>
            </a:pPr>
            <a:r>
              <a:rPr lang="en-US" altLang="en-US" sz="2000" i="1">
                <a:solidFill>
                  <a:srgbClr val="000099"/>
                </a:solidFill>
                <a:latin typeface="Times New Roman" panose="02020603050405020304" pitchFamily="18" charset="0"/>
              </a:rPr>
              <a:t>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90489A2-9954-1753-292B-98A127FDA150}"/>
              </a:ext>
            </a:extLst>
          </p:cNvPr>
          <p:cNvSpPr>
            <a:spLocks noGrp="1" noChangeArrowheads="1"/>
          </p:cNvSpPr>
          <p:nvPr>
            <p:ph type="title"/>
          </p:nvPr>
        </p:nvSpPr>
        <p:spPr/>
        <p:txBody>
          <a:bodyPr/>
          <a:lstStyle/>
          <a:p>
            <a:r>
              <a:rPr lang="en-US" altLang="en-US" dirty="0"/>
              <a:t>Superclass / Subclass Relationship</a:t>
            </a:r>
          </a:p>
        </p:txBody>
      </p:sp>
      <p:sp>
        <p:nvSpPr>
          <p:cNvPr id="13315" name="Rectangle 3">
            <a:extLst>
              <a:ext uri="{FF2B5EF4-FFF2-40B4-BE49-F238E27FC236}">
                <a16:creationId xmlns:a16="http://schemas.microsoft.com/office/drawing/2014/main" id="{AF0E3343-3EDE-9E2B-4787-38095A50E953}"/>
              </a:ext>
            </a:extLst>
          </p:cNvPr>
          <p:cNvSpPr>
            <a:spLocks noGrp="1" noChangeArrowheads="1"/>
          </p:cNvSpPr>
          <p:nvPr>
            <p:ph type="body" idx="1"/>
          </p:nvPr>
        </p:nvSpPr>
        <p:spPr/>
        <p:txBody>
          <a:bodyPr/>
          <a:lstStyle/>
          <a:p>
            <a:pPr>
              <a:lnSpc>
                <a:spcPct val="90000"/>
              </a:lnSpc>
            </a:pPr>
            <a:r>
              <a:rPr lang="en-US" altLang="en-US" sz="2000" dirty="0"/>
              <a:t>A </a:t>
            </a:r>
            <a:r>
              <a:rPr lang="en-US" altLang="en-US" sz="2000" dirty="0">
                <a:solidFill>
                  <a:schemeClr val="accent2"/>
                </a:solidFill>
              </a:rPr>
              <a:t>subclass</a:t>
            </a:r>
            <a:r>
              <a:rPr lang="en-US" altLang="en-US" sz="2000" dirty="0"/>
              <a:t> contains only </a:t>
            </a:r>
            <a:r>
              <a:rPr lang="en-US" altLang="en-US" sz="2000" dirty="0">
                <a:solidFill>
                  <a:srgbClr val="FF0000"/>
                </a:solidFill>
              </a:rPr>
              <a:t>specific attributes</a:t>
            </a:r>
            <a:r>
              <a:rPr lang="en-US" altLang="en-US" sz="2000" dirty="0"/>
              <a:t> and may participate in relationship types by its own </a:t>
            </a:r>
          </a:p>
          <a:p>
            <a:pPr>
              <a:lnSpc>
                <a:spcPct val="90000"/>
              </a:lnSpc>
            </a:pPr>
            <a:r>
              <a:rPr lang="en-US" altLang="en-US" sz="2000" dirty="0"/>
              <a:t>A subclass is a specialization of its superclass</a:t>
            </a:r>
          </a:p>
          <a:p>
            <a:pPr>
              <a:lnSpc>
                <a:spcPct val="90000"/>
              </a:lnSpc>
            </a:pPr>
            <a:r>
              <a:rPr lang="en-US" altLang="en-US" sz="2000" dirty="0"/>
              <a:t>The superclass is generalization of all its subclasses</a:t>
            </a:r>
          </a:p>
          <a:p>
            <a:pPr>
              <a:lnSpc>
                <a:spcPct val="90000"/>
              </a:lnSpc>
            </a:pPr>
            <a:r>
              <a:rPr lang="en-US" altLang="en-US" sz="2000" dirty="0"/>
              <a:t>Specialization and generalization are inverses of each other</a:t>
            </a:r>
          </a:p>
          <a:p>
            <a:pPr>
              <a:lnSpc>
                <a:spcPct val="90000"/>
              </a:lnSpc>
            </a:pPr>
            <a:r>
              <a:rPr lang="en-US" altLang="en-US" sz="2000" dirty="0"/>
              <a:t>An instance of the subclass is also an instance of the superclass</a:t>
            </a:r>
          </a:p>
          <a:p>
            <a:pPr>
              <a:lnSpc>
                <a:spcPct val="90000"/>
              </a:lnSpc>
            </a:pPr>
            <a:r>
              <a:rPr lang="en-US" altLang="en-US" sz="2000" dirty="0"/>
              <a:t>These two instances represent the same real entity</a:t>
            </a:r>
          </a:p>
          <a:p>
            <a:pPr>
              <a:lnSpc>
                <a:spcPct val="90000"/>
              </a:lnSpc>
            </a:pPr>
            <a:r>
              <a:rPr lang="en-US" altLang="en-US" sz="2000" dirty="0"/>
              <a:t>A subclass instance inherits all the superclass attribute values and all relationship participations from its image in the superclass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428</Words>
  <Application>Microsoft Office PowerPoint</Application>
  <PresentationFormat>Widescreen</PresentationFormat>
  <Paragraphs>103</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Aptos Display</vt:lpstr>
      <vt:lpstr>Arial</vt:lpstr>
      <vt:lpstr>inherit</vt:lpstr>
      <vt:lpstr>Lato</vt:lpstr>
      <vt:lpstr>Times New Roman</vt:lpstr>
      <vt:lpstr>Verdana</vt:lpstr>
      <vt:lpstr>Office Theme</vt:lpstr>
      <vt:lpstr>Boyce-Codd Normal Form (BCNF)</vt:lpstr>
      <vt:lpstr>Boyce-Codd Normal Form (BCNF)</vt:lpstr>
      <vt:lpstr>Decomposition for BCNF </vt:lpstr>
      <vt:lpstr>Superclass / Subclass Relationship</vt:lpstr>
      <vt:lpstr>Superclass / Subclass Relationship</vt:lpstr>
      <vt:lpstr>Superclass / Subclass Relationship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Shoaib M Khan</dc:creator>
  <cp:lastModifiedBy>Shoaib M Khan</cp:lastModifiedBy>
  <cp:revision>5</cp:revision>
  <dcterms:created xsi:type="dcterms:W3CDTF">2025-04-11T18:31:41Z</dcterms:created>
  <dcterms:modified xsi:type="dcterms:W3CDTF">2025-04-12T11:55:29Z</dcterms:modified>
</cp:coreProperties>
</file>