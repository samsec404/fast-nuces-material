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60" r:id="rId5"/>
    <p:sldId id="261" r:id="rId6"/>
    <p:sldId id="262" r:id="rId7"/>
    <p:sldId id="305" r:id="rId8"/>
    <p:sldId id="306" r:id="rId9"/>
    <p:sldId id="307" r:id="rId10"/>
    <p:sldId id="309" r:id="rId11"/>
    <p:sldId id="311" r:id="rId12"/>
    <p:sldId id="312" r:id="rId13"/>
    <p:sldId id="325" r:id="rId14"/>
    <p:sldId id="326" r:id="rId15"/>
    <p:sldId id="327" r:id="rId16"/>
    <p:sldId id="328" r:id="rId17"/>
    <p:sldId id="329" r:id="rId18"/>
    <p:sldId id="330" r:id="rId19"/>
    <p:sldId id="331" r:id="rId20"/>
    <p:sldId id="332" r:id="rId21"/>
    <p:sldId id="333" r:id="rId22"/>
    <p:sldId id="334" r:id="rId23"/>
    <p:sldId id="335" r:id="rId24"/>
    <p:sldId id="336" r:id="rId25"/>
    <p:sldId id="318" r:id="rId26"/>
    <p:sldId id="319" r:id="rId27"/>
    <p:sldId id="320" r:id="rId28"/>
    <p:sldId id="321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29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1FD01B-CC7A-4E55-AD34-2F330B028765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0CB6CE-FC72-47C1-91ED-BD3DD7D17FC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597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888513" y="686540"/>
            <a:ext cx="5080975" cy="3428261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88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6130" y="4344140"/>
            <a:ext cx="5485742" cy="411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99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6130" y="4344140"/>
            <a:ext cx="5485742" cy="411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0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6130" y="4344140"/>
            <a:ext cx="5485742" cy="411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60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6130" y="4344140"/>
            <a:ext cx="5485742" cy="411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70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6130" y="4344140"/>
            <a:ext cx="5485742" cy="411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0CB6CE-FC72-47C1-91ED-BD3DD7D17FC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0135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98575" y="801688"/>
            <a:ext cx="4260850" cy="3195637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73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7738" y="4335121"/>
            <a:ext cx="4975225" cy="3852450"/>
          </a:xfrm>
          <a:prstGeom prst="rect">
            <a:avLst/>
          </a:prstGeom>
          <a:noFill/>
          <a:ln w="12700">
            <a:miter lim="800000"/>
            <a:headEnd/>
            <a:tailEnd/>
          </a:ln>
        </p:spPr>
        <p:txBody>
          <a:bodyPr lIns="90488" tIns="44450" rIns="90488" bIns="4445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98575" y="801688"/>
            <a:ext cx="4260850" cy="3195637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94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7738" y="4335121"/>
            <a:ext cx="4975225" cy="3852450"/>
          </a:xfrm>
          <a:prstGeom prst="rect">
            <a:avLst/>
          </a:prstGeom>
          <a:noFill/>
          <a:ln w="12700">
            <a:miter lim="800000"/>
            <a:headEnd/>
            <a:tailEnd/>
          </a:ln>
        </p:spPr>
        <p:txBody>
          <a:bodyPr lIns="90488" tIns="44450" rIns="90488" bIns="4445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25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4032"/>
            <a:ext cx="5486400" cy="4113834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98575" y="801688"/>
            <a:ext cx="4260850" cy="3195637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7738" y="4335121"/>
            <a:ext cx="4975225" cy="3852450"/>
          </a:xfrm>
          <a:prstGeom prst="rect">
            <a:avLst/>
          </a:prstGeom>
          <a:noFill/>
          <a:ln w="12700">
            <a:miter lim="800000"/>
            <a:headEnd/>
            <a:tailEnd/>
          </a:ln>
        </p:spPr>
        <p:txBody>
          <a:bodyPr lIns="90488" tIns="44450" rIns="90488" bIns="4445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55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4032"/>
            <a:ext cx="5486400" cy="4113834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98575" y="801688"/>
            <a:ext cx="4260850" cy="3195637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7738" y="4335121"/>
            <a:ext cx="4975225" cy="3852450"/>
          </a:xfrm>
          <a:prstGeom prst="rect">
            <a:avLst/>
          </a:prstGeom>
          <a:noFill/>
          <a:ln w="12700">
            <a:miter lim="800000"/>
            <a:headEnd/>
            <a:tailEnd/>
          </a:ln>
        </p:spPr>
        <p:txBody>
          <a:bodyPr lIns="90488" tIns="44450" rIns="90488" bIns="4445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0CB6CE-FC72-47C1-91ED-BD3DD7D17FC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2383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0CB6CE-FC72-47C1-91ED-BD3DD7D17FC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9810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0CB6CE-FC72-47C1-91ED-BD3DD7D17FC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6820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0CB6CE-FC72-47C1-91ED-BD3DD7D17FC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5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0CB6CE-FC72-47C1-91ED-BD3DD7D17FC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0869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0CB6CE-FC72-47C1-91ED-BD3DD7D17FC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3625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0CB6CE-FC72-47C1-91ED-BD3DD7D17FC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7304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0CB6CE-FC72-47C1-91ED-BD3DD7D17FC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7330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66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4032"/>
            <a:ext cx="5486400" cy="4113834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98575" y="801688"/>
            <a:ext cx="4260850" cy="3195637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7738" y="4335121"/>
            <a:ext cx="4975225" cy="3852450"/>
          </a:xfrm>
          <a:prstGeom prst="rect">
            <a:avLst/>
          </a:prstGeom>
          <a:noFill/>
          <a:ln w="12700">
            <a:miter lim="800000"/>
            <a:headEnd/>
            <a:tailEnd/>
          </a:ln>
        </p:spPr>
        <p:txBody>
          <a:bodyPr lIns="90488" tIns="44450" rIns="90488" bIns="4445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98575" y="801688"/>
            <a:ext cx="4260850" cy="3195637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7738" y="4335121"/>
            <a:ext cx="4975225" cy="3852450"/>
          </a:xfrm>
          <a:prstGeom prst="rect">
            <a:avLst/>
          </a:prstGeom>
          <a:noFill/>
          <a:ln w="12700">
            <a:miter lim="800000"/>
            <a:headEnd/>
            <a:tailEnd/>
          </a:ln>
        </p:spPr>
        <p:txBody>
          <a:bodyPr lIns="90488" tIns="44450" rIns="90488" bIns="4445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98575" y="801688"/>
            <a:ext cx="4260850" cy="3195637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7738" y="4335121"/>
            <a:ext cx="4975225" cy="3852450"/>
          </a:xfrm>
          <a:prstGeom prst="rect">
            <a:avLst/>
          </a:prstGeom>
          <a:noFill/>
          <a:ln w="12700">
            <a:miter lim="800000"/>
            <a:headEnd/>
            <a:tailEnd/>
          </a:ln>
        </p:spPr>
        <p:txBody>
          <a:bodyPr lIns="90488" tIns="44450" rIns="90488" bIns="44450"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66700"/>
            <a:ext cx="7772400" cy="11049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035050" y="1676400"/>
            <a:ext cx="772795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6858000" y="61722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083B231B-4F87-4661-866B-95409D46E7FB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235FF0-D101-416B-9C7C-FA427A3D27C2}" type="slidenum">
              <a:rPr lang="en-GB"/>
              <a:pPr/>
              <a:t>1</a:t>
            </a:fld>
            <a:endParaRPr lang="en-GB"/>
          </a:p>
        </p:txBody>
      </p:sp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>
                <a:latin typeface="Times" pitchFamily="18" charset="0"/>
              </a:rPr>
              <a:t>Differences between Three Levels of ANSI-SPARC Architecture</a:t>
            </a:r>
          </a:p>
        </p:txBody>
      </p:sp>
      <p:pic>
        <p:nvPicPr>
          <p:cNvPr id="61445" name="Picture 5" descr="DS3-Figure 02-0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90600" y="1828800"/>
            <a:ext cx="7239000" cy="4179888"/>
          </a:xfrm>
          <a:prstGeom prst="rect">
            <a:avLst/>
          </a:prstGeom>
          <a:noFill/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619AA-4AD7-4FD5-9EBD-7984A26269A6}" type="slidenum">
              <a:rPr lang="en-GB"/>
              <a:pPr/>
              <a:t>2</a:t>
            </a:fld>
            <a:endParaRPr lang="en-GB"/>
          </a:p>
        </p:txBody>
      </p:sp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b="1">
                <a:latin typeface="Times" pitchFamily="18" charset="0"/>
              </a:rPr>
              <a:t>Data Independence</a:t>
            </a:r>
            <a:endParaRPr lang="en-GB" b="1">
              <a:solidFill>
                <a:schemeClr val="tx1"/>
              </a:solidFill>
              <a:latin typeface="Times" pitchFamily="18" charset="0"/>
            </a:endParaRP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76400"/>
            <a:ext cx="7727950" cy="4114800"/>
          </a:xfrm>
        </p:spPr>
        <p:txBody>
          <a:bodyPr/>
          <a:lstStyle/>
          <a:p>
            <a:r>
              <a:rPr lang="en-GB" dirty="0">
                <a:latin typeface="Times" pitchFamily="18" charset="0"/>
              </a:rPr>
              <a:t>Logical Data Independence</a:t>
            </a:r>
          </a:p>
          <a:p>
            <a:pPr lvl="1"/>
            <a:r>
              <a:rPr lang="en-GB" dirty="0">
                <a:latin typeface="Times" pitchFamily="18" charset="0"/>
              </a:rPr>
              <a:t>Refers to immunity of external schemas to changes in conceptual schema.</a:t>
            </a:r>
          </a:p>
          <a:p>
            <a:pPr lvl="1"/>
            <a:r>
              <a:rPr lang="en-GB" dirty="0">
                <a:latin typeface="Times" pitchFamily="18" charset="0"/>
              </a:rPr>
              <a:t>Conceptual schema changes (e.g. addition/removal of entities).</a:t>
            </a:r>
          </a:p>
          <a:p>
            <a:pPr lvl="1"/>
            <a:r>
              <a:rPr lang="en-GB" dirty="0">
                <a:latin typeface="Times" pitchFamily="18" charset="0"/>
              </a:rPr>
              <a:t>Should not require changes to external schema or rewrites of application programs. 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2ECB10-958B-4890-B5C7-96D842811AA3}" type="slidenum">
              <a:rPr lang="en-GB"/>
              <a:pPr/>
              <a:t>3</a:t>
            </a:fld>
            <a:endParaRPr lang="en-GB"/>
          </a:p>
        </p:txBody>
      </p:sp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b="1">
                <a:latin typeface="Times" pitchFamily="18" charset="0"/>
              </a:rPr>
              <a:t>Data Independence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76400"/>
            <a:ext cx="7924800" cy="4114800"/>
          </a:xfrm>
        </p:spPr>
        <p:txBody>
          <a:bodyPr/>
          <a:lstStyle/>
          <a:p>
            <a:r>
              <a:rPr lang="en-GB" dirty="0">
                <a:latin typeface="Times" pitchFamily="18" charset="0"/>
              </a:rPr>
              <a:t>Physical Data Independence</a:t>
            </a:r>
          </a:p>
          <a:p>
            <a:pPr lvl="1"/>
            <a:r>
              <a:rPr lang="en-GB" dirty="0">
                <a:latin typeface="Times" pitchFamily="18" charset="0"/>
              </a:rPr>
              <a:t>Refers to immunity of conceptual schema to changes in the internal schema.</a:t>
            </a:r>
          </a:p>
          <a:p>
            <a:pPr lvl="1"/>
            <a:r>
              <a:rPr lang="en-GB" dirty="0">
                <a:latin typeface="Times" pitchFamily="18" charset="0"/>
              </a:rPr>
              <a:t>Internal schema changes (e.g. using different file organizations, storage structures/devices).</a:t>
            </a:r>
          </a:p>
          <a:p>
            <a:pPr lvl="1"/>
            <a:r>
              <a:rPr lang="en-GB" dirty="0">
                <a:latin typeface="Times" pitchFamily="18" charset="0"/>
              </a:rPr>
              <a:t>Should not require change to conceptual or external schemas.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9B74DC-E82D-4DB9-B1A0-40557C96499B}" type="slidenum">
              <a:rPr lang="en-GB"/>
              <a:pPr/>
              <a:t>4</a:t>
            </a:fld>
            <a:endParaRPr lang="en-GB"/>
          </a:p>
        </p:txBody>
      </p:sp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Times" pitchFamily="18" charset="0"/>
              </a:rPr>
              <a:t>Data Model</a:t>
            </a:r>
            <a:endParaRPr lang="en-GB" b="1" dirty="0">
              <a:solidFill>
                <a:schemeClr val="tx1"/>
              </a:solidFill>
              <a:latin typeface="Times" pitchFamily="18" charset="0"/>
            </a:endParaRP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76400"/>
            <a:ext cx="7727950" cy="4114800"/>
          </a:xfrm>
        </p:spPr>
        <p:txBody>
          <a:bodyPr>
            <a:normAutofit/>
          </a:bodyPr>
          <a:lstStyle/>
          <a:p>
            <a:endParaRPr lang="en-GB" dirty="0">
              <a:latin typeface="Times" pitchFamily="18" charset="0"/>
            </a:endParaRPr>
          </a:p>
          <a:p>
            <a:r>
              <a:rPr lang="en-GB" dirty="0">
                <a:latin typeface="Times" pitchFamily="18" charset="0"/>
              </a:rPr>
              <a:t>Data Model comprises:</a:t>
            </a:r>
          </a:p>
          <a:p>
            <a:pPr lvl="1"/>
            <a:r>
              <a:rPr lang="en-GB" dirty="0">
                <a:latin typeface="Times" pitchFamily="18" charset="0"/>
              </a:rPr>
              <a:t>A structural part</a:t>
            </a:r>
          </a:p>
          <a:p>
            <a:pPr lvl="1"/>
            <a:r>
              <a:rPr lang="en-GB" dirty="0">
                <a:latin typeface="Times" pitchFamily="18" charset="0"/>
              </a:rPr>
              <a:t>A manipulative part</a:t>
            </a:r>
          </a:p>
          <a:p>
            <a:pPr lvl="1"/>
            <a:r>
              <a:rPr lang="en-GB" dirty="0">
                <a:latin typeface="Times" pitchFamily="18" charset="0"/>
              </a:rPr>
              <a:t>Possibly a set of integrity rules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246D30-7A45-4127-8D16-97D62694CE80}" type="slidenum">
              <a:rPr lang="en-GB"/>
              <a:pPr/>
              <a:t>5</a:t>
            </a:fld>
            <a:endParaRPr lang="en-GB" dirty="0"/>
          </a:p>
        </p:txBody>
      </p:sp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b="1">
                <a:latin typeface="Times" pitchFamily="18" charset="0"/>
              </a:rPr>
              <a:t>Data Model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76400"/>
            <a:ext cx="7848600" cy="4114800"/>
          </a:xfrm>
        </p:spPr>
        <p:txBody>
          <a:bodyPr/>
          <a:lstStyle/>
          <a:p>
            <a:r>
              <a:rPr lang="en-GB" dirty="0">
                <a:latin typeface="Times" pitchFamily="18" charset="0"/>
              </a:rPr>
              <a:t>Purpose</a:t>
            </a:r>
          </a:p>
          <a:p>
            <a:pPr lvl="1"/>
            <a:r>
              <a:rPr lang="en-GB" dirty="0">
                <a:latin typeface="Times" pitchFamily="18" charset="0"/>
              </a:rPr>
              <a:t>To represent data in an understandable way.</a:t>
            </a:r>
          </a:p>
          <a:p>
            <a:pPr lvl="1"/>
            <a:endParaRPr lang="en-GB" b="1" dirty="0">
              <a:latin typeface="Times" pitchFamily="18" charset="0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1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Relational Systems</a:t>
            </a:r>
          </a:p>
        </p:txBody>
      </p:sp>
      <p:sp>
        <p:nvSpPr>
          <p:cNvPr id="21508" name="Rectangle 4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sz="2800" dirty="0"/>
              <a:t>Then, in 1970,E. F. </a:t>
            </a:r>
            <a:r>
              <a:rPr lang="en-GB" sz="2800" dirty="0" err="1"/>
              <a:t>Codd</a:t>
            </a:r>
            <a:r>
              <a:rPr lang="en-GB" sz="2800" dirty="0"/>
              <a:t> wrote “A Relational Model of Data for Large Shared Databanks” and introduced the relational model</a:t>
            </a:r>
          </a:p>
          <a:p>
            <a:r>
              <a:rPr lang="en-GB" sz="2800" dirty="0"/>
              <a:t>Information is stored as </a:t>
            </a:r>
            <a:r>
              <a:rPr lang="en-GB" sz="2800" i="1" dirty="0" err="1"/>
              <a:t>tuples</a:t>
            </a:r>
            <a:r>
              <a:rPr lang="en-GB" sz="2800" dirty="0"/>
              <a:t> or </a:t>
            </a:r>
            <a:r>
              <a:rPr lang="en-GB" sz="2800" i="1" dirty="0"/>
              <a:t>records</a:t>
            </a:r>
            <a:r>
              <a:rPr lang="en-GB" sz="2800" dirty="0"/>
              <a:t> in </a:t>
            </a:r>
            <a:r>
              <a:rPr lang="en-GB" sz="2800" i="1" dirty="0"/>
              <a:t>relations</a:t>
            </a:r>
            <a:r>
              <a:rPr lang="en-GB" sz="2800" dirty="0"/>
              <a:t> or </a:t>
            </a:r>
            <a:r>
              <a:rPr lang="en-GB" sz="2800" i="1" dirty="0"/>
              <a:t>tables</a:t>
            </a:r>
            <a:endParaRPr lang="en-GB" sz="2800" dirty="0"/>
          </a:p>
          <a:p>
            <a:r>
              <a:rPr lang="en-GB" sz="2800" dirty="0"/>
              <a:t>Most modern DBMS are based on the relational model</a:t>
            </a:r>
          </a:p>
          <a:p>
            <a:r>
              <a:rPr lang="en-GB" sz="3000" dirty="0"/>
              <a:t>The relational model  covers 3 areas:</a:t>
            </a:r>
          </a:p>
          <a:p>
            <a:pPr lvl="1"/>
            <a:r>
              <a:rPr lang="en-GB" sz="3000" dirty="0"/>
              <a:t>Data structure</a:t>
            </a:r>
          </a:p>
          <a:p>
            <a:pPr lvl="1"/>
            <a:r>
              <a:rPr lang="en-GB" sz="3000" dirty="0"/>
              <a:t>Data manipulation</a:t>
            </a:r>
          </a:p>
          <a:p>
            <a:pPr lvl="1"/>
            <a:r>
              <a:rPr lang="en-GB" sz="3200" dirty="0"/>
              <a:t>Data integrity</a:t>
            </a:r>
          </a:p>
          <a:p>
            <a:pPr lvl="1"/>
            <a:endParaRPr lang="en-GB" sz="3000" i="1" dirty="0"/>
          </a:p>
          <a:p>
            <a:endParaRPr lang="en-GB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15C34A-E3E4-4C1A-AD6D-0436C5AC20FC}" type="slidenum">
              <a:rPr lang="en-GB"/>
              <a:pPr/>
              <a:t>7</a:t>
            </a:fld>
            <a:endParaRPr lang="en-GB"/>
          </a:p>
        </p:txBody>
      </p:sp>
      <p:sp>
        <p:nvSpPr>
          <p:cNvPr id="18637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8" tIns="44450" rIns="90488" bIns="44450"/>
          <a:lstStyle/>
          <a:p>
            <a:r>
              <a:rPr lang="en-GB" b="1"/>
              <a:t>Relational Model Terminology</a:t>
            </a:r>
          </a:p>
        </p:txBody>
      </p:sp>
      <p:sp>
        <p:nvSpPr>
          <p:cNvPr id="186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76400"/>
            <a:ext cx="7727950" cy="4114800"/>
          </a:xfrm>
          <a:noFill/>
          <a:ln/>
        </p:spPr>
        <p:txBody>
          <a:bodyPr lIns="90488" tIns="44450" rIns="90488" bIns="44450">
            <a:normAutofit/>
          </a:bodyPr>
          <a:lstStyle/>
          <a:p>
            <a:r>
              <a:rPr lang="en-GB" dirty="0"/>
              <a:t>A relation is a table with columns and rows.</a:t>
            </a:r>
          </a:p>
          <a:p>
            <a:pPr lvl="1">
              <a:buFontTx/>
              <a:buNone/>
            </a:pPr>
            <a:endParaRPr lang="en-GB" dirty="0"/>
          </a:p>
          <a:p>
            <a:r>
              <a:rPr lang="en-GB" dirty="0"/>
              <a:t>Attribute is a named column of a relation.</a:t>
            </a:r>
          </a:p>
          <a:p>
            <a:endParaRPr lang="en-GB" dirty="0"/>
          </a:p>
          <a:p>
            <a:r>
              <a:rPr lang="en-GB" dirty="0"/>
              <a:t>Domain is the set of allowable values for one or more attributes.</a:t>
            </a:r>
          </a:p>
        </p:txBody>
      </p:sp>
    </p:spTree>
  </p:cSld>
  <p:clrMapOvr>
    <a:masterClrMapping/>
  </p:clrMapOvr>
  <p:transition>
    <p:wipe dir="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F2D245-A5F4-435A-B920-6247BA58177D}" type="slidenum">
              <a:rPr lang="en-GB"/>
              <a:pPr/>
              <a:t>8</a:t>
            </a:fld>
            <a:endParaRPr lang="en-GB"/>
          </a:p>
        </p:txBody>
      </p:sp>
      <p:sp>
        <p:nvSpPr>
          <p:cNvPr id="18841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8" tIns="44450" rIns="90488" bIns="44450"/>
          <a:lstStyle/>
          <a:p>
            <a:r>
              <a:rPr lang="en-GB" b="1"/>
              <a:t>Relational Model Terminology</a:t>
            </a:r>
          </a:p>
        </p:txBody>
      </p:sp>
      <p:sp>
        <p:nvSpPr>
          <p:cNvPr id="188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752600"/>
            <a:ext cx="8077200" cy="4114800"/>
          </a:xfrm>
          <a:noFill/>
          <a:ln/>
        </p:spPr>
        <p:txBody>
          <a:bodyPr lIns="90488" tIns="44450" rIns="90488" bIns="44450">
            <a:normAutofit fontScale="92500" lnSpcReduction="10000"/>
          </a:bodyPr>
          <a:lstStyle/>
          <a:p>
            <a:pPr algn="just"/>
            <a:r>
              <a:rPr lang="en-GB" dirty="0" err="1"/>
              <a:t>Tuple</a:t>
            </a:r>
            <a:r>
              <a:rPr lang="en-GB" dirty="0"/>
              <a:t> is a row of a relation.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Degree is the number of attributes in a relation.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Cardinality is the number of </a:t>
            </a:r>
            <a:r>
              <a:rPr lang="en-GB" dirty="0" err="1"/>
              <a:t>tuples</a:t>
            </a:r>
            <a:r>
              <a:rPr lang="en-GB" dirty="0"/>
              <a:t> in a relation.</a:t>
            </a:r>
          </a:p>
          <a:p>
            <a:pPr algn="just"/>
            <a:endParaRPr lang="en-GB" dirty="0"/>
          </a:p>
          <a:p>
            <a:r>
              <a:rPr lang="en-GB" dirty="0"/>
              <a:t>Relational Database is a collection of relations with distinct relation names.</a:t>
            </a:r>
          </a:p>
        </p:txBody>
      </p:sp>
    </p:spTree>
  </p:cSld>
  <p:clrMapOvr>
    <a:masterClrMapping/>
  </p:clrMapOvr>
  <p:transition>
    <p:wipe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C3C83C-0BC8-4BCD-9414-30CF8D74E95E}" type="slidenum">
              <a:rPr lang="en-GB"/>
              <a:pPr/>
              <a:t>9</a:t>
            </a:fld>
            <a:endParaRPr lang="en-GB"/>
          </a:p>
        </p:txBody>
      </p:sp>
      <p:sp>
        <p:nvSpPr>
          <p:cNvPr id="19149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66700"/>
            <a:ext cx="8763000" cy="1104900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Instances of  Branch and </a:t>
            </a:r>
            <a:r>
              <a:rPr lang="en-GB" b="1"/>
              <a:t>Staff Relations</a:t>
            </a:r>
            <a:endParaRPr lang="en-GB" dirty="0"/>
          </a:p>
        </p:txBody>
      </p:sp>
      <p:pic>
        <p:nvPicPr>
          <p:cNvPr id="191491" name="Picture 3" descr="DS3-Figure 03-0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4400" y="1676400"/>
            <a:ext cx="6553200" cy="4556125"/>
          </a:xfrm>
          <a:prstGeom prst="rect">
            <a:avLst/>
          </a:prstGeom>
          <a:noFill/>
        </p:spPr>
      </p:pic>
    </p:spTree>
  </p:cSld>
  <p:clrMapOvr>
    <a:masterClrMapping/>
  </p:clrMapOvr>
  <p:transition>
    <p:wipe dir="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EB0316-5695-418E-9B6F-A240177E73FE}" type="slidenum">
              <a:rPr lang="en-GB"/>
              <a:pPr/>
              <a:t>10</a:t>
            </a:fld>
            <a:endParaRPr lang="en-GB"/>
          </a:p>
        </p:txBody>
      </p:sp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66700"/>
            <a:ext cx="8458200" cy="1104900"/>
          </a:xfrm>
          <a:noFill/>
          <a:ln/>
        </p:spPr>
        <p:txBody>
          <a:bodyPr lIns="90488" tIns="44450" rIns="90488" bIns="44450">
            <a:normAutofit fontScale="90000"/>
          </a:bodyPr>
          <a:lstStyle/>
          <a:p>
            <a:r>
              <a:rPr lang="en-GB" b="1"/>
              <a:t>Alternative Terminology for Relational Model</a:t>
            </a:r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0" y="1676400"/>
            <a:ext cx="7727950" cy="411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 algn="l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u"/>
            </a:pPr>
            <a:endParaRPr lang="en-US"/>
          </a:p>
        </p:txBody>
      </p:sp>
      <p:pic>
        <p:nvPicPr>
          <p:cNvPr id="15367" name="Picture 7" descr="E:\DS3-Table folder\DS3-Table 03-01.tif"/>
          <p:cNvPicPr>
            <a:picLocks noChangeAspect="1" noChangeArrowheads="1"/>
          </p:cNvPicPr>
          <p:nvPr/>
        </p:nvPicPr>
        <p:blipFill>
          <a:blip r:embed="rId3" cstate="print"/>
          <a:srcRect t="15385"/>
          <a:stretch>
            <a:fillRect/>
          </a:stretch>
        </p:blipFill>
        <p:spPr bwMode="auto">
          <a:xfrm>
            <a:off x="838200" y="2514600"/>
            <a:ext cx="7543800" cy="2514600"/>
          </a:xfrm>
          <a:prstGeom prst="rect">
            <a:avLst/>
          </a:prstGeom>
          <a:noFill/>
        </p:spPr>
      </p:pic>
    </p:spTree>
  </p:cSld>
  <p:clrMapOvr>
    <a:masterClrMapping/>
  </p:clrMapOvr>
  <p:transition>
    <p:wipe dir="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19AE95-C38D-4425-96BD-C0D843EE57A2}" type="slidenum">
              <a:rPr lang="en-GB"/>
              <a:pPr/>
              <a:t>11</a:t>
            </a:fld>
            <a:endParaRPr lang="en-GB"/>
          </a:p>
        </p:txBody>
      </p:sp>
      <p:sp>
        <p:nvSpPr>
          <p:cNvPr id="185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b="1"/>
              <a:t>Properties of Relations</a:t>
            </a:r>
          </a:p>
        </p:txBody>
      </p:sp>
      <p:sp>
        <p:nvSpPr>
          <p:cNvPr id="185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7848600" cy="41148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GB" dirty="0"/>
              <a:t>Relation name is distinct from all other relation names in relational schema.</a:t>
            </a:r>
          </a:p>
          <a:p>
            <a:pPr>
              <a:lnSpc>
                <a:spcPct val="90000"/>
              </a:lnSpc>
            </a:pPr>
            <a:endParaRPr lang="en-GB" dirty="0"/>
          </a:p>
          <a:p>
            <a:pPr>
              <a:lnSpc>
                <a:spcPct val="90000"/>
              </a:lnSpc>
            </a:pPr>
            <a:r>
              <a:rPr lang="en-GB" dirty="0"/>
              <a:t>Each cell of relation contains exactly one atomic (single) value.</a:t>
            </a:r>
          </a:p>
          <a:p>
            <a:pPr>
              <a:lnSpc>
                <a:spcPct val="90000"/>
              </a:lnSpc>
            </a:pPr>
            <a:endParaRPr lang="en-GB" dirty="0"/>
          </a:p>
          <a:p>
            <a:pPr>
              <a:lnSpc>
                <a:spcPct val="90000"/>
              </a:lnSpc>
            </a:pPr>
            <a:r>
              <a:rPr lang="en-GB" dirty="0"/>
              <a:t>Each attribute has a distinct name.</a:t>
            </a:r>
          </a:p>
          <a:p>
            <a:pPr>
              <a:lnSpc>
                <a:spcPct val="90000"/>
              </a:lnSpc>
            </a:pPr>
            <a:endParaRPr lang="en-GB" dirty="0"/>
          </a:p>
          <a:p>
            <a:pPr>
              <a:lnSpc>
                <a:spcPct val="90000"/>
              </a:lnSpc>
            </a:pPr>
            <a:r>
              <a:rPr lang="en-GB" dirty="0"/>
              <a:t>Values of an attribute are all from the same domain.</a:t>
            </a:r>
          </a:p>
        </p:txBody>
      </p:sp>
    </p:spTree>
  </p:cSld>
  <p:clrMapOvr>
    <a:masterClrMapping/>
  </p:clrMapOvr>
  <p:transition>
    <p:wipe dir="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4546AD-1184-450E-87A9-D0CA2246A25C}" type="slidenum">
              <a:rPr lang="en-GB"/>
              <a:pPr/>
              <a:t>12</a:t>
            </a:fld>
            <a:endParaRPr lang="en-GB"/>
          </a:p>
        </p:txBody>
      </p:sp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8" tIns="44450" rIns="90488" bIns="44450"/>
          <a:lstStyle/>
          <a:p>
            <a:r>
              <a:rPr lang="en-GB" b="1"/>
              <a:t>Properties of Relations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8108950" cy="4114800"/>
          </a:xfrm>
          <a:noFill/>
          <a:ln/>
        </p:spPr>
        <p:txBody>
          <a:bodyPr lIns="90488" tIns="44450" rIns="90488" bIns="44450"/>
          <a:lstStyle/>
          <a:p>
            <a:r>
              <a:rPr lang="en-GB" dirty="0"/>
              <a:t>Each </a:t>
            </a:r>
            <a:r>
              <a:rPr lang="en-GB" dirty="0" err="1"/>
              <a:t>tuple</a:t>
            </a:r>
            <a:r>
              <a:rPr lang="en-GB" dirty="0"/>
              <a:t> is distinct; there are no duplicate </a:t>
            </a:r>
            <a:r>
              <a:rPr lang="en-GB" dirty="0" err="1"/>
              <a:t>tuples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dirty="0"/>
              <a:t>Order of attributes has no significance.</a:t>
            </a:r>
          </a:p>
          <a:p>
            <a:endParaRPr lang="en-GB" dirty="0"/>
          </a:p>
          <a:p>
            <a:r>
              <a:rPr lang="en-GB" dirty="0"/>
              <a:t>Order of </a:t>
            </a:r>
            <a:r>
              <a:rPr lang="en-GB" dirty="0" err="1"/>
              <a:t>tuples</a:t>
            </a:r>
            <a:r>
              <a:rPr lang="en-GB" dirty="0"/>
              <a:t> has no significance.</a:t>
            </a:r>
          </a:p>
        </p:txBody>
      </p:sp>
    </p:spTree>
  </p:cSld>
  <p:clrMapOvr>
    <a:masterClrMapping/>
  </p:clrMapOvr>
  <p:transition>
    <p:wipe dir="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Candidate Keys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GB" sz="2400" dirty="0"/>
              <a:t>A set of attributes in a relation is called a candidate key if, and only if,</a:t>
            </a:r>
          </a:p>
          <a:p>
            <a:pPr lvl="1"/>
            <a:r>
              <a:rPr lang="en-GB" sz="2000" dirty="0"/>
              <a:t>Every </a:t>
            </a:r>
            <a:r>
              <a:rPr lang="en-GB" sz="2000" dirty="0" err="1"/>
              <a:t>tuple</a:t>
            </a:r>
            <a:r>
              <a:rPr lang="en-GB" sz="2000" dirty="0"/>
              <a:t> has a unique value for the set of attributes (</a:t>
            </a:r>
            <a:r>
              <a:rPr lang="en-GB" sz="2000" i="1" dirty="0"/>
              <a:t>uniqueness</a:t>
            </a:r>
            <a:r>
              <a:rPr lang="en-GB" sz="2000" dirty="0"/>
              <a:t>)</a:t>
            </a:r>
          </a:p>
          <a:p>
            <a:pPr lvl="1"/>
            <a:r>
              <a:rPr lang="en-GB" sz="2000" dirty="0"/>
              <a:t>No proper subset of the set has the uniqueness property (</a:t>
            </a:r>
            <a:r>
              <a:rPr lang="en-GB" sz="2000" i="1" dirty="0" err="1"/>
              <a:t>minimality</a:t>
            </a:r>
            <a:r>
              <a:rPr lang="en-GB" sz="2000" dirty="0"/>
              <a:t>)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5470525" y="2133600"/>
            <a:ext cx="2682875" cy="1606550"/>
            <a:chOff x="3446" y="1344"/>
            <a:chExt cx="1690" cy="1012"/>
          </a:xfrm>
        </p:grpSpPr>
        <p:sp>
          <p:nvSpPr>
            <p:cNvPr id="16389" name="Text Box 5"/>
            <p:cNvSpPr txBox="1">
              <a:spLocks noChangeArrowheads="1"/>
            </p:cNvSpPr>
            <p:nvPr/>
          </p:nvSpPr>
          <p:spPr bwMode="auto">
            <a:xfrm>
              <a:off x="3446" y="1344"/>
              <a:ext cx="1688" cy="101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GB" sz="1800">
                  <a:solidFill>
                    <a:schemeClr val="tx1"/>
                  </a:solidFill>
                  <a:latin typeface="Arial" charset="0"/>
                </a:rPr>
                <a:t>ID	First	Last</a:t>
              </a:r>
            </a:p>
            <a:p>
              <a:endParaRPr lang="en-GB" sz="800">
                <a:solidFill>
                  <a:schemeClr val="tx1"/>
                </a:solidFill>
                <a:latin typeface="Arial" charset="0"/>
              </a:endParaRPr>
            </a:p>
            <a:p>
              <a:r>
                <a:rPr lang="en-GB" sz="1800">
                  <a:solidFill>
                    <a:schemeClr val="tx1"/>
                  </a:solidFill>
                  <a:latin typeface="Arial" charset="0"/>
                </a:rPr>
                <a:t>S139	John	Smith</a:t>
              </a:r>
            </a:p>
            <a:p>
              <a:r>
                <a:rPr lang="en-GB" sz="1800">
                  <a:solidFill>
                    <a:schemeClr val="tx1"/>
                  </a:solidFill>
                  <a:latin typeface="Arial" charset="0"/>
                </a:rPr>
                <a:t>S140	Mary	Jones</a:t>
              </a:r>
            </a:p>
            <a:p>
              <a:r>
                <a:rPr lang="en-GB" sz="1800">
                  <a:solidFill>
                    <a:schemeClr val="tx1"/>
                  </a:solidFill>
                  <a:latin typeface="Arial" charset="0"/>
                </a:rPr>
                <a:t>S141	John	Brown</a:t>
              </a:r>
            </a:p>
            <a:p>
              <a:r>
                <a:rPr lang="en-GB" sz="1800">
                  <a:solidFill>
                    <a:schemeClr val="tx1"/>
                  </a:solidFill>
                  <a:latin typeface="Arial" charset="0"/>
                </a:rPr>
                <a:t>S142	Jane	Smith</a:t>
              </a:r>
            </a:p>
          </p:txBody>
        </p:sp>
        <p:sp>
          <p:nvSpPr>
            <p:cNvPr id="16390" name="Line 6"/>
            <p:cNvSpPr>
              <a:spLocks noChangeShapeType="1"/>
            </p:cNvSpPr>
            <p:nvPr/>
          </p:nvSpPr>
          <p:spPr bwMode="auto">
            <a:xfrm>
              <a:off x="3456" y="1584"/>
              <a:ext cx="16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391" name="Line 7"/>
            <p:cNvSpPr>
              <a:spLocks noChangeShapeType="1"/>
            </p:cNvSpPr>
            <p:nvPr/>
          </p:nvSpPr>
          <p:spPr bwMode="auto">
            <a:xfrm>
              <a:off x="3984" y="1344"/>
              <a:ext cx="0" cy="10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392" name="Line 8"/>
            <p:cNvSpPr>
              <a:spLocks noChangeShapeType="1"/>
            </p:cNvSpPr>
            <p:nvPr/>
          </p:nvSpPr>
          <p:spPr bwMode="auto">
            <a:xfrm>
              <a:off x="4560" y="1344"/>
              <a:ext cx="0" cy="10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6393" name="Text Box 9"/>
          <p:cNvSpPr txBox="1">
            <a:spLocks noChangeArrowheads="1"/>
          </p:cNvSpPr>
          <p:nvPr/>
        </p:nvSpPr>
        <p:spPr bwMode="auto">
          <a:xfrm>
            <a:off x="5334000" y="3962400"/>
            <a:ext cx="3621504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 dirty="0">
                <a:solidFill>
                  <a:schemeClr val="tx1"/>
                </a:solidFill>
                <a:latin typeface="Arial" charset="0"/>
              </a:rPr>
              <a:t>Candidate key: {ID}; {</a:t>
            </a:r>
            <a:r>
              <a:rPr lang="en-GB" sz="1800" dirty="0" err="1">
                <a:solidFill>
                  <a:schemeClr val="tx1"/>
                </a:solidFill>
                <a:latin typeface="Arial" charset="0"/>
              </a:rPr>
              <a:t>First,Last</a:t>
            </a:r>
            <a:r>
              <a:rPr lang="en-GB" sz="1800" dirty="0">
                <a:solidFill>
                  <a:schemeClr val="tx1"/>
                </a:solidFill>
                <a:latin typeface="Arial" charset="0"/>
              </a:rPr>
              <a:t>} </a:t>
            </a:r>
          </a:p>
          <a:p>
            <a:r>
              <a:rPr lang="en-GB" sz="1800" dirty="0">
                <a:solidFill>
                  <a:schemeClr val="tx1"/>
                </a:solidFill>
                <a:latin typeface="Arial" charset="0"/>
              </a:rPr>
              <a:t>looks reasonable but we may get </a:t>
            </a:r>
          </a:p>
          <a:p>
            <a:r>
              <a:rPr lang="en-GB" sz="1800" dirty="0">
                <a:solidFill>
                  <a:schemeClr val="tx1"/>
                </a:solidFill>
                <a:latin typeface="Arial" charset="0"/>
              </a:rPr>
              <a:t>people with the same name</a:t>
            </a:r>
          </a:p>
        </p:txBody>
      </p:sp>
      <p:sp>
        <p:nvSpPr>
          <p:cNvPr id="16394" name="Text Box 10"/>
          <p:cNvSpPr txBox="1">
            <a:spLocks noChangeArrowheads="1"/>
          </p:cNvSpPr>
          <p:nvPr/>
        </p:nvSpPr>
        <p:spPr bwMode="auto">
          <a:xfrm>
            <a:off x="5334000" y="4889500"/>
            <a:ext cx="3270250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>
                <a:solidFill>
                  <a:schemeClr val="tx1"/>
                </a:solidFill>
                <a:latin typeface="Arial" charset="0"/>
              </a:rPr>
              <a:t>{ID, First}, {ID, Last} and {ID, </a:t>
            </a:r>
          </a:p>
          <a:p>
            <a:r>
              <a:rPr lang="en-GB" sz="1800">
                <a:solidFill>
                  <a:schemeClr val="tx1"/>
                </a:solidFill>
                <a:latin typeface="Arial" charset="0"/>
              </a:rPr>
              <a:t>First, Last} satisfy uniqueness,</a:t>
            </a:r>
          </a:p>
          <a:p>
            <a:r>
              <a:rPr lang="en-GB" sz="1800">
                <a:solidFill>
                  <a:schemeClr val="tx1"/>
                </a:solidFill>
                <a:latin typeface="Arial" charset="0"/>
              </a:rPr>
              <a:t>but are not minimal</a:t>
            </a:r>
          </a:p>
        </p:txBody>
      </p:sp>
      <p:sp>
        <p:nvSpPr>
          <p:cNvPr id="16395" name="Text Box 11"/>
          <p:cNvSpPr txBox="1">
            <a:spLocks noChangeArrowheads="1"/>
          </p:cNvSpPr>
          <p:nvPr/>
        </p:nvSpPr>
        <p:spPr bwMode="auto">
          <a:xfrm>
            <a:off x="5334000" y="5740400"/>
            <a:ext cx="33083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>
                <a:solidFill>
                  <a:schemeClr val="tx1"/>
                </a:solidFill>
                <a:latin typeface="Arial" charset="0"/>
              </a:rPr>
              <a:t>{First} and {Last} do not give</a:t>
            </a:r>
          </a:p>
          <a:p>
            <a:r>
              <a:rPr lang="en-GB" sz="1800">
                <a:solidFill>
                  <a:schemeClr val="tx1"/>
                </a:solidFill>
                <a:latin typeface="Arial" charset="0"/>
              </a:rPr>
              <a:t>a unique identifier for each row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Choosing Candidate Keys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981200"/>
            <a:ext cx="7126288" cy="4111625"/>
          </a:xfrm>
        </p:spPr>
        <p:txBody>
          <a:bodyPr/>
          <a:lstStyle/>
          <a:p>
            <a:r>
              <a:rPr lang="en-GB" sz="2400"/>
              <a:t>Important: don’t look just on the data in the table to determine what is a candidate key</a:t>
            </a:r>
          </a:p>
          <a:p>
            <a:endParaRPr lang="en-GB" sz="2400"/>
          </a:p>
          <a:p>
            <a:r>
              <a:rPr lang="en-GB" sz="2400"/>
              <a:t>The table may contain just one tuple, so anything would do!</a:t>
            </a:r>
          </a:p>
          <a:p>
            <a:endParaRPr lang="en-GB" sz="2400"/>
          </a:p>
          <a:p>
            <a:r>
              <a:rPr lang="en-GB" sz="2400"/>
              <a:t>Use knowledge of the real world – what is going to stay unique!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Primary Keys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981200"/>
            <a:ext cx="7199313" cy="3895725"/>
          </a:xfrm>
        </p:spPr>
        <p:txBody>
          <a:bodyPr/>
          <a:lstStyle/>
          <a:p>
            <a:r>
              <a:rPr lang="en-GB" sz="2400"/>
              <a:t>One Candidate Key is usually chosen to be used to identify tuples in a relation</a:t>
            </a:r>
          </a:p>
          <a:p>
            <a:r>
              <a:rPr lang="en-GB" sz="2400"/>
              <a:t>This is called the </a:t>
            </a:r>
            <a:r>
              <a:rPr lang="en-GB" sz="2400" i="1"/>
              <a:t>Primary Key</a:t>
            </a:r>
          </a:p>
          <a:p>
            <a:r>
              <a:rPr lang="en-GB" sz="2400"/>
              <a:t>Often a special ID attribute is used as the Primary Key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NULLs and Primary Keys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Missing information can be represented using NULLs</a:t>
            </a:r>
          </a:p>
          <a:p>
            <a:r>
              <a:rPr lang="en-GB" dirty="0"/>
              <a:t>A NULL indicates a missing or unknown value</a:t>
            </a:r>
          </a:p>
          <a:p>
            <a:r>
              <a:rPr lang="en-GB" dirty="0"/>
              <a:t>More on this later...</a:t>
            </a:r>
          </a:p>
        </p:txBody>
      </p:sp>
      <p:sp>
        <p:nvSpPr>
          <p:cNvPr id="18436" name="Rectangle 4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GB" i="1" dirty="0"/>
              <a:t>Entity Integrity</a:t>
            </a:r>
            <a:r>
              <a:rPr lang="en-GB" dirty="0"/>
              <a:t>: Primary Keys cannot contain NULL values</a:t>
            </a:r>
            <a:endParaRPr lang="en-GB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Foreign Keys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i="1" dirty="0"/>
              <a:t>Foreign Keys</a:t>
            </a:r>
            <a:r>
              <a:rPr lang="en-GB" dirty="0"/>
              <a:t> are used to link data in two relations. A set of attributes in the first (</a:t>
            </a:r>
            <a:r>
              <a:rPr lang="en-GB" i="1" dirty="0"/>
              <a:t>referencing</a:t>
            </a:r>
            <a:r>
              <a:rPr lang="en-GB" dirty="0"/>
              <a:t>) relation is a Foreign Key if its value always either</a:t>
            </a:r>
          </a:p>
          <a:p>
            <a:pPr lvl="1"/>
            <a:r>
              <a:rPr lang="en-GB" dirty="0"/>
              <a:t>Matches a Candidate Key value in the second (</a:t>
            </a:r>
            <a:r>
              <a:rPr lang="en-GB" i="1" dirty="0"/>
              <a:t>referenced</a:t>
            </a:r>
            <a:r>
              <a:rPr lang="en-GB" dirty="0"/>
              <a:t>) relation, or</a:t>
            </a:r>
          </a:p>
          <a:p>
            <a:pPr lvl="1"/>
            <a:r>
              <a:rPr lang="en-GB" dirty="0"/>
              <a:t>Is wholly NULL</a:t>
            </a:r>
          </a:p>
          <a:p>
            <a:r>
              <a:rPr lang="en-GB" dirty="0"/>
              <a:t>This is called </a:t>
            </a:r>
            <a:r>
              <a:rPr lang="en-GB" i="1" dirty="0"/>
              <a:t>Referential Integrity</a:t>
            </a:r>
            <a:endParaRPr lang="en-GB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Relational Model</a:t>
            </a:r>
          </a:p>
        </p:txBody>
      </p:sp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Foreign Keys - Example</a:t>
            </a:r>
          </a:p>
        </p:txBody>
      </p:sp>
      <p:sp>
        <p:nvSpPr>
          <p:cNvPr id="20483" name="Text Box 3"/>
          <p:cNvSpPr txBox="1">
            <a:spLocks noChangeArrowheads="1"/>
          </p:cNvSpPr>
          <p:nvPr/>
        </p:nvSpPr>
        <p:spPr bwMode="auto">
          <a:xfrm>
            <a:off x="1371600" y="2057400"/>
            <a:ext cx="2209800" cy="170973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sz="1800">
                <a:solidFill>
                  <a:schemeClr val="tx1"/>
                </a:solidFill>
                <a:latin typeface="Arial" charset="0"/>
              </a:rPr>
              <a:t>Department</a:t>
            </a:r>
          </a:p>
          <a:p>
            <a:endParaRPr lang="en-GB" sz="800">
              <a:solidFill>
                <a:schemeClr val="tx1"/>
              </a:solidFill>
              <a:latin typeface="Arial" charset="0"/>
            </a:endParaRPr>
          </a:p>
          <a:p>
            <a:r>
              <a:rPr lang="en-GB" sz="1800">
                <a:solidFill>
                  <a:schemeClr val="tx1"/>
                </a:solidFill>
                <a:latin typeface="Arial" charset="0"/>
              </a:rPr>
              <a:t>DID	DName</a:t>
            </a:r>
          </a:p>
          <a:p>
            <a:endParaRPr lang="en-GB" sz="800">
              <a:solidFill>
                <a:schemeClr val="tx1"/>
              </a:solidFill>
              <a:latin typeface="Arial" charset="0"/>
            </a:endParaRPr>
          </a:p>
          <a:p>
            <a:r>
              <a:rPr lang="en-GB" sz="1800">
                <a:solidFill>
                  <a:schemeClr val="tx1"/>
                </a:solidFill>
                <a:latin typeface="Arial" charset="0"/>
              </a:rPr>
              <a:t>13	Marketing</a:t>
            </a:r>
          </a:p>
          <a:p>
            <a:r>
              <a:rPr lang="en-GB" sz="1800">
                <a:solidFill>
                  <a:schemeClr val="tx1"/>
                </a:solidFill>
                <a:latin typeface="Arial" charset="0"/>
              </a:rPr>
              <a:t>14	Accounts</a:t>
            </a:r>
          </a:p>
          <a:p>
            <a:r>
              <a:rPr lang="en-GB" sz="1800">
                <a:solidFill>
                  <a:schemeClr val="tx1"/>
                </a:solidFill>
                <a:latin typeface="Arial" charset="0"/>
              </a:rPr>
              <a:t>15	Personnel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1371600" y="2438400"/>
            <a:ext cx="2209800" cy="13716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85" name="Line 5"/>
          <p:cNvSpPr>
            <a:spLocks noChangeShapeType="1"/>
          </p:cNvSpPr>
          <p:nvPr/>
        </p:nvSpPr>
        <p:spPr bwMode="auto">
          <a:xfrm>
            <a:off x="1371600" y="2819400"/>
            <a:ext cx="2209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86" name="Line 6"/>
          <p:cNvSpPr>
            <a:spLocks noChangeShapeType="1"/>
          </p:cNvSpPr>
          <p:nvPr/>
        </p:nvSpPr>
        <p:spPr bwMode="auto">
          <a:xfrm>
            <a:off x="2133600" y="2438400"/>
            <a:ext cx="0" cy="1371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4419600" y="2057400"/>
            <a:ext cx="3657600" cy="19843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sz="1800">
                <a:solidFill>
                  <a:schemeClr val="tx1"/>
                </a:solidFill>
                <a:latin typeface="Arial" charset="0"/>
              </a:rPr>
              <a:t>Employee</a:t>
            </a:r>
          </a:p>
          <a:p>
            <a:endParaRPr lang="en-GB" sz="800">
              <a:solidFill>
                <a:schemeClr val="tx1"/>
              </a:solidFill>
              <a:latin typeface="Arial" charset="0"/>
            </a:endParaRPr>
          </a:p>
          <a:p>
            <a:r>
              <a:rPr lang="en-GB" sz="1800">
                <a:solidFill>
                  <a:schemeClr val="tx1"/>
                </a:solidFill>
                <a:latin typeface="Arial" charset="0"/>
              </a:rPr>
              <a:t>EID	EName		DID</a:t>
            </a:r>
          </a:p>
          <a:p>
            <a:endParaRPr lang="en-GB" sz="800">
              <a:solidFill>
                <a:schemeClr val="tx1"/>
              </a:solidFill>
              <a:latin typeface="Arial" charset="0"/>
            </a:endParaRPr>
          </a:p>
          <a:p>
            <a:r>
              <a:rPr lang="en-GB" sz="1800">
                <a:solidFill>
                  <a:schemeClr val="tx1"/>
                </a:solidFill>
                <a:latin typeface="Arial" charset="0"/>
              </a:rPr>
              <a:t>15	John Smith	13</a:t>
            </a:r>
          </a:p>
          <a:p>
            <a:r>
              <a:rPr lang="en-GB" sz="1800">
                <a:solidFill>
                  <a:schemeClr val="tx1"/>
                </a:solidFill>
                <a:latin typeface="Arial" charset="0"/>
              </a:rPr>
              <a:t>16	Mary Brown	14</a:t>
            </a:r>
          </a:p>
          <a:p>
            <a:r>
              <a:rPr lang="en-GB" sz="1800">
                <a:solidFill>
                  <a:schemeClr val="tx1"/>
                </a:solidFill>
                <a:latin typeface="Arial" charset="0"/>
              </a:rPr>
              <a:t>17	Mark Jones	13</a:t>
            </a:r>
          </a:p>
          <a:p>
            <a:r>
              <a:rPr lang="en-GB" sz="1800">
                <a:solidFill>
                  <a:schemeClr val="tx1"/>
                </a:solidFill>
                <a:latin typeface="Arial" charset="0"/>
              </a:rPr>
              <a:t>18	Jane Smith	NULL</a:t>
            </a:r>
          </a:p>
        </p:txBody>
      </p:sp>
      <p:sp>
        <p:nvSpPr>
          <p:cNvPr id="20488" name="Rectangle 8"/>
          <p:cNvSpPr>
            <a:spLocks noChangeArrowheads="1"/>
          </p:cNvSpPr>
          <p:nvPr/>
        </p:nvSpPr>
        <p:spPr bwMode="auto">
          <a:xfrm>
            <a:off x="4419600" y="2438400"/>
            <a:ext cx="3505200" cy="1600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89" name="Line 9"/>
          <p:cNvSpPr>
            <a:spLocks noChangeShapeType="1"/>
          </p:cNvSpPr>
          <p:nvPr/>
        </p:nvSpPr>
        <p:spPr bwMode="auto">
          <a:xfrm>
            <a:off x="5181600" y="2438400"/>
            <a:ext cx="0" cy="1600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90" name="Line 10"/>
          <p:cNvSpPr>
            <a:spLocks noChangeShapeType="1"/>
          </p:cNvSpPr>
          <p:nvPr/>
        </p:nvSpPr>
        <p:spPr bwMode="auto">
          <a:xfrm>
            <a:off x="7086600" y="2438400"/>
            <a:ext cx="0" cy="1600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91" name="Line 11"/>
          <p:cNvSpPr>
            <a:spLocks noChangeShapeType="1"/>
          </p:cNvSpPr>
          <p:nvPr/>
        </p:nvSpPr>
        <p:spPr bwMode="auto">
          <a:xfrm flipV="1">
            <a:off x="4419600" y="2819400"/>
            <a:ext cx="3505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92" name="Text Box 12"/>
          <p:cNvSpPr txBox="1">
            <a:spLocks noChangeArrowheads="1"/>
          </p:cNvSpPr>
          <p:nvPr/>
        </p:nvSpPr>
        <p:spPr bwMode="auto">
          <a:xfrm>
            <a:off x="1295400" y="4343400"/>
            <a:ext cx="2774950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>
                <a:solidFill>
                  <a:schemeClr val="tx1"/>
                </a:solidFill>
                <a:latin typeface="Arial" charset="0"/>
              </a:rPr>
              <a:t>{DID} is a Candidate Key </a:t>
            </a:r>
          </a:p>
          <a:p>
            <a:r>
              <a:rPr lang="en-GB" sz="1800">
                <a:solidFill>
                  <a:schemeClr val="tx1"/>
                </a:solidFill>
                <a:latin typeface="Arial" charset="0"/>
              </a:rPr>
              <a:t>for Department - Each</a:t>
            </a:r>
          </a:p>
          <a:p>
            <a:r>
              <a:rPr lang="en-GB" sz="1800">
                <a:solidFill>
                  <a:schemeClr val="tx1"/>
                </a:solidFill>
                <a:latin typeface="Arial" charset="0"/>
              </a:rPr>
              <a:t>entry has a unique value</a:t>
            </a:r>
          </a:p>
          <a:p>
            <a:r>
              <a:rPr lang="en-GB" sz="1800">
                <a:solidFill>
                  <a:schemeClr val="tx1"/>
                </a:solidFill>
                <a:latin typeface="Arial" charset="0"/>
              </a:rPr>
              <a:t>for DID</a:t>
            </a:r>
          </a:p>
        </p:txBody>
      </p:sp>
      <p:sp>
        <p:nvSpPr>
          <p:cNvPr id="20493" name="Text Box 13"/>
          <p:cNvSpPr txBox="1">
            <a:spLocks noChangeArrowheads="1"/>
          </p:cNvSpPr>
          <p:nvPr/>
        </p:nvSpPr>
        <p:spPr bwMode="auto">
          <a:xfrm>
            <a:off x="4419600" y="4343400"/>
            <a:ext cx="4121150" cy="1465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>
                <a:solidFill>
                  <a:schemeClr val="tx1"/>
                </a:solidFill>
                <a:latin typeface="Arial" charset="0"/>
              </a:rPr>
              <a:t>{DID} is a Foreign Key in Employee -</a:t>
            </a:r>
          </a:p>
          <a:p>
            <a:r>
              <a:rPr lang="en-GB" sz="1800">
                <a:solidFill>
                  <a:schemeClr val="tx1"/>
                </a:solidFill>
                <a:latin typeface="Arial" charset="0"/>
              </a:rPr>
              <a:t>each Employee’s DID value is either</a:t>
            </a:r>
          </a:p>
          <a:p>
            <a:r>
              <a:rPr lang="en-GB" sz="1800">
                <a:solidFill>
                  <a:schemeClr val="tx1"/>
                </a:solidFill>
                <a:latin typeface="Arial" charset="0"/>
              </a:rPr>
              <a:t>NULL, or matches an entry in the</a:t>
            </a:r>
          </a:p>
          <a:p>
            <a:r>
              <a:rPr lang="en-GB" sz="1800">
                <a:solidFill>
                  <a:schemeClr val="tx1"/>
                </a:solidFill>
                <a:latin typeface="Arial" charset="0"/>
              </a:rPr>
              <a:t>Department relation. This links each </a:t>
            </a:r>
          </a:p>
          <a:p>
            <a:r>
              <a:rPr lang="en-GB" sz="1800">
                <a:solidFill>
                  <a:schemeClr val="tx1"/>
                </a:solidFill>
                <a:latin typeface="Arial" charset="0"/>
              </a:rPr>
              <a:t>Employee to (at most) one Department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Foreign Keys - Example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838200" y="2514600"/>
            <a:ext cx="3829050" cy="2020888"/>
            <a:chOff x="710" y="1607"/>
            <a:chExt cx="2412" cy="1273"/>
          </a:xfrm>
        </p:grpSpPr>
        <p:sp>
          <p:nvSpPr>
            <p:cNvPr id="22532" name="Text Box 4"/>
            <p:cNvSpPr txBox="1">
              <a:spLocks noChangeArrowheads="1"/>
            </p:cNvSpPr>
            <p:nvPr/>
          </p:nvSpPr>
          <p:spPr bwMode="auto">
            <a:xfrm>
              <a:off x="710" y="1607"/>
              <a:ext cx="2412" cy="1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1800">
                  <a:solidFill>
                    <a:schemeClr val="tx1"/>
                  </a:solidFill>
                  <a:latin typeface="Arial" charset="0"/>
                </a:rPr>
                <a:t>Employee</a:t>
              </a:r>
            </a:p>
            <a:p>
              <a:endParaRPr lang="en-GB" sz="800">
                <a:solidFill>
                  <a:schemeClr val="tx1"/>
                </a:solidFill>
                <a:latin typeface="Arial" charset="0"/>
              </a:endParaRPr>
            </a:p>
            <a:p>
              <a:r>
                <a:rPr lang="en-GB" sz="1800">
                  <a:solidFill>
                    <a:schemeClr val="tx1"/>
                  </a:solidFill>
                  <a:latin typeface="Arial" charset="0"/>
                </a:rPr>
                <a:t>ID	Name		Manager</a:t>
              </a:r>
            </a:p>
            <a:p>
              <a:endParaRPr lang="en-GB" sz="800">
                <a:solidFill>
                  <a:schemeClr val="tx1"/>
                </a:solidFill>
                <a:latin typeface="Arial" charset="0"/>
              </a:endParaRPr>
            </a:p>
            <a:p>
              <a:r>
                <a:rPr lang="en-GB" sz="1800">
                  <a:solidFill>
                    <a:schemeClr val="tx1"/>
                  </a:solidFill>
                  <a:latin typeface="Arial" charset="0"/>
                </a:rPr>
                <a:t>E1496	John Smith	E1499</a:t>
              </a:r>
            </a:p>
            <a:p>
              <a:r>
                <a:rPr lang="en-GB" sz="1800">
                  <a:solidFill>
                    <a:schemeClr val="tx1"/>
                  </a:solidFill>
                  <a:latin typeface="Arial" charset="0"/>
                </a:rPr>
                <a:t>E1497	Mary Brown	E1498</a:t>
              </a:r>
            </a:p>
            <a:p>
              <a:r>
                <a:rPr lang="en-GB" sz="1800">
                  <a:solidFill>
                    <a:schemeClr val="tx1"/>
                  </a:solidFill>
                  <a:latin typeface="Arial" charset="0"/>
                </a:rPr>
                <a:t>E1498	Mark Jones	E1499</a:t>
              </a:r>
            </a:p>
            <a:p>
              <a:r>
                <a:rPr lang="en-GB" sz="1800">
                  <a:solidFill>
                    <a:schemeClr val="tx1"/>
                  </a:solidFill>
                  <a:latin typeface="Arial" charset="0"/>
                </a:rPr>
                <a:t>E1499	Jane Smith	NULL</a:t>
              </a:r>
            </a:p>
          </p:txBody>
        </p:sp>
        <p:sp>
          <p:nvSpPr>
            <p:cNvPr id="22533" name="Rectangle 5"/>
            <p:cNvSpPr>
              <a:spLocks noChangeArrowheads="1"/>
            </p:cNvSpPr>
            <p:nvPr/>
          </p:nvSpPr>
          <p:spPr bwMode="auto">
            <a:xfrm>
              <a:off x="720" y="1824"/>
              <a:ext cx="2400" cy="105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34" name="Line 6"/>
            <p:cNvSpPr>
              <a:spLocks noChangeShapeType="1"/>
            </p:cNvSpPr>
            <p:nvPr/>
          </p:nvSpPr>
          <p:spPr bwMode="auto">
            <a:xfrm>
              <a:off x="720" y="2112"/>
              <a:ext cx="24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35" name="Line 7"/>
            <p:cNvSpPr>
              <a:spLocks noChangeShapeType="1"/>
            </p:cNvSpPr>
            <p:nvPr/>
          </p:nvSpPr>
          <p:spPr bwMode="auto">
            <a:xfrm>
              <a:off x="1296" y="1824"/>
              <a:ext cx="0" cy="10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36" name="Line 8"/>
            <p:cNvSpPr>
              <a:spLocks noChangeShapeType="1"/>
            </p:cNvSpPr>
            <p:nvPr/>
          </p:nvSpPr>
          <p:spPr bwMode="auto">
            <a:xfrm>
              <a:off x="2400" y="1824"/>
              <a:ext cx="0" cy="10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2537" name="Text Box 9"/>
          <p:cNvSpPr txBox="1">
            <a:spLocks noChangeArrowheads="1"/>
          </p:cNvSpPr>
          <p:nvPr/>
        </p:nvSpPr>
        <p:spPr bwMode="auto">
          <a:xfrm>
            <a:off x="5105400" y="2743200"/>
            <a:ext cx="3282950" cy="173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>
                <a:solidFill>
                  <a:schemeClr val="tx1"/>
                </a:solidFill>
                <a:latin typeface="Arial" charset="0"/>
              </a:rPr>
              <a:t>{ID} is a Candidate Key for </a:t>
            </a:r>
          </a:p>
          <a:p>
            <a:r>
              <a:rPr lang="en-GB" sz="1800">
                <a:solidFill>
                  <a:schemeClr val="tx1"/>
                </a:solidFill>
                <a:latin typeface="Arial" charset="0"/>
              </a:rPr>
              <a:t>Employee, and {Manager} is </a:t>
            </a:r>
          </a:p>
          <a:p>
            <a:r>
              <a:rPr lang="en-GB" sz="1800">
                <a:solidFill>
                  <a:schemeClr val="tx1"/>
                </a:solidFill>
                <a:latin typeface="Arial" charset="0"/>
              </a:rPr>
              <a:t>a Foreign Key, which refers</a:t>
            </a:r>
          </a:p>
          <a:p>
            <a:r>
              <a:rPr lang="en-GB" sz="1800">
                <a:solidFill>
                  <a:schemeClr val="tx1"/>
                </a:solidFill>
                <a:latin typeface="Arial" charset="0"/>
              </a:rPr>
              <a:t>to the same relation - every</a:t>
            </a:r>
          </a:p>
          <a:p>
            <a:r>
              <a:rPr lang="en-GB" sz="1800">
                <a:solidFill>
                  <a:schemeClr val="tx1"/>
                </a:solidFill>
                <a:latin typeface="Arial" charset="0"/>
              </a:rPr>
              <a:t>tuple’s Manager value is either</a:t>
            </a:r>
          </a:p>
          <a:p>
            <a:r>
              <a:rPr lang="en-GB" sz="1800">
                <a:solidFill>
                  <a:schemeClr val="tx1"/>
                </a:solidFill>
                <a:latin typeface="Arial" charset="0"/>
              </a:rPr>
              <a:t>NULL or matches an ID value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Referential Integrity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GB" sz="2400"/>
              <a:t>When relations are updated, referential integrity can be violated</a:t>
            </a:r>
          </a:p>
          <a:p>
            <a:r>
              <a:rPr lang="en-GB" sz="2400"/>
              <a:t>This usually occurs when a referenced tuple is updated or deleted</a:t>
            </a:r>
          </a:p>
        </p:txBody>
      </p:sp>
      <p:sp>
        <p:nvSpPr>
          <p:cNvPr id="23556" name="Rectangle 4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GB" sz="2400"/>
              <a:t>There are a number of options:</a:t>
            </a:r>
          </a:p>
          <a:p>
            <a:pPr lvl="1"/>
            <a:r>
              <a:rPr lang="en-GB" sz="2000"/>
              <a:t>RESTRICT - stop the user from doing it</a:t>
            </a:r>
          </a:p>
          <a:p>
            <a:pPr lvl="1"/>
            <a:r>
              <a:rPr lang="en-GB" sz="2000"/>
              <a:t>CASCADE - let the changes flow on</a:t>
            </a:r>
          </a:p>
          <a:p>
            <a:pPr lvl="1"/>
            <a:r>
              <a:rPr lang="en-GB" sz="2000"/>
              <a:t>NULLIFY - make values NULL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Referential Integrity - Example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GB" sz="2400"/>
              <a:t>What happens if</a:t>
            </a:r>
          </a:p>
          <a:p>
            <a:pPr lvl="1"/>
            <a:r>
              <a:rPr lang="en-GB" sz="2000"/>
              <a:t>Marketing’s DID is changed to 16 in Department?</a:t>
            </a:r>
          </a:p>
          <a:p>
            <a:pPr lvl="1"/>
            <a:r>
              <a:rPr lang="en-GB" sz="2000"/>
              <a:t>The entry for Accounts is deleted from Department?</a:t>
            </a:r>
          </a:p>
          <a:p>
            <a:endParaRPr lang="en-GB" sz="2400"/>
          </a:p>
        </p:txBody>
      </p:sp>
      <p:sp>
        <p:nvSpPr>
          <p:cNvPr id="24580" name="Text Box 4"/>
          <p:cNvSpPr txBox="1">
            <a:spLocks noChangeArrowheads="1"/>
          </p:cNvSpPr>
          <p:nvPr/>
        </p:nvSpPr>
        <p:spPr bwMode="auto">
          <a:xfrm>
            <a:off x="4876800" y="1981200"/>
            <a:ext cx="2209800" cy="170973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sz="1800">
                <a:solidFill>
                  <a:schemeClr val="tx1"/>
                </a:solidFill>
                <a:latin typeface="Arial" charset="0"/>
              </a:rPr>
              <a:t>Department</a:t>
            </a:r>
          </a:p>
          <a:p>
            <a:endParaRPr lang="en-GB" sz="800">
              <a:solidFill>
                <a:schemeClr val="tx1"/>
              </a:solidFill>
              <a:latin typeface="Arial" charset="0"/>
            </a:endParaRPr>
          </a:p>
          <a:p>
            <a:r>
              <a:rPr lang="en-GB" sz="1800">
                <a:solidFill>
                  <a:schemeClr val="tx1"/>
                </a:solidFill>
                <a:latin typeface="Arial" charset="0"/>
              </a:rPr>
              <a:t>DID	DName</a:t>
            </a:r>
          </a:p>
          <a:p>
            <a:endParaRPr lang="en-GB" sz="800">
              <a:solidFill>
                <a:schemeClr val="tx1"/>
              </a:solidFill>
              <a:latin typeface="Arial" charset="0"/>
            </a:endParaRPr>
          </a:p>
          <a:p>
            <a:r>
              <a:rPr lang="en-GB" sz="1800">
                <a:solidFill>
                  <a:schemeClr val="tx1"/>
                </a:solidFill>
                <a:latin typeface="Arial" charset="0"/>
              </a:rPr>
              <a:t>13	Marketing</a:t>
            </a:r>
          </a:p>
          <a:p>
            <a:r>
              <a:rPr lang="en-GB" sz="1800">
                <a:solidFill>
                  <a:schemeClr val="tx1"/>
                </a:solidFill>
                <a:latin typeface="Arial" charset="0"/>
              </a:rPr>
              <a:t>14	Accounts</a:t>
            </a:r>
          </a:p>
          <a:p>
            <a:r>
              <a:rPr lang="en-GB" sz="1800">
                <a:solidFill>
                  <a:schemeClr val="tx1"/>
                </a:solidFill>
                <a:latin typeface="Arial" charset="0"/>
              </a:rPr>
              <a:t>15	Personnel</a:t>
            </a:r>
          </a:p>
        </p:txBody>
      </p:sp>
      <p:sp>
        <p:nvSpPr>
          <p:cNvPr id="24581" name="Rectangle 5"/>
          <p:cNvSpPr>
            <a:spLocks noChangeArrowheads="1"/>
          </p:cNvSpPr>
          <p:nvPr/>
        </p:nvSpPr>
        <p:spPr bwMode="auto">
          <a:xfrm>
            <a:off x="4876800" y="2362200"/>
            <a:ext cx="2209800" cy="13716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582" name="Line 6"/>
          <p:cNvSpPr>
            <a:spLocks noChangeShapeType="1"/>
          </p:cNvSpPr>
          <p:nvPr/>
        </p:nvSpPr>
        <p:spPr bwMode="auto">
          <a:xfrm>
            <a:off x="4876800" y="2743200"/>
            <a:ext cx="2209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583" name="Line 7"/>
          <p:cNvSpPr>
            <a:spLocks noChangeShapeType="1"/>
          </p:cNvSpPr>
          <p:nvPr/>
        </p:nvSpPr>
        <p:spPr bwMode="auto">
          <a:xfrm>
            <a:off x="5638800" y="2362200"/>
            <a:ext cx="0" cy="1371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584" name="Text Box 8"/>
          <p:cNvSpPr txBox="1">
            <a:spLocks noChangeArrowheads="1"/>
          </p:cNvSpPr>
          <p:nvPr/>
        </p:nvSpPr>
        <p:spPr bwMode="auto">
          <a:xfrm>
            <a:off x="4876800" y="3962400"/>
            <a:ext cx="3657600" cy="19843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sz="1800">
                <a:solidFill>
                  <a:schemeClr val="tx1"/>
                </a:solidFill>
                <a:latin typeface="Arial" charset="0"/>
              </a:rPr>
              <a:t>Employee</a:t>
            </a:r>
          </a:p>
          <a:p>
            <a:endParaRPr lang="en-GB" sz="800">
              <a:solidFill>
                <a:schemeClr val="tx1"/>
              </a:solidFill>
              <a:latin typeface="Arial" charset="0"/>
            </a:endParaRPr>
          </a:p>
          <a:p>
            <a:r>
              <a:rPr lang="en-GB" sz="1800">
                <a:solidFill>
                  <a:schemeClr val="tx1"/>
                </a:solidFill>
                <a:latin typeface="Arial" charset="0"/>
              </a:rPr>
              <a:t>EID	EName		DID</a:t>
            </a:r>
          </a:p>
          <a:p>
            <a:endParaRPr lang="en-GB" sz="800">
              <a:solidFill>
                <a:schemeClr val="tx1"/>
              </a:solidFill>
              <a:latin typeface="Arial" charset="0"/>
            </a:endParaRPr>
          </a:p>
          <a:p>
            <a:r>
              <a:rPr lang="en-GB" sz="1800">
                <a:solidFill>
                  <a:schemeClr val="tx1"/>
                </a:solidFill>
                <a:latin typeface="Arial" charset="0"/>
              </a:rPr>
              <a:t>15	John Smith	13</a:t>
            </a:r>
          </a:p>
          <a:p>
            <a:r>
              <a:rPr lang="en-GB" sz="1800">
                <a:solidFill>
                  <a:schemeClr val="tx1"/>
                </a:solidFill>
                <a:latin typeface="Arial" charset="0"/>
              </a:rPr>
              <a:t>16	Mary Brown	14</a:t>
            </a:r>
          </a:p>
          <a:p>
            <a:r>
              <a:rPr lang="en-GB" sz="1800">
                <a:solidFill>
                  <a:schemeClr val="tx1"/>
                </a:solidFill>
                <a:latin typeface="Arial" charset="0"/>
              </a:rPr>
              <a:t>17	Mark Jones	13</a:t>
            </a:r>
          </a:p>
          <a:p>
            <a:r>
              <a:rPr lang="en-GB" sz="1800">
                <a:solidFill>
                  <a:schemeClr val="tx1"/>
                </a:solidFill>
                <a:latin typeface="Arial" charset="0"/>
              </a:rPr>
              <a:t>18	Jane Smith	NULL</a:t>
            </a:r>
          </a:p>
        </p:txBody>
      </p:sp>
      <p:sp>
        <p:nvSpPr>
          <p:cNvPr id="24585" name="Rectangle 9"/>
          <p:cNvSpPr>
            <a:spLocks noChangeArrowheads="1"/>
          </p:cNvSpPr>
          <p:nvPr/>
        </p:nvSpPr>
        <p:spPr bwMode="auto">
          <a:xfrm>
            <a:off x="4876800" y="4343400"/>
            <a:ext cx="3505200" cy="1600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586" name="Line 10"/>
          <p:cNvSpPr>
            <a:spLocks noChangeShapeType="1"/>
          </p:cNvSpPr>
          <p:nvPr/>
        </p:nvSpPr>
        <p:spPr bwMode="auto">
          <a:xfrm>
            <a:off x="5638800" y="4343400"/>
            <a:ext cx="0" cy="1600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587" name="Line 11"/>
          <p:cNvSpPr>
            <a:spLocks noChangeShapeType="1"/>
          </p:cNvSpPr>
          <p:nvPr/>
        </p:nvSpPr>
        <p:spPr bwMode="auto">
          <a:xfrm>
            <a:off x="7543800" y="4343400"/>
            <a:ext cx="0" cy="1600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588" name="Line 12"/>
          <p:cNvSpPr>
            <a:spLocks noChangeShapeType="1"/>
          </p:cNvSpPr>
          <p:nvPr/>
        </p:nvSpPr>
        <p:spPr bwMode="auto">
          <a:xfrm flipV="1">
            <a:off x="4876800" y="4724400"/>
            <a:ext cx="3505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RESTRICT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GB" sz="2400"/>
              <a:t>RESTRICT stops any action that violates integrity</a:t>
            </a:r>
          </a:p>
          <a:p>
            <a:pPr lvl="1"/>
            <a:r>
              <a:rPr lang="en-GB" sz="2000"/>
              <a:t>You cannot update or delete Marketing or Accounts</a:t>
            </a:r>
          </a:p>
          <a:p>
            <a:pPr lvl="1"/>
            <a:r>
              <a:rPr lang="en-GB" sz="2000"/>
              <a:t>You </a:t>
            </a:r>
            <a:r>
              <a:rPr lang="en-GB" sz="2000" i="1"/>
              <a:t>can</a:t>
            </a:r>
            <a:r>
              <a:rPr lang="en-GB" sz="2000"/>
              <a:t> change Personnel as it is not referenced</a:t>
            </a:r>
          </a:p>
        </p:txBody>
      </p:sp>
      <p:sp>
        <p:nvSpPr>
          <p:cNvPr id="25604" name="Text Box 4"/>
          <p:cNvSpPr txBox="1">
            <a:spLocks noChangeArrowheads="1"/>
          </p:cNvSpPr>
          <p:nvPr/>
        </p:nvSpPr>
        <p:spPr bwMode="auto">
          <a:xfrm>
            <a:off x="4876800" y="1981200"/>
            <a:ext cx="2209800" cy="170973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sz="1800">
                <a:solidFill>
                  <a:schemeClr val="tx1"/>
                </a:solidFill>
                <a:latin typeface="Arial" charset="0"/>
              </a:rPr>
              <a:t>Department</a:t>
            </a:r>
          </a:p>
          <a:p>
            <a:endParaRPr lang="en-GB" sz="800">
              <a:solidFill>
                <a:schemeClr val="tx1"/>
              </a:solidFill>
              <a:latin typeface="Arial" charset="0"/>
            </a:endParaRPr>
          </a:p>
          <a:p>
            <a:r>
              <a:rPr lang="en-GB" sz="1800">
                <a:solidFill>
                  <a:schemeClr val="tx1"/>
                </a:solidFill>
                <a:latin typeface="Arial" charset="0"/>
              </a:rPr>
              <a:t>DID	DName</a:t>
            </a:r>
          </a:p>
          <a:p>
            <a:endParaRPr lang="en-GB" sz="800">
              <a:solidFill>
                <a:schemeClr val="tx1"/>
              </a:solidFill>
              <a:latin typeface="Arial" charset="0"/>
            </a:endParaRPr>
          </a:p>
          <a:p>
            <a:r>
              <a:rPr lang="en-GB" sz="1800">
                <a:solidFill>
                  <a:schemeClr val="tx1"/>
                </a:solidFill>
                <a:latin typeface="Arial" charset="0"/>
              </a:rPr>
              <a:t>13	Marketing</a:t>
            </a:r>
          </a:p>
          <a:p>
            <a:r>
              <a:rPr lang="en-GB" sz="1800">
                <a:solidFill>
                  <a:schemeClr val="tx1"/>
                </a:solidFill>
                <a:latin typeface="Arial" charset="0"/>
              </a:rPr>
              <a:t>14	Accounts</a:t>
            </a:r>
          </a:p>
          <a:p>
            <a:r>
              <a:rPr lang="en-GB" sz="1800">
                <a:solidFill>
                  <a:schemeClr val="tx1"/>
                </a:solidFill>
                <a:latin typeface="Arial" charset="0"/>
              </a:rPr>
              <a:t>15	Personnel</a:t>
            </a:r>
          </a:p>
        </p:txBody>
      </p:sp>
      <p:sp>
        <p:nvSpPr>
          <p:cNvPr id="25605" name="Rectangle 5"/>
          <p:cNvSpPr>
            <a:spLocks noChangeArrowheads="1"/>
          </p:cNvSpPr>
          <p:nvPr/>
        </p:nvSpPr>
        <p:spPr bwMode="auto">
          <a:xfrm>
            <a:off x="4876800" y="2362200"/>
            <a:ext cx="2209800" cy="13716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Line 6"/>
          <p:cNvSpPr>
            <a:spLocks noChangeShapeType="1"/>
          </p:cNvSpPr>
          <p:nvPr/>
        </p:nvSpPr>
        <p:spPr bwMode="auto">
          <a:xfrm>
            <a:off x="4876800" y="2743200"/>
            <a:ext cx="2209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5607" name="Line 7"/>
          <p:cNvSpPr>
            <a:spLocks noChangeShapeType="1"/>
          </p:cNvSpPr>
          <p:nvPr/>
        </p:nvSpPr>
        <p:spPr bwMode="auto">
          <a:xfrm>
            <a:off x="5638800" y="2362200"/>
            <a:ext cx="0" cy="1371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5608" name="Text Box 8"/>
          <p:cNvSpPr txBox="1">
            <a:spLocks noChangeArrowheads="1"/>
          </p:cNvSpPr>
          <p:nvPr/>
        </p:nvSpPr>
        <p:spPr bwMode="auto">
          <a:xfrm>
            <a:off x="4876800" y="3962400"/>
            <a:ext cx="3657600" cy="19843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sz="1800">
                <a:solidFill>
                  <a:schemeClr val="tx1"/>
                </a:solidFill>
                <a:latin typeface="Arial" charset="0"/>
              </a:rPr>
              <a:t>Employee</a:t>
            </a:r>
          </a:p>
          <a:p>
            <a:endParaRPr lang="en-GB" sz="800">
              <a:solidFill>
                <a:schemeClr val="tx1"/>
              </a:solidFill>
              <a:latin typeface="Arial" charset="0"/>
            </a:endParaRPr>
          </a:p>
          <a:p>
            <a:r>
              <a:rPr lang="en-GB" sz="1800">
                <a:solidFill>
                  <a:schemeClr val="tx1"/>
                </a:solidFill>
                <a:latin typeface="Arial" charset="0"/>
              </a:rPr>
              <a:t>EID	EName		DID</a:t>
            </a:r>
          </a:p>
          <a:p>
            <a:endParaRPr lang="en-GB" sz="800">
              <a:solidFill>
                <a:schemeClr val="tx1"/>
              </a:solidFill>
              <a:latin typeface="Arial" charset="0"/>
            </a:endParaRPr>
          </a:p>
          <a:p>
            <a:r>
              <a:rPr lang="en-GB" sz="1800">
                <a:solidFill>
                  <a:schemeClr val="tx1"/>
                </a:solidFill>
                <a:latin typeface="Arial" charset="0"/>
              </a:rPr>
              <a:t>15	John Smith	13</a:t>
            </a:r>
          </a:p>
          <a:p>
            <a:r>
              <a:rPr lang="en-GB" sz="1800">
                <a:solidFill>
                  <a:schemeClr val="tx1"/>
                </a:solidFill>
                <a:latin typeface="Arial" charset="0"/>
              </a:rPr>
              <a:t>16	Mary Brown	14</a:t>
            </a:r>
          </a:p>
          <a:p>
            <a:r>
              <a:rPr lang="en-GB" sz="1800">
                <a:solidFill>
                  <a:schemeClr val="tx1"/>
                </a:solidFill>
                <a:latin typeface="Arial" charset="0"/>
              </a:rPr>
              <a:t>17	Mark Jones	13</a:t>
            </a:r>
          </a:p>
          <a:p>
            <a:r>
              <a:rPr lang="en-GB" sz="1800">
                <a:solidFill>
                  <a:schemeClr val="tx1"/>
                </a:solidFill>
                <a:latin typeface="Arial" charset="0"/>
              </a:rPr>
              <a:t>18	Jane Smith	NULL</a:t>
            </a:r>
          </a:p>
        </p:txBody>
      </p:sp>
      <p:sp>
        <p:nvSpPr>
          <p:cNvPr id="25609" name="Rectangle 9"/>
          <p:cNvSpPr>
            <a:spLocks noChangeArrowheads="1"/>
          </p:cNvSpPr>
          <p:nvPr/>
        </p:nvSpPr>
        <p:spPr bwMode="auto">
          <a:xfrm>
            <a:off x="4876800" y="4343400"/>
            <a:ext cx="3505200" cy="1600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5610" name="Line 10"/>
          <p:cNvSpPr>
            <a:spLocks noChangeShapeType="1"/>
          </p:cNvSpPr>
          <p:nvPr/>
        </p:nvSpPr>
        <p:spPr bwMode="auto">
          <a:xfrm>
            <a:off x="5638800" y="4343400"/>
            <a:ext cx="0" cy="1600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5611" name="Line 11"/>
          <p:cNvSpPr>
            <a:spLocks noChangeShapeType="1"/>
          </p:cNvSpPr>
          <p:nvPr/>
        </p:nvSpPr>
        <p:spPr bwMode="auto">
          <a:xfrm>
            <a:off x="7543800" y="4343400"/>
            <a:ext cx="0" cy="1600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5612" name="Line 12"/>
          <p:cNvSpPr>
            <a:spLocks noChangeShapeType="1"/>
          </p:cNvSpPr>
          <p:nvPr/>
        </p:nvSpPr>
        <p:spPr bwMode="auto">
          <a:xfrm flipV="1">
            <a:off x="4876800" y="4724400"/>
            <a:ext cx="3505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Relational Model</a:t>
            </a:r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CASCADE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981200"/>
            <a:ext cx="4267200" cy="4114800"/>
          </a:xfrm>
        </p:spPr>
        <p:txBody>
          <a:bodyPr/>
          <a:lstStyle/>
          <a:p>
            <a:r>
              <a:rPr lang="en-GB" sz="2400"/>
              <a:t>CASCADE allows the changes made to flow through</a:t>
            </a:r>
          </a:p>
          <a:p>
            <a:pPr lvl="1"/>
            <a:r>
              <a:rPr lang="en-GB" sz="2000"/>
              <a:t>If Marketing’s DID is changed to 16 in Department, then the DIDs for John Smith and Mark Jones also change</a:t>
            </a:r>
          </a:p>
          <a:p>
            <a:pPr lvl="1"/>
            <a:r>
              <a:rPr lang="en-GB" sz="2000"/>
              <a:t>If Accounts is deleted then so is Mary Brown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5181600" y="1981200"/>
            <a:ext cx="2209800" cy="1752600"/>
            <a:chOff x="3072" y="1248"/>
            <a:chExt cx="1392" cy="1104"/>
          </a:xfrm>
        </p:grpSpPr>
        <p:sp>
          <p:nvSpPr>
            <p:cNvPr id="26629" name="Text Box 5"/>
            <p:cNvSpPr txBox="1">
              <a:spLocks noChangeArrowheads="1"/>
            </p:cNvSpPr>
            <p:nvPr/>
          </p:nvSpPr>
          <p:spPr bwMode="auto">
            <a:xfrm>
              <a:off x="3072" y="1248"/>
              <a:ext cx="1392" cy="1077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GB" sz="1800">
                  <a:solidFill>
                    <a:schemeClr val="tx1"/>
                  </a:solidFill>
                  <a:latin typeface="Arial" charset="0"/>
                </a:rPr>
                <a:t>Department</a:t>
              </a:r>
            </a:p>
            <a:p>
              <a:endParaRPr lang="en-GB" sz="800">
                <a:solidFill>
                  <a:schemeClr val="tx1"/>
                </a:solidFill>
                <a:latin typeface="Arial" charset="0"/>
              </a:endParaRPr>
            </a:p>
            <a:p>
              <a:r>
                <a:rPr lang="en-GB" sz="1800">
                  <a:solidFill>
                    <a:schemeClr val="tx1"/>
                  </a:solidFill>
                  <a:latin typeface="Arial" charset="0"/>
                </a:rPr>
                <a:t>DID	DName</a:t>
              </a:r>
            </a:p>
            <a:p>
              <a:endParaRPr lang="en-GB" sz="800">
                <a:solidFill>
                  <a:schemeClr val="tx1"/>
                </a:solidFill>
                <a:latin typeface="Arial" charset="0"/>
              </a:endParaRPr>
            </a:p>
            <a:p>
              <a:r>
                <a:rPr lang="en-GB" sz="1800">
                  <a:solidFill>
                    <a:schemeClr val="tx1"/>
                  </a:solidFill>
                  <a:latin typeface="Arial" charset="0"/>
                </a:rPr>
                <a:t>13	Marketing</a:t>
              </a:r>
            </a:p>
            <a:p>
              <a:r>
                <a:rPr lang="en-GB" sz="1800">
                  <a:solidFill>
                    <a:schemeClr val="tx1"/>
                  </a:solidFill>
                  <a:latin typeface="Arial" charset="0"/>
                </a:rPr>
                <a:t>14	Accounts</a:t>
              </a:r>
            </a:p>
            <a:p>
              <a:r>
                <a:rPr lang="en-GB" sz="1800">
                  <a:solidFill>
                    <a:schemeClr val="tx1"/>
                  </a:solidFill>
                  <a:latin typeface="Arial" charset="0"/>
                </a:rPr>
                <a:t>15	Personnel</a:t>
              </a:r>
            </a:p>
          </p:txBody>
        </p:sp>
        <p:sp>
          <p:nvSpPr>
            <p:cNvPr id="26630" name="Rectangle 6"/>
            <p:cNvSpPr>
              <a:spLocks noChangeArrowheads="1"/>
            </p:cNvSpPr>
            <p:nvPr/>
          </p:nvSpPr>
          <p:spPr bwMode="auto">
            <a:xfrm>
              <a:off x="3072" y="1488"/>
              <a:ext cx="1392" cy="86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31" name="Line 7"/>
            <p:cNvSpPr>
              <a:spLocks noChangeShapeType="1"/>
            </p:cNvSpPr>
            <p:nvPr/>
          </p:nvSpPr>
          <p:spPr bwMode="auto">
            <a:xfrm>
              <a:off x="3072" y="1728"/>
              <a:ext cx="13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32" name="Line 8"/>
            <p:cNvSpPr>
              <a:spLocks noChangeShapeType="1"/>
            </p:cNvSpPr>
            <p:nvPr/>
          </p:nvSpPr>
          <p:spPr bwMode="auto">
            <a:xfrm>
              <a:off x="3552" y="1488"/>
              <a:ext cx="0" cy="86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5181600" y="3962400"/>
            <a:ext cx="3657600" cy="1984375"/>
            <a:chOff x="3072" y="2496"/>
            <a:chExt cx="2304" cy="1250"/>
          </a:xfrm>
        </p:grpSpPr>
        <p:sp>
          <p:nvSpPr>
            <p:cNvPr id="26634" name="Text Box 10"/>
            <p:cNvSpPr txBox="1">
              <a:spLocks noChangeArrowheads="1"/>
            </p:cNvSpPr>
            <p:nvPr/>
          </p:nvSpPr>
          <p:spPr bwMode="auto">
            <a:xfrm>
              <a:off x="3072" y="2496"/>
              <a:ext cx="2304" cy="125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GB" sz="1800">
                  <a:solidFill>
                    <a:schemeClr val="tx1"/>
                  </a:solidFill>
                  <a:latin typeface="Arial" charset="0"/>
                </a:rPr>
                <a:t>Employee</a:t>
              </a:r>
            </a:p>
            <a:p>
              <a:endParaRPr lang="en-GB" sz="800">
                <a:solidFill>
                  <a:schemeClr val="tx1"/>
                </a:solidFill>
                <a:latin typeface="Arial" charset="0"/>
              </a:endParaRPr>
            </a:p>
            <a:p>
              <a:r>
                <a:rPr lang="en-GB" sz="1800">
                  <a:solidFill>
                    <a:schemeClr val="tx1"/>
                  </a:solidFill>
                  <a:latin typeface="Arial" charset="0"/>
                </a:rPr>
                <a:t>EID	EName		DID</a:t>
              </a:r>
            </a:p>
            <a:p>
              <a:endParaRPr lang="en-GB" sz="800">
                <a:solidFill>
                  <a:schemeClr val="tx1"/>
                </a:solidFill>
                <a:latin typeface="Arial" charset="0"/>
              </a:endParaRPr>
            </a:p>
            <a:p>
              <a:r>
                <a:rPr lang="en-GB" sz="1800">
                  <a:solidFill>
                    <a:schemeClr val="tx1"/>
                  </a:solidFill>
                  <a:latin typeface="Arial" charset="0"/>
                </a:rPr>
                <a:t>15	John Smith	13</a:t>
              </a:r>
            </a:p>
            <a:p>
              <a:r>
                <a:rPr lang="en-GB" sz="1800">
                  <a:solidFill>
                    <a:schemeClr val="tx1"/>
                  </a:solidFill>
                  <a:latin typeface="Arial" charset="0"/>
                </a:rPr>
                <a:t>16	Mary Brown	14</a:t>
              </a:r>
            </a:p>
            <a:p>
              <a:r>
                <a:rPr lang="en-GB" sz="1800">
                  <a:solidFill>
                    <a:schemeClr val="tx1"/>
                  </a:solidFill>
                  <a:latin typeface="Arial" charset="0"/>
                </a:rPr>
                <a:t>17	Mark Jones	13</a:t>
              </a:r>
            </a:p>
            <a:p>
              <a:r>
                <a:rPr lang="en-GB" sz="1800">
                  <a:solidFill>
                    <a:schemeClr val="tx1"/>
                  </a:solidFill>
                  <a:latin typeface="Arial" charset="0"/>
                </a:rPr>
                <a:t>18	Jane Smith	NULL</a:t>
              </a:r>
            </a:p>
          </p:txBody>
        </p:sp>
        <p:sp>
          <p:nvSpPr>
            <p:cNvPr id="26635" name="Rectangle 11"/>
            <p:cNvSpPr>
              <a:spLocks noChangeArrowheads="1"/>
            </p:cNvSpPr>
            <p:nvPr/>
          </p:nvSpPr>
          <p:spPr bwMode="auto">
            <a:xfrm>
              <a:off x="3072" y="2736"/>
              <a:ext cx="2208" cy="100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36" name="Line 12"/>
            <p:cNvSpPr>
              <a:spLocks noChangeShapeType="1"/>
            </p:cNvSpPr>
            <p:nvPr/>
          </p:nvSpPr>
          <p:spPr bwMode="auto">
            <a:xfrm>
              <a:off x="3552" y="2736"/>
              <a:ext cx="0" cy="10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37" name="Line 13"/>
            <p:cNvSpPr>
              <a:spLocks noChangeShapeType="1"/>
            </p:cNvSpPr>
            <p:nvPr/>
          </p:nvSpPr>
          <p:spPr bwMode="auto">
            <a:xfrm>
              <a:off x="4752" y="2736"/>
              <a:ext cx="0" cy="10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38" name="Line 14"/>
            <p:cNvSpPr>
              <a:spLocks noChangeShapeType="1"/>
            </p:cNvSpPr>
            <p:nvPr/>
          </p:nvSpPr>
          <p:spPr bwMode="auto">
            <a:xfrm flipV="1">
              <a:off x="3072" y="2976"/>
              <a:ext cx="220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5257800" y="2743200"/>
            <a:ext cx="3409950" cy="2895600"/>
            <a:chOff x="3312" y="1728"/>
            <a:chExt cx="2148" cy="1824"/>
          </a:xfrm>
        </p:grpSpPr>
        <p:sp>
          <p:nvSpPr>
            <p:cNvPr id="26640" name="Text Box 16"/>
            <p:cNvSpPr txBox="1">
              <a:spLocks noChangeArrowheads="1"/>
            </p:cNvSpPr>
            <p:nvPr/>
          </p:nvSpPr>
          <p:spPr bwMode="auto">
            <a:xfrm>
              <a:off x="3456" y="1728"/>
              <a:ext cx="2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1800">
                  <a:solidFill>
                    <a:schemeClr val="tx2"/>
                  </a:solidFill>
                  <a:latin typeface="Arial" charset="0"/>
                </a:rPr>
                <a:t>16</a:t>
              </a:r>
            </a:p>
          </p:txBody>
        </p:sp>
        <p:sp>
          <p:nvSpPr>
            <p:cNvPr id="26641" name="Text Box 17"/>
            <p:cNvSpPr txBox="1">
              <a:spLocks noChangeArrowheads="1"/>
            </p:cNvSpPr>
            <p:nvPr/>
          </p:nvSpPr>
          <p:spPr bwMode="auto">
            <a:xfrm>
              <a:off x="5184" y="3312"/>
              <a:ext cx="2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1800">
                  <a:solidFill>
                    <a:schemeClr val="tx2"/>
                  </a:solidFill>
                  <a:latin typeface="Arial" charset="0"/>
                </a:rPr>
                <a:t>16</a:t>
              </a:r>
            </a:p>
          </p:txBody>
        </p:sp>
        <p:sp>
          <p:nvSpPr>
            <p:cNvPr id="26642" name="Text Box 18"/>
            <p:cNvSpPr txBox="1">
              <a:spLocks noChangeArrowheads="1"/>
            </p:cNvSpPr>
            <p:nvPr/>
          </p:nvSpPr>
          <p:spPr bwMode="auto">
            <a:xfrm>
              <a:off x="5184" y="2976"/>
              <a:ext cx="2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1800">
                  <a:solidFill>
                    <a:schemeClr val="tx2"/>
                  </a:solidFill>
                  <a:latin typeface="Arial" charset="0"/>
                </a:rPr>
                <a:t>16</a:t>
              </a:r>
            </a:p>
          </p:txBody>
        </p:sp>
        <p:sp>
          <p:nvSpPr>
            <p:cNvPr id="26643" name="Line 19"/>
            <p:cNvSpPr>
              <a:spLocks noChangeShapeType="1"/>
            </p:cNvSpPr>
            <p:nvPr/>
          </p:nvSpPr>
          <p:spPr bwMode="auto">
            <a:xfrm>
              <a:off x="3312" y="1776"/>
              <a:ext cx="192" cy="192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44" name="Line 20"/>
            <p:cNvSpPr>
              <a:spLocks noChangeShapeType="1"/>
            </p:cNvSpPr>
            <p:nvPr/>
          </p:nvSpPr>
          <p:spPr bwMode="auto">
            <a:xfrm>
              <a:off x="5040" y="3360"/>
              <a:ext cx="192" cy="192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45" name="Line 21"/>
            <p:cNvSpPr>
              <a:spLocks noChangeShapeType="1"/>
            </p:cNvSpPr>
            <p:nvPr/>
          </p:nvSpPr>
          <p:spPr bwMode="auto">
            <a:xfrm>
              <a:off x="5040" y="3024"/>
              <a:ext cx="192" cy="192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" name="Group 22"/>
          <p:cNvGrpSpPr>
            <a:grpSpLocks/>
          </p:cNvGrpSpPr>
          <p:nvPr/>
        </p:nvGrpSpPr>
        <p:grpSpPr bwMode="auto">
          <a:xfrm>
            <a:off x="5029200" y="3200400"/>
            <a:ext cx="3810000" cy="2057400"/>
            <a:chOff x="3168" y="2016"/>
            <a:chExt cx="2400" cy="1296"/>
          </a:xfrm>
        </p:grpSpPr>
        <p:sp>
          <p:nvSpPr>
            <p:cNvPr id="26647" name="Line 23"/>
            <p:cNvSpPr>
              <a:spLocks noChangeShapeType="1"/>
            </p:cNvSpPr>
            <p:nvPr/>
          </p:nvSpPr>
          <p:spPr bwMode="auto">
            <a:xfrm>
              <a:off x="3168" y="2016"/>
              <a:ext cx="1584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48" name="Line 24"/>
            <p:cNvSpPr>
              <a:spLocks noChangeShapeType="1"/>
            </p:cNvSpPr>
            <p:nvPr/>
          </p:nvSpPr>
          <p:spPr bwMode="auto">
            <a:xfrm>
              <a:off x="3168" y="3312"/>
              <a:ext cx="2400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49" name="Line 25"/>
            <p:cNvSpPr>
              <a:spLocks noChangeShapeType="1"/>
            </p:cNvSpPr>
            <p:nvPr/>
          </p:nvSpPr>
          <p:spPr bwMode="auto">
            <a:xfrm>
              <a:off x="3168" y="3264"/>
              <a:ext cx="2400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50" name="Line 26"/>
            <p:cNvSpPr>
              <a:spLocks noChangeShapeType="1"/>
            </p:cNvSpPr>
            <p:nvPr/>
          </p:nvSpPr>
          <p:spPr bwMode="auto">
            <a:xfrm>
              <a:off x="3168" y="2064"/>
              <a:ext cx="1584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Relational Model</a:t>
            </a:r>
          </a:p>
        </p:txBody>
      </p:sp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NULLIFY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981200"/>
            <a:ext cx="4343400" cy="4114800"/>
          </a:xfrm>
        </p:spPr>
        <p:txBody>
          <a:bodyPr/>
          <a:lstStyle/>
          <a:p>
            <a:r>
              <a:rPr lang="en-GB" sz="2400"/>
              <a:t>NULLIFY sets problem values to NULL</a:t>
            </a:r>
          </a:p>
          <a:p>
            <a:pPr lvl="1"/>
            <a:r>
              <a:rPr lang="en-GB" sz="2000"/>
              <a:t>If Marketing’s DID changes then John Smith’s and Mark Jones’ DIDs are set to NULL</a:t>
            </a:r>
          </a:p>
          <a:p>
            <a:pPr lvl="1"/>
            <a:r>
              <a:rPr lang="en-GB" sz="2000"/>
              <a:t>If Accounts is deleted, Mary Brown’s DID becomes NULL</a:t>
            </a:r>
          </a:p>
          <a:p>
            <a:pPr lvl="1"/>
            <a:endParaRPr lang="en-GB" sz="200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5181600" y="1981200"/>
            <a:ext cx="2209800" cy="1752600"/>
            <a:chOff x="3072" y="1248"/>
            <a:chExt cx="1392" cy="1104"/>
          </a:xfrm>
        </p:grpSpPr>
        <p:sp>
          <p:nvSpPr>
            <p:cNvPr id="27653" name="Text Box 5"/>
            <p:cNvSpPr txBox="1">
              <a:spLocks noChangeArrowheads="1"/>
            </p:cNvSpPr>
            <p:nvPr/>
          </p:nvSpPr>
          <p:spPr bwMode="auto">
            <a:xfrm>
              <a:off x="3072" y="1248"/>
              <a:ext cx="1392" cy="1077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GB" sz="1800">
                  <a:solidFill>
                    <a:schemeClr val="tx1"/>
                  </a:solidFill>
                  <a:latin typeface="Arial" charset="0"/>
                </a:rPr>
                <a:t>Department</a:t>
              </a:r>
            </a:p>
            <a:p>
              <a:endParaRPr lang="en-GB" sz="800">
                <a:solidFill>
                  <a:schemeClr val="tx1"/>
                </a:solidFill>
                <a:latin typeface="Arial" charset="0"/>
              </a:endParaRPr>
            </a:p>
            <a:p>
              <a:r>
                <a:rPr lang="en-GB" sz="1800">
                  <a:solidFill>
                    <a:schemeClr val="tx1"/>
                  </a:solidFill>
                  <a:latin typeface="Arial" charset="0"/>
                </a:rPr>
                <a:t>DID	DName</a:t>
              </a:r>
            </a:p>
            <a:p>
              <a:endParaRPr lang="en-GB" sz="800">
                <a:solidFill>
                  <a:schemeClr val="tx1"/>
                </a:solidFill>
                <a:latin typeface="Arial" charset="0"/>
              </a:endParaRPr>
            </a:p>
            <a:p>
              <a:r>
                <a:rPr lang="en-GB" sz="1800">
                  <a:solidFill>
                    <a:schemeClr val="tx1"/>
                  </a:solidFill>
                  <a:latin typeface="Arial" charset="0"/>
                </a:rPr>
                <a:t>13	Marketing</a:t>
              </a:r>
            </a:p>
            <a:p>
              <a:r>
                <a:rPr lang="en-GB" sz="1800">
                  <a:solidFill>
                    <a:schemeClr val="tx1"/>
                  </a:solidFill>
                  <a:latin typeface="Arial" charset="0"/>
                </a:rPr>
                <a:t>14	Accounts</a:t>
              </a:r>
            </a:p>
            <a:p>
              <a:r>
                <a:rPr lang="en-GB" sz="1800">
                  <a:solidFill>
                    <a:schemeClr val="tx1"/>
                  </a:solidFill>
                  <a:latin typeface="Arial" charset="0"/>
                </a:rPr>
                <a:t>15	Personnel</a:t>
              </a:r>
            </a:p>
          </p:txBody>
        </p:sp>
        <p:sp>
          <p:nvSpPr>
            <p:cNvPr id="27654" name="Rectangle 6"/>
            <p:cNvSpPr>
              <a:spLocks noChangeArrowheads="1"/>
            </p:cNvSpPr>
            <p:nvPr/>
          </p:nvSpPr>
          <p:spPr bwMode="auto">
            <a:xfrm>
              <a:off x="3072" y="1488"/>
              <a:ext cx="1392" cy="86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55" name="Line 7"/>
            <p:cNvSpPr>
              <a:spLocks noChangeShapeType="1"/>
            </p:cNvSpPr>
            <p:nvPr/>
          </p:nvSpPr>
          <p:spPr bwMode="auto">
            <a:xfrm>
              <a:off x="3072" y="1728"/>
              <a:ext cx="13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56" name="Line 8"/>
            <p:cNvSpPr>
              <a:spLocks noChangeShapeType="1"/>
            </p:cNvSpPr>
            <p:nvPr/>
          </p:nvSpPr>
          <p:spPr bwMode="auto">
            <a:xfrm>
              <a:off x="3552" y="1488"/>
              <a:ext cx="0" cy="86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5181600" y="3962400"/>
            <a:ext cx="3657600" cy="1984375"/>
            <a:chOff x="3072" y="2496"/>
            <a:chExt cx="2304" cy="1250"/>
          </a:xfrm>
        </p:grpSpPr>
        <p:sp>
          <p:nvSpPr>
            <p:cNvPr id="27658" name="Text Box 10"/>
            <p:cNvSpPr txBox="1">
              <a:spLocks noChangeArrowheads="1"/>
            </p:cNvSpPr>
            <p:nvPr/>
          </p:nvSpPr>
          <p:spPr bwMode="auto">
            <a:xfrm>
              <a:off x="3072" y="2496"/>
              <a:ext cx="2304" cy="125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GB" sz="1800">
                  <a:solidFill>
                    <a:schemeClr val="tx1"/>
                  </a:solidFill>
                  <a:latin typeface="Arial" charset="0"/>
                </a:rPr>
                <a:t>Employee</a:t>
              </a:r>
            </a:p>
            <a:p>
              <a:endParaRPr lang="en-GB" sz="800">
                <a:solidFill>
                  <a:schemeClr val="tx1"/>
                </a:solidFill>
                <a:latin typeface="Arial" charset="0"/>
              </a:endParaRPr>
            </a:p>
            <a:p>
              <a:r>
                <a:rPr lang="en-GB" sz="1800">
                  <a:solidFill>
                    <a:schemeClr val="tx1"/>
                  </a:solidFill>
                  <a:latin typeface="Arial" charset="0"/>
                </a:rPr>
                <a:t>EID	EName		DID</a:t>
              </a:r>
            </a:p>
            <a:p>
              <a:endParaRPr lang="en-GB" sz="800">
                <a:solidFill>
                  <a:schemeClr val="tx1"/>
                </a:solidFill>
                <a:latin typeface="Arial" charset="0"/>
              </a:endParaRPr>
            </a:p>
            <a:p>
              <a:r>
                <a:rPr lang="en-GB" sz="1800">
                  <a:solidFill>
                    <a:schemeClr val="tx1"/>
                  </a:solidFill>
                  <a:latin typeface="Arial" charset="0"/>
                </a:rPr>
                <a:t>15	John Smith	13</a:t>
              </a:r>
            </a:p>
            <a:p>
              <a:r>
                <a:rPr lang="en-GB" sz="1800">
                  <a:solidFill>
                    <a:schemeClr val="tx1"/>
                  </a:solidFill>
                  <a:latin typeface="Arial" charset="0"/>
                </a:rPr>
                <a:t>16	Mary Brown	14</a:t>
              </a:r>
            </a:p>
            <a:p>
              <a:r>
                <a:rPr lang="en-GB" sz="1800">
                  <a:solidFill>
                    <a:schemeClr val="tx1"/>
                  </a:solidFill>
                  <a:latin typeface="Arial" charset="0"/>
                </a:rPr>
                <a:t>17	Mark Jones	13</a:t>
              </a:r>
            </a:p>
            <a:p>
              <a:r>
                <a:rPr lang="en-GB" sz="1800">
                  <a:solidFill>
                    <a:schemeClr val="tx1"/>
                  </a:solidFill>
                  <a:latin typeface="Arial" charset="0"/>
                </a:rPr>
                <a:t>18	Jane Smith	NULL</a:t>
              </a:r>
            </a:p>
          </p:txBody>
        </p:sp>
        <p:sp>
          <p:nvSpPr>
            <p:cNvPr id="27659" name="Rectangle 11"/>
            <p:cNvSpPr>
              <a:spLocks noChangeArrowheads="1"/>
            </p:cNvSpPr>
            <p:nvPr/>
          </p:nvSpPr>
          <p:spPr bwMode="auto">
            <a:xfrm>
              <a:off x="3072" y="2736"/>
              <a:ext cx="2208" cy="100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60" name="Line 12"/>
            <p:cNvSpPr>
              <a:spLocks noChangeShapeType="1"/>
            </p:cNvSpPr>
            <p:nvPr/>
          </p:nvSpPr>
          <p:spPr bwMode="auto">
            <a:xfrm>
              <a:off x="3552" y="2736"/>
              <a:ext cx="0" cy="10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61" name="Line 13"/>
            <p:cNvSpPr>
              <a:spLocks noChangeShapeType="1"/>
            </p:cNvSpPr>
            <p:nvPr/>
          </p:nvSpPr>
          <p:spPr bwMode="auto">
            <a:xfrm>
              <a:off x="4752" y="2736"/>
              <a:ext cx="0" cy="10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62" name="Line 14"/>
            <p:cNvSpPr>
              <a:spLocks noChangeShapeType="1"/>
            </p:cNvSpPr>
            <p:nvPr/>
          </p:nvSpPr>
          <p:spPr bwMode="auto">
            <a:xfrm flipV="1">
              <a:off x="3072" y="2976"/>
              <a:ext cx="220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5029200" y="3200400"/>
            <a:ext cx="3968750" cy="2209800"/>
            <a:chOff x="3168" y="2016"/>
            <a:chExt cx="2500" cy="1392"/>
          </a:xfrm>
        </p:grpSpPr>
        <p:sp>
          <p:nvSpPr>
            <p:cNvPr id="27664" name="Line 16"/>
            <p:cNvSpPr>
              <a:spLocks noChangeShapeType="1"/>
            </p:cNvSpPr>
            <p:nvPr/>
          </p:nvSpPr>
          <p:spPr bwMode="auto">
            <a:xfrm>
              <a:off x="3168" y="2016"/>
              <a:ext cx="1584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65" name="Line 17"/>
            <p:cNvSpPr>
              <a:spLocks noChangeShapeType="1"/>
            </p:cNvSpPr>
            <p:nvPr/>
          </p:nvSpPr>
          <p:spPr bwMode="auto">
            <a:xfrm>
              <a:off x="3168" y="2064"/>
              <a:ext cx="1584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66" name="Line 18"/>
            <p:cNvSpPr>
              <a:spLocks noChangeShapeType="1"/>
            </p:cNvSpPr>
            <p:nvPr/>
          </p:nvSpPr>
          <p:spPr bwMode="auto">
            <a:xfrm>
              <a:off x="5040" y="3216"/>
              <a:ext cx="192" cy="192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67" name="Text Box 19"/>
            <p:cNvSpPr txBox="1">
              <a:spLocks noChangeArrowheads="1"/>
            </p:cNvSpPr>
            <p:nvPr/>
          </p:nvSpPr>
          <p:spPr bwMode="auto">
            <a:xfrm>
              <a:off x="5184" y="3168"/>
              <a:ext cx="4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1800">
                  <a:solidFill>
                    <a:schemeClr val="tx2"/>
                  </a:solidFill>
                  <a:latin typeface="Arial" charset="0"/>
                </a:rPr>
                <a:t>NULL</a:t>
              </a:r>
            </a:p>
          </p:txBody>
        </p:sp>
      </p:grpSp>
      <p:grpSp>
        <p:nvGrpSpPr>
          <p:cNvPr id="5" name="Group 20"/>
          <p:cNvGrpSpPr>
            <a:grpSpLocks/>
          </p:cNvGrpSpPr>
          <p:nvPr/>
        </p:nvGrpSpPr>
        <p:grpSpPr bwMode="auto">
          <a:xfrm>
            <a:off x="5257800" y="2743200"/>
            <a:ext cx="3740150" cy="2957513"/>
            <a:chOff x="3312" y="1728"/>
            <a:chExt cx="2356" cy="1863"/>
          </a:xfrm>
        </p:grpSpPr>
        <p:sp>
          <p:nvSpPr>
            <p:cNvPr id="27669" name="Text Box 21"/>
            <p:cNvSpPr txBox="1">
              <a:spLocks noChangeArrowheads="1"/>
            </p:cNvSpPr>
            <p:nvPr/>
          </p:nvSpPr>
          <p:spPr bwMode="auto">
            <a:xfrm>
              <a:off x="3456" y="1728"/>
              <a:ext cx="2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1800">
                  <a:solidFill>
                    <a:schemeClr val="tx2"/>
                  </a:solidFill>
                  <a:latin typeface="Arial" charset="0"/>
                </a:rPr>
                <a:t>16</a:t>
              </a:r>
            </a:p>
          </p:txBody>
        </p:sp>
        <p:sp>
          <p:nvSpPr>
            <p:cNvPr id="27670" name="Text Box 22"/>
            <p:cNvSpPr txBox="1">
              <a:spLocks noChangeArrowheads="1"/>
            </p:cNvSpPr>
            <p:nvPr/>
          </p:nvSpPr>
          <p:spPr bwMode="auto">
            <a:xfrm>
              <a:off x="5184" y="2976"/>
              <a:ext cx="4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1800">
                  <a:solidFill>
                    <a:schemeClr val="tx2"/>
                  </a:solidFill>
                  <a:latin typeface="Arial" charset="0"/>
                </a:rPr>
                <a:t>NULL</a:t>
              </a:r>
            </a:p>
          </p:txBody>
        </p:sp>
        <p:sp>
          <p:nvSpPr>
            <p:cNvPr id="27671" name="Line 23"/>
            <p:cNvSpPr>
              <a:spLocks noChangeShapeType="1"/>
            </p:cNvSpPr>
            <p:nvPr/>
          </p:nvSpPr>
          <p:spPr bwMode="auto">
            <a:xfrm>
              <a:off x="3312" y="1776"/>
              <a:ext cx="192" cy="192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72" name="Line 24"/>
            <p:cNvSpPr>
              <a:spLocks noChangeShapeType="1"/>
            </p:cNvSpPr>
            <p:nvPr/>
          </p:nvSpPr>
          <p:spPr bwMode="auto">
            <a:xfrm>
              <a:off x="5040" y="3360"/>
              <a:ext cx="192" cy="192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73" name="Line 25"/>
            <p:cNvSpPr>
              <a:spLocks noChangeShapeType="1"/>
            </p:cNvSpPr>
            <p:nvPr/>
          </p:nvSpPr>
          <p:spPr bwMode="auto">
            <a:xfrm>
              <a:off x="5040" y="3024"/>
              <a:ext cx="192" cy="192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74" name="Text Box 26"/>
            <p:cNvSpPr txBox="1">
              <a:spLocks noChangeArrowheads="1"/>
            </p:cNvSpPr>
            <p:nvPr/>
          </p:nvSpPr>
          <p:spPr bwMode="auto">
            <a:xfrm>
              <a:off x="5184" y="3360"/>
              <a:ext cx="4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1800">
                  <a:solidFill>
                    <a:schemeClr val="tx2"/>
                  </a:solidFill>
                  <a:latin typeface="Arial" charset="0"/>
                </a:rPr>
                <a:t>NULL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ECE5C9-BA41-4AEC-B434-AE20A78D4AD8}" type="slidenum">
              <a:rPr lang="en-GB"/>
              <a:pPr/>
              <a:t>25</a:t>
            </a:fld>
            <a:endParaRPr lang="en-GB"/>
          </a:p>
        </p:txBody>
      </p:sp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b="1"/>
              <a:t>Views</a:t>
            </a:r>
          </a:p>
        </p:txBody>
      </p:sp>
      <p:sp>
        <p:nvSpPr>
          <p:cNvPr id="147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76400"/>
            <a:ext cx="772795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GB" dirty="0"/>
              <a:t>Base Relation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Named relation corresponding to an entity in conceptual schema, whose </a:t>
            </a:r>
            <a:r>
              <a:rPr lang="en-GB" dirty="0" err="1"/>
              <a:t>tuples</a:t>
            </a:r>
            <a:r>
              <a:rPr lang="en-GB" dirty="0"/>
              <a:t> are physically stored in database.</a:t>
            </a:r>
          </a:p>
          <a:p>
            <a:pPr lvl="1">
              <a:lnSpc>
                <a:spcPct val="90000"/>
              </a:lnSpc>
            </a:pPr>
            <a:endParaRPr lang="en-GB" dirty="0"/>
          </a:p>
          <a:p>
            <a:pPr>
              <a:lnSpc>
                <a:spcPct val="90000"/>
              </a:lnSpc>
            </a:pPr>
            <a:r>
              <a:rPr lang="en-GB" dirty="0"/>
              <a:t>View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Dynamic result of one or more relational operations operating on base relations to produce another relation. </a:t>
            </a:r>
          </a:p>
        </p:txBody>
      </p:sp>
    </p:spTree>
  </p:cSld>
  <p:clrMapOvr>
    <a:masterClrMapping/>
  </p:clrMapOvr>
  <p:transition>
    <p:wipe dir="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69F9C2-D0AA-48C8-B2C5-B028EF59CA36}" type="slidenum">
              <a:rPr lang="en-GB"/>
              <a:pPr/>
              <a:t>26</a:t>
            </a:fld>
            <a:endParaRPr lang="en-GB"/>
          </a:p>
        </p:txBody>
      </p:sp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8" tIns="44450" rIns="90488" bIns="44450"/>
          <a:lstStyle/>
          <a:p>
            <a:r>
              <a:rPr lang="en-GB" b="1"/>
              <a:t>Views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600200"/>
            <a:ext cx="8001000" cy="4114800"/>
          </a:xfrm>
          <a:noFill/>
          <a:ln/>
        </p:spPr>
        <p:txBody>
          <a:bodyPr lIns="90488" tIns="44450" rIns="90488" bIns="44450"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GB" dirty="0"/>
              <a:t>A virtual relation that does not necessarily actually exist in the database but is produced upon request, at time of request.</a:t>
            </a:r>
          </a:p>
          <a:p>
            <a:pPr>
              <a:lnSpc>
                <a:spcPct val="90000"/>
              </a:lnSpc>
            </a:pPr>
            <a:endParaRPr lang="en-GB" dirty="0"/>
          </a:p>
          <a:p>
            <a:pPr>
              <a:lnSpc>
                <a:spcPct val="90000"/>
              </a:lnSpc>
            </a:pPr>
            <a:r>
              <a:rPr lang="en-GB" dirty="0"/>
              <a:t>Contents of a view are defined as a query on one or more base relations. </a:t>
            </a:r>
          </a:p>
          <a:p>
            <a:pPr>
              <a:lnSpc>
                <a:spcPct val="90000"/>
              </a:lnSpc>
            </a:pPr>
            <a:endParaRPr lang="en-GB" dirty="0"/>
          </a:p>
          <a:p>
            <a:pPr>
              <a:lnSpc>
                <a:spcPct val="90000"/>
              </a:lnSpc>
            </a:pPr>
            <a:r>
              <a:rPr lang="en-GB" dirty="0"/>
              <a:t>Views are dynamic, meaning that changes made to base relations that affect view attributes are immediately reflected in the view. </a:t>
            </a:r>
          </a:p>
        </p:txBody>
      </p:sp>
    </p:spTree>
  </p:cSld>
  <p:clrMapOvr>
    <a:masterClrMapping/>
  </p:clrMapOvr>
  <p:transition>
    <p:wipe dir="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22EFA6-BD38-401F-96FE-6AA39ECED267}" type="slidenum">
              <a:rPr lang="en-GB"/>
              <a:pPr/>
              <a:t>27</a:t>
            </a:fld>
            <a:endParaRPr lang="en-GB"/>
          </a:p>
        </p:txBody>
      </p:sp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8" tIns="44450" rIns="90488" bIns="44450"/>
          <a:lstStyle/>
          <a:p>
            <a:r>
              <a:rPr lang="en-GB" b="1"/>
              <a:t>Purpose of Views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76400"/>
            <a:ext cx="7727950" cy="4114800"/>
          </a:xfrm>
          <a:noFill/>
          <a:ln/>
        </p:spPr>
        <p:txBody>
          <a:bodyPr lIns="90488" tIns="44450" rIns="90488" bIns="44450"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GB" dirty="0"/>
              <a:t>Provides powerful and flexible security mechanism by hiding parts of database from certain users. </a:t>
            </a:r>
          </a:p>
          <a:p>
            <a:pPr>
              <a:lnSpc>
                <a:spcPct val="90000"/>
              </a:lnSpc>
            </a:pPr>
            <a:endParaRPr lang="en-GB" dirty="0"/>
          </a:p>
          <a:p>
            <a:pPr>
              <a:lnSpc>
                <a:spcPct val="90000"/>
              </a:lnSpc>
            </a:pPr>
            <a:r>
              <a:rPr lang="en-GB" dirty="0"/>
              <a:t>Permits users to access data in a customized way, so that same data can be seen by different users in different ways, at same time.</a:t>
            </a:r>
          </a:p>
          <a:p>
            <a:pPr>
              <a:lnSpc>
                <a:spcPct val="90000"/>
              </a:lnSpc>
            </a:pPr>
            <a:endParaRPr lang="en-GB" dirty="0"/>
          </a:p>
          <a:p>
            <a:pPr>
              <a:lnSpc>
                <a:spcPct val="90000"/>
              </a:lnSpc>
            </a:pPr>
            <a:r>
              <a:rPr lang="en-GB" dirty="0"/>
              <a:t>Can simplify complex operations on base relations. </a:t>
            </a:r>
          </a:p>
        </p:txBody>
      </p:sp>
    </p:spTree>
  </p:cSld>
  <p:clrMapOvr>
    <a:masterClrMapping/>
  </p:clrMapOvr>
  <p:transition>
    <p:wipe dir="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C53AA1-763E-4F04-8E6C-FAAAEA9D13C0}" type="slidenum">
              <a:rPr lang="en-GB"/>
              <a:pPr/>
              <a:t>28</a:t>
            </a:fld>
            <a:endParaRPr lang="en-GB"/>
          </a:p>
        </p:txBody>
      </p:sp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8" tIns="44450" rIns="90488" bIns="44450"/>
          <a:lstStyle/>
          <a:p>
            <a:r>
              <a:rPr lang="en-GB" b="1"/>
              <a:t>Updating Views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7727950" cy="4114800"/>
          </a:xfrm>
          <a:noFill/>
          <a:ln/>
        </p:spPr>
        <p:txBody>
          <a:bodyPr lIns="90488" tIns="44450" rIns="90488" bIns="44450"/>
          <a:lstStyle/>
          <a:p>
            <a:r>
              <a:rPr lang="en-GB" dirty="0"/>
              <a:t>All updates to a base relation should be immediately reflected in all views that reference that base relation. </a:t>
            </a:r>
          </a:p>
          <a:p>
            <a:endParaRPr lang="en-GB" dirty="0"/>
          </a:p>
          <a:p>
            <a:r>
              <a:rPr lang="en-GB" dirty="0"/>
              <a:t>If view is updated, underlying base relation should reflect change.</a:t>
            </a:r>
          </a:p>
        </p:txBody>
      </p:sp>
    </p:spTree>
  </p:cSld>
  <p:clrMapOvr>
    <a:masterClrMapping/>
  </p:clrMapOvr>
  <p:transition>
    <p:wipe dir="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3644</TotalTime>
  <Words>1410</Words>
  <Application>Microsoft Office PowerPoint</Application>
  <PresentationFormat>On-screen Show (4:3)</PresentationFormat>
  <Paragraphs>275</Paragraphs>
  <Slides>28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Monotype Sorts</vt:lpstr>
      <vt:lpstr>Times</vt:lpstr>
      <vt:lpstr>Office Theme</vt:lpstr>
      <vt:lpstr>Differences between Three Levels of ANSI-SPARC Architecture</vt:lpstr>
      <vt:lpstr>Data Independence</vt:lpstr>
      <vt:lpstr>Data Independence</vt:lpstr>
      <vt:lpstr>Data Model</vt:lpstr>
      <vt:lpstr>Data Model</vt:lpstr>
      <vt:lpstr>Relational Systems</vt:lpstr>
      <vt:lpstr>Relational Model Terminology</vt:lpstr>
      <vt:lpstr>Relational Model Terminology</vt:lpstr>
      <vt:lpstr>Instances of  Branch and Staff Relations</vt:lpstr>
      <vt:lpstr>Alternative Terminology for Relational Model</vt:lpstr>
      <vt:lpstr>Properties of Relations</vt:lpstr>
      <vt:lpstr>Properties of Relations</vt:lpstr>
      <vt:lpstr>Candidate Keys</vt:lpstr>
      <vt:lpstr>Choosing Candidate Keys</vt:lpstr>
      <vt:lpstr>Primary Keys</vt:lpstr>
      <vt:lpstr>NULLs and Primary Keys</vt:lpstr>
      <vt:lpstr>Foreign Keys</vt:lpstr>
      <vt:lpstr>Foreign Keys - Example</vt:lpstr>
      <vt:lpstr>Foreign Keys - Example</vt:lpstr>
      <vt:lpstr>Referential Integrity</vt:lpstr>
      <vt:lpstr>Referential Integrity - Example</vt:lpstr>
      <vt:lpstr>RESTRICT</vt:lpstr>
      <vt:lpstr>CASCADE</vt:lpstr>
      <vt:lpstr>NULLIFY</vt:lpstr>
      <vt:lpstr>Views</vt:lpstr>
      <vt:lpstr>Views</vt:lpstr>
      <vt:lpstr>Purpose of Views</vt:lpstr>
      <vt:lpstr>Updating Views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Differences between Three Levels of ANSI-SPARC Architecture</dc:title>
  <dc:creator>shoaib khan</dc:creator>
  <cp:lastModifiedBy>Shoaib M Khan</cp:lastModifiedBy>
  <cp:revision>40</cp:revision>
  <dcterms:created xsi:type="dcterms:W3CDTF">2006-08-16T00:00:00Z</dcterms:created>
  <dcterms:modified xsi:type="dcterms:W3CDTF">2026-01-26T19:14:33Z</dcterms:modified>
</cp:coreProperties>
</file>