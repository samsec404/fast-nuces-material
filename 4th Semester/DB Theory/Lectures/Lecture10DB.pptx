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6" r:id="rId2"/>
    <p:sldId id="317" r:id="rId3"/>
    <p:sldId id="318" r:id="rId4"/>
    <p:sldId id="320" r:id="rId5"/>
    <p:sldId id="322" r:id="rId6"/>
    <p:sldId id="324" r:id="rId7"/>
    <p:sldId id="321" r:id="rId8"/>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D68F-84D1-EFFC-9511-388CDEE69F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3E19F117-0838-8A60-125E-B9181AA023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A4A6D6FE-EF84-3C2F-304B-81750C019B42}"/>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A38A5E52-02EE-27EF-FDD4-541E0BE0BF6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5C9D7824-6043-160C-B5B5-105ADD2BA21C}"/>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2221372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606-FD95-74CA-1F93-74B5E61DBC3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F6CF098-D094-67DB-9B3A-0862FE431F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22740A41-9C82-35AF-DFD7-EFC45356CB3D}"/>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A25F95A1-81CE-6844-43DB-BA3488000D2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9C56A31F-7B0B-EF88-7671-DDBF0E6BA51E}"/>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2646971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051E5-FF8E-15DE-4EFF-8033D3AE21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172E57E2-1821-636E-B0CC-3CABC3D0F4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3D078B-ABDC-C5AD-77E4-0D8667597637}"/>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E1456C1F-9AF2-BAF1-C182-0F01E673506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D2CAC0D-3E1F-3C29-CD87-26F4C141895D}"/>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196660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BD23-B2DD-BD18-53F8-5EDA07EB207B}"/>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7E168B8B-46EA-D9EC-0176-FA08B5FA0B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C87013D8-8FAC-DEDD-43C2-217C18BA93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22878DFD-5275-B95C-7C50-9DE86E7C6FCD}"/>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6" name="Footer Placeholder 5">
            <a:extLst>
              <a:ext uri="{FF2B5EF4-FFF2-40B4-BE49-F238E27FC236}">
                <a16:creationId xmlns:a16="http://schemas.microsoft.com/office/drawing/2014/main" id="{92544AE7-A45F-42C9-9DE9-D9B7DD0F2112}"/>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E0447C58-EAE0-0399-CFF4-1B0C46029F14}"/>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352073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634C-1B17-A159-995F-0D8B6FBBEA4C}"/>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0E79296B-1138-E4AA-1D70-F3C46BEDE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2AF17-C639-1616-A270-899F1AE827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8B905764-5107-F7D5-2181-5FE4068225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7AAEE3-40BD-3DCF-8DD0-F363F056E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EBA17D73-D0C0-78B6-307F-4AC31B743CF9}"/>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8" name="Footer Placeholder 7">
            <a:extLst>
              <a:ext uri="{FF2B5EF4-FFF2-40B4-BE49-F238E27FC236}">
                <a16:creationId xmlns:a16="http://schemas.microsoft.com/office/drawing/2014/main" id="{E79D8614-DDBE-7F9A-40C0-9E750A7DC08F}"/>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D29F7DC5-0851-8526-8DF8-ADC1CADBFDF3}"/>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116898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6460D-920D-4D83-08F5-AA03ED4B07DA}"/>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F485D068-6971-2042-AC3F-F399AD5EAFED}"/>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4" name="Footer Placeholder 3">
            <a:extLst>
              <a:ext uri="{FF2B5EF4-FFF2-40B4-BE49-F238E27FC236}">
                <a16:creationId xmlns:a16="http://schemas.microsoft.com/office/drawing/2014/main" id="{51603E2A-3E16-27C1-8458-4B48A9E3A245}"/>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AD2CFB42-F3F7-3805-80E3-EE9287829741}"/>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1934019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64598C-76BA-ED0E-B8B6-2943928DD2D2}"/>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3" name="Footer Placeholder 2">
            <a:extLst>
              <a:ext uri="{FF2B5EF4-FFF2-40B4-BE49-F238E27FC236}">
                <a16:creationId xmlns:a16="http://schemas.microsoft.com/office/drawing/2014/main" id="{1F6C73D5-F5A1-2307-EF81-AAB304F1F840}"/>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E49522FF-901B-5B1C-5568-E793F6EDDBB8}"/>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1586099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4E1B4-64BA-4971-5F48-552609F2C7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7BE1193F-6185-28B2-03C2-D528C52827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352517F2-62C5-D6AB-A47F-EAC987A22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B630A7-5D0C-48E3-6366-2DAEE45B1864}"/>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6" name="Footer Placeholder 5">
            <a:extLst>
              <a:ext uri="{FF2B5EF4-FFF2-40B4-BE49-F238E27FC236}">
                <a16:creationId xmlns:a16="http://schemas.microsoft.com/office/drawing/2014/main" id="{DC8C5906-6AFB-7F39-FB93-AB93E9707EBA}"/>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5D4CBC8-9F84-7CDB-7B81-22B22EDA4357}"/>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4035783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8F83-FC7D-EE47-CD87-46A37431D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4CF20D52-FBA0-9BFA-5A31-416299CFAA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D258FB74-3045-0D5A-5D13-D1BAD095E8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5DF6E-1001-9E3A-0A12-751C224AE97C}"/>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6" name="Footer Placeholder 5">
            <a:extLst>
              <a:ext uri="{FF2B5EF4-FFF2-40B4-BE49-F238E27FC236}">
                <a16:creationId xmlns:a16="http://schemas.microsoft.com/office/drawing/2014/main" id="{3A4E358A-FFB9-34A4-7D4D-BD81F70186F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E703D148-8070-4E36-EFE8-4FE2E558BE58}"/>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2963125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06943-FC8F-A9E9-E560-701831EDFBCC}"/>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2938B42C-7B2E-6EC8-D40F-06AA2DF503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BBE13D27-DB57-E104-7A85-7E3B5AA5EE43}"/>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108FB78E-6CB3-5040-9B26-D89575E05E8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6D17F2-C0E9-55BB-C122-F5D6E1EBEC21}"/>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2857690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F5B3B-2012-A64A-1DD0-E25F96EA01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C851354D-8D20-9D7D-6836-44AC56B39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AF3D98B8-B232-B98B-D191-82DF001F3354}"/>
              </a:ext>
            </a:extLst>
          </p:cNvPr>
          <p:cNvSpPr>
            <a:spLocks noGrp="1"/>
          </p:cNvSpPr>
          <p:nvPr>
            <p:ph type="dt" sz="half" idx="10"/>
          </p:nvPr>
        </p:nvSpPr>
        <p:spPr/>
        <p:txBody>
          <a:body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877A72B7-D6F3-A7EF-F0A2-FD6931A0900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CBEACEA0-9B6B-A068-1433-41225B0F4491}"/>
              </a:ext>
            </a:extLst>
          </p:cNvPr>
          <p:cNvSpPr>
            <a:spLocks noGrp="1"/>
          </p:cNvSpPr>
          <p:nvPr>
            <p:ph type="sldNum" sz="quarter" idx="12"/>
          </p:nvPr>
        </p:nvSpPr>
        <p:spPr/>
        <p:txBody>
          <a:bodyPr/>
          <a:lstStyle/>
          <a:p>
            <a:fld id="{35B8E41E-A5EE-403F-BB6E-E4E1A71364B2}" type="slidenum">
              <a:rPr lang="x-none" smtClean="0"/>
              <a:t>‹#›</a:t>
            </a:fld>
            <a:endParaRPr lang="x-none"/>
          </a:p>
        </p:txBody>
      </p:sp>
    </p:spTree>
    <p:extLst>
      <p:ext uri="{BB962C8B-B14F-4D97-AF65-F5344CB8AC3E}">
        <p14:creationId xmlns:p14="http://schemas.microsoft.com/office/powerpoint/2010/main" val="1724259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42C546-E3D1-25D9-849D-502E8E204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CD4DD8BC-E737-0503-BF5B-B04918AE29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0880344-B113-2C2D-6432-1C8358776B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69F7AE-B86D-40B5-865D-DA8C54F53671}" type="datetimeFigureOut">
              <a:rPr lang="x-none" smtClean="0"/>
              <a:t>3/3/2026</a:t>
            </a:fld>
            <a:endParaRPr lang="x-none"/>
          </a:p>
        </p:txBody>
      </p:sp>
      <p:sp>
        <p:nvSpPr>
          <p:cNvPr id="5" name="Footer Placeholder 4">
            <a:extLst>
              <a:ext uri="{FF2B5EF4-FFF2-40B4-BE49-F238E27FC236}">
                <a16:creationId xmlns:a16="http://schemas.microsoft.com/office/drawing/2014/main" id="{C0C88B08-C6E8-AB92-8233-D02363C10B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05D7590A-2788-24B8-C1D8-9DDCEB0418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B8E41E-A5EE-403F-BB6E-E4E1A71364B2}" type="slidenum">
              <a:rPr lang="x-none" smtClean="0"/>
              <a:t>‹#›</a:t>
            </a:fld>
            <a:endParaRPr lang="x-none"/>
          </a:p>
        </p:txBody>
      </p:sp>
    </p:spTree>
    <p:extLst>
      <p:ext uri="{BB962C8B-B14F-4D97-AF65-F5344CB8AC3E}">
        <p14:creationId xmlns:p14="http://schemas.microsoft.com/office/powerpoint/2010/main" val="4030758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Associative or Composite Entity (Chen notation)</a:t>
            </a:r>
          </a:p>
        </p:txBody>
      </p:sp>
      <p:sp>
        <p:nvSpPr>
          <p:cNvPr id="3" name="Content Placeholder 2"/>
          <p:cNvSpPr>
            <a:spLocks noGrp="1"/>
          </p:cNvSpPr>
          <p:nvPr>
            <p:ph idx="1"/>
          </p:nvPr>
        </p:nvSpPr>
        <p:spPr>
          <a:xfrm>
            <a:off x="838200" y="1360488"/>
            <a:ext cx="10515600" cy="4351338"/>
          </a:xfrm>
        </p:spPr>
        <p:txBody>
          <a:bodyPr/>
          <a:lstStyle/>
          <a:p>
            <a:r>
              <a:rPr lang="en-US" dirty="0"/>
              <a:t>Associative entity (bridge entity, Composite entity) is an entity type that associates the instances of one or more entity types. It contains attributes specific to the relationship between original entity types instances</a:t>
            </a:r>
          </a:p>
          <a:p>
            <a:pPr lvl="1"/>
            <a:r>
              <a:rPr lang="en-US" dirty="0"/>
              <a:t>It builds a bridge between the original entity types</a:t>
            </a:r>
          </a:p>
          <a:p>
            <a:pPr lvl="1"/>
            <a:r>
              <a:rPr lang="en-US" dirty="0"/>
              <a:t>It is composed of the Keys of the original entity types</a:t>
            </a:r>
          </a:p>
          <a:p>
            <a:pPr lvl="1"/>
            <a:r>
              <a:rPr lang="en-US" dirty="0"/>
              <a:t>It may contain additional attributes</a:t>
            </a:r>
          </a:p>
          <a:p>
            <a:pPr lvl="1"/>
            <a:r>
              <a:rPr lang="en-US" dirty="0"/>
              <a:t>It is  specific type of a weak entity. It is depicted as a rectangle with a diamond inside.</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62" y="4610100"/>
            <a:ext cx="5800005" cy="2247900"/>
          </a:xfrm>
          <a:prstGeom prst="rect">
            <a:avLst/>
          </a:prstGeom>
        </p:spPr>
      </p:pic>
    </p:spTree>
    <p:extLst>
      <p:ext uri="{BB962C8B-B14F-4D97-AF65-F5344CB8AC3E}">
        <p14:creationId xmlns:p14="http://schemas.microsoft.com/office/powerpoint/2010/main" val="2764287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Associative Entity: Binary Relationship with an attribute</a:t>
            </a:r>
            <a:br>
              <a:rPr lang="en-US" sz="3600" dirty="0"/>
            </a:br>
            <a:endParaRPr lang="en-US" sz="36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0669" y="1825625"/>
            <a:ext cx="8790662" cy="4351338"/>
          </a:xfrm>
        </p:spPr>
      </p:pic>
    </p:spTree>
    <p:extLst>
      <p:ext uri="{BB962C8B-B14F-4D97-AF65-F5344CB8AC3E}">
        <p14:creationId xmlns:p14="http://schemas.microsoft.com/office/powerpoint/2010/main" val="1334000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Associative Entity: Binary Relationship with an attribute</a:t>
            </a:r>
          </a:p>
        </p:txBody>
      </p:sp>
      <p:pic>
        <p:nvPicPr>
          <p:cNvPr id="7" name="Content Placeholder 6" descr="A diagram of a course&#10;&#10;AI-generated content may be incorrect.">
            <a:extLst>
              <a:ext uri="{FF2B5EF4-FFF2-40B4-BE49-F238E27FC236}">
                <a16:creationId xmlns:a16="http://schemas.microsoft.com/office/drawing/2014/main" id="{11903206-6501-64F5-8124-35B79E47EE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25686"/>
          <a:stretch/>
        </p:blipFill>
        <p:spPr>
          <a:xfrm>
            <a:off x="2295728" y="1849419"/>
            <a:ext cx="8514435" cy="3559159"/>
          </a:xfrm>
        </p:spPr>
      </p:pic>
    </p:spTree>
    <p:extLst>
      <p:ext uri="{BB962C8B-B14F-4D97-AF65-F5344CB8AC3E}">
        <p14:creationId xmlns:p14="http://schemas.microsoft.com/office/powerpoint/2010/main" val="1734401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279EA-846F-F81C-75D4-96B7FA6106C6}"/>
              </a:ext>
            </a:extLst>
          </p:cNvPr>
          <p:cNvSpPr>
            <a:spLocks noGrp="1"/>
          </p:cNvSpPr>
          <p:nvPr>
            <p:ph type="title"/>
          </p:nvPr>
        </p:nvSpPr>
        <p:spPr/>
        <p:txBody>
          <a:bodyPr/>
          <a:lstStyle/>
          <a:p>
            <a:r>
              <a:rPr lang="en-US" dirty="0"/>
              <a:t>Ternary Relationship Type</a:t>
            </a:r>
            <a:endParaRPr lang="x-none" dirty="0"/>
          </a:p>
        </p:txBody>
      </p:sp>
      <p:sp>
        <p:nvSpPr>
          <p:cNvPr id="3" name="Content Placeholder 2">
            <a:extLst>
              <a:ext uri="{FF2B5EF4-FFF2-40B4-BE49-F238E27FC236}">
                <a16:creationId xmlns:a16="http://schemas.microsoft.com/office/drawing/2014/main" id="{1BD07F36-3296-5927-B0EA-033E4528141D}"/>
              </a:ext>
            </a:extLst>
          </p:cNvPr>
          <p:cNvSpPr>
            <a:spLocks noGrp="1"/>
          </p:cNvSpPr>
          <p:nvPr>
            <p:ph idx="1"/>
          </p:nvPr>
        </p:nvSpPr>
        <p:spPr>
          <a:xfrm>
            <a:off x="838200" y="1590235"/>
            <a:ext cx="10515600" cy="4351338"/>
          </a:xfrm>
        </p:spPr>
        <p:txBody>
          <a:bodyPr>
            <a:normAutofit/>
          </a:bodyPr>
          <a:lstStyle/>
          <a:p>
            <a:pPr>
              <a:lnSpc>
                <a:spcPct val="100000"/>
              </a:lnSpc>
            </a:pPr>
            <a:r>
              <a:rPr lang="en-US" sz="1800" dirty="0"/>
              <a:t>Assume that we have a situation where suppliers can supply parts for projects.</a:t>
            </a:r>
          </a:p>
          <a:p>
            <a:pPr lvl="1">
              <a:lnSpc>
                <a:spcPct val="100000"/>
              </a:lnSpc>
            </a:pPr>
            <a:r>
              <a:rPr lang="en-US" sz="1800" dirty="0"/>
              <a:t> A supplier can supply a particular part for multiple projects. </a:t>
            </a:r>
          </a:p>
          <a:p>
            <a:pPr lvl="1">
              <a:lnSpc>
                <a:spcPct val="100000"/>
              </a:lnSpc>
            </a:pPr>
            <a:r>
              <a:rPr lang="en-US" sz="1800" dirty="0"/>
              <a:t>A part for a particular project can be supplied by multiple suppliers.</a:t>
            </a:r>
          </a:p>
          <a:p>
            <a:pPr lvl="1">
              <a:lnSpc>
                <a:spcPct val="100000"/>
              </a:lnSpc>
            </a:pPr>
            <a:r>
              <a:rPr lang="en-US" sz="1800" dirty="0"/>
              <a:t>A project can have a particular supplier supply multiple parts. </a:t>
            </a:r>
          </a:p>
          <a:p>
            <a:pPr>
              <a:lnSpc>
                <a:spcPct val="100000"/>
              </a:lnSpc>
            </a:pPr>
            <a:r>
              <a:rPr lang="en-US" sz="1800" dirty="0"/>
              <a:t>The model must also include the quantity for supplying a particular product to a particular project by a particular supplier.</a:t>
            </a:r>
            <a:endParaRPr lang="x-none" sz="1800" dirty="0"/>
          </a:p>
        </p:txBody>
      </p:sp>
      <p:pic>
        <p:nvPicPr>
          <p:cNvPr id="4" name="Picture 3">
            <a:extLst>
              <a:ext uri="{FF2B5EF4-FFF2-40B4-BE49-F238E27FC236}">
                <a16:creationId xmlns:a16="http://schemas.microsoft.com/office/drawing/2014/main" id="{3D301FF5-A168-5911-6F25-B82EB1FD935D}"/>
              </a:ext>
            </a:extLst>
          </p:cNvPr>
          <p:cNvPicPr>
            <a:picLocks noChangeAspect="1"/>
          </p:cNvPicPr>
          <p:nvPr/>
        </p:nvPicPr>
        <p:blipFill>
          <a:blip r:embed="rId2"/>
          <a:stretch>
            <a:fillRect/>
          </a:stretch>
        </p:blipFill>
        <p:spPr>
          <a:xfrm>
            <a:off x="2818263" y="3765904"/>
            <a:ext cx="6120914" cy="2475191"/>
          </a:xfrm>
          <a:prstGeom prst="rect">
            <a:avLst/>
          </a:prstGeom>
        </p:spPr>
      </p:pic>
    </p:spTree>
    <p:extLst>
      <p:ext uri="{BB962C8B-B14F-4D97-AF65-F5344CB8AC3E}">
        <p14:creationId xmlns:p14="http://schemas.microsoft.com/office/powerpoint/2010/main" val="2294797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0C72-F21C-86AB-8975-862F0381EFA8}"/>
              </a:ext>
            </a:extLst>
          </p:cNvPr>
          <p:cNvSpPr>
            <a:spLocks noGrp="1"/>
          </p:cNvSpPr>
          <p:nvPr>
            <p:ph type="title"/>
          </p:nvPr>
        </p:nvSpPr>
        <p:spPr/>
        <p:txBody>
          <a:bodyPr/>
          <a:lstStyle/>
          <a:p>
            <a:r>
              <a:rPr lang="en-US" dirty="0"/>
              <a:t>Ternary Relationship Type</a:t>
            </a:r>
            <a:endParaRPr lang="x-none" dirty="0"/>
          </a:p>
        </p:txBody>
      </p:sp>
      <p:sp>
        <p:nvSpPr>
          <p:cNvPr id="3" name="Content Placeholder 2">
            <a:extLst>
              <a:ext uri="{FF2B5EF4-FFF2-40B4-BE49-F238E27FC236}">
                <a16:creationId xmlns:a16="http://schemas.microsoft.com/office/drawing/2014/main" id="{5C13E4EB-DB0D-EBD8-E9C6-3B19723D36FA}"/>
              </a:ext>
            </a:extLst>
          </p:cNvPr>
          <p:cNvSpPr>
            <a:spLocks noGrp="1"/>
          </p:cNvSpPr>
          <p:nvPr>
            <p:ph idx="1"/>
          </p:nvPr>
        </p:nvSpPr>
        <p:spPr/>
        <p:txBody>
          <a:bodyPr/>
          <a:lstStyle/>
          <a:p>
            <a:r>
              <a:rPr lang="en-US" sz="1800" dirty="0"/>
              <a:t>Three binary relationships not equivalent to SUPPLY.</a:t>
            </a:r>
          </a:p>
          <a:p>
            <a:r>
              <a:rPr lang="x-none" sz="1800" dirty="0"/>
              <a:t>Say we have two projects: project 1 uses a pencil and a pen, and project 2 uses a pen. Supplier Peters supplies the pencil for project 1 and the pen for project 2, whereas supplier Johnson supplies the pen for project 1.</a:t>
            </a:r>
          </a:p>
        </p:txBody>
      </p:sp>
      <p:pic>
        <p:nvPicPr>
          <p:cNvPr id="5" name="Picture 4">
            <a:extLst>
              <a:ext uri="{FF2B5EF4-FFF2-40B4-BE49-F238E27FC236}">
                <a16:creationId xmlns:a16="http://schemas.microsoft.com/office/drawing/2014/main" id="{A7AECB1C-B551-C8A7-AB87-50BF1C9A6A7B}"/>
              </a:ext>
            </a:extLst>
          </p:cNvPr>
          <p:cNvPicPr>
            <a:picLocks noChangeAspect="1"/>
          </p:cNvPicPr>
          <p:nvPr/>
        </p:nvPicPr>
        <p:blipFill>
          <a:blip r:embed="rId2"/>
          <a:stretch>
            <a:fillRect/>
          </a:stretch>
        </p:blipFill>
        <p:spPr>
          <a:xfrm>
            <a:off x="6364586" y="2959100"/>
            <a:ext cx="5415339" cy="2790921"/>
          </a:xfrm>
          <a:prstGeom prst="rect">
            <a:avLst/>
          </a:prstGeom>
        </p:spPr>
      </p:pic>
      <p:pic>
        <p:nvPicPr>
          <p:cNvPr id="7" name="Picture 6">
            <a:extLst>
              <a:ext uri="{FF2B5EF4-FFF2-40B4-BE49-F238E27FC236}">
                <a16:creationId xmlns:a16="http://schemas.microsoft.com/office/drawing/2014/main" id="{F1459226-D1A5-2890-7C7F-BA6EA668C513}"/>
              </a:ext>
            </a:extLst>
          </p:cNvPr>
          <p:cNvPicPr>
            <a:picLocks noChangeAspect="1"/>
          </p:cNvPicPr>
          <p:nvPr/>
        </p:nvPicPr>
        <p:blipFill>
          <a:blip r:embed="rId3"/>
          <a:stretch>
            <a:fillRect/>
          </a:stretch>
        </p:blipFill>
        <p:spPr>
          <a:xfrm>
            <a:off x="2245259" y="2970210"/>
            <a:ext cx="1851245" cy="1364901"/>
          </a:xfrm>
          <a:prstGeom prst="rect">
            <a:avLst/>
          </a:prstGeom>
        </p:spPr>
      </p:pic>
      <p:pic>
        <p:nvPicPr>
          <p:cNvPr id="9" name="Picture 8">
            <a:extLst>
              <a:ext uri="{FF2B5EF4-FFF2-40B4-BE49-F238E27FC236}">
                <a16:creationId xmlns:a16="http://schemas.microsoft.com/office/drawing/2014/main" id="{EC92FE1D-4A35-3413-AFFC-6F91F8A9072E}"/>
              </a:ext>
            </a:extLst>
          </p:cNvPr>
          <p:cNvPicPr>
            <a:picLocks noChangeAspect="1"/>
          </p:cNvPicPr>
          <p:nvPr/>
        </p:nvPicPr>
        <p:blipFill>
          <a:blip r:embed="rId4"/>
          <a:stretch>
            <a:fillRect/>
          </a:stretch>
        </p:blipFill>
        <p:spPr>
          <a:xfrm>
            <a:off x="592933" y="4900259"/>
            <a:ext cx="1335879" cy="1217790"/>
          </a:xfrm>
          <a:prstGeom prst="rect">
            <a:avLst/>
          </a:prstGeom>
        </p:spPr>
      </p:pic>
      <p:pic>
        <p:nvPicPr>
          <p:cNvPr id="11" name="Picture 10">
            <a:extLst>
              <a:ext uri="{FF2B5EF4-FFF2-40B4-BE49-F238E27FC236}">
                <a16:creationId xmlns:a16="http://schemas.microsoft.com/office/drawing/2014/main" id="{26EAB619-FB2A-A00C-E5CB-9ECF370F363F}"/>
              </a:ext>
            </a:extLst>
          </p:cNvPr>
          <p:cNvPicPr>
            <a:picLocks noChangeAspect="1"/>
          </p:cNvPicPr>
          <p:nvPr/>
        </p:nvPicPr>
        <p:blipFill>
          <a:blip r:embed="rId5"/>
          <a:stretch>
            <a:fillRect/>
          </a:stretch>
        </p:blipFill>
        <p:spPr>
          <a:xfrm>
            <a:off x="2554338" y="4851751"/>
            <a:ext cx="1141361" cy="1289590"/>
          </a:xfrm>
          <a:prstGeom prst="rect">
            <a:avLst/>
          </a:prstGeom>
        </p:spPr>
      </p:pic>
      <p:pic>
        <p:nvPicPr>
          <p:cNvPr id="13" name="Picture 12">
            <a:extLst>
              <a:ext uri="{FF2B5EF4-FFF2-40B4-BE49-F238E27FC236}">
                <a16:creationId xmlns:a16="http://schemas.microsoft.com/office/drawing/2014/main" id="{BF11D8CB-F5AC-67AD-DB0F-8F9385D6F1F7}"/>
              </a:ext>
            </a:extLst>
          </p:cNvPr>
          <p:cNvPicPr>
            <a:picLocks noChangeAspect="1"/>
          </p:cNvPicPr>
          <p:nvPr/>
        </p:nvPicPr>
        <p:blipFill>
          <a:blip r:embed="rId6"/>
          <a:stretch>
            <a:fillRect/>
          </a:stretch>
        </p:blipFill>
        <p:spPr>
          <a:xfrm>
            <a:off x="4440081" y="4900259"/>
            <a:ext cx="1248621" cy="1368249"/>
          </a:xfrm>
          <a:prstGeom prst="rect">
            <a:avLst/>
          </a:prstGeom>
        </p:spPr>
      </p:pic>
      <p:sp>
        <p:nvSpPr>
          <p:cNvPr id="15" name="TextBox 14">
            <a:extLst>
              <a:ext uri="{FF2B5EF4-FFF2-40B4-BE49-F238E27FC236}">
                <a16:creationId xmlns:a16="http://schemas.microsoft.com/office/drawing/2014/main" id="{3688DFAE-6C41-F85F-D919-6A1A19005000}"/>
              </a:ext>
            </a:extLst>
          </p:cNvPr>
          <p:cNvSpPr txBox="1"/>
          <p:nvPr/>
        </p:nvSpPr>
        <p:spPr>
          <a:xfrm>
            <a:off x="2818645" y="6380312"/>
            <a:ext cx="6554709" cy="313291"/>
          </a:xfrm>
          <a:prstGeom prst="rect">
            <a:avLst/>
          </a:prstGeom>
          <a:noFill/>
        </p:spPr>
        <p:txBody>
          <a:bodyPr wrap="square">
            <a:spAutoFit/>
          </a:bodyPr>
          <a:lstStyle/>
          <a:p>
            <a:pPr lvl="0">
              <a:lnSpc>
                <a:spcPct val="107000"/>
              </a:lnSpc>
              <a:spcAft>
                <a:spcPts val="800"/>
              </a:spcAft>
              <a:buSzPts val="1000"/>
              <a:tabLst>
                <a:tab pos="457200" algn="l"/>
              </a:tabLst>
            </a:pPr>
            <a:r>
              <a:rPr lang="x-none" sz="1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From the binary relationship types, it is not clear who supplies the pen for</a:t>
            </a:r>
            <a:r>
              <a:rPr lang="en-US" sz="1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x-none" sz="1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project 1!</a:t>
            </a:r>
            <a:endParaRPr lang="x-none" sz="1400" b="1"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38269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978D-6495-6DB5-94A3-982BC6843041}"/>
              </a:ext>
            </a:extLst>
          </p:cNvPr>
          <p:cNvSpPr>
            <a:spLocks noGrp="1"/>
          </p:cNvSpPr>
          <p:nvPr>
            <p:ph type="title"/>
          </p:nvPr>
        </p:nvSpPr>
        <p:spPr/>
        <p:txBody>
          <a:bodyPr/>
          <a:lstStyle/>
          <a:p>
            <a:r>
              <a:rPr lang="en-US" dirty="0"/>
              <a:t>Ternary Relationship Type</a:t>
            </a:r>
            <a:endParaRPr lang="x-none" dirty="0"/>
          </a:p>
        </p:txBody>
      </p:sp>
      <p:sp>
        <p:nvSpPr>
          <p:cNvPr id="3" name="Content Placeholder 2">
            <a:extLst>
              <a:ext uri="{FF2B5EF4-FFF2-40B4-BE49-F238E27FC236}">
                <a16:creationId xmlns:a16="http://schemas.microsoft.com/office/drawing/2014/main" id="{F97926B7-D1F7-44A7-5FE6-ACE5F02CBECA}"/>
              </a:ext>
            </a:extLst>
          </p:cNvPr>
          <p:cNvSpPr>
            <a:spLocks noGrp="1"/>
          </p:cNvSpPr>
          <p:nvPr>
            <p:ph idx="1"/>
          </p:nvPr>
        </p:nvSpPr>
        <p:spPr>
          <a:xfrm>
            <a:off x="838200" y="1587500"/>
            <a:ext cx="10515600" cy="4589463"/>
          </a:xfrm>
        </p:spPr>
        <p:txBody>
          <a:bodyPr/>
          <a:lstStyle/>
          <a:p>
            <a:r>
              <a:rPr lang="en-US" altLang="en-US" sz="2000" dirty="0"/>
              <a:t>If a particular binary relationship can be derived from a higher-degree relationship at all times, then it is redundant</a:t>
            </a:r>
          </a:p>
          <a:p>
            <a:r>
              <a:rPr lang="en-US" sz="2000" dirty="0"/>
              <a:t>We can infer the instances of TAUGHT_DURING and OFFERED_DURING from the instances in OFFERS, but we cannot infer the instances of CAN_TEACH; therefore, TAUGHT_DURING and OFFERED_DURING are redundant and can be left out.</a:t>
            </a:r>
          </a:p>
          <a:p>
            <a:endParaRPr lang="x-none" dirty="0"/>
          </a:p>
        </p:txBody>
      </p:sp>
      <p:pic>
        <p:nvPicPr>
          <p:cNvPr id="5" name="Picture 4">
            <a:extLst>
              <a:ext uri="{FF2B5EF4-FFF2-40B4-BE49-F238E27FC236}">
                <a16:creationId xmlns:a16="http://schemas.microsoft.com/office/drawing/2014/main" id="{20B62B53-F67C-BD2D-6EB1-60D9EBE474EC}"/>
              </a:ext>
            </a:extLst>
          </p:cNvPr>
          <p:cNvPicPr>
            <a:picLocks noChangeAspect="1"/>
          </p:cNvPicPr>
          <p:nvPr/>
        </p:nvPicPr>
        <p:blipFill>
          <a:blip r:embed="rId2"/>
          <a:stretch>
            <a:fillRect/>
          </a:stretch>
        </p:blipFill>
        <p:spPr>
          <a:xfrm>
            <a:off x="2371021" y="3114732"/>
            <a:ext cx="7449958" cy="3743268"/>
          </a:xfrm>
          <a:prstGeom prst="rect">
            <a:avLst/>
          </a:prstGeom>
        </p:spPr>
      </p:pic>
    </p:spTree>
    <p:extLst>
      <p:ext uri="{BB962C8B-B14F-4D97-AF65-F5344CB8AC3E}">
        <p14:creationId xmlns:p14="http://schemas.microsoft.com/office/powerpoint/2010/main" val="1379815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1867-D3D4-874F-E5D6-02BCD5185167}"/>
              </a:ext>
            </a:extLst>
          </p:cNvPr>
          <p:cNvSpPr>
            <a:spLocks noGrp="1"/>
          </p:cNvSpPr>
          <p:nvPr>
            <p:ph type="title"/>
          </p:nvPr>
        </p:nvSpPr>
        <p:spPr/>
        <p:txBody>
          <a:bodyPr/>
          <a:lstStyle/>
          <a:p>
            <a:r>
              <a:rPr lang="en-US" dirty="0"/>
              <a:t>Ternary Relationship Type</a:t>
            </a:r>
            <a:endParaRPr lang="x-none" dirty="0"/>
          </a:p>
        </p:txBody>
      </p:sp>
      <p:sp>
        <p:nvSpPr>
          <p:cNvPr id="3" name="Content Placeholder 2">
            <a:extLst>
              <a:ext uri="{FF2B5EF4-FFF2-40B4-BE49-F238E27FC236}">
                <a16:creationId xmlns:a16="http://schemas.microsoft.com/office/drawing/2014/main" id="{E7D2A3D8-6D4A-0790-CBDA-5B165F9BB404}"/>
              </a:ext>
            </a:extLst>
          </p:cNvPr>
          <p:cNvSpPr>
            <a:spLocks noGrp="1"/>
          </p:cNvSpPr>
          <p:nvPr>
            <p:ph idx="1"/>
          </p:nvPr>
        </p:nvSpPr>
        <p:spPr/>
        <p:txBody>
          <a:bodyPr>
            <a:normAutofit/>
          </a:bodyPr>
          <a:lstStyle/>
          <a:p>
            <a:r>
              <a:rPr lang="en-US" sz="2000" b="0" i="0" u="none" strike="noStrike" baseline="0" dirty="0">
                <a:latin typeface="Calibri "/>
              </a:rPr>
              <a:t>SUPPLY can be represented as a weak entity type.</a:t>
            </a:r>
          </a:p>
          <a:p>
            <a:r>
              <a:rPr lang="en-US" sz="2000">
                <a:latin typeface="Calibri "/>
              </a:rPr>
              <a:t>It </a:t>
            </a:r>
            <a:r>
              <a:rPr lang="en-US" sz="2000" dirty="0">
                <a:latin typeface="Calibri "/>
              </a:rPr>
              <a:t>is also possible to represent the ternary relationship as a regular entity type by introducing an artificial or surrogate key. In this example, a key attribute </a:t>
            </a:r>
            <a:r>
              <a:rPr lang="en-US" sz="2000" dirty="0" err="1">
                <a:latin typeface="Calibri "/>
              </a:rPr>
              <a:t>Supply_id</a:t>
            </a:r>
            <a:r>
              <a:rPr lang="en-US" sz="2000" dirty="0">
                <a:latin typeface="Calibri "/>
              </a:rPr>
              <a:t> could be used for the supply entity type, converting it into a regular entity type.</a:t>
            </a:r>
            <a:endParaRPr lang="x-none" sz="2000" dirty="0">
              <a:latin typeface="Calibri "/>
            </a:endParaRPr>
          </a:p>
        </p:txBody>
      </p:sp>
      <p:pic>
        <p:nvPicPr>
          <p:cNvPr id="5" name="Picture 4">
            <a:extLst>
              <a:ext uri="{FF2B5EF4-FFF2-40B4-BE49-F238E27FC236}">
                <a16:creationId xmlns:a16="http://schemas.microsoft.com/office/drawing/2014/main" id="{67DE43FA-35DF-3411-6DA0-D88F0BE37445}"/>
              </a:ext>
            </a:extLst>
          </p:cNvPr>
          <p:cNvPicPr>
            <a:picLocks noChangeAspect="1"/>
          </p:cNvPicPr>
          <p:nvPr/>
        </p:nvPicPr>
        <p:blipFill>
          <a:blip r:embed="rId2"/>
          <a:stretch>
            <a:fillRect/>
          </a:stretch>
        </p:blipFill>
        <p:spPr>
          <a:xfrm>
            <a:off x="2100420" y="4001294"/>
            <a:ext cx="7705725" cy="2628900"/>
          </a:xfrm>
          <a:prstGeom prst="rect">
            <a:avLst/>
          </a:prstGeom>
        </p:spPr>
      </p:pic>
    </p:spTree>
    <p:extLst>
      <p:ext uri="{BB962C8B-B14F-4D97-AF65-F5344CB8AC3E}">
        <p14:creationId xmlns:p14="http://schemas.microsoft.com/office/powerpoint/2010/main" val="2705089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TotalTime>
  <Words>388</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Calibri </vt:lpstr>
      <vt:lpstr>Calibri Light</vt:lpstr>
      <vt:lpstr>Times New Roman</vt:lpstr>
      <vt:lpstr>Office Theme</vt:lpstr>
      <vt:lpstr>Associative or Composite Entity (Chen notation)</vt:lpstr>
      <vt:lpstr>Associative Entity: Binary Relationship with an attribute </vt:lpstr>
      <vt:lpstr>Associative Entity: Binary Relationship with an attribute</vt:lpstr>
      <vt:lpstr>Ternary Relationship Type</vt:lpstr>
      <vt:lpstr>Ternary Relationship Type</vt:lpstr>
      <vt:lpstr>Ternary Relationship Type</vt:lpstr>
      <vt:lpstr>Ternary Relationship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Shoaib M Khan</dc:creator>
  <cp:lastModifiedBy>Shoaib M Khan</cp:lastModifiedBy>
  <cp:revision>47</cp:revision>
  <dcterms:created xsi:type="dcterms:W3CDTF">2023-10-20T05:02:15Z</dcterms:created>
  <dcterms:modified xsi:type="dcterms:W3CDTF">2026-03-03T05:55:54Z</dcterms:modified>
</cp:coreProperties>
</file>