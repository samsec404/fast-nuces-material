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416" r:id="rId4"/>
    <p:sldId id="321" r:id="rId5"/>
    <p:sldId id="402" r:id="rId6"/>
    <p:sldId id="403" r:id="rId7"/>
    <p:sldId id="404" r:id="rId8"/>
    <p:sldId id="407" r:id="rId9"/>
    <p:sldId id="408" r:id="rId10"/>
    <p:sldId id="409" r:id="rId11"/>
    <p:sldId id="406" r:id="rId12"/>
    <p:sldId id="410" r:id="rId13"/>
    <p:sldId id="417" r:id="rId14"/>
    <p:sldId id="413" r:id="rId15"/>
    <p:sldId id="414" r:id="rId16"/>
    <p:sldId id="415" r:id="rId17"/>
    <p:sldId id="418" r:id="rId18"/>
    <p:sldId id="419" r:id="rId19"/>
    <p:sldId id="420" r:id="rId20"/>
    <p:sldId id="421" r:id="rId21"/>
    <p:sldId id="425" r:id="rId22"/>
    <p:sldId id="422" r:id="rId23"/>
    <p:sldId id="423" r:id="rId24"/>
    <p:sldId id="426" r:id="rId25"/>
    <p:sldId id="427" r:id="rId26"/>
    <p:sldId id="428" r:id="rId27"/>
    <p:sldId id="429" r:id="rId28"/>
    <p:sldId id="424" r:id="rId29"/>
    <p:sldId id="430" r:id="rId30"/>
    <p:sldId id="431" r:id="rId31"/>
    <p:sldId id="433" r:id="rId32"/>
    <p:sldId id="434" r:id="rId33"/>
    <p:sldId id="435" r:id="rId34"/>
    <p:sldId id="436" r:id="rId35"/>
    <p:sldId id="432" r:id="rId36"/>
    <p:sldId id="437" r:id="rId37"/>
    <p:sldId id="438" r:id="rId38"/>
    <p:sldId id="43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3566" autoAdjust="0"/>
  </p:normalViewPr>
  <p:slideViewPr>
    <p:cSldViewPr snapToGrid="0">
      <p:cViewPr>
        <p:scale>
          <a:sx n="60" d="100"/>
          <a:sy n="60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</p:spTree>
    <p:extLst>
      <p:ext uri="{BB962C8B-B14F-4D97-AF65-F5344CB8AC3E}">
        <p14:creationId xmlns:p14="http://schemas.microsoft.com/office/powerpoint/2010/main" val="232316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Structural &amp; Behavioral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9"/>
          <a:stretch/>
        </p:blipFill>
        <p:spPr>
          <a:xfrm>
            <a:off x="-6350" y="109124"/>
            <a:ext cx="12192000" cy="624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7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STRUCTURAL PATTERN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Decorator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Decorator lets you ADD new abilities to an object WITHOUT changing its original </a:t>
            </a:r>
            <a:r>
              <a:rPr lang="en-US" b="1" dirty="0" smtClean="0"/>
              <a:t>code.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Here add more powers to birds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9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Angry Birds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Normal Red Bird: Just hits pigs</a:t>
            </a:r>
          </a:p>
          <a:p>
            <a:pPr latinLnBrk="1"/>
            <a:r>
              <a:rPr lang="en-US" dirty="0"/>
              <a:t>      </a:t>
            </a:r>
            <a:r>
              <a:rPr lang="en-US" dirty="0" smtClean="0"/>
              <a:t>bring in  </a:t>
            </a:r>
            <a:r>
              <a:rPr lang="en-US" dirty="0"/>
              <a:t>(Decorator)</a:t>
            </a:r>
          </a:p>
          <a:p>
            <a:pPr latinLnBrk="1"/>
            <a:r>
              <a:rPr lang="en-US" dirty="0"/>
              <a:t>Red Bird + Speed = Yellow Bird (goes faster)</a:t>
            </a:r>
          </a:p>
          <a:p>
            <a:pPr latinLnBrk="1"/>
            <a:r>
              <a:rPr lang="en-US" dirty="0"/>
              <a:t>      </a:t>
            </a:r>
            <a:r>
              <a:rPr lang="en-US" dirty="0" smtClean="0"/>
              <a:t>bring in </a:t>
            </a:r>
            <a:r>
              <a:rPr lang="en-US" dirty="0"/>
              <a:t>(Decorator)</a:t>
            </a:r>
          </a:p>
          <a:p>
            <a:pPr latinLnBrk="1"/>
            <a:r>
              <a:rPr lang="en-US" dirty="0"/>
              <a:t>Red Bird + Speed + Explosion = Black Bird (BOOM!)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3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Think of it like:</a:t>
            </a:r>
            <a:r>
              <a:rPr lang="en-US" dirty="0"/>
              <a:t> Adding toppings to ice cream! Vanilla + Chocolate + Sprinkles = Still ice cream, but BETTER!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happens if we don't use Decorator?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7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en-US" i="1" dirty="0" smtClean="0"/>
              <a:t>// </a:t>
            </a:r>
            <a:r>
              <a:rPr lang="en-US" i="1" dirty="0"/>
              <a:t>BAD APPROACH: Creating every possible bird combination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class </a:t>
            </a:r>
            <a:r>
              <a:rPr lang="en-US" dirty="0" err="1"/>
              <a:t>RedBird</a:t>
            </a:r>
            <a:r>
              <a:rPr lang="en-US" dirty="0"/>
              <a:t> { }</a:t>
            </a:r>
          </a:p>
          <a:p>
            <a:pPr marL="0" indent="0" latinLnBrk="1">
              <a:buNone/>
            </a:pPr>
            <a:r>
              <a:rPr lang="en-US" dirty="0"/>
              <a:t>class </a:t>
            </a:r>
            <a:r>
              <a:rPr lang="en-US" dirty="0" err="1"/>
              <a:t>SpeedRedBird</a:t>
            </a:r>
            <a:r>
              <a:rPr lang="en-US" dirty="0"/>
              <a:t> { }      </a:t>
            </a:r>
            <a:r>
              <a:rPr lang="en-US" i="1" dirty="0"/>
              <a:t>// Red + Speed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class </a:t>
            </a:r>
            <a:r>
              <a:rPr lang="en-US" dirty="0" err="1"/>
              <a:t>ExplosiveRedBird</a:t>
            </a:r>
            <a:r>
              <a:rPr lang="en-US" dirty="0"/>
              <a:t> { }  </a:t>
            </a:r>
            <a:r>
              <a:rPr lang="en-US" i="1" dirty="0"/>
              <a:t>// Red + Explosion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class </a:t>
            </a:r>
            <a:r>
              <a:rPr lang="en-US" dirty="0" err="1"/>
              <a:t>SpeedExplosiveRedBird</a:t>
            </a:r>
            <a:r>
              <a:rPr lang="en-US" dirty="0"/>
              <a:t> { } </a:t>
            </a:r>
            <a:r>
              <a:rPr lang="en-US" i="1" dirty="0"/>
              <a:t>// Red + Speed + Explosion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class </a:t>
            </a:r>
            <a:r>
              <a:rPr lang="en-US" dirty="0" err="1"/>
              <a:t>BlueSpeedBird</a:t>
            </a:r>
            <a:r>
              <a:rPr lang="en-US" dirty="0"/>
              <a:t> { }     </a:t>
            </a:r>
            <a:r>
              <a:rPr lang="en-US" i="1" dirty="0"/>
              <a:t>// Blue + Speed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// This grows CRAZY fast! 10 abilities = 1000+ classes!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 </a:t>
            </a:r>
          </a:p>
          <a:p>
            <a:pPr marL="0" indent="0" latinLnBrk="1">
              <a:buNone/>
            </a:pPr>
            <a:r>
              <a:rPr lang="en-US" i="1" dirty="0"/>
              <a:t>// Problem: For 5 abilities, you need 2^5 = 32 different bird classes!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// For 10 abilities, you need 1024 classes! IMPOSSIBLE</a:t>
            </a:r>
            <a:r>
              <a:rPr lang="en-US" i="1" dirty="0" smtClean="0"/>
              <a:t>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9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Why is this bad for Angry Birds</a:t>
            </a:r>
            <a:r>
              <a:rPr lang="en-GB" b="1" dirty="0" smtClean="0"/>
              <a:t>?</a:t>
            </a:r>
            <a:r>
              <a:rPr lang="en-US" b="1" dirty="0"/>
              <a:t>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Without Decorator:</a:t>
            </a:r>
          </a:p>
          <a:p>
            <a:r>
              <a:rPr lang="en-US" dirty="0" smtClean="0"/>
              <a:t> </a:t>
            </a:r>
            <a:r>
              <a:rPr lang="en-US" dirty="0"/>
              <a:t>Red bird (normal)</a:t>
            </a:r>
          </a:p>
          <a:p>
            <a:r>
              <a:rPr lang="en-US" dirty="0" smtClean="0"/>
              <a:t> </a:t>
            </a:r>
            <a:r>
              <a:rPr lang="en-US" dirty="0"/>
              <a:t>Red bird with speed</a:t>
            </a:r>
          </a:p>
          <a:p>
            <a:r>
              <a:rPr lang="en-US" dirty="0" smtClean="0"/>
              <a:t> </a:t>
            </a:r>
            <a:r>
              <a:rPr lang="en-US" dirty="0"/>
              <a:t>Red bird with explosion</a:t>
            </a:r>
          </a:p>
          <a:p>
            <a:r>
              <a:rPr lang="en-US" dirty="0" smtClean="0"/>
              <a:t> </a:t>
            </a:r>
            <a:r>
              <a:rPr lang="en-US" dirty="0"/>
              <a:t>Red bird with speed + explosion</a:t>
            </a:r>
          </a:p>
          <a:p>
            <a:r>
              <a:rPr lang="en-US" dirty="0" smtClean="0"/>
              <a:t> </a:t>
            </a:r>
            <a:r>
              <a:rPr lang="en-US" dirty="0"/>
              <a:t>Red bird with speed + explosion + splitting</a:t>
            </a:r>
          </a:p>
          <a:p>
            <a:r>
              <a:rPr lang="en-US" dirty="0" smtClean="0"/>
              <a:t> </a:t>
            </a:r>
            <a:r>
              <a:rPr lang="en-US" dirty="0"/>
              <a:t>Blue bird with speed</a:t>
            </a:r>
          </a:p>
          <a:p>
            <a:r>
              <a:rPr lang="en-US" dirty="0" smtClean="0"/>
              <a:t> </a:t>
            </a:r>
            <a:r>
              <a:rPr lang="en-US" dirty="0"/>
              <a:t>Blue bird with explosion</a:t>
            </a:r>
          </a:p>
          <a:p>
            <a:r>
              <a:rPr lang="en-US" dirty="0" smtClean="0"/>
              <a:t> </a:t>
            </a:r>
            <a:r>
              <a:rPr lang="en-US" dirty="0"/>
              <a:t>... HUNDREDS of classes!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2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</a:t>
            </a:r>
            <a:r>
              <a:rPr lang="en-GB" b="1" dirty="0" smtClean="0"/>
              <a:t>Approach </a:t>
            </a:r>
            <a:r>
              <a:rPr lang="en-GB" b="1" dirty="0"/>
              <a:t>2: Modifying Same Object </a:t>
            </a:r>
            <a:r>
              <a:rPr lang="en-GB" b="1" dirty="0" smtClean="0"/>
              <a:t>Directly</a:t>
            </a:r>
            <a:r>
              <a:rPr lang="en-US" b="1" dirty="0"/>
              <a:t> </a:t>
            </a:r>
            <a:r>
              <a:rPr lang="en-US" b="1" dirty="0" smtClean="0"/>
              <a:t>(not decorator) a solution still not good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Is THIS bad? Let's see...</a:t>
            </a:r>
          </a:p>
          <a:p>
            <a:pPr marL="0" indent="0">
              <a:buNone/>
            </a:pPr>
            <a:r>
              <a:rPr lang="en-US" dirty="0"/>
              <a:t>class Bird {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hasSpeed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hasExplosion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hasSplit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addSpeed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this.hasSpeed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addExplosion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this.hasExplosion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public void launch() {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hasSpeed</a:t>
            </a:r>
            <a:r>
              <a:rPr lang="en-US" dirty="0"/>
              <a:t>) </a:t>
            </a:r>
            <a:r>
              <a:rPr lang="en-US" dirty="0" err="1"/>
              <a:t>System.out.println</a:t>
            </a:r>
            <a:r>
              <a:rPr lang="en-US" dirty="0"/>
              <a:t>("Speed boost!");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hasExplosion</a:t>
            </a:r>
            <a:r>
              <a:rPr lang="en-US" dirty="0"/>
              <a:t>) </a:t>
            </a:r>
            <a:r>
              <a:rPr lang="en-US" dirty="0" err="1"/>
              <a:t>System.out.println</a:t>
            </a:r>
            <a:r>
              <a:rPr lang="en-US" dirty="0"/>
              <a:t>("Explosion!");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hasSplit</a:t>
            </a:r>
            <a:r>
              <a:rPr lang="en-US" dirty="0"/>
              <a:t>) </a:t>
            </a:r>
            <a:r>
              <a:rPr lang="en-US" dirty="0" err="1"/>
              <a:t>System.out.println</a:t>
            </a:r>
            <a:r>
              <a:rPr lang="en-US" dirty="0"/>
              <a:t>("Split!");</a:t>
            </a:r>
          </a:p>
          <a:p>
            <a:pPr marL="0" indent="0">
              <a:buNone/>
            </a:pPr>
            <a:r>
              <a:rPr lang="en-US" dirty="0"/>
              <a:t>        // Normal launch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Usage</a:t>
            </a:r>
          </a:p>
          <a:p>
            <a:pPr marL="0" indent="0">
              <a:buNone/>
            </a:pPr>
            <a:r>
              <a:rPr lang="en-US" dirty="0"/>
              <a:t>Bird </a:t>
            </a:r>
            <a:r>
              <a:rPr lang="en-US" dirty="0" err="1"/>
              <a:t>myBird</a:t>
            </a:r>
            <a:r>
              <a:rPr lang="en-US" dirty="0"/>
              <a:t> = new Bird();</a:t>
            </a:r>
          </a:p>
          <a:p>
            <a:pPr marL="0" indent="0">
              <a:buNone/>
            </a:pPr>
            <a:r>
              <a:rPr lang="en-US" dirty="0" err="1"/>
              <a:t>myBird.addSpeed</a:t>
            </a:r>
            <a:r>
              <a:rPr lang="en-US" dirty="0"/>
              <a:t>();      // Modify same object</a:t>
            </a:r>
          </a:p>
          <a:p>
            <a:pPr marL="0" indent="0">
              <a:buNone/>
            </a:pPr>
            <a:r>
              <a:rPr lang="en-US" dirty="0" err="1"/>
              <a:t>myBird.addExplosion</a:t>
            </a:r>
            <a:r>
              <a:rPr lang="en-US" dirty="0"/>
              <a:t>();  // Modify same object</a:t>
            </a:r>
          </a:p>
          <a:p>
            <a:pPr marL="0" indent="0">
              <a:buNone/>
            </a:pPr>
            <a:r>
              <a:rPr lang="en-US" dirty="0" err="1"/>
              <a:t>myBird.launch</a:t>
            </a:r>
            <a:r>
              <a:rPr lang="en-US" dirty="0"/>
              <a:t>();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3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Is this approach bad?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NOT necessarily</a:t>
            </a:r>
            <a:r>
              <a:rPr lang="en-GB" b="1" dirty="0" smtClean="0"/>
              <a:t>!</a:t>
            </a:r>
          </a:p>
          <a:p>
            <a:pPr marL="0" indent="0">
              <a:buNone/>
            </a:pPr>
            <a:r>
              <a:rPr lang="en-GB" dirty="0"/>
              <a:t> It's actually SIMPLER than Decorator for many cases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90113" y="5285785"/>
            <a:ext cx="430598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solidFill>
                  <a:srgbClr val="0F1115"/>
                </a:solidFill>
                <a:latin typeface="quote-cjk-patch"/>
              </a:rPr>
              <a:t>Result: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 Player's score resets randomly!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this approach is GOOD: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Fixed set of abilities (you know all powers upfront)</a:t>
            </a:r>
          </a:p>
          <a:p>
            <a:r>
              <a:rPr lang="en-GB" dirty="0" smtClean="0"/>
              <a:t>Simple </a:t>
            </a:r>
            <a:r>
              <a:rPr lang="en-GB" dirty="0"/>
              <a:t>game with few combinations</a:t>
            </a:r>
          </a:p>
          <a:p>
            <a:r>
              <a:rPr lang="en-GB" dirty="0" smtClean="0"/>
              <a:t>You </a:t>
            </a:r>
            <a:r>
              <a:rPr lang="en-GB" dirty="0"/>
              <a:t>don't need to add/remove powers dynamically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When this approach is BAD: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New abilities added frequently (modify Bird class EVERY time)</a:t>
            </a:r>
          </a:p>
          <a:p>
            <a:r>
              <a:rPr lang="en-GB" dirty="0" smtClean="0"/>
              <a:t>100</a:t>
            </a:r>
            <a:r>
              <a:rPr lang="en-GB" dirty="0"/>
              <a:t>+ combinations (class becomes HUGE with if-else)</a:t>
            </a:r>
          </a:p>
          <a:p>
            <a:r>
              <a:rPr lang="en-GB" dirty="0" smtClean="0"/>
              <a:t>Need </a:t>
            </a:r>
            <a:r>
              <a:rPr lang="en-GB" dirty="0"/>
              <a:t>to combine powers in unexpected ways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0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 Decorator </a:t>
            </a:r>
            <a:r>
              <a:rPr lang="en-US" b="1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1: Create base Bird interface</a:t>
            </a:r>
          </a:p>
          <a:p>
            <a:r>
              <a:rPr lang="en-GB" b="1" dirty="0"/>
              <a:t>Step 2: Create simple birds (no powers)</a:t>
            </a:r>
          </a:p>
          <a:p>
            <a:r>
              <a:rPr lang="en-US" b="1" dirty="0"/>
              <a:t>Step 3: Create Decorator</a:t>
            </a:r>
          </a:p>
          <a:p>
            <a:r>
              <a:rPr lang="en-GB" b="1" dirty="0"/>
              <a:t>Step 4: Create specific </a:t>
            </a:r>
            <a:r>
              <a:rPr lang="en-GB" b="1" dirty="0" smtClean="0"/>
              <a:t>Decorators (powers)</a:t>
            </a:r>
            <a:endParaRPr lang="en-GB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0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// All birds and decorations will follow this</a:t>
            </a:r>
          </a:p>
          <a:p>
            <a:pPr marL="0" indent="0">
              <a:buNone/>
            </a:pPr>
            <a:r>
              <a:rPr lang="en-GB" dirty="0"/>
              <a:t>interface Bird {</a:t>
            </a:r>
          </a:p>
          <a:p>
            <a:pPr marL="0" indent="0">
              <a:buNone/>
            </a:pPr>
            <a:r>
              <a:rPr lang="en-GB" dirty="0"/>
              <a:t>    void launch();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getDamage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String </a:t>
            </a:r>
            <a:r>
              <a:rPr lang="en-GB" dirty="0" err="1"/>
              <a:t>getDescription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3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Step2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Basic Red Bird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RedBird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 smtClean="0"/>
              <a:t>(" </a:t>
            </a:r>
            <a:r>
              <a:rPr lang="en-US" dirty="0"/>
              <a:t>Red bird launched!");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getDamage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100;  // Basic damage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getDescription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"Red Bird (Basic)";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Basic Blue Bird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BlueBird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 smtClean="0"/>
              <a:t>(" </a:t>
            </a:r>
            <a:r>
              <a:rPr lang="en-US" dirty="0"/>
              <a:t>Blue bird launched!");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getDamage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80;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getDescription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"Blue Bird (Splits into 3)";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4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This is the ABSTRACT decorator - WRAPS around any bird</a:t>
            </a:r>
          </a:p>
          <a:p>
            <a:pPr marL="0" indent="0">
              <a:buNone/>
            </a:pPr>
            <a:r>
              <a:rPr lang="en-US" dirty="0"/>
              <a:t>abstract class </a:t>
            </a:r>
            <a:r>
              <a:rPr lang="en-US" dirty="0" err="1"/>
              <a:t>BirdDecorator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protected Bird </a:t>
            </a:r>
            <a:r>
              <a:rPr lang="en-US" dirty="0" err="1"/>
              <a:t>decoratedBird</a:t>
            </a:r>
            <a:r>
              <a:rPr lang="en-US" dirty="0"/>
              <a:t>;  // The bird being wrapped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BirdDecorator</a:t>
            </a:r>
            <a:r>
              <a:rPr lang="en-US" dirty="0"/>
              <a:t>(Bird bird)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this.decoratedBird</a:t>
            </a:r>
            <a:r>
              <a:rPr lang="en-US" dirty="0"/>
              <a:t> = bird;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decoratedBird.launch</a:t>
            </a:r>
            <a:r>
              <a:rPr lang="en-US" dirty="0"/>
              <a:t>();  // Delegate to original bird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getDamage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decoratedBird.getDamage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getDescription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decoratedBird.getDescription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5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// POWER 1: SPEED BOOST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SpeedDecorator</a:t>
            </a:r>
            <a:r>
              <a:rPr lang="en-US" dirty="0">
                <a:solidFill>
                  <a:schemeClr val="bg1"/>
                </a:solidFill>
              </a:rPr>
              <a:t> extends </a:t>
            </a:r>
            <a:r>
              <a:rPr lang="en-US" dirty="0" err="1">
                <a:solidFill>
                  <a:schemeClr val="bg1"/>
                </a:solidFill>
              </a:rPr>
              <a:t>BirdDecorator</a:t>
            </a:r>
            <a:r>
              <a:rPr lang="en-US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SpeedDecorator</a:t>
            </a:r>
            <a:r>
              <a:rPr lang="en-US" dirty="0">
                <a:solidFill>
                  <a:schemeClr val="bg1"/>
                </a:solidFill>
              </a:rPr>
              <a:t>(Bird bird)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super(bird);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void launch()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super.launch</a:t>
            </a:r>
            <a:r>
              <a:rPr lang="en-US" dirty="0">
                <a:solidFill>
                  <a:schemeClr val="bg1"/>
                </a:solidFill>
              </a:rPr>
              <a:t>();  // Original launch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(" </a:t>
            </a:r>
            <a:r>
              <a:rPr lang="en-US" dirty="0">
                <a:solidFill>
                  <a:schemeClr val="bg1"/>
                </a:solidFill>
              </a:rPr>
              <a:t>SPEED BOOST activated! Bird flies faster!");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getDamage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super.getDamage</a:t>
            </a:r>
            <a:r>
              <a:rPr lang="en-US" dirty="0">
                <a:solidFill>
                  <a:schemeClr val="bg1"/>
                </a:solidFill>
              </a:rPr>
              <a:t>() + 50;  // Extra damage from speed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String </a:t>
            </a:r>
            <a:r>
              <a:rPr lang="en-US" dirty="0" err="1">
                <a:solidFill>
                  <a:schemeClr val="bg1"/>
                </a:solidFill>
              </a:rPr>
              <a:t>getDescription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super.getDescription</a:t>
            </a:r>
            <a:r>
              <a:rPr lang="en-US" dirty="0">
                <a:solidFill>
                  <a:schemeClr val="bg1"/>
                </a:solidFill>
              </a:rPr>
              <a:t>() + " + Speed Power";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// POWER 2: EXPLOSION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ExplosionDecorator</a:t>
            </a:r>
            <a:r>
              <a:rPr lang="en-US" dirty="0">
                <a:solidFill>
                  <a:schemeClr val="bg1"/>
                </a:solidFill>
              </a:rPr>
              <a:t> extends </a:t>
            </a:r>
            <a:r>
              <a:rPr lang="en-US" dirty="0" err="1">
                <a:solidFill>
                  <a:schemeClr val="bg1"/>
                </a:solidFill>
              </a:rPr>
              <a:t>BirdDecorator</a:t>
            </a:r>
            <a:r>
              <a:rPr lang="en-US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ExplosionDecorator</a:t>
            </a:r>
            <a:r>
              <a:rPr lang="en-US" dirty="0">
                <a:solidFill>
                  <a:schemeClr val="bg1"/>
                </a:solidFill>
              </a:rPr>
              <a:t>(Bird bird)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super(bird);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void launch()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super.launch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(" </a:t>
            </a:r>
            <a:r>
              <a:rPr lang="en-US" dirty="0">
                <a:solidFill>
                  <a:schemeClr val="bg1"/>
                </a:solidFill>
              </a:rPr>
              <a:t>EXPLOSION ready! Tap to blow up everything!");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getDamage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super.getDamage</a:t>
            </a:r>
            <a:r>
              <a:rPr lang="en-US" dirty="0">
                <a:solidFill>
                  <a:schemeClr val="bg1"/>
                </a:solidFill>
              </a:rPr>
              <a:t>() + 200;  // Massive explosion damage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String </a:t>
            </a:r>
            <a:r>
              <a:rPr lang="en-US" dirty="0" err="1">
                <a:solidFill>
                  <a:schemeClr val="bg1"/>
                </a:solidFill>
              </a:rPr>
              <a:t>getDescription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super.getDescription</a:t>
            </a:r>
            <a:r>
              <a:rPr lang="en-US" dirty="0">
                <a:solidFill>
                  <a:schemeClr val="bg1"/>
                </a:solidFill>
              </a:rPr>
              <a:t>() + " + Explosive Power";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// POWER 3: SPLIT INTO 3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SplitDecorator</a:t>
            </a:r>
            <a:r>
              <a:rPr lang="en-US" dirty="0">
                <a:solidFill>
                  <a:schemeClr val="bg1"/>
                </a:solidFill>
              </a:rPr>
              <a:t> extends </a:t>
            </a:r>
            <a:r>
              <a:rPr lang="en-US" dirty="0" err="1">
                <a:solidFill>
                  <a:schemeClr val="bg1"/>
                </a:solidFill>
              </a:rPr>
              <a:t>BirdDecorator</a:t>
            </a:r>
            <a:r>
              <a:rPr lang="en-US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SplitDecorator</a:t>
            </a:r>
            <a:r>
              <a:rPr lang="en-US" dirty="0">
                <a:solidFill>
                  <a:schemeClr val="bg1"/>
                </a:solidFill>
              </a:rPr>
              <a:t>(Bird bird)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super(bird);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void launch()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super.launch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(" </a:t>
            </a:r>
            <a:r>
              <a:rPr lang="en-US" dirty="0">
                <a:solidFill>
                  <a:schemeClr val="bg1"/>
                </a:solidFill>
              </a:rPr>
              <a:t>SPLIT POWER! Bird becomes 3 birds!");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getDamage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super.getDamage</a:t>
            </a:r>
            <a:r>
              <a:rPr lang="en-US" dirty="0">
                <a:solidFill>
                  <a:schemeClr val="bg1"/>
                </a:solidFill>
              </a:rPr>
              <a:t>() * 3;  // Triple damage!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public String </a:t>
            </a:r>
            <a:r>
              <a:rPr lang="en-US" dirty="0" err="1">
                <a:solidFill>
                  <a:schemeClr val="bg1"/>
                </a:solidFill>
              </a:rPr>
              <a:t>getDescription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return </a:t>
            </a:r>
            <a:r>
              <a:rPr lang="en-US" dirty="0" err="1">
                <a:solidFill>
                  <a:schemeClr val="bg1"/>
                </a:solidFill>
              </a:rPr>
              <a:t>super.getDescription</a:t>
            </a:r>
            <a:r>
              <a:rPr lang="en-US" dirty="0">
                <a:solidFill>
                  <a:schemeClr val="bg1"/>
                </a:solidFill>
              </a:rPr>
              <a:t>() + " + Split Power";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</a:t>
            </a:r>
            <a:r>
              <a:rPr lang="en-US" b="1" dirty="0" smtClean="0"/>
              <a:t>Code Game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AngryBirdsWithDecorator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("===== ANGRY BIRDS - DECORATOR PATTERN =====\n");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1. Create a basic Red Bird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BASIC BIRD ---");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redBird</a:t>
            </a:r>
            <a:r>
              <a:rPr lang="en-US" dirty="0"/>
              <a:t> = new </a:t>
            </a:r>
            <a:r>
              <a:rPr lang="en-US" dirty="0" err="1"/>
              <a:t>RedBird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("Damage: " + </a:t>
            </a:r>
            <a:r>
              <a:rPr lang="en-US" dirty="0" err="1"/>
              <a:t>redBird.getDamage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("Bird: " + </a:t>
            </a:r>
            <a:r>
              <a:rPr lang="en-US" dirty="0" err="1"/>
              <a:t>redBird.getDescription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ADDING SPEED POWER ---");</a:t>
            </a:r>
          </a:p>
          <a:p>
            <a:pPr marL="0" indent="0">
              <a:buNone/>
            </a:pPr>
            <a:r>
              <a:rPr lang="en-US" dirty="0"/>
              <a:t>        // 2. Add SPEED to Red Bird (wrap it!)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speedRedBird</a:t>
            </a:r>
            <a:r>
              <a:rPr lang="en-US" dirty="0"/>
              <a:t> = new </a:t>
            </a:r>
            <a:r>
              <a:rPr lang="en-US" dirty="0" err="1"/>
              <a:t>SpeedDecorator</a:t>
            </a:r>
            <a:r>
              <a:rPr lang="en-US" dirty="0"/>
              <a:t>(</a:t>
            </a:r>
            <a:r>
              <a:rPr lang="en-US" dirty="0" err="1"/>
              <a:t>redBird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speedRedBird.launch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("Damage: " + </a:t>
            </a:r>
            <a:r>
              <a:rPr lang="en-US" dirty="0" err="1"/>
              <a:t>speedRedBird.getDamage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("Bird: " + </a:t>
            </a:r>
            <a:r>
              <a:rPr lang="en-US" dirty="0" err="1"/>
              <a:t>speedRedBird.getDescription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ADDING EXPLOSION TO SPEED BIRD ---");</a:t>
            </a:r>
          </a:p>
          <a:p>
            <a:pPr marL="0" indent="0">
              <a:buNone/>
            </a:pPr>
            <a:r>
              <a:rPr lang="en-US" dirty="0"/>
              <a:t>        // 3. Add EXPLOSION to Speed Red Bird (wrap again!)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superBird</a:t>
            </a:r>
            <a:r>
              <a:rPr lang="en-US" dirty="0"/>
              <a:t> = new </a:t>
            </a:r>
            <a:r>
              <a:rPr lang="en-US" dirty="0" err="1"/>
              <a:t>ExplosionDecorator</a:t>
            </a:r>
            <a:r>
              <a:rPr lang="en-US" dirty="0"/>
              <a:t>(</a:t>
            </a:r>
            <a:r>
              <a:rPr lang="en-US" dirty="0" err="1"/>
              <a:t>speedRedBird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superBird.launch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("Damage: " + </a:t>
            </a:r>
            <a:r>
              <a:rPr lang="en-US" dirty="0" err="1"/>
              <a:t>superBird.getDamage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("Bird: " + </a:t>
            </a:r>
            <a:r>
              <a:rPr lang="en-US" dirty="0" err="1"/>
              <a:t>superBird.getDescription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BLUE BIRD WITH ALL POWERS ---");</a:t>
            </a:r>
          </a:p>
          <a:p>
            <a:pPr marL="0" indent="0">
              <a:buNone/>
            </a:pPr>
            <a:r>
              <a:rPr lang="en-US" dirty="0"/>
              <a:t>        // 4. Blue Bird with Speed + Explosion + Split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blueBird</a:t>
            </a:r>
            <a:r>
              <a:rPr lang="en-US" dirty="0"/>
              <a:t> = new </a:t>
            </a:r>
            <a:r>
              <a:rPr lang="en-US" dirty="0" err="1"/>
              <a:t>BlueBird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blueWithSpeed</a:t>
            </a:r>
            <a:r>
              <a:rPr lang="en-US" dirty="0"/>
              <a:t> = new </a:t>
            </a:r>
            <a:r>
              <a:rPr lang="en-US" dirty="0" err="1"/>
              <a:t>SpeedDecorator</a:t>
            </a:r>
            <a:r>
              <a:rPr lang="en-US" dirty="0"/>
              <a:t>(</a:t>
            </a:r>
            <a:r>
              <a:rPr lang="en-US" dirty="0" err="1"/>
              <a:t>blueBird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blueWithExplosion</a:t>
            </a:r>
            <a:r>
              <a:rPr lang="en-US" dirty="0"/>
              <a:t> = new </a:t>
            </a:r>
            <a:r>
              <a:rPr lang="en-US" dirty="0" err="1"/>
              <a:t>ExplosionDecorator</a:t>
            </a:r>
            <a:r>
              <a:rPr lang="en-US" dirty="0"/>
              <a:t>(</a:t>
            </a:r>
            <a:r>
              <a:rPr lang="en-US" dirty="0" err="1"/>
              <a:t>blueWithSpeed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ultimateBird</a:t>
            </a:r>
            <a:r>
              <a:rPr lang="en-US" dirty="0"/>
              <a:t> = new </a:t>
            </a:r>
            <a:r>
              <a:rPr lang="en-US" dirty="0" err="1"/>
              <a:t>SplitDecorator</a:t>
            </a:r>
            <a:r>
              <a:rPr lang="en-US" dirty="0"/>
              <a:t>(</a:t>
            </a:r>
            <a:r>
              <a:rPr lang="en-US" dirty="0" err="1"/>
              <a:t>blueWithExplosion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ultimateBird.launch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("Damage: " + </a:t>
            </a:r>
            <a:r>
              <a:rPr lang="en-US" dirty="0" err="1"/>
              <a:t>ultimateBird.getDamage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("Bird: " + </a:t>
            </a:r>
            <a:r>
              <a:rPr lang="en-US" dirty="0" err="1"/>
              <a:t>ultimateBird.getDescription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1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Question 1: Can we add multiple powers?</a:t>
            </a:r>
          </a:p>
          <a:p>
            <a:r>
              <a:rPr lang="en-GB" b="1" dirty="0"/>
              <a:t>Answer:</a:t>
            </a:r>
            <a:r>
              <a:rPr lang="en-GB" dirty="0"/>
              <a:t> YES! Just wrap again and again! Like Russian dolls!</a:t>
            </a:r>
          </a:p>
          <a:p>
            <a:r>
              <a:rPr lang="en-GB" b="1" dirty="0"/>
              <a:t>Question 2: Does original bird change?</a:t>
            </a:r>
          </a:p>
          <a:p>
            <a:r>
              <a:rPr lang="en-GB" b="1" dirty="0"/>
              <a:t>Answer:</a:t>
            </a:r>
            <a:r>
              <a:rPr lang="en-GB" dirty="0"/>
              <a:t> NO! Original </a:t>
            </a:r>
            <a:r>
              <a:rPr lang="en-GB" dirty="0" err="1"/>
              <a:t>RedBird</a:t>
            </a:r>
            <a:r>
              <a:rPr lang="en-GB" dirty="0"/>
              <a:t> stays unchanged. You just wrap it!</a:t>
            </a:r>
          </a:p>
          <a:p>
            <a:r>
              <a:rPr lang="en-GB" b="1" dirty="0"/>
              <a:t>Question 3: When to use Decorator in Angry Birds?</a:t>
            </a:r>
          </a:p>
          <a:p>
            <a:r>
              <a:rPr lang="en-GB" b="1" dirty="0"/>
              <a:t>Answer:</a:t>
            </a:r>
            <a:r>
              <a:rPr lang="en-GB" dirty="0"/>
              <a:t> When adding power-ups, special abilities, temporary boosts!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5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BEHAVIORAL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5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Strategy </a:t>
            </a:r>
            <a:r>
              <a:rPr lang="en-US" b="1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Strategy lets you SWITCH </a:t>
            </a:r>
            <a:r>
              <a:rPr lang="en-GB" b="1" dirty="0" err="1"/>
              <a:t>behaviors</a:t>
            </a:r>
            <a:r>
              <a:rPr lang="en-GB" b="1" dirty="0"/>
              <a:t> without changing the </a:t>
            </a:r>
            <a:r>
              <a:rPr lang="en-GB" b="1" dirty="0" smtClean="0"/>
              <a:t>object itself.</a:t>
            </a:r>
          </a:p>
          <a:p>
            <a:endParaRPr lang="en-GB" b="1" dirty="0"/>
          </a:p>
          <a:p>
            <a:endParaRPr lang="en-GB" b="1" dirty="0" smtClean="0"/>
          </a:p>
          <a:p>
            <a:r>
              <a:rPr lang="en-GB" b="1" dirty="0" smtClean="0"/>
              <a:t>Here </a:t>
            </a:r>
            <a:r>
              <a:rPr lang="en-GB" b="1" i="1" dirty="0"/>
              <a:t>Changing Bird </a:t>
            </a:r>
            <a:r>
              <a:rPr lang="en-GB" b="1" i="1" dirty="0" err="1"/>
              <a:t>Behavior</a:t>
            </a:r>
            <a:r>
              <a:rPr lang="en-GB" b="1" i="1" dirty="0"/>
              <a:t> at Runtime</a:t>
            </a:r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Angry bird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Same Bird, Different Strategy: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Strategy 1: NORMAL - Bird flies straight</a:t>
            </a:r>
          </a:p>
          <a:p>
            <a:pPr marL="0" indent="0">
              <a:buNone/>
            </a:pPr>
            <a:r>
              <a:rPr lang="en-GB" dirty="0"/>
              <a:t>Strategy 2: CURVED - Bird flies in arc</a:t>
            </a:r>
          </a:p>
          <a:p>
            <a:pPr marL="0" indent="0">
              <a:buNone/>
            </a:pPr>
            <a:r>
              <a:rPr lang="en-GB" dirty="0"/>
              <a:t>Strategy 3: BOOSTED - Bird gets speed boost</a:t>
            </a:r>
          </a:p>
          <a:p>
            <a:pPr marL="0" indent="0">
              <a:buNone/>
            </a:pPr>
            <a:r>
              <a:rPr lang="en-GB" dirty="0"/>
              <a:t>Strategy 4: GUIDED - Bird follows finger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67247" y="5062226"/>
            <a:ext cx="60960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GB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quote-cjk-patch"/>
              </a:rPr>
              <a:t>Think of it like: TV remote buttons! Same remote, different </a:t>
            </a:r>
            <a:r>
              <a:rPr lang="en-GB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quote-cjk-patch"/>
              </a:rPr>
              <a:t>behavior</a:t>
            </a:r>
            <a:r>
              <a:rPr lang="en-GB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quote-cjk-patch"/>
              </a:rPr>
              <a:t> when you press buttons!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677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 Without </a:t>
            </a:r>
            <a:r>
              <a:rPr lang="en-US" b="1" dirty="0" smtClean="0"/>
              <a:t>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BAD APPROACH: If-else nightmare in bird class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BadBird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strategyType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launch() {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strategyType.equals</a:t>
            </a:r>
            <a:r>
              <a:rPr lang="en-US" dirty="0"/>
              <a:t>("normal"))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("Flies straight");</a:t>
            </a:r>
          </a:p>
          <a:p>
            <a:pPr marL="0" indent="0">
              <a:buNone/>
            </a:pPr>
            <a:r>
              <a:rPr lang="en-US" dirty="0"/>
              <a:t>        } else if(</a:t>
            </a:r>
            <a:r>
              <a:rPr lang="en-US" dirty="0" err="1"/>
              <a:t>strategyType.equals</a:t>
            </a:r>
            <a:r>
              <a:rPr lang="en-US" dirty="0"/>
              <a:t>("curved"))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("Flies in arc");</a:t>
            </a:r>
          </a:p>
          <a:p>
            <a:pPr marL="0" indent="0">
              <a:buNone/>
            </a:pPr>
            <a:r>
              <a:rPr lang="en-US" dirty="0"/>
              <a:t>        } else if(</a:t>
            </a:r>
            <a:r>
              <a:rPr lang="en-US" dirty="0" err="1"/>
              <a:t>strategyType.equals</a:t>
            </a:r>
            <a:r>
              <a:rPr lang="en-US" dirty="0"/>
              <a:t>("boosted"))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("Flies super fast");</a:t>
            </a:r>
          </a:p>
          <a:p>
            <a:pPr marL="0" indent="0">
              <a:buNone/>
            </a:pPr>
            <a:r>
              <a:rPr lang="en-US" dirty="0"/>
              <a:t>        } else if(</a:t>
            </a:r>
            <a:r>
              <a:rPr lang="en-US" dirty="0" err="1"/>
              <a:t>strategyType.equals</a:t>
            </a:r>
            <a:r>
              <a:rPr lang="en-US" dirty="0"/>
              <a:t>("guided"))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("Follows finger");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// Add new strategy? Add ANOTHER if-else!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Problems:</a:t>
            </a:r>
          </a:p>
          <a:p>
            <a:pPr marL="0" indent="0">
              <a:buNone/>
            </a:pPr>
            <a:r>
              <a:rPr lang="en-US" dirty="0"/>
              <a:t>// 1. Bird class gets HUGE and messy</a:t>
            </a:r>
          </a:p>
          <a:p>
            <a:pPr marL="0" indent="0">
              <a:buNone/>
            </a:pPr>
            <a:r>
              <a:rPr lang="en-US" dirty="0"/>
              <a:t>// 2. Can't change strategy at runtime easily</a:t>
            </a:r>
          </a:p>
          <a:p>
            <a:pPr marL="0" indent="0">
              <a:buNone/>
            </a:pPr>
            <a:r>
              <a:rPr lang="en-US" dirty="0"/>
              <a:t>// 3. Adding new strategy changes bird code</a:t>
            </a:r>
          </a:p>
          <a:p>
            <a:pPr marL="0" indent="0">
              <a:buNone/>
            </a:pPr>
            <a:r>
              <a:rPr lang="en-US" dirty="0"/>
              <a:t>// 4. Hard to test each strategy separately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3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 Strategy </a:t>
            </a:r>
            <a:r>
              <a:rPr lang="en-US" b="1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1: Create Strategy Interface</a:t>
            </a:r>
          </a:p>
          <a:p>
            <a:r>
              <a:rPr lang="en-GB" b="1" dirty="0"/>
              <a:t>Step 2: Create different strategies (</a:t>
            </a:r>
            <a:r>
              <a:rPr lang="en-GB" b="1" dirty="0" err="1"/>
              <a:t>behaviors</a:t>
            </a:r>
            <a:r>
              <a:rPr lang="en-GB" b="1" dirty="0"/>
              <a:t>)</a:t>
            </a:r>
          </a:p>
          <a:p>
            <a:r>
              <a:rPr lang="en-GB" b="1" dirty="0"/>
              <a:t>Step 3: Create Bird that can CHANGE strategies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// All flight </a:t>
            </a:r>
            <a:r>
              <a:rPr lang="en-GB" dirty="0" err="1"/>
              <a:t>behaviors</a:t>
            </a:r>
            <a:r>
              <a:rPr lang="en-GB" dirty="0"/>
              <a:t> will follow this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FlightStrategy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void fly();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getSpeed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String </a:t>
            </a:r>
            <a:r>
              <a:rPr lang="en-GB" dirty="0" err="1"/>
              <a:t>getTrajectory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8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STRATEGY 1: Normal flight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NormalFlight</a:t>
            </a:r>
            <a:r>
              <a:rPr lang="en-US" dirty="0"/>
              <a:t> implements </a:t>
            </a:r>
            <a:r>
              <a:rPr lang="en-US" dirty="0" err="1"/>
              <a:t>FlightStrategy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fly()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in STRAIGHT line");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getSpeed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100;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getTrajectory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"Straight path";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STRATEGY 2: Curved/Arc flight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CurvedFlight</a:t>
            </a:r>
            <a:r>
              <a:rPr lang="en-US" dirty="0"/>
              <a:t> implements </a:t>
            </a:r>
            <a:r>
              <a:rPr lang="en-US" dirty="0" err="1"/>
              <a:t>FlightStrategy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fly()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in CURVED arc");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getSpeed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120;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getTrajectory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"Curved path";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STRATEGY 3: Boosted flight (super fast)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BoostedFlight</a:t>
            </a:r>
            <a:r>
              <a:rPr lang="en-US" dirty="0"/>
              <a:t> implements </a:t>
            </a:r>
            <a:r>
              <a:rPr lang="en-US" dirty="0" err="1"/>
              <a:t>FlightStrategy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fly()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SUPER FAST!");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getSpeed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300;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getTrajectory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"Lightning fast path";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STRATEGY 4: Guided flight (follows finger)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GuidedFlight</a:t>
            </a:r>
            <a:r>
              <a:rPr lang="en-US" dirty="0"/>
              <a:t> implements </a:t>
            </a:r>
            <a:r>
              <a:rPr lang="en-US" dirty="0" err="1"/>
              <a:t>FlightStrategy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fly()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("FOLLOWING YOUR FINGER! Guided flight!");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getSpeed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150;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getTrajectory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"User-guided path";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STRATEGY 5: Bombing flight (drops bombs)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BombingFlight</a:t>
            </a:r>
            <a:r>
              <a:rPr lang="en-US" dirty="0"/>
              <a:t> implements </a:t>
            </a:r>
            <a:r>
              <a:rPr lang="en-US" dirty="0" err="1"/>
              <a:t>FlightStrategy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fly()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("DROPPING BOMBS while flying!");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9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Bird that can SWITCH flight behaviors at runtime!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AngryBird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private String name;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FlightStrategy</a:t>
            </a:r>
            <a:r>
              <a:rPr lang="en-US" dirty="0"/>
              <a:t> </a:t>
            </a:r>
            <a:r>
              <a:rPr lang="en-US" dirty="0" err="1"/>
              <a:t>flightStrategy</a:t>
            </a:r>
            <a:r>
              <a:rPr lang="en-US" dirty="0"/>
              <a:t>;  // Current strategy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AngryBird</a:t>
            </a:r>
            <a:r>
              <a:rPr lang="en-US" dirty="0"/>
              <a:t>(String name) {</a:t>
            </a:r>
          </a:p>
          <a:p>
            <a:pPr marL="0" indent="0">
              <a:buNone/>
            </a:pPr>
            <a:r>
              <a:rPr lang="en-US" dirty="0"/>
              <a:t>        this.name = name;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this.flightStrategy</a:t>
            </a:r>
            <a:r>
              <a:rPr lang="en-US" dirty="0"/>
              <a:t> = new </a:t>
            </a:r>
            <a:r>
              <a:rPr lang="en-US" dirty="0" err="1"/>
              <a:t>NormalFlight</a:t>
            </a:r>
            <a:r>
              <a:rPr lang="en-US" dirty="0"/>
              <a:t>(); // Default strategy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// CHANGE strategy at ANY time!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setFlightStrategy</a:t>
            </a:r>
            <a:r>
              <a:rPr lang="en-US" dirty="0"/>
              <a:t>(</a:t>
            </a:r>
            <a:r>
              <a:rPr lang="en-US" dirty="0" err="1"/>
              <a:t>FlightStrategy</a:t>
            </a:r>
            <a:r>
              <a:rPr lang="en-US" dirty="0"/>
              <a:t> strategy)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this.flightStrategy</a:t>
            </a:r>
            <a:r>
              <a:rPr lang="en-US" dirty="0"/>
              <a:t> = strategy;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("\n" + name + " bird CHANGED strategy!");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   New strategy: " + </a:t>
            </a:r>
            <a:r>
              <a:rPr lang="en-US" dirty="0" err="1"/>
              <a:t>strategy.getClass</a:t>
            </a:r>
            <a:r>
              <a:rPr lang="en-US" dirty="0"/>
              <a:t>().</a:t>
            </a:r>
            <a:r>
              <a:rPr lang="en-US" dirty="0" err="1"/>
              <a:t>getSimpleName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("\n" + name + " bird launching...");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flightStrategy.fly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   Speed: " + </a:t>
            </a:r>
            <a:r>
              <a:rPr lang="en-US" dirty="0" err="1"/>
              <a:t>flightStrategy.getSpeed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   Path: " + </a:t>
            </a:r>
            <a:r>
              <a:rPr lang="en-US" dirty="0" err="1"/>
              <a:t>flightStrategy.getTrajectory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getDamage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return 100;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3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Game </a:t>
            </a:r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1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AngryBirdsWithStrategy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("===== ANGRY BIRDS - STRATEGY PATTERN =====\n");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Create a bird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AngryBird</a:t>
            </a:r>
            <a:r>
              <a:rPr lang="en-US" dirty="0"/>
              <a:t> </a:t>
            </a:r>
            <a:r>
              <a:rPr lang="en-US" dirty="0" err="1"/>
              <a:t>redBird</a:t>
            </a:r>
            <a:r>
              <a:rPr lang="en-US" dirty="0"/>
              <a:t> = new </a:t>
            </a:r>
            <a:r>
              <a:rPr lang="en-US" dirty="0" err="1"/>
              <a:t>AngryBird</a:t>
            </a:r>
            <a:r>
              <a:rPr lang="en-US" dirty="0"/>
              <a:t>("Red");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Strategy 1: Normal flight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SCENARIO 1: NORMAL SHOT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redBird.setFlightStrategy</a:t>
            </a:r>
            <a:r>
              <a:rPr lang="en-US" dirty="0"/>
              <a:t>(new </a:t>
            </a:r>
            <a:r>
              <a:rPr lang="en-US" dirty="0" err="1"/>
              <a:t>NormalFlight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Strategy 2: Enemy moved behind obstacle - need curved shot!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SCENARIO 2: PIG BEHIND WALL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("Pig hid behind a wall! Need curved shot!");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redBird.setFlightStrategy</a:t>
            </a:r>
            <a:r>
              <a:rPr lang="en-US" dirty="0"/>
              <a:t>(new </a:t>
            </a:r>
            <a:r>
              <a:rPr lang="en-US" dirty="0" err="1"/>
              <a:t>CurvedFlight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Strategy 3: Multiple pigs - need speed to hit all!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SCENARIO 3: MULTIPLE PIGS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("3 pigs in a row! Need speed!");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redBird.setFlightStrategy</a:t>
            </a:r>
            <a:r>
              <a:rPr lang="en-US" dirty="0"/>
              <a:t>(new </a:t>
            </a:r>
            <a:r>
              <a:rPr lang="en-US" dirty="0" err="1"/>
              <a:t>BoostedFlight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Strategy 4: Moving target - need guided!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SCENARIO 4: MOVING PIG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("Pig moving! Need to guide the bird!");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redBird.setFlightStrategy</a:t>
            </a:r>
            <a:r>
              <a:rPr lang="en-US" dirty="0"/>
              <a:t>(new </a:t>
            </a:r>
            <a:r>
              <a:rPr lang="en-US" dirty="0" err="1"/>
              <a:t>GuidedFlight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Strategy 5: Fortress - need bombs!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SCENARIO 5: WOODEN FORTRESS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("Wooden fortress! Need bombing run!");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redBird.setFlightStrategy</a:t>
            </a:r>
            <a:r>
              <a:rPr lang="en-US" dirty="0"/>
              <a:t>(new </a:t>
            </a:r>
            <a:r>
              <a:rPr lang="en-US" dirty="0" err="1"/>
              <a:t>BombingFlight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3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Strategy + Decorator = ULTIMATE </a:t>
            </a:r>
            <a:r>
              <a:rPr lang="en-US" b="1" dirty="0" smtClean="0"/>
              <a:t>BIRD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UltimateAngryBirds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("===== ULTIMATE BIRD: DECORATOR + STRATEGY =====\n");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Create basic bird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basicRed</a:t>
            </a:r>
            <a:r>
              <a:rPr lang="en-US" dirty="0"/>
              <a:t> = new </a:t>
            </a:r>
            <a:r>
              <a:rPr lang="en-US" dirty="0" err="1"/>
              <a:t>RedBird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Add powers using DECORATOR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poweredBird</a:t>
            </a:r>
            <a:r>
              <a:rPr lang="en-US" dirty="0"/>
              <a:t> = new </a:t>
            </a:r>
            <a:r>
              <a:rPr lang="en-US" dirty="0" err="1"/>
              <a:t>SpeedDecorator</a:t>
            </a:r>
            <a:r>
              <a:rPr lang="en-US" dirty="0"/>
              <a:t>(</a:t>
            </a:r>
            <a:r>
              <a:rPr lang="en-US" dirty="0" err="1"/>
              <a:t>basicRed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explosiveBird</a:t>
            </a:r>
            <a:r>
              <a:rPr lang="en-US" dirty="0"/>
              <a:t> = new </a:t>
            </a:r>
            <a:r>
              <a:rPr lang="en-US" dirty="0" err="1"/>
              <a:t>ExplosionDecorator</a:t>
            </a:r>
            <a:r>
              <a:rPr lang="en-US" dirty="0"/>
              <a:t>(</a:t>
            </a:r>
            <a:r>
              <a:rPr lang="en-US" dirty="0" err="1"/>
              <a:t>poweredBird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Cast to </a:t>
            </a:r>
            <a:r>
              <a:rPr lang="en-US" dirty="0" err="1"/>
              <a:t>AngryBird</a:t>
            </a:r>
            <a:r>
              <a:rPr lang="en-US" dirty="0"/>
              <a:t> (assuming it is one)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AngryBird</a:t>
            </a:r>
            <a:r>
              <a:rPr lang="en-US" dirty="0"/>
              <a:t> </a:t>
            </a:r>
            <a:r>
              <a:rPr lang="en-US" dirty="0" err="1"/>
              <a:t>myBird</a:t>
            </a:r>
            <a:r>
              <a:rPr lang="en-US" dirty="0"/>
              <a:t> = new </a:t>
            </a:r>
            <a:r>
              <a:rPr lang="en-US" dirty="0" err="1"/>
              <a:t>AngryBird</a:t>
            </a:r>
            <a:r>
              <a:rPr lang="en-US" dirty="0"/>
              <a:t>("Ultimate");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CHANGE strategy based on situation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LEVEL 1: Normal pigs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myBird.setFlightStrategy</a:t>
            </a:r>
            <a:r>
              <a:rPr lang="en-US" dirty="0"/>
              <a:t>(new </a:t>
            </a:r>
            <a:r>
              <a:rPr lang="en-US" dirty="0" err="1"/>
              <a:t>NormalFlight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myBird.launch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LEVEL 2: Pigs behind walls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myBird.setFlightStrategy</a:t>
            </a:r>
            <a:r>
              <a:rPr lang="en-US" dirty="0"/>
              <a:t>(new </a:t>
            </a:r>
            <a:r>
              <a:rPr lang="en-US" dirty="0" err="1"/>
              <a:t>CurvedFlight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myBird.launch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Decorator effects still apply with new strategy!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</a:t>
            </a:r>
            <a:r>
              <a:rPr lang="en-US" dirty="0" err="1"/>
              <a:t>nBoth</a:t>
            </a:r>
            <a:r>
              <a:rPr lang="en-US" dirty="0"/>
              <a:t> patterns working together!");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("Decorator: Added permanent powers (Speed + Explosion)");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("Strategy: Can change flight behavior anytime!");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2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Problem: Without </a:t>
            </a:r>
            <a:r>
              <a:rPr lang="en-US" b="1" dirty="0" smtClean="0"/>
              <a:t>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// Bird class has EVERY possible behavior inside it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MessyBird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launch() {</a:t>
            </a:r>
          </a:p>
          <a:p>
            <a:pPr marL="0" indent="0">
              <a:buNone/>
            </a:pPr>
            <a:r>
              <a:rPr lang="en-US" dirty="0"/>
              <a:t>        if(level == 1) { /* normal */ }</a:t>
            </a:r>
          </a:p>
          <a:p>
            <a:pPr marL="0" indent="0">
              <a:buNone/>
            </a:pPr>
            <a:r>
              <a:rPr lang="en-US" dirty="0"/>
              <a:t>        else if(level == 2) { /* curved */ }</a:t>
            </a:r>
          </a:p>
          <a:p>
            <a:pPr marL="0" indent="0">
              <a:buNone/>
            </a:pPr>
            <a:r>
              <a:rPr lang="en-US" dirty="0"/>
              <a:t>        else if(level == 3) { /* boosted */ }</a:t>
            </a:r>
          </a:p>
          <a:p>
            <a:pPr marL="0" indent="0">
              <a:buNone/>
            </a:pPr>
            <a:r>
              <a:rPr lang="en-US" dirty="0"/>
              <a:t>        // 50 if-else statements! TERRIBLE!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with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// Just swap strategy objects!</a:t>
            </a:r>
          </a:p>
          <a:p>
            <a:r>
              <a:rPr lang="en-GB" dirty="0" err="1"/>
              <a:t>bird.setFlightStrategy</a:t>
            </a:r>
            <a:r>
              <a:rPr lang="en-GB" dirty="0"/>
              <a:t>(new </a:t>
            </a:r>
            <a:r>
              <a:rPr lang="en-GB" dirty="0" err="1"/>
              <a:t>CurvedFlight</a:t>
            </a:r>
            <a:r>
              <a:rPr lang="en-GB" dirty="0"/>
              <a:t>());  // 1 line!</a:t>
            </a:r>
          </a:p>
          <a:p>
            <a:r>
              <a:rPr lang="en-GB" dirty="0" err="1"/>
              <a:t>bird.setFlightStrategy</a:t>
            </a:r>
            <a:r>
              <a:rPr lang="en-GB" dirty="0"/>
              <a:t>(new </a:t>
            </a:r>
            <a:r>
              <a:rPr lang="en-GB" dirty="0" err="1"/>
              <a:t>BoostedFlight</a:t>
            </a:r>
            <a:r>
              <a:rPr lang="en-GB" dirty="0"/>
              <a:t>()); // 1 line!</a:t>
            </a:r>
          </a:p>
          <a:p>
            <a:r>
              <a:rPr lang="en-GB" dirty="0"/>
              <a:t>// Clean, simple, powerful!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2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Question 1: Can we change strategy mid-flight?</a:t>
            </a:r>
          </a:p>
          <a:p>
            <a:r>
              <a:rPr lang="en-GB" b="1" dirty="0"/>
              <a:t>Answer:</a:t>
            </a:r>
            <a:r>
              <a:rPr lang="en-GB" dirty="0"/>
              <a:t> YES! That's the point! Bird can change </a:t>
            </a:r>
            <a:r>
              <a:rPr lang="en-GB" dirty="0" err="1"/>
              <a:t>behavior</a:t>
            </a:r>
            <a:r>
              <a:rPr lang="en-GB" dirty="0"/>
              <a:t> while playing!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1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107610"/>
              </p:ext>
            </p:extLst>
          </p:nvPr>
        </p:nvGraphicFramePr>
        <p:xfrm>
          <a:off x="2677042" y="2991319"/>
          <a:ext cx="7041117" cy="21539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47039">
                  <a:extLst>
                    <a:ext uri="{9D8B030D-6E8A-4147-A177-3AD203B41FA5}">
                      <a16:colId xmlns:a16="http://schemas.microsoft.com/office/drawing/2014/main" val="1014593374"/>
                    </a:ext>
                  </a:extLst>
                </a:gridCol>
                <a:gridCol w="2347039">
                  <a:extLst>
                    <a:ext uri="{9D8B030D-6E8A-4147-A177-3AD203B41FA5}">
                      <a16:colId xmlns:a16="http://schemas.microsoft.com/office/drawing/2014/main" val="59605842"/>
                    </a:ext>
                  </a:extLst>
                </a:gridCol>
                <a:gridCol w="2347039">
                  <a:extLst>
                    <a:ext uri="{9D8B030D-6E8A-4147-A177-3AD203B41FA5}">
                      <a16:colId xmlns:a16="http://schemas.microsoft.com/office/drawing/2014/main" val="3587029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Aspect</a:t>
                      </a:r>
                      <a:endParaRPr lang="en-US" b="1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Decorator</a:t>
                      </a:r>
                      <a:endParaRPr lang="en-US" b="1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Strategy</a:t>
                      </a:r>
                      <a:endParaRPr lang="en-US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69490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Adds?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New abilities/powers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New behaviors/actions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5718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Permanent?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Usually permanent for that bird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Can change anytime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9442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Analogy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Adding rocket to bird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Changing how bird flies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88419795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35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8345" y="1809432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199" y="2175500"/>
            <a:ext cx="981562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quote-cjk-patch"/>
              </a:rPr>
              <a:t>Question 2: Difference between Decorator and Strategy?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13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Question 3: When to use Strategy in Angry Birds?</a:t>
            </a:r>
          </a:p>
          <a:p>
            <a:r>
              <a:rPr lang="en-GB" b="1" dirty="0"/>
              <a:t>Answer:</a:t>
            </a:r>
            <a:r>
              <a:rPr lang="en-GB" dirty="0"/>
              <a:t> When bird needs DIFFERENT </a:t>
            </a:r>
            <a:r>
              <a:rPr lang="en-GB" dirty="0" err="1"/>
              <a:t>behaviors</a:t>
            </a:r>
            <a:r>
              <a:rPr lang="en-GB" dirty="0"/>
              <a:t> in DIFFERENT situations!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4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Top 5 to Learn Next </a:t>
            </a:r>
          </a:p>
          <a:p>
            <a:r>
              <a:rPr lang="en-GB" dirty="0"/>
              <a:t>1. Observer → UI updates, notifications (used in 75% of apps)</a:t>
            </a:r>
          </a:p>
          <a:p>
            <a:r>
              <a:rPr lang="en-GB" dirty="0"/>
              <a:t>2. Command → Undo/redo, task queues</a:t>
            </a:r>
          </a:p>
          <a:p>
            <a:r>
              <a:rPr lang="en-GB" dirty="0"/>
              <a:t>3. Adapter → Make old code work with new code</a:t>
            </a:r>
          </a:p>
          <a:p>
            <a:r>
              <a:rPr lang="en-GB" dirty="0"/>
              <a:t>4. State → Game character </a:t>
            </a:r>
            <a:r>
              <a:rPr lang="en-GB" dirty="0" err="1"/>
              <a:t>behaviors</a:t>
            </a:r>
            <a:r>
              <a:rPr lang="en-GB" dirty="0"/>
              <a:t>, vending machines</a:t>
            </a:r>
          </a:p>
          <a:p>
            <a:r>
              <a:rPr lang="en-GB" dirty="0"/>
              <a:t>5. Facade → Simplify complex libraries with one interface</a:t>
            </a:r>
          </a:p>
          <a:p>
            <a:endParaRPr lang="en-GB" dirty="0"/>
          </a:p>
          <a:p>
            <a:r>
              <a:rPr lang="en-GB" dirty="0"/>
              <a:t>Remember: 4 patterns solve 80% of problems. Learn others when you NEED them!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0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i="1" dirty="0" smtClean="0"/>
              <a:t>“Good </a:t>
            </a:r>
            <a:r>
              <a:rPr lang="en-GB" sz="3600" i="1" dirty="0"/>
              <a:t>software designers think about today. Great software designers think about tomorrow</a:t>
            </a:r>
            <a:r>
              <a:rPr lang="en-GB" sz="3600" i="1" dirty="0" smtClean="0"/>
              <a:t>.</a:t>
            </a:r>
          </a:p>
          <a:p>
            <a:pPr marL="0" indent="0">
              <a:buNone/>
            </a:pPr>
            <a:r>
              <a:rPr lang="en-GB" sz="3600" i="1" dirty="0" smtClean="0"/>
              <a:t>Same can be for life….point to ponder </a:t>
            </a:r>
            <a:r>
              <a:rPr lang="en-GB" sz="3600" i="1" smtClean="0"/>
              <a:t>! ”</a:t>
            </a:r>
            <a:endParaRPr lang="en-US" sz="3600" i="1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Engr</a:t>
            </a:r>
            <a:r>
              <a:rPr lang="en-US" sz="3600" dirty="0"/>
              <a:t>. Muhammad </a:t>
            </a:r>
            <a:r>
              <a:rPr lang="en-US" sz="3600" dirty="0" err="1"/>
              <a:t>Umer</a:t>
            </a:r>
            <a:r>
              <a:rPr lang="en-US" sz="3600" dirty="0"/>
              <a:t> Haroon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Engr. Muhammad </a:t>
            </a:r>
            <a:r>
              <a:rPr lang="en-US" dirty="0" err="1" smtClean="0"/>
              <a:t>Umer</a:t>
            </a:r>
            <a:r>
              <a:rPr lang="en-US" dirty="0" smtClean="0"/>
              <a:t>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6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23290</TotalTime>
  <Words>2895</Words>
  <Application>Microsoft Office PowerPoint</Application>
  <PresentationFormat>Widescreen</PresentationFormat>
  <Paragraphs>606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Arial Black</vt:lpstr>
      <vt:lpstr>Calibri</vt:lpstr>
      <vt:lpstr>quote-cjk-patch</vt:lpstr>
      <vt:lpstr>Office Theme</vt:lpstr>
      <vt:lpstr>Software Design and Analysis CS3004</vt:lpstr>
      <vt:lpstr>Lecture </vt:lpstr>
      <vt:lpstr>PowerPoint Presentation</vt:lpstr>
      <vt:lpstr>STRUCTURAL PATTERN </vt:lpstr>
      <vt:lpstr>Decorator </vt:lpstr>
      <vt:lpstr>Angry Birds Example</vt:lpstr>
      <vt:lpstr>PowerPoint Presentation</vt:lpstr>
      <vt:lpstr>The Problem</vt:lpstr>
      <vt:lpstr>PowerPoint Presentation</vt:lpstr>
      <vt:lpstr>Why is this bad for Angry Birds?  </vt:lpstr>
      <vt:lpstr>The Approach 2: Modifying Same Object Directly (not decorator) a solution still not good </vt:lpstr>
      <vt:lpstr>Is this approach bad?</vt:lpstr>
      <vt:lpstr>PowerPoint Presentation</vt:lpstr>
      <vt:lpstr>The Solution: Decorator Pattern</vt:lpstr>
      <vt:lpstr>Step 1 code</vt:lpstr>
      <vt:lpstr>Step2 code</vt:lpstr>
      <vt:lpstr>Step 3 code</vt:lpstr>
      <vt:lpstr>Step 4 code</vt:lpstr>
      <vt:lpstr>Complete Code Game Example</vt:lpstr>
      <vt:lpstr>PowerPoint Presentation</vt:lpstr>
      <vt:lpstr>BEHAVIORAL PATTERN</vt:lpstr>
      <vt:lpstr>Strategy Pattern</vt:lpstr>
      <vt:lpstr>Angry bird example</vt:lpstr>
      <vt:lpstr>The Problem Without Strategy</vt:lpstr>
      <vt:lpstr>The Solution: Strategy Pattern</vt:lpstr>
      <vt:lpstr>Step 1 code</vt:lpstr>
      <vt:lpstr>Step 2 code</vt:lpstr>
      <vt:lpstr>Step 3 code</vt:lpstr>
      <vt:lpstr>Complete Game Example</vt:lpstr>
      <vt:lpstr>PowerPoint Presentation</vt:lpstr>
      <vt:lpstr>Strategy + Decorator = ULTIMATE BIRD</vt:lpstr>
      <vt:lpstr>Problem: Without Strategy</vt:lpstr>
      <vt:lpstr>Solution with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keywords>Umer Haroon</cp:keywords>
  <cp:lastModifiedBy>Dell 9410</cp:lastModifiedBy>
  <cp:revision>232</cp:revision>
  <dcterms:created xsi:type="dcterms:W3CDTF">2026-01-16T05:01:57Z</dcterms:created>
  <dcterms:modified xsi:type="dcterms:W3CDTF">2026-05-03T17:31:33Z</dcterms:modified>
</cp:coreProperties>
</file>