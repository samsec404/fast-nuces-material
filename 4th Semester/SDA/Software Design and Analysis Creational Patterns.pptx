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366" r:id="rId4"/>
    <p:sldId id="367" r:id="rId5"/>
    <p:sldId id="370" r:id="rId6"/>
    <p:sldId id="368" r:id="rId7"/>
    <p:sldId id="369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9" r:id="rId16"/>
    <p:sldId id="380" r:id="rId17"/>
    <p:sldId id="381" r:id="rId18"/>
    <p:sldId id="378" r:id="rId19"/>
    <p:sldId id="382" r:id="rId20"/>
    <p:sldId id="383" r:id="rId21"/>
    <p:sldId id="385" r:id="rId22"/>
    <p:sldId id="384" r:id="rId23"/>
    <p:sldId id="386" r:id="rId24"/>
    <p:sldId id="387" r:id="rId25"/>
    <p:sldId id="388" r:id="rId26"/>
    <p:sldId id="389" r:id="rId27"/>
    <p:sldId id="390" r:id="rId28"/>
    <p:sldId id="391" r:id="rId29"/>
    <p:sldId id="392" r:id="rId30"/>
    <p:sldId id="393" r:id="rId31"/>
    <p:sldId id="394" r:id="rId32"/>
    <p:sldId id="395" r:id="rId33"/>
    <p:sldId id="396" r:id="rId34"/>
    <p:sldId id="39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3566" autoAdjust="0"/>
  </p:normalViewPr>
  <p:slideViewPr>
    <p:cSldViewPr snapToGrid="0">
      <p:cViewPr>
        <p:scale>
          <a:sx n="69" d="100"/>
          <a:sy n="69" d="100"/>
        </p:scale>
        <p:origin x="832" y="-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5BB1E-7BD0-4EDB-8B93-54C4F735030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07F15-511E-42B6-87B9-F823CFC13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>
                <a:effectLst/>
              </a:rPr>
              <a:t>private static </a:t>
            </a:r>
            <a:r>
              <a:rPr lang="en-GB" dirty="0" err="1" smtClean="0">
                <a:effectLst/>
              </a:rPr>
              <a:t>GameManager</a:t>
            </a:r>
            <a:r>
              <a:rPr lang="en-GB" dirty="0" smtClean="0">
                <a:effectLst/>
              </a:rPr>
              <a:t> </a:t>
            </a:r>
            <a:r>
              <a:rPr lang="en-GB" dirty="0" err="1" smtClean="0">
                <a:effectLst/>
              </a:rPr>
              <a:t>singleInstance</a:t>
            </a:r>
            <a:r>
              <a:rPr lang="en-GB" dirty="0" smtClean="0">
                <a:effectLst/>
              </a:rPr>
              <a:t> = null; </a:t>
            </a:r>
          </a:p>
          <a:p>
            <a:r>
              <a:rPr lang="en-GB" dirty="0" smtClean="0">
                <a:effectLst/>
              </a:rPr>
              <a:t>is part of the </a:t>
            </a:r>
            <a:r>
              <a:rPr lang="en-GB" b="1" dirty="0" smtClean="0">
                <a:effectLst/>
              </a:rPr>
              <a:t>Singleton pattern</a:t>
            </a:r>
            <a:r>
              <a:rPr lang="en-GB" dirty="0" smtClean="0">
                <a:effectLst/>
              </a:rPr>
              <a:t> implementation explained in the page you’re viewing. Here’s the breakdown based on that context:</a:t>
            </a:r>
            <a:endParaRPr lang="en-GB" dirty="0" smtClean="0"/>
          </a:p>
          <a:p>
            <a:r>
              <a:rPr lang="en-GB" b="1" dirty="0" smtClean="0">
                <a:effectLst/>
              </a:rPr>
              <a:t>Purpose</a:t>
            </a:r>
            <a:r>
              <a:rPr lang="en-GB" dirty="0" smtClean="0">
                <a:effectLst/>
              </a:rPr>
              <a:t>: It declares a </a:t>
            </a:r>
            <a:r>
              <a:rPr lang="en-GB" b="1" dirty="0" smtClean="0">
                <a:effectLst/>
              </a:rPr>
              <a:t>single, shared copy</a:t>
            </a:r>
            <a:r>
              <a:rPr lang="en-GB" dirty="0" smtClean="0">
                <a:effectLst/>
              </a:rPr>
              <a:t> of the </a:t>
            </a:r>
            <a:r>
              <a:rPr lang="en-GB" dirty="0" err="1" smtClean="0">
                <a:effectLst/>
              </a:rPr>
              <a:t>GameManager</a:t>
            </a:r>
            <a:r>
              <a:rPr lang="en-GB" dirty="0" smtClean="0">
                <a:effectLst/>
              </a:rPr>
              <a:t> class. The idea is that Angry Birds (or any game) should only have </a:t>
            </a:r>
            <a:r>
              <a:rPr lang="en-GB" i="1" dirty="0" smtClean="0">
                <a:effectLst/>
              </a:rPr>
              <a:t>one</a:t>
            </a:r>
            <a:r>
              <a:rPr lang="en-GB" dirty="0" smtClean="0">
                <a:effectLst/>
              </a:rPr>
              <a:t> game state at a time—one score, one set of birds left, one set of pigs left. If multiple </a:t>
            </a:r>
            <a:r>
              <a:rPr lang="en-GB" dirty="0" err="1" smtClean="0">
                <a:effectLst/>
              </a:rPr>
              <a:t>GameManager</a:t>
            </a:r>
            <a:r>
              <a:rPr lang="en-GB" dirty="0" smtClean="0">
                <a:effectLst/>
              </a:rPr>
              <a:t> objects existed, the game state would become inconsistent (different scores in different places).</a:t>
            </a:r>
            <a:endParaRPr lang="en-GB" dirty="0" smtClean="0"/>
          </a:p>
          <a:p>
            <a:r>
              <a:rPr lang="en-GB" b="1" dirty="0" smtClean="0">
                <a:effectLst/>
              </a:rPr>
              <a:t>Keywords explained</a:t>
            </a:r>
            <a:r>
              <a:rPr lang="en-GB" dirty="0" smtClean="0">
                <a:effectLst/>
              </a:rPr>
              <a:t>:</a:t>
            </a:r>
            <a:endParaRPr lang="en-GB" dirty="0" smtClean="0"/>
          </a:p>
          <a:p>
            <a:pPr lvl="1"/>
            <a:r>
              <a:rPr lang="en-GB" dirty="0" smtClean="0">
                <a:effectLst/>
              </a:rPr>
              <a:t>private: Only the class itself can directly access this variable. This prevents other classes from accidentally creating or modifying it.</a:t>
            </a:r>
            <a:endParaRPr lang="en-GB" dirty="0" smtClean="0"/>
          </a:p>
          <a:p>
            <a:pPr lvl="1"/>
            <a:r>
              <a:rPr lang="en-GB" dirty="0" smtClean="0">
                <a:effectLst/>
              </a:rPr>
              <a:t>static: The variable belongs to the class, not to any individual object. That means there’s only one copy of it across the entire program.</a:t>
            </a:r>
            <a:endParaRPr lang="en-GB" dirty="0" smtClean="0"/>
          </a:p>
          <a:p>
            <a:pPr lvl="1"/>
            <a:r>
              <a:rPr lang="en-GB" dirty="0" err="1" smtClean="0">
                <a:effectLst/>
              </a:rPr>
              <a:t>GameManager</a:t>
            </a:r>
            <a:r>
              <a:rPr lang="en-GB" dirty="0" smtClean="0">
                <a:effectLst/>
              </a:rPr>
              <a:t>: The type of the variable—it will hold the one and only </a:t>
            </a:r>
            <a:r>
              <a:rPr lang="en-GB" dirty="0" err="1" smtClean="0">
                <a:effectLst/>
              </a:rPr>
              <a:t>GameManager</a:t>
            </a:r>
            <a:r>
              <a:rPr lang="en-GB" dirty="0" smtClean="0">
                <a:effectLst/>
              </a:rPr>
              <a:t> object.</a:t>
            </a:r>
            <a:endParaRPr lang="en-GB" dirty="0" smtClean="0"/>
          </a:p>
          <a:p>
            <a:pPr lvl="1"/>
            <a:r>
              <a:rPr lang="en-GB" dirty="0" err="1" smtClean="0">
                <a:effectLst/>
              </a:rPr>
              <a:t>singleInstance</a:t>
            </a:r>
            <a:r>
              <a:rPr lang="en-GB" dirty="0" smtClean="0">
                <a:effectLst/>
              </a:rPr>
              <a:t>: The name chosen to emphasize that this is the single allowed instance.</a:t>
            </a:r>
            <a:endParaRPr lang="en-GB" dirty="0" smtClean="0"/>
          </a:p>
          <a:p>
            <a:pPr lvl="1"/>
            <a:r>
              <a:rPr lang="en-GB" dirty="0" smtClean="0">
                <a:effectLst/>
              </a:rPr>
              <a:t>= null: Initially, no game exists. The instance will be created later when needed.</a:t>
            </a:r>
            <a:endParaRPr lang="en-GB" dirty="0" smtClean="0"/>
          </a:p>
          <a:p>
            <a:r>
              <a:rPr lang="en-GB" b="1" dirty="0" smtClean="0">
                <a:effectLst/>
              </a:rPr>
              <a:t>How it works in the Singleton</a:t>
            </a:r>
            <a:r>
              <a:rPr lang="en-GB" dirty="0" smtClean="0">
                <a:effectLst/>
              </a:rPr>
              <a:t>:</a:t>
            </a:r>
            <a:endParaRPr lang="en-GB" dirty="0" smtClean="0"/>
          </a:p>
          <a:p>
            <a:pPr lvl="1"/>
            <a:r>
              <a:rPr lang="en-GB" dirty="0" smtClean="0">
                <a:effectLst/>
              </a:rPr>
              <a:t>The constructor of </a:t>
            </a:r>
            <a:r>
              <a:rPr lang="en-GB" dirty="0" err="1" smtClean="0">
                <a:effectLst/>
              </a:rPr>
              <a:t>GameManager</a:t>
            </a:r>
            <a:r>
              <a:rPr lang="en-GB" dirty="0" smtClean="0">
                <a:effectLst/>
              </a:rPr>
              <a:t> is made </a:t>
            </a:r>
            <a:r>
              <a:rPr lang="en-GB" b="1" dirty="0" smtClean="0">
                <a:effectLst/>
              </a:rPr>
              <a:t>private</a:t>
            </a:r>
            <a:r>
              <a:rPr lang="en-GB" dirty="0" smtClean="0">
                <a:effectLst/>
              </a:rPr>
              <a:t>, so no one can call new </a:t>
            </a:r>
            <a:r>
              <a:rPr lang="en-GB" dirty="0" err="1" smtClean="0">
                <a:effectLst/>
              </a:rPr>
              <a:t>GameManager</a:t>
            </a:r>
            <a:r>
              <a:rPr lang="en-GB" dirty="0" smtClean="0">
                <a:effectLst/>
              </a:rPr>
              <a:t>() directly.</a:t>
            </a:r>
            <a:endParaRPr lang="en-GB" dirty="0" smtClean="0"/>
          </a:p>
          <a:p>
            <a:pPr lvl="1"/>
            <a:r>
              <a:rPr lang="en-GB" dirty="0" smtClean="0">
                <a:effectLst/>
              </a:rPr>
              <a:t>The </a:t>
            </a:r>
            <a:r>
              <a:rPr lang="en-GB" dirty="0" err="1" smtClean="0">
                <a:effectLst/>
              </a:rPr>
              <a:t>getInstance</a:t>
            </a:r>
            <a:r>
              <a:rPr lang="en-GB" dirty="0" smtClean="0">
                <a:effectLst/>
              </a:rPr>
              <a:t>() method checks if </a:t>
            </a:r>
            <a:r>
              <a:rPr lang="en-GB" dirty="0" err="1" smtClean="0">
                <a:effectLst/>
              </a:rPr>
              <a:t>singleInstance</a:t>
            </a:r>
            <a:r>
              <a:rPr lang="en-GB" dirty="0" smtClean="0">
                <a:effectLst/>
              </a:rPr>
              <a:t> is null. If it is, it creates the object once. If not, it returns the already existing object.</a:t>
            </a:r>
            <a:endParaRPr lang="en-GB" dirty="0" smtClean="0"/>
          </a:p>
          <a:p>
            <a:pPr lvl="1"/>
            <a:r>
              <a:rPr lang="en-GB" dirty="0" smtClean="0">
                <a:effectLst/>
              </a:rPr>
              <a:t>This ensures that every part of the program always refers to the same </a:t>
            </a:r>
            <a:r>
              <a:rPr lang="en-GB" dirty="0" err="1" smtClean="0">
                <a:effectLst/>
              </a:rPr>
              <a:t>GameManager</a:t>
            </a:r>
            <a:r>
              <a:rPr lang="en-GB" dirty="0" smtClean="0">
                <a:effectLst/>
              </a:rPr>
              <a:t>.</a:t>
            </a:r>
            <a:endParaRPr lang="en-GB" dirty="0" smtClean="0"/>
          </a:p>
          <a:p>
            <a:r>
              <a:rPr lang="en-GB" b="1" dirty="0" smtClean="0">
                <a:effectLst/>
              </a:rPr>
              <a:t>Why it matters in Angry Birds</a:t>
            </a:r>
            <a:r>
              <a:rPr lang="en-GB" dirty="0" smtClean="0">
                <a:effectLst/>
              </a:rPr>
              <a:t> (from the page): Without this, you could end up with two different </a:t>
            </a:r>
            <a:r>
              <a:rPr lang="en-GB" dirty="0" err="1" smtClean="0">
                <a:effectLst/>
              </a:rPr>
              <a:t>GameManager</a:t>
            </a:r>
            <a:r>
              <a:rPr lang="en-GB" dirty="0" smtClean="0">
                <a:effectLst/>
              </a:rPr>
              <a:t> objects—one showing score 5000, another showing score 0. That would confuse the player and break the game. The Singleton guarantees consistency: one scoreboard, one set of birds, one set of pigs, one level tracker.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07F15-511E-42B6-87B9-F823CFC13C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19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9E94-90A1-4D8E-9DBA-4CBDDFEF3400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8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157B-721A-4B32-933B-37F850A0BF01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Arial Black" panose="020B0A04020102020204" pitchFamily="34" charset="0"/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483F-910E-4F41-8EA5-E60A08BBBDEA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9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82A-2D5E-47FD-9E3D-CAC8500BCB56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6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0E86-D13F-4C1E-BF6D-69D2CC69AC5D}" type="datetime1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3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6ED9-6E5B-40D1-A641-CD88D8E1F14F}" type="datetime1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6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5113-0E2E-4331-BAD3-4FEE8D872057}" type="datetime1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2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E413-A667-4ACC-8054-065E23D8A533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5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2523-65B9-42AE-A752-FECD55F4A714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1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2C544-0A88-4771-91D8-7B5B1B065B47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1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C0C45-A6FE-4B6C-BB3C-31DFE35EAD46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EDB53-32E3-4E44-A94E-06B443D84359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51600"/>
            <a:ext cx="4114800" cy="26987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F56A2-C75C-4055-B942-4543DDA5E96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Half Frame 6"/>
          <p:cNvSpPr/>
          <p:nvPr userDrawn="1"/>
        </p:nvSpPr>
        <p:spPr>
          <a:xfrm>
            <a:off x="0" y="0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Half Frame 7"/>
          <p:cNvSpPr/>
          <p:nvPr userDrawn="1"/>
        </p:nvSpPr>
        <p:spPr>
          <a:xfrm rot="10800000">
            <a:off x="-1" y="17232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22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Design and Analysis CS3004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</p:spTree>
    <p:extLst>
      <p:ext uri="{BB962C8B-B14F-4D97-AF65-F5344CB8AC3E}">
        <p14:creationId xmlns:p14="http://schemas.microsoft.com/office/powerpoint/2010/main" val="232316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7200" dirty="0" smtClean="0"/>
              <a:t>Creational Patterns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 Pattern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3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happens without Singleton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6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Angry Birds Movie Wallpaper [3840x2160] : r/wallpap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27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100"/>
            <a:ext cx="10515600" cy="5884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Imagine two different parts of your game creating game state:</a:t>
            </a:r>
          </a:p>
          <a:p>
            <a:pPr marL="0" indent="0">
              <a:buNone/>
            </a:pPr>
            <a:r>
              <a:rPr lang="en-GB" dirty="0"/>
              <a:t>// Player scores 5000 points in Level 1</a:t>
            </a:r>
          </a:p>
          <a:p>
            <a:pPr marL="0" indent="0">
              <a:buNone/>
            </a:pPr>
            <a:r>
              <a:rPr lang="en-GB" dirty="0"/>
              <a:t>Game </a:t>
            </a:r>
            <a:r>
              <a:rPr lang="en-GB" dirty="0" err="1"/>
              <a:t>currentGame</a:t>
            </a:r>
            <a:r>
              <a:rPr lang="en-GB" dirty="0"/>
              <a:t> = new Game();</a:t>
            </a:r>
          </a:p>
          <a:p>
            <a:pPr marL="0" indent="0">
              <a:buNone/>
            </a:pPr>
            <a:r>
              <a:rPr lang="en-GB" dirty="0" err="1"/>
              <a:t>currentGame.addScore</a:t>
            </a:r>
            <a:r>
              <a:rPr lang="en-GB" dirty="0"/>
              <a:t>(5000);</a:t>
            </a:r>
          </a:p>
          <a:p>
            <a:pPr marL="0" indent="0">
              <a:buNone/>
            </a:pPr>
            <a:r>
              <a:rPr lang="en-GB" dirty="0"/>
              <a:t>// Meanwhile, another part of code accidentally creates NEW game</a:t>
            </a:r>
          </a:p>
          <a:p>
            <a:pPr marL="0" indent="0">
              <a:buNone/>
            </a:pPr>
            <a:r>
              <a:rPr lang="en-GB" dirty="0"/>
              <a:t>Game </a:t>
            </a:r>
            <a:r>
              <a:rPr lang="en-GB" dirty="0" err="1"/>
              <a:t>anotherGame</a:t>
            </a:r>
            <a:r>
              <a:rPr lang="en-GB" dirty="0"/>
              <a:t> = new Game(); // OH NO! Score = 0 again!</a:t>
            </a:r>
          </a:p>
          <a:p>
            <a:pPr marL="0" indent="0">
              <a:buNone/>
            </a:pPr>
            <a:r>
              <a:rPr lang="en-GB" dirty="0"/>
              <a:t>// Question: What's the player's score?</a:t>
            </a:r>
          </a:p>
          <a:p>
            <a:pPr marL="0" indent="0">
              <a:buNone/>
            </a:pPr>
            <a:r>
              <a:rPr lang="en-GB" dirty="0"/>
              <a:t>// Answer: Depends on which Game object you ask! TERRIBLE!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6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is this bad for Angry Birds?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ONE current score (5000 points)</a:t>
            </a:r>
          </a:p>
          <a:p>
            <a:r>
              <a:rPr lang="en-GB" dirty="0" smtClean="0"/>
              <a:t> </a:t>
            </a:r>
            <a:r>
              <a:rPr lang="en-GB" dirty="0"/>
              <a:t>ONE birds remaining (3 birds left)</a:t>
            </a:r>
          </a:p>
          <a:p>
            <a:r>
              <a:rPr lang="en-GB" dirty="0" smtClean="0"/>
              <a:t> </a:t>
            </a:r>
            <a:r>
              <a:rPr lang="en-GB" dirty="0"/>
              <a:t>ONE pigs remaining (2 pigs left)</a:t>
            </a:r>
          </a:p>
          <a:p>
            <a:r>
              <a:rPr lang="en-GB" dirty="0" smtClean="0"/>
              <a:t> </a:t>
            </a:r>
            <a:r>
              <a:rPr lang="en-GB" dirty="0"/>
              <a:t>ONE level number (Level 5)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5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 multiple Game objects </a:t>
            </a:r>
            <a:r>
              <a:rPr lang="en-GB" dirty="0" smtClean="0"/>
              <a:t>exist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Score </a:t>
            </a:r>
            <a:r>
              <a:rPr lang="en-GB" sz="3600" dirty="0"/>
              <a:t>shows 5000 in one place</a:t>
            </a:r>
          </a:p>
          <a:p>
            <a:r>
              <a:rPr lang="en-GB" sz="3600" dirty="0" smtClean="0"/>
              <a:t>Score </a:t>
            </a:r>
            <a:r>
              <a:rPr lang="en-GB" sz="3600" dirty="0"/>
              <a:t>shows 0 in another place</a:t>
            </a:r>
          </a:p>
          <a:p>
            <a:r>
              <a:rPr lang="en-GB" sz="3600" dirty="0" smtClean="0"/>
              <a:t>Player </a:t>
            </a:r>
            <a:r>
              <a:rPr lang="en-GB" sz="3600" dirty="0"/>
              <a:t>gets confused and angry! 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 </a:t>
            </a:r>
            <a:r>
              <a:rPr lang="en-US" dirty="0" smtClean="0"/>
              <a:t>: </a:t>
            </a:r>
            <a:r>
              <a:rPr lang="en-US" dirty="0"/>
              <a:t>Singleton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smtClean="0"/>
              <a:t>Singleton</a:t>
            </a:r>
          </a:p>
          <a:p>
            <a:r>
              <a:rPr lang="en-GB" dirty="0"/>
              <a:t>"A pattern that ensures a class has ONLY ONE object and provides one way to access it"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6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Angry Birds Singleton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/**</a:t>
            </a:r>
          </a:p>
          <a:p>
            <a:pPr marL="0" indent="0">
              <a:buNone/>
            </a:pPr>
            <a:r>
              <a:rPr lang="en-US" dirty="0"/>
              <a:t>* </a:t>
            </a:r>
            <a:r>
              <a:rPr lang="en-US" dirty="0" err="1"/>
              <a:t>GameManager</a:t>
            </a:r>
            <a:r>
              <a:rPr lang="en-US" dirty="0"/>
              <a:t> - The ONE and ONLY game state for Angry Birds</a:t>
            </a:r>
          </a:p>
          <a:p>
            <a:pPr marL="0" indent="0">
              <a:buNone/>
            </a:pPr>
            <a:r>
              <a:rPr lang="en-US" dirty="0"/>
              <a:t>* No matter where you access it, you get the SAME game</a:t>
            </a:r>
          </a:p>
          <a:p>
            <a:pPr marL="0" indent="0">
              <a:buNone/>
            </a:pPr>
            <a:r>
              <a:rPr lang="en-US" dirty="0"/>
              <a:t>*/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GameManager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// Step 1: Create a private static variable to hold the ONE instance</a:t>
            </a:r>
          </a:p>
          <a:p>
            <a:pPr marL="0" indent="0">
              <a:buNone/>
            </a:pPr>
            <a:r>
              <a:rPr lang="en-US" dirty="0"/>
              <a:t>    private static </a:t>
            </a:r>
            <a:r>
              <a:rPr lang="en-US" dirty="0" err="1"/>
              <a:t>GameManager</a:t>
            </a:r>
            <a:r>
              <a:rPr lang="en-US" dirty="0"/>
              <a:t> </a:t>
            </a:r>
            <a:r>
              <a:rPr lang="en-US" dirty="0" err="1"/>
              <a:t>singleInstance</a:t>
            </a:r>
            <a:r>
              <a:rPr lang="en-US" dirty="0"/>
              <a:t> = null;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Step 2: Make constructor PRIVATE (no one else can create)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GameManager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("Angry Birds Game Started!");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("Birds Ready!");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("Pigs Located!");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Step 3: Provide ONE global way to get the instance</a:t>
            </a:r>
          </a:p>
          <a:p>
            <a:pPr marL="0" indent="0">
              <a:buNone/>
            </a:pPr>
            <a:r>
              <a:rPr lang="en-US" dirty="0"/>
              <a:t>    public static </a:t>
            </a:r>
            <a:r>
              <a:rPr lang="en-US" dirty="0" err="1"/>
              <a:t>GameManager</a:t>
            </a:r>
            <a:r>
              <a:rPr lang="en-US" dirty="0"/>
              <a:t> </a:t>
            </a:r>
            <a:r>
              <a:rPr lang="en-US" dirty="0" err="1"/>
              <a:t>getInstance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if(</a:t>
            </a:r>
            <a:r>
              <a:rPr lang="en-US" dirty="0" err="1"/>
              <a:t>singleInstance</a:t>
            </a:r>
            <a:r>
              <a:rPr lang="en-US" dirty="0"/>
              <a:t> == null)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singleInstance</a:t>
            </a:r>
            <a:r>
              <a:rPr lang="en-US" dirty="0"/>
              <a:t> = new </a:t>
            </a:r>
            <a:r>
              <a:rPr lang="en-US" dirty="0" err="1"/>
              <a:t>GameManager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singleInstance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Game data (only ONE copy exists)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currentScore</a:t>
            </a:r>
            <a:r>
              <a:rPr lang="en-US" dirty="0"/>
              <a:t> = 0;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birdsRemaining</a:t>
            </a:r>
            <a:r>
              <a:rPr lang="en-US" dirty="0"/>
              <a:t> = 3;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pigsRemaining</a:t>
            </a:r>
            <a:r>
              <a:rPr lang="en-US" dirty="0"/>
              <a:t> = 5;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currentLevel</a:t>
            </a:r>
            <a:r>
              <a:rPr lang="en-US" dirty="0"/>
              <a:t> = 1;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Game actions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addScore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points)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currentScore</a:t>
            </a:r>
            <a:r>
              <a:rPr lang="en-US" dirty="0"/>
              <a:t> += points;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("Score: " + </a:t>
            </a:r>
            <a:r>
              <a:rPr lang="en-US" dirty="0" err="1"/>
              <a:t>currentScore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useBird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birdsRemaining</a:t>
            </a:r>
            <a:r>
              <a:rPr lang="en-US" dirty="0"/>
              <a:t>--;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("Birds left: " + </a:t>
            </a:r>
            <a:r>
              <a:rPr lang="en-US" dirty="0" err="1"/>
              <a:t>birdsRemaining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if(</a:t>
            </a:r>
            <a:r>
              <a:rPr lang="en-US" dirty="0" err="1"/>
              <a:t>birdsRemaining</a:t>
            </a:r>
            <a:r>
              <a:rPr lang="en-US" dirty="0"/>
              <a:t> == 0 &amp;&amp; </a:t>
            </a:r>
            <a:r>
              <a:rPr lang="en-US" dirty="0" err="1"/>
              <a:t>pigsRemaining</a:t>
            </a:r>
            <a:r>
              <a:rPr lang="en-US" dirty="0"/>
              <a:t> &gt; 0)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("GAME OVER! No birds left!");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pigDestroyed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pigsRemaining</a:t>
            </a:r>
            <a:r>
              <a:rPr lang="en-US" dirty="0"/>
              <a:t>--;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("Pigs left: " + </a:t>
            </a:r>
            <a:r>
              <a:rPr lang="en-US" dirty="0" err="1"/>
              <a:t>pigsRemaining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if(</a:t>
            </a:r>
            <a:r>
              <a:rPr lang="en-US" dirty="0" err="1"/>
              <a:t>pigsRemaining</a:t>
            </a:r>
            <a:r>
              <a:rPr lang="en-US" dirty="0"/>
              <a:t> == 0) {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2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Game </a:t>
            </a:r>
            <a:r>
              <a:rPr lang="en-US" dirty="0" smtClean="0"/>
              <a:t>Demo:</a:t>
            </a:r>
            <a:r>
              <a:rPr lang="en-GB" dirty="0" smtClean="0"/>
              <a:t> </a:t>
            </a:r>
            <a:r>
              <a:rPr lang="en-GB" dirty="0"/>
              <a:t>Singleton in Angry Birds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AngryBirdsGame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("===== ANGRY BIRDS =====");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("Press 1 to play!\n");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Get the ONE game manager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game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Play Level 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("--- Level " + </a:t>
            </a:r>
            <a:r>
              <a:rPr lang="en-US" dirty="0" err="1"/>
              <a:t>game.getCurrentLevel</a:t>
            </a:r>
            <a:r>
              <a:rPr lang="en-US" dirty="0"/>
              <a:t>() + " ---");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game.addScore</a:t>
            </a:r>
            <a:r>
              <a:rPr lang="en-US" dirty="0"/>
              <a:t>(1000);  // Hit first pig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game.pigDestroyed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game.useBird</a:t>
            </a:r>
            <a:r>
              <a:rPr lang="en-US" dirty="0"/>
              <a:t>();  // Used one bird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game.addScore</a:t>
            </a:r>
            <a:r>
              <a:rPr lang="en-US" dirty="0"/>
              <a:t>(2000);  // Hit second pig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game.pigDestroyed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game.useBird</a:t>
            </a:r>
            <a:r>
              <a:rPr lang="en-US" dirty="0"/>
              <a:t>();  // Used second bird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game.addScore</a:t>
            </a:r>
            <a:r>
              <a:rPr lang="en-US" dirty="0"/>
              <a:t>(3000);  // Hit third pig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game.pigDestroyed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Check if level complete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("\n--- Level " + </a:t>
            </a:r>
            <a:r>
              <a:rPr lang="en-US" dirty="0" err="1"/>
              <a:t>game.getCurrentLevel</a:t>
            </a:r>
            <a:r>
              <a:rPr lang="en-US" dirty="0"/>
              <a:t>() + " ---");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game.addScore</a:t>
            </a:r>
            <a:r>
              <a:rPr lang="en-US" dirty="0"/>
              <a:t>(5000);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game.pigDestroyed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Try to create another game (WON'T WORK!)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("\n--- Trying to cheat by creating new game ---");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</a:t>
            </a:r>
            <a:r>
              <a:rPr lang="en-US" dirty="0" err="1"/>
              <a:t>anotherGame</a:t>
            </a:r>
            <a:r>
              <a:rPr lang="en-US" dirty="0"/>
              <a:t>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Check if it's the same game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("Same game object? " + (game == </a:t>
            </a:r>
            <a:r>
              <a:rPr lang="en-US" dirty="0" err="1"/>
              <a:t>anotherGame</a:t>
            </a:r>
            <a:r>
              <a:rPr lang="en-US" dirty="0"/>
              <a:t>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("Score from first reference: " + </a:t>
            </a:r>
            <a:r>
              <a:rPr lang="en-US" dirty="0" err="1"/>
              <a:t>game.getScore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("Score from second reference: " + </a:t>
            </a:r>
            <a:r>
              <a:rPr lang="en-US" dirty="0" err="1"/>
              <a:t>anotherGame.getScore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 smtClean="0"/>
              <a:t>(" </a:t>
            </a:r>
            <a:r>
              <a:rPr lang="en-US" dirty="0"/>
              <a:t>Both show the SAME score! Singleton works!");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3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Probable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===== ANGRY BIRDS =====</a:t>
            </a:r>
          </a:p>
          <a:p>
            <a:pPr marL="0" indent="0">
              <a:buNone/>
            </a:pPr>
            <a:r>
              <a:rPr lang="en-GB" dirty="0"/>
              <a:t>Press 1 to play!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Angry Birds Game Started!</a:t>
            </a:r>
          </a:p>
          <a:p>
            <a:pPr marL="0" indent="0">
              <a:buNone/>
            </a:pPr>
            <a:r>
              <a:rPr lang="en-GB" dirty="0"/>
              <a:t>Birds Ready!</a:t>
            </a:r>
          </a:p>
          <a:p>
            <a:pPr marL="0" indent="0">
              <a:buNone/>
            </a:pPr>
            <a:r>
              <a:rPr lang="en-GB" dirty="0"/>
              <a:t>Pigs Located!</a:t>
            </a:r>
          </a:p>
          <a:p>
            <a:pPr marL="0" indent="0">
              <a:buNone/>
            </a:pPr>
            <a:r>
              <a:rPr lang="en-GB" dirty="0"/>
              <a:t>--- Level 1 ---</a:t>
            </a:r>
          </a:p>
          <a:p>
            <a:pPr marL="0" indent="0">
              <a:buNone/>
            </a:pPr>
            <a:r>
              <a:rPr lang="en-GB" dirty="0"/>
              <a:t>Score: 1000</a:t>
            </a:r>
          </a:p>
          <a:p>
            <a:pPr marL="0" indent="0">
              <a:buNone/>
            </a:pPr>
            <a:r>
              <a:rPr lang="en-GB" dirty="0"/>
              <a:t>Pigs left: 4</a:t>
            </a:r>
          </a:p>
          <a:p>
            <a:pPr marL="0" indent="0">
              <a:buNone/>
            </a:pPr>
            <a:r>
              <a:rPr lang="en-GB" dirty="0"/>
              <a:t>Birds left: 2</a:t>
            </a:r>
          </a:p>
          <a:p>
            <a:pPr marL="0" indent="0">
              <a:buNone/>
            </a:pPr>
            <a:r>
              <a:rPr lang="en-GB" dirty="0"/>
              <a:t>Score: 3000</a:t>
            </a:r>
          </a:p>
          <a:p>
            <a:pPr marL="0" indent="0">
              <a:buNone/>
            </a:pPr>
            <a:r>
              <a:rPr lang="en-GB" dirty="0"/>
              <a:t>Pigs left: 3</a:t>
            </a:r>
          </a:p>
          <a:p>
            <a:pPr marL="0" indent="0">
              <a:buNone/>
            </a:pPr>
            <a:r>
              <a:rPr lang="en-GB" dirty="0"/>
              <a:t>Birds left: 1</a:t>
            </a:r>
          </a:p>
          <a:p>
            <a:pPr marL="0" indent="0">
              <a:buNone/>
            </a:pPr>
            <a:r>
              <a:rPr lang="en-GB" dirty="0"/>
              <a:t>Score: 6000</a:t>
            </a:r>
          </a:p>
          <a:p>
            <a:pPr marL="0" indent="0">
              <a:buNone/>
            </a:pPr>
            <a:r>
              <a:rPr lang="en-GB" dirty="0"/>
              <a:t>Pigs left: 2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--- Level 2 ---</a:t>
            </a:r>
          </a:p>
          <a:p>
            <a:pPr marL="0" indent="0">
              <a:buNone/>
            </a:pPr>
            <a:r>
              <a:rPr lang="en-GB" dirty="0"/>
              <a:t>Score: 11000</a:t>
            </a:r>
          </a:p>
          <a:p>
            <a:pPr marL="0" indent="0">
              <a:buNone/>
            </a:pPr>
            <a:r>
              <a:rPr lang="en-GB" dirty="0"/>
              <a:t>Pigs left: 4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--- Trying to cheat by creating new game ---</a:t>
            </a:r>
          </a:p>
          <a:p>
            <a:pPr marL="0" indent="0">
              <a:buNone/>
            </a:pPr>
            <a:r>
              <a:rPr lang="en-GB" dirty="0"/>
              <a:t>Same game object? true</a:t>
            </a:r>
          </a:p>
          <a:p>
            <a:pPr marL="0" indent="0">
              <a:buNone/>
            </a:pPr>
            <a:r>
              <a:rPr lang="en-GB" dirty="0"/>
              <a:t>Score from first reference: 11000</a:t>
            </a:r>
          </a:p>
          <a:p>
            <a:pPr marL="0" indent="0">
              <a:buNone/>
            </a:pPr>
            <a:r>
              <a:rPr lang="en-GB" dirty="0"/>
              <a:t>Score from second reference: 11000</a:t>
            </a:r>
          </a:p>
          <a:p>
            <a:pPr marL="0" indent="0">
              <a:buNone/>
            </a:pPr>
            <a:r>
              <a:rPr lang="en-GB" dirty="0"/>
              <a:t>Both show the SAME score! Singleton works!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4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Singleton for Angry </a:t>
            </a:r>
            <a:r>
              <a:rPr lang="en-GB" b="1" dirty="0" smtClean="0"/>
              <a:t>Birds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Why can't we just use static variables?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8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49825"/>
            <a:ext cx="10515600" cy="1325563"/>
          </a:xfrm>
        </p:spPr>
        <p:txBody>
          <a:bodyPr/>
          <a:lstStyle/>
          <a:p>
            <a:r>
              <a:rPr lang="en-GB" b="1" dirty="0"/>
              <a:t>Answer:</a:t>
            </a:r>
            <a:r>
              <a:rPr lang="en-GB" dirty="0"/>
              <a:t> Singleton gives you an OBJECT with full control!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227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// Static approach (BAD)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BadGame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static </a:t>
            </a:r>
            <a:r>
              <a:rPr lang="en-GB" dirty="0" err="1"/>
              <a:t>int</a:t>
            </a:r>
            <a:r>
              <a:rPr lang="en-GB" dirty="0"/>
              <a:t> score;</a:t>
            </a:r>
          </a:p>
          <a:p>
            <a:pPr marL="0" indent="0">
              <a:buNone/>
            </a:pPr>
            <a:r>
              <a:rPr lang="en-GB" dirty="0"/>
              <a:t>    static </a:t>
            </a:r>
            <a:r>
              <a:rPr lang="en-GB" dirty="0" err="1"/>
              <a:t>int</a:t>
            </a:r>
            <a:r>
              <a:rPr lang="en-GB" dirty="0"/>
              <a:t> birds;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Problems:</a:t>
            </a:r>
          </a:p>
          <a:p>
            <a:pPr marL="0" indent="0">
              <a:buNone/>
            </a:pPr>
            <a:r>
              <a:rPr lang="en-GB" dirty="0"/>
              <a:t>// 1. Can't reset for new game easily</a:t>
            </a:r>
          </a:p>
          <a:p>
            <a:pPr marL="0" indent="0">
              <a:buNone/>
            </a:pPr>
            <a:r>
              <a:rPr lang="en-GB" dirty="0"/>
              <a:t>// 2. Can't have multiple save slots</a:t>
            </a:r>
          </a:p>
          <a:p>
            <a:pPr marL="0" indent="0">
              <a:buNone/>
            </a:pPr>
            <a:r>
              <a:rPr lang="en-GB" dirty="0"/>
              <a:t>// 3. Can't implement interfaces</a:t>
            </a:r>
          </a:p>
          <a:p>
            <a:pPr marL="0" indent="0">
              <a:buNone/>
            </a:pPr>
            <a:r>
              <a:rPr lang="en-GB" dirty="0"/>
              <a:t>// 4. Hard to test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3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When does the game start</a:t>
            </a:r>
            <a:r>
              <a:rPr lang="en-GB" b="1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// Lazy initialization (we used this)</a:t>
            </a:r>
          </a:p>
          <a:p>
            <a:pPr marL="0" indent="0">
              <a:buNone/>
            </a:pPr>
            <a:r>
              <a:rPr lang="en-GB" dirty="0" err="1"/>
              <a:t>getInstance</a:t>
            </a:r>
            <a:r>
              <a:rPr lang="en-GB" dirty="0"/>
              <a:t>() {  // Game starts ONLY when player presses "Play"</a:t>
            </a:r>
          </a:p>
          <a:p>
            <a:pPr marL="0" indent="0">
              <a:buNone/>
            </a:pPr>
            <a:r>
              <a:rPr lang="en-GB" dirty="0"/>
              <a:t>    if(instance == null) instance = new </a:t>
            </a:r>
            <a:r>
              <a:rPr lang="en-GB" dirty="0" err="1"/>
              <a:t>GameManager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//vs Eager initialization</a:t>
            </a:r>
          </a:p>
          <a:p>
            <a:pPr marL="0" indent="0">
              <a:buNone/>
            </a:pPr>
            <a:r>
              <a:rPr lang="en-GB" dirty="0"/>
              <a:t>private static </a:t>
            </a:r>
            <a:r>
              <a:rPr lang="en-GB" dirty="0" err="1"/>
              <a:t>GameManager</a:t>
            </a:r>
            <a:r>
              <a:rPr lang="en-GB" dirty="0"/>
              <a:t> instance = new </a:t>
            </a:r>
            <a:r>
              <a:rPr lang="en-GB" dirty="0" err="1"/>
              <a:t>GameManager</a:t>
            </a:r>
            <a:r>
              <a:rPr lang="en-GB" dirty="0"/>
              <a:t>(); // Game starts at app launch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1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For Angry Birds:</a:t>
            </a:r>
            <a:r>
              <a:rPr lang="en-GB" dirty="0"/>
              <a:t> Lazy is better! Player might just browse menu.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code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// Bird class that uses Singleton </a:t>
            </a:r>
            <a:r>
              <a:rPr lang="en-US" dirty="0" err="1"/>
              <a:t>GameManager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RedBird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private String name = "Red";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void launch()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("\n" + name + " bird launched!");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game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game.useBird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hitPig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(name + " hit a pig!");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game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game.addScore</a:t>
            </a:r>
            <a:r>
              <a:rPr lang="en-US" dirty="0"/>
              <a:t>(1000);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game.pigDestroyed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YellowBird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private String name = "Yellow (Speed)";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void launch()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("\n" + name + " bird launched! SUPER FAST!");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game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game.useBird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hitPig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(name + " smashed through 2 pigs!");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game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game.addScore</a:t>
            </a:r>
            <a:r>
              <a:rPr lang="en-US" dirty="0"/>
              <a:t>(2500);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game.pigDestroyed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game.pigDestroyed</a:t>
            </a:r>
            <a:r>
              <a:rPr lang="en-US" dirty="0"/>
              <a:t>(); // Hits two pigs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Pig {</a:t>
            </a:r>
          </a:p>
          <a:p>
            <a:pPr marL="0" indent="0">
              <a:buNone/>
            </a:pPr>
            <a:r>
              <a:rPr lang="en-US" dirty="0"/>
              <a:t>    private String size;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Pig(String size)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this.size</a:t>
            </a:r>
            <a:r>
              <a:rPr lang="en-US" dirty="0"/>
              <a:t> = size;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getHit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(size + " pig says: OINK! (damaged)");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game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game.addScore</a:t>
            </a:r>
            <a:r>
              <a:rPr lang="en-US" dirty="0"/>
              <a:t>(500);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game.pigDestroyed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Play the game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PlayAngryBirds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game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RedBird</a:t>
            </a:r>
            <a:r>
              <a:rPr lang="en-US" dirty="0"/>
              <a:t> red = new </a:t>
            </a:r>
            <a:r>
              <a:rPr lang="en-US" dirty="0" err="1"/>
              <a:t>RedBird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YellowBird</a:t>
            </a:r>
            <a:r>
              <a:rPr lang="en-US" dirty="0"/>
              <a:t> yellow = new </a:t>
            </a:r>
            <a:r>
              <a:rPr lang="en-US" dirty="0" err="1"/>
              <a:t>YellowBird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Pig </a:t>
            </a:r>
            <a:r>
              <a:rPr lang="en-US" dirty="0" err="1"/>
              <a:t>smallPig</a:t>
            </a:r>
            <a:r>
              <a:rPr lang="en-US" dirty="0"/>
              <a:t> = new Pig("small");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Level 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("\n=== LEVEL 1 START ===");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smallPig.getHit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yellow.launch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yellow.hitPig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("\n=== GAME SUMMARY ===");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("Final Score: " + </a:t>
            </a:r>
            <a:r>
              <a:rPr lang="en-US" dirty="0" err="1"/>
              <a:t>game.getScore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("Level reached: " + </a:t>
            </a:r>
            <a:r>
              <a:rPr lang="en-US" dirty="0" err="1"/>
              <a:t>game.getCurrentLevel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5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400" dirty="0"/>
              <a:t>Is Singleton good for every class in Angry Birds?</a:t>
            </a:r>
            <a:r>
              <a:rPr lang="en-GB" sz="4400" dirty="0"/>
              <a:t/>
            </a:r>
            <a:br>
              <a:rPr lang="en-GB" sz="4400" dirty="0"/>
            </a:br>
            <a:r>
              <a:rPr lang="en-GB" sz="4400" dirty="0"/>
              <a:t> NO! Only for classes that must have ONE instance.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8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1151336"/>
              </p:ext>
            </p:extLst>
          </p:nvPr>
        </p:nvGraphicFramePr>
        <p:xfrm>
          <a:off x="304243" y="271321"/>
          <a:ext cx="11176557" cy="6038683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30957">
                  <a:extLst>
                    <a:ext uri="{9D8B030D-6E8A-4147-A177-3AD203B41FA5}">
                      <a16:colId xmlns:a16="http://schemas.microsoft.com/office/drawing/2014/main" val="1008690235"/>
                    </a:ext>
                  </a:extLst>
                </a:gridCol>
                <a:gridCol w="5520081">
                  <a:extLst>
                    <a:ext uri="{9D8B030D-6E8A-4147-A177-3AD203B41FA5}">
                      <a16:colId xmlns:a16="http://schemas.microsoft.com/office/drawing/2014/main" val="926813880"/>
                    </a:ext>
                  </a:extLst>
                </a:gridCol>
                <a:gridCol w="3725519">
                  <a:extLst>
                    <a:ext uri="{9D8B030D-6E8A-4147-A177-3AD203B41FA5}">
                      <a16:colId xmlns:a16="http://schemas.microsoft.com/office/drawing/2014/main" val="3292530047"/>
                    </a:ext>
                  </a:extLst>
                </a:gridCol>
              </a:tblGrid>
              <a:tr h="339249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Aspect</a:t>
                      </a:r>
                    </a:p>
                  </a:txBody>
                  <a:tcPr marL="64945" marR="64945" marT="32473" marB="3247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C00000"/>
                          </a:solidFill>
                        </a:rPr>
                        <a:t>Singleton (singleInstance)</a:t>
                      </a:r>
                    </a:p>
                  </a:txBody>
                  <a:tcPr marL="64945" marR="64945" marT="32473" marB="3247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</a:rPr>
                        <a:t>Static Variable</a:t>
                      </a:r>
                    </a:p>
                  </a:txBody>
                  <a:tcPr marL="64945" marR="64945" marT="32473" marB="3247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825392"/>
                  </a:ext>
                </a:extLst>
              </a:tr>
              <a:tr h="1105735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Encapsulation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The GameManager object is hidden behind getInstance(). You can control when and how it’s created.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Static variables are exposed directly; no control over initialization logic.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535635"/>
                  </a:ext>
                </a:extLst>
              </a:tr>
              <a:tr h="1105735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Flexibility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You can later extend GameManager with interfaces, inheritance, or polymorphism. It behaves like a normal object.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Static variables are rigid—no inheritance, no polymorphism, no interfaces.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85728"/>
                  </a:ext>
                </a:extLst>
              </a:tr>
              <a:tr h="8502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Lifecycle control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You decide when the instance is created (lazy initialization, eager initialization, etc.).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Static variables are created when the class is loaded, whether you need them or not.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347341"/>
                  </a:ext>
                </a:extLst>
              </a:tr>
              <a:tr h="594744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Testability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You can mock or replace the singleton instance in unit tests.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Static variables are hard to mock or replace, making testing brittle.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253737"/>
                  </a:ext>
                </a:extLst>
              </a:tr>
              <a:tr h="85024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Consistency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Guarantees one consistent object across the program.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Also one copy, but without the ability to enforce rules or add behavior.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304220"/>
                  </a:ext>
                </a:extLst>
              </a:tr>
              <a:tr h="1105735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Future-proofing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rgbClr val="C00000"/>
                          </a:solidFill>
                        </a:rPr>
                        <a:t>If later you want multiple managers (e.g., multiplayer mode), you can refactor the singleton into a factory.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rgbClr val="C00000"/>
                          </a:solidFill>
                        </a:rPr>
                        <a:t>Static variables don’t scale—you’d have to rewrite everything.</a:t>
                      </a:r>
                    </a:p>
                  </a:txBody>
                  <a:tcPr marL="64945" marR="64945" marT="32473" marB="324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72411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9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8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Factory Pattern - Creating Different Birds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7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Angry Birds </a:t>
            </a:r>
            <a:r>
              <a:rPr lang="en-US" b="1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// Without Factory - HARDCODED creation</a:t>
            </a:r>
          </a:p>
          <a:p>
            <a:pPr marL="0" indent="0">
              <a:buNone/>
            </a:pPr>
            <a:r>
              <a:rPr lang="en-GB" dirty="0"/>
              <a:t>class Level1 {</a:t>
            </a:r>
          </a:p>
          <a:p>
            <a:pPr marL="0" indent="0">
              <a:buNone/>
            </a:pPr>
            <a:r>
              <a:rPr lang="en-GB" dirty="0"/>
              <a:t>    void </a:t>
            </a:r>
            <a:r>
              <a:rPr lang="en-GB" dirty="0" err="1"/>
              <a:t>createBirds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RedBird</a:t>
            </a:r>
            <a:r>
              <a:rPr lang="en-GB" dirty="0"/>
              <a:t> bird1 = new </a:t>
            </a:r>
            <a:r>
              <a:rPr lang="en-GB" dirty="0" err="1"/>
              <a:t>RedBird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YellowBird</a:t>
            </a:r>
            <a:r>
              <a:rPr lang="en-GB" dirty="0"/>
              <a:t> bird2 = new </a:t>
            </a:r>
            <a:r>
              <a:rPr lang="en-GB" dirty="0" err="1"/>
              <a:t>YellowBird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BlackBird</a:t>
            </a:r>
            <a:r>
              <a:rPr lang="en-GB" dirty="0"/>
              <a:t> bird3 = new </a:t>
            </a:r>
            <a:r>
              <a:rPr lang="en-GB" dirty="0" err="1"/>
              <a:t>BlackBird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BlueBird</a:t>
            </a:r>
            <a:r>
              <a:rPr lang="en-GB" dirty="0"/>
              <a:t> bird4 = new </a:t>
            </a:r>
            <a:r>
              <a:rPr lang="en-GB" dirty="0" err="1"/>
              <a:t>BlueBird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        // What if we need 100 birds? What if bird types change?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Problem: Every level needs to know EVERY bird type!</a:t>
            </a:r>
          </a:p>
          <a:p>
            <a:pPr marL="0" indent="0">
              <a:buNone/>
            </a:pPr>
            <a:r>
              <a:rPr lang="en-GB" dirty="0"/>
              <a:t>// If we add a new bird (White Bird), EVERY level must change!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3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hardcoding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Level </a:t>
            </a:r>
            <a:r>
              <a:rPr lang="en-US" dirty="0"/>
              <a:t>1: Creates Red, Yellow, </a:t>
            </a:r>
            <a:r>
              <a:rPr lang="en-US" dirty="0" smtClean="0"/>
              <a:t>Black</a:t>
            </a:r>
          </a:p>
          <a:p>
            <a:r>
              <a:rPr lang="en-US" dirty="0" smtClean="0"/>
              <a:t> </a:t>
            </a:r>
            <a:r>
              <a:rPr lang="en-US" dirty="0"/>
              <a:t>Level 2: Creates Red, Yellow, Black (duplicate code!)</a:t>
            </a:r>
          </a:p>
          <a:p>
            <a:r>
              <a:rPr lang="en-US" dirty="0" smtClean="0"/>
              <a:t> </a:t>
            </a:r>
            <a:r>
              <a:rPr lang="en-US" dirty="0"/>
              <a:t>Level 3: Creates Red, Yellow, Black (again!)</a:t>
            </a:r>
          </a:p>
          <a:p>
            <a:r>
              <a:rPr lang="en-US" dirty="0" smtClean="0"/>
              <a:t> </a:t>
            </a:r>
            <a:r>
              <a:rPr lang="en-US" dirty="0"/>
              <a:t>Add new bird → change 100+ levels</a:t>
            </a:r>
          </a:p>
          <a:p>
            <a:r>
              <a:rPr lang="en-US" dirty="0" smtClean="0"/>
              <a:t> </a:t>
            </a:r>
            <a:r>
              <a:rPr lang="en-US" dirty="0"/>
              <a:t>Change bird behavior → change everywhere!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0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ar-AE" sz="5400" dirty="0"/>
              <a:t>مسئلہ حَل کرنا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A pattern that creates objects without specifying the exact </a:t>
            </a:r>
            <a:r>
              <a:rPr lang="en-GB" sz="3600" b="1" dirty="0" smtClean="0"/>
              <a:t>class.</a:t>
            </a:r>
          </a:p>
          <a:p>
            <a:endParaRPr lang="en-GB" sz="3600" b="1" dirty="0"/>
          </a:p>
          <a:p>
            <a:r>
              <a:rPr lang="en-GB" sz="3600" b="1" dirty="0" smtClean="0"/>
              <a:t>And this is factory pattern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9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he Angry Birds Factory </a:t>
            </a:r>
            <a:r>
              <a:rPr lang="en-GB" b="1" dirty="0" smtClean="0"/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/**</a:t>
            </a:r>
          </a:p>
          <a:p>
            <a:pPr marL="0" indent="0">
              <a:buNone/>
            </a:pPr>
            <a:r>
              <a:rPr lang="en-US" dirty="0"/>
              <a:t> * </a:t>
            </a:r>
            <a:r>
              <a:rPr lang="en-US" dirty="0" err="1"/>
              <a:t>BirdFactory</a:t>
            </a:r>
            <a:r>
              <a:rPr lang="en-US" dirty="0"/>
              <a:t> - Creates different birds based on type</a:t>
            </a:r>
          </a:p>
          <a:p>
            <a:pPr marL="0" indent="0">
              <a:buNone/>
            </a:pPr>
            <a:r>
              <a:rPr lang="en-US" dirty="0"/>
              <a:t> * No need to know how each bird is created!</a:t>
            </a:r>
          </a:p>
          <a:p>
            <a:pPr marL="0" indent="0">
              <a:buNone/>
            </a:pPr>
            <a:r>
              <a:rPr lang="en-US" dirty="0"/>
              <a:t> */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Step 1: Create a common interface for all birds</a:t>
            </a:r>
          </a:p>
          <a:p>
            <a:pPr marL="0" indent="0">
              <a:buNone/>
            </a:pPr>
            <a:r>
              <a:rPr lang="en-US" dirty="0"/>
              <a:t>interface Bird {</a:t>
            </a:r>
          </a:p>
          <a:p>
            <a:pPr marL="0" indent="0">
              <a:buNone/>
            </a:pPr>
            <a:r>
              <a:rPr lang="en-US" dirty="0"/>
              <a:t>    void launch();</a:t>
            </a:r>
          </a:p>
          <a:p>
            <a:pPr marL="0" indent="0">
              <a:buNone/>
            </a:pPr>
            <a:r>
              <a:rPr lang="en-US" dirty="0"/>
              <a:t>    void ability();</a:t>
            </a:r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hitPig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Step 2: Create different bird types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RedBird</a:t>
            </a:r>
            <a:r>
              <a:rPr lang="en-US" dirty="0"/>
              <a:t> implements Bird {</a:t>
            </a:r>
          </a:p>
          <a:p>
            <a:pPr marL="0" indent="0">
              <a:buNone/>
            </a:pPr>
            <a:r>
              <a:rPr lang="en-US" dirty="0"/>
              <a:t>    private String name = "Red";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launch()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(name + " bird launched! (Normal shot)");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ability()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("Ability: No special ability - straightforward");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hitPig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(name + " hit pig! +1000 points");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YellowBird</a:t>
            </a:r>
            <a:r>
              <a:rPr lang="en-US" dirty="0"/>
              <a:t> implements Bird {</a:t>
            </a:r>
          </a:p>
          <a:p>
            <a:pPr marL="0" indent="0">
              <a:buNone/>
            </a:pPr>
            <a:r>
              <a:rPr lang="en-US" dirty="0"/>
              <a:t>    private String name = "Yellow";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launch()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(name + " bird launched! (SPEED BOOST!)");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ability()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("Ability: Tap screen for speed boost through blocks");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hitPig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(name + " smashed through multiple pigs! +2500 points");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BlackBird</a:t>
            </a:r>
            <a:r>
              <a:rPr lang="en-US" dirty="0"/>
              <a:t> implements Bird {</a:t>
            </a:r>
          </a:p>
          <a:p>
            <a:pPr marL="0" indent="0">
              <a:buNone/>
            </a:pPr>
            <a:r>
              <a:rPr lang="en-US" dirty="0"/>
              <a:t>    private String name = "Black";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launch()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(name + " bird launched! (EXPLOSIVE!)");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ability()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("Ability: Tap to EXPLODE and destroy everything!");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@Override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hitPig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(name + " EXPLODED! All pigs nearby destroyed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6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Levels using </a:t>
            </a:r>
            <a:r>
              <a:rPr lang="en-US" b="1" dirty="0" smtClean="0"/>
              <a:t>Factory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class Level1 {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BirdFactory</a:t>
            </a:r>
            <a:r>
              <a:rPr lang="en-US" dirty="0"/>
              <a:t> factory;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Level1()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this.factory</a:t>
            </a:r>
            <a:r>
              <a:rPr lang="en-US" dirty="0"/>
              <a:t> = new </a:t>
            </a:r>
            <a:r>
              <a:rPr lang="en-US" dirty="0" err="1"/>
              <a:t>BirdFactory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void play()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("\n===== LEVEL 1: EASY =====");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Factory creates birds - Level doesn't know HOW</a:t>
            </a:r>
          </a:p>
          <a:p>
            <a:pPr marL="0" indent="0">
              <a:buNone/>
            </a:pPr>
            <a:r>
              <a:rPr lang="en-US" dirty="0"/>
              <a:t>        Bird bird1 = </a:t>
            </a:r>
            <a:r>
              <a:rPr lang="en-US" dirty="0" err="1"/>
              <a:t>BirdFactory.createBird</a:t>
            </a:r>
            <a:r>
              <a:rPr lang="en-US" dirty="0"/>
              <a:t>("red");</a:t>
            </a:r>
          </a:p>
          <a:p>
            <a:pPr marL="0" indent="0">
              <a:buNone/>
            </a:pPr>
            <a:r>
              <a:rPr lang="en-US" dirty="0"/>
              <a:t>        Bird bird2 = </a:t>
            </a:r>
            <a:r>
              <a:rPr lang="en-US" dirty="0" err="1"/>
              <a:t>BirdFactory.createBird</a:t>
            </a:r>
            <a:r>
              <a:rPr lang="en-US" dirty="0"/>
              <a:t>("yellow");</a:t>
            </a:r>
          </a:p>
          <a:p>
            <a:pPr marL="0" indent="0">
              <a:buNone/>
            </a:pPr>
            <a:r>
              <a:rPr lang="en-US" dirty="0"/>
              <a:t>        Bird bird3 = </a:t>
            </a:r>
            <a:r>
              <a:rPr lang="en-US" dirty="0" err="1"/>
              <a:t>BirdFactory.createBird</a:t>
            </a:r>
            <a:r>
              <a:rPr lang="en-US" dirty="0"/>
              <a:t>("red");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bird1.launch();</a:t>
            </a:r>
          </a:p>
          <a:p>
            <a:pPr marL="0" indent="0">
              <a:buNone/>
            </a:pPr>
            <a:r>
              <a:rPr lang="en-US" dirty="0"/>
              <a:t>        bird1.ability();</a:t>
            </a:r>
          </a:p>
          <a:p>
            <a:pPr marL="0" indent="0">
              <a:buNone/>
            </a:pPr>
            <a:r>
              <a:rPr lang="en-US" dirty="0"/>
              <a:t>        bird1.hitPig();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bird2.launch();</a:t>
            </a:r>
          </a:p>
          <a:p>
            <a:pPr marL="0" indent="0">
              <a:buNone/>
            </a:pPr>
            <a:r>
              <a:rPr lang="en-US" dirty="0"/>
              <a:t>        bird2.ability();</a:t>
            </a:r>
          </a:p>
          <a:p>
            <a:pPr marL="0" indent="0">
              <a:buNone/>
            </a:pPr>
            <a:r>
              <a:rPr lang="en-US" dirty="0"/>
              <a:t>        bird2.hitPig();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bird3.launch();</a:t>
            </a:r>
          </a:p>
          <a:p>
            <a:pPr marL="0" indent="0">
              <a:buNone/>
            </a:pPr>
            <a:r>
              <a:rPr lang="en-US" dirty="0"/>
              <a:t>        bird3.hitPig();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Level5 {</a:t>
            </a:r>
          </a:p>
          <a:p>
            <a:pPr marL="0" indent="0">
              <a:buNone/>
            </a:pPr>
            <a:r>
              <a:rPr lang="en-US" dirty="0"/>
              <a:t>    public void play()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("\n===== LEVEL 5: HARD =====");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Hard levels get powerful birds</a:t>
            </a:r>
          </a:p>
          <a:p>
            <a:pPr marL="0" indent="0">
              <a:buNone/>
            </a:pPr>
            <a:r>
              <a:rPr lang="en-US" dirty="0"/>
              <a:t>        Bird[] birds =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BirdFactory.createBird</a:t>
            </a:r>
            <a:r>
              <a:rPr lang="en-US" dirty="0"/>
              <a:t>("black"),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BirdFactory.createBird</a:t>
            </a:r>
            <a:r>
              <a:rPr lang="en-US" dirty="0"/>
              <a:t>("yellow"),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BirdFactory.createBird</a:t>
            </a:r>
            <a:r>
              <a:rPr lang="en-US" dirty="0"/>
              <a:t>("blue"),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BirdFactory.createBird</a:t>
            </a:r>
            <a:r>
              <a:rPr lang="en-US" dirty="0"/>
              <a:t>("black")</a:t>
            </a:r>
          </a:p>
          <a:p>
            <a:pPr marL="0" indent="0">
              <a:buNone/>
            </a:pPr>
            <a:r>
              <a:rPr lang="en-US" dirty="0"/>
              <a:t>        };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for(Bird </a:t>
            </a:r>
            <a:r>
              <a:rPr lang="en-US" dirty="0" err="1"/>
              <a:t>bird</a:t>
            </a:r>
            <a:r>
              <a:rPr lang="en-US" dirty="0"/>
              <a:t> : birds)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bird.ability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bird.hitPig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("---");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SpecialLevel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void play()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("\n===== BONUS LEVEL =====");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Factory can create birds dynamically based on score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game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score = </a:t>
            </a:r>
            <a:r>
              <a:rPr lang="en-US" dirty="0" err="1"/>
              <a:t>game.getScore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specialBird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if(score &gt; 10000)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specialBird</a:t>
            </a:r>
            <a:r>
              <a:rPr lang="en-US" dirty="0"/>
              <a:t> = </a:t>
            </a:r>
            <a:r>
              <a:rPr lang="en-US" dirty="0" err="1"/>
              <a:t>BirdFactory.createBird</a:t>
            </a:r>
            <a:r>
              <a:rPr lang="en-US" dirty="0"/>
              <a:t>("black");  // Powerful</a:t>
            </a:r>
          </a:p>
          <a:p>
            <a:pPr marL="0" indent="0">
              <a:buNone/>
            </a:pPr>
            <a:r>
              <a:rPr lang="en-US" dirty="0"/>
              <a:t>        } else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specialBird</a:t>
            </a:r>
            <a:r>
              <a:rPr lang="en-US" dirty="0"/>
              <a:t> = </a:t>
            </a:r>
            <a:r>
              <a:rPr lang="en-US" dirty="0" err="1"/>
              <a:t>BirdFactory.createBird</a:t>
            </a:r>
            <a:r>
              <a:rPr lang="en-US" dirty="0"/>
              <a:t>("red");    // Basic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specialBird.launch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specialBird.ability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2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demo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AngryBirdsWithFactory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// Initialize game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game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Play different levels</a:t>
            </a:r>
          </a:p>
          <a:p>
            <a:pPr marL="0" indent="0">
              <a:buNone/>
            </a:pPr>
            <a:r>
              <a:rPr lang="en-US" dirty="0"/>
              <a:t>        Level1 </a:t>
            </a:r>
            <a:r>
              <a:rPr lang="en-US" dirty="0" err="1"/>
              <a:t>level1</a:t>
            </a:r>
            <a:r>
              <a:rPr lang="en-US" dirty="0"/>
              <a:t> = new Level1();</a:t>
            </a:r>
          </a:p>
          <a:p>
            <a:pPr marL="0" indent="0">
              <a:buNone/>
            </a:pPr>
            <a:r>
              <a:rPr lang="en-US" dirty="0"/>
              <a:t>        level1.play();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Level5 </a:t>
            </a:r>
            <a:r>
              <a:rPr lang="en-US" dirty="0" err="1"/>
              <a:t>level5</a:t>
            </a:r>
            <a:r>
              <a:rPr lang="en-US" dirty="0"/>
              <a:t> = new Level5();</a:t>
            </a:r>
          </a:p>
          <a:p>
            <a:pPr marL="0" indent="0">
              <a:buNone/>
            </a:pPr>
            <a:r>
              <a:rPr lang="en-US" dirty="0"/>
              <a:t>        level5.play();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SpecialLevel</a:t>
            </a:r>
            <a:r>
              <a:rPr lang="en-US" dirty="0"/>
              <a:t> bonus = new </a:t>
            </a:r>
            <a:r>
              <a:rPr lang="en-US" dirty="0" err="1"/>
              <a:t>SpecialLevel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bonus.play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What if we need a new bird type?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("\n===== NEW BIRD ADDED! =====");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("Adding White Bird (Egg Layer)");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Just add to Factory - no other code changes!</a:t>
            </a:r>
          </a:p>
          <a:p>
            <a:pPr marL="0" indent="0">
              <a:buNone/>
            </a:pPr>
            <a:r>
              <a:rPr lang="en-US" dirty="0"/>
              <a:t>        // (In real code, just add to switch statement)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1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not just use new </a:t>
            </a:r>
            <a:r>
              <a:rPr lang="en-GB" dirty="0" err="1"/>
              <a:t>RedBird</a:t>
            </a:r>
            <a:r>
              <a:rPr lang="en-GB" dirty="0"/>
              <a:t>() everywhere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// Without Factory</a:t>
            </a:r>
          </a:p>
          <a:p>
            <a:pPr marL="0" indent="0">
              <a:buNone/>
            </a:pPr>
            <a:r>
              <a:rPr lang="en-GB" dirty="0"/>
              <a:t>Level1: new </a:t>
            </a:r>
            <a:r>
              <a:rPr lang="en-GB" dirty="0" err="1"/>
              <a:t>RedBird</a:t>
            </a:r>
            <a:r>
              <a:rPr lang="en-GB" dirty="0"/>
              <a:t>(), new </a:t>
            </a:r>
            <a:r>
              <a:rPr lang="en-GB" dirty="0" err="1"/>
              <a:t>YellowBird</a:t>
            </a:r>
            <a:r>
              <a:rPr lang="en-GB" dirty="0"/>
              <a:t>(), new </a:t>
            </a:r>
            <a:r>
              <a:rPr lang="en-GB" dirty="0" err="1"/>
              <a:t>RedBird</a:t>
            </a:r>
            <a:r>
              <a:rPr lang="en-GB" dirty="0"/>
              <a:t>()</a:t>
            </a:r>
          </a:p>
          <a:p>
            <a:pPr marL="0" indent="0">
              <a:buNone/>
            </a:pPr>
            <a:r>
              <a:rPr lang="en-GB" dirty="0"/>
              <a:t>Level2: new </a:t>
            </a:r>
            <a:r>
              <a:rPr lang="en-GB" dirty="0" err="1"/>
              <a:t>RedBird</a:t>
            </a:r>
            <a:r>
              <a:rPr lang="en-GB" dirty="0"/>
              <a:t>(), new </a:t>
            </a:r>
            <a:r>
              <a:rPr lang="en-GB" dirty="0" err="1"/>
              <a:t>YellowBird</a:t>
            </a:r>
            <a:r>
              <a:rPr lang="en-GB" dirty="0"/>
              <a:t>(), new </a:t>
            </a:r>
            <a:r>
              <a:rPr lang="en-GB" dirty="0" err="1"/>
              <a:t>BlackBird</a:t>
            </a:r>
            <a:r>
              <a:rPr lang="en-GB" dirty="0"/>
              <a:t>()</a:t>
            </a:r>
          </a:p>
          <a:p>
            <a:pPr marL="0" indent="0">
              <a:buNone/>
            </a:pPr>
            <a:r>
              <a:rPr lang="en-GB" dirty="0"/>
              <a:t>Level3: new </a:t>
            </a:r>
            <a:r>
              <a:rPr lang="en-GB" dirty="0" err="1"/>
              <a:t>RedBird</a:t>
            </a:r>
            <a:r>
              <a:rPr lang="en-GB" dirty="0"/>
              <a:t>(), new </a:t>
            </a:r>
            <a:r>
              <a:rPr lang="en-GB" dirty="0" err="1"/>
              <a:t>BlueBird</a:t>
            </a:r>
            <a:r>
              <a:rPr lang="en-GB" dirty="0"/>
              <a:t>(), new </a:t>
            </a:r>
            <a:r>
              <a:rPr lang="en-GB" dirty="0" err="1"/>
              <a:t>YellowBird</a:t>
            </a:r>
            <a:r>
              <a:rPr lang="en-GB" dirty="0"/>
              <a:t>()</a:t>
            </a:r>
          </a:p>
          <a:p>
            <a:pPr marL="0" indent="0">
              <a:buNone/>
            </a:pPr>
            <a:r>
              <a:rPr lang="en-GB" dirty="0"/>
              <a:t>// 50 levels = 150 places to change if bird changes!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With Factory</a:t>
            </a:r>
          </a:p>
          <a:p>
            <a:pPr marL="0" indent="0">
              <a:buNone/>
            </a:pPr>
            <a:r>
              <a:rPr lang="en-GB" dirty="0"/>
              <a:t>Level1: </a:t>
            </a:r>
            <a:r>
              <a:rPr lang="en-GB" dirty="0" err="1"/>
              <a:t>BirdFactory.createBird</a:t>
            </a:r>
            <a:r>
              <a:rPr lang="en-GB" dirty="0"/>
              <a:t>("red")</a:t>
            </a:r>
          </a:p>
          <a:p>
            <a:pPr marL="0" indent="0">
              <a:buNone/>
            </a:pPr>
            <a:r>
              <a:rPr lang="en-GB" dirty="0"/>
              <a:t>Level2: </a:t>
            </a:r>
            <a:r>
              <a:rPr lang="en-GB" dirty="0" err="1"/>
              <a:t>BirdFactory.createBird</a:t>
            </a:r>
            <a:r>
              <a:rPr lang="en-GB" dirty="0"/>
              <a:t>("red")  </a:t>
            </a:r>
          </a:p>
          <a:p>
            <a:pPr marL="0" indent="0">
              <a:buNone/>
            </a:pPr>
            <a:r>
              <a:rPr lang="en-GB" dirty="0"/>
              <a:t>Level3: </a:t>
            </a:r>
            <a:r>
              <a:rPr lang="en-GB" dirty="0" err="1"/>
              <a:t>BirdFactory.createBird</a:t>
            </a:r>
            <a:r>
              <a:rPr lang="en-GB" dirty="0"/>
              <a:t>("red")</a:t>
            </a:r>
          </a:p>
          <a:p>
            <a:pPr marL="0" indent="0">
              <a:buNone/>
            </a:pPr>
            <a:r>
              <a:rPr lang="en-GB" dirty="0"/>
              <a:t>// 1 place to change (the Factory) if bird changes!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44883" y="2977484"/>
            <a:ext cx="6096000" cy="138499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GB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quote-cjk-patch"/>
              </a:rPr>
              <a:t>Factory centralizes creation - change ONE place, not 100 places!</a:t>
            </a:r>
            <a:endParaRPr lang="en-US" sz="28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373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if we add a new bird</a:t>
            </a:r>
            <a:r>
              <a:rPr lang="en-GB" b="1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// Step 1: Create new bird class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WhiteBird</a:t>
            </a:r>
            <a:r>
              <a:rPr lang="en-GB" dirty="0"/>
              <a:t> implements Bird {</a:t>
            </a:r>
          </a:p>
          <a:p>
            <a:pPr marL="0" indent="0">
              <a:buNone/>
            </a:pPr>
            <a:r>
              <a:rPr lang="en-GB" dirty="0"/>
              <a:t>    // Implement all methods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Step 2: Add to Factory (ONE change!)</a:t>
            </a:r>
          </a:p>
          <a:p>
            <a:pPr marL="0" indent="0">
              <a:buNone/>
            </a:pPr>
            <a:r>
              <a:rPr lang="en-GB" dirty="0"/>
              <a:t>case "white": return new </a:t>
            </a:r>
            <a:r>
              <a:rPr lang="en-GB" dirty="0" err="1"/>
              <a:t>WhiteBird</a:t>
            </a:r>
            <a:r>
              <a:rPr lang="en-GB" dirty="0"/>
              <a:t>();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All 50 levels automatically get the new bird! No other changes!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factory is not useful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// If you only have ONE type of bird</a:t>
            </a:r>
          </a:p>
          <a:p>
            <a:pPr marL="0" indent="0">
              <a:buNone/>
            </a:pPr>
            <a:r>
              <a:rPr lang="en-GB" dirty="0"/>
              <a:t>Bird simple = new </a:t>
            </a:r>
            <a:r>
              <a:rPr lang="en-GB" dirty="0" err="1"/>
              <a:t>RedBird</a:t>
            </a:r>
            <a:r>
              <a:rPr lang="en-GB" dirty="0"/>
              <a:t>(); // Factory is overkill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If birds are very simple to create</a:t>
            </a:r>
          </a:p>
          <a:p>
            <a:pPr marL="0" indent="0">
              <a:buNone/>
            </a:pPr>
            <a:r>
              <a:rPr lang="en-GB" dirty="0"/>
              <a:t>// Factory adds unnecessary complexity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48000" y="3105835"/>
            <a:ext cx="6096000" cy="15696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GB" sz="32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quote-cjk-patch"/>
              </a:rPr>
              <a:t>Use Factory when you have MULTIPLE types or COMPLEX creation logic.</a:t>
            </a:r>
            <a:endParaRPr lang="en-US" sz="32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6548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Factory - Parameterized Birds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// Factory that creates birds with DIFFERENT properties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AdvancedBirdFactory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public static Bird </a:t>
            </a:r>
            <a:r>
              <a:rPr lang="en-US" dirty="0" err="1"/>
              <a:t>createBird</a:t>
            </a:r>
            <a:r>
              <a:rPr lang="en-US" dirty="0"/>
              <a:t>(String type,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powerLevel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Bird </a:t>
            </a:r>
            <a:r>
              <a:rPr lang="en-US" dirty="0" err="1"/>
              <a:t>bird</a:t>
            </a:r>
            <a:r>
              <a:rPr lang="en-US" dirty="0"/>
              <a:t> = </a:t>
            </a:r>
            <a:r>
              <a:rPr lang="en-US" dirty="0" err="1"/>
              <a:t>createBird</a:t>
            </a:r>
            <a:r>
              <a:rPr lang="en-US" dirty="0"/>
              <a:t>(type);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Apply power level</a:t>
            </a:r>
          </a:p>
          <a:p>
            <a:pPr marL="0" indent="0">
              <a:buNone/>
            </a:pPr>
            <a:r>
              <a:rPr lang="en-US" dirty="0"/>
              <a:t>        for(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powerLevel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     bird = </a:t>
            </a:r>
            <a:r>
              <a:rPr lang="en-US" dirty="0" err="1"/>
              <a:t>upgradeBird</a:t>
            </a:r>
            <a:r>
              <a:rPr lang="en-US" dirty="0"/>
              <a:t>(bird);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return bird;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private static Bird </a:t>
            </a:r>
            <a:r>
              <a:rPr lang="en-US" dirty="0" err="1"/>
              <a:t>upgradeBird</a:t>
            </a:r>
            <a:r>
              <a:rPr lang="en-US" dirty="0"/>
              <a:t>(Bird bird)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 smtClean="0"/>
              <a:t>(" </a:t>
            </a:r>
            <a:r>
              <a:rPr lang="en-US" dirty="0"/>
              <a:t>Bird upgraded!");</a:t>
            </a:r>
          </a:p>
          <a:p>
            <a:pPr marL="0" indent="0">
              <a:buNone/>
            </a:pPr>
            <a:r>
              <a:rPr lang="en-US" dirty="0"/>
              <a:t>        return bird; // Would wrap with power-up decorator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Usage</a:t>
            </a:r>
          </a:p>
          <a:p>
            <a:pPr marL="0" indent="0">
              <a:buNone/>
            </a:pPr>
            <a:r>
              <a:rPr lang="en-US" dirty="0"/>
              <a:t>Bird </a:t>
            </a:r>
            <a:r>
              <a:rPr lang="en-US" dirty="0" err="1"/>
              <a:t>superBird</a:t>
            </a:r>
            <a:r>
              <a:rPr lang="en-US" dirty="0"/>
              <a:t> = </a:t>
            </a:r>
            <a:r>
              <a:rPr lang="en-US" dirty="0" err="1"/>
              <a:t>AdvancedBirdFactory.createBird</a:t>
            </a:r>
            <a:r>
              <a:rPr lang="en-US" dirty="0"/>
              <a:t>("red", 3);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7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Angry Birds, when is Factory pattern useful?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Answer:</a:t>
            </a:r>
            <a:r>
              <a:rPr lang="en-GB" dirty="0"/>
              <a:t> When creating different bird types, different pig types, different block </a:t>
            </a:r>
            <a:r>
              <a:rPr lang="en-GB" dirty="0" smtClean="0"/>
              <a:t>types</a:t>
            </a:r>
          </a:p>
          <a:p>
            <a:r>
              <a:rPr lang="en-GB" dirty="0"/>
              <a:t>What's easier: Changing 100 level files OR changing 1 Factory file?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Answer:</a:t>
            </a:r>
            <a:r>
              <a:rPr lang="en-GB" dirty="0"/>
              <a:t> 1 Factory file! That's why we use Factory pattern</a:t>
            </a:r>
            <a:r>
              <a:rPr lang="en-GB" dirty="0" smtClean="0"/>
              <a:t>.</a:t>
            </a:r>
          </a:p>
          <a:p>
            <a:r>
              <a:rPr lang="en-GB" dirty="0"/>
              <a:t>Can Factory create pigs too?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Answer:</a:t>
            </a:r>
            <a:r>
              <a:rPr lang="en-GB" dirty="0"/>
              <a:t> YES! Create </a:t>
            </a:r>
            <a:r>
              <a:rPr lang="en-GB" dirty="0" err="1"/>
              <a:t>PigFactory</a:t>
            </a:r>
            <a:r>
              <a:rPr lang="en-GB" dirty="0"/>
              <a:t> for small, medium, large pigs!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1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Both patterns together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CompleteAngryBirds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// Singleton: ONE game state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GameManager</a:t>
            </a:r>
            <a:r>
              <a:rPr lang="en-US" dirty="0"/>
              <a:t> game = </a:t>
            </a:r>
            <a:r>
              <a:rPr lang="en-US" dirty="0" err="1"/>
              <a:t>GameManager.getInstance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Factory: Create birds easily</a:t>
            </a:r>
          </a:p>
          <a:p>
            <a:pPr marL="0" indent="0">
              <a:buNone/>
            </a:pPr>
            <a:r>
              <a:rPr lang="en-US" dirty="0"/>
              <a:t>        Bird bird1 = </a:t>
            </a:r>
            <a:r>
              <a:rPr lang="en-US" dirty="0" err="1"/>
              <a:t>BirdFactory.createBird</a:t>
            </a:r>
            <a:r>
              <a:rPr lang="en-US" dirty="0"/>
              <a:t>("red");</a:t>
            </a:r>
          </a:p>
          <a:p>
            <a:pPr marL="0" indent="0">
              <a:buNone/>
            </a:pPr>
            <a:r>
              <a:rPr lang="en-US" dirty="0"/>
              <a:t>        Bird bird2 = </a:t>
            </a:r>
            <a:r>
              <a:rPr lang="en-US" dirty="0" err="1"/>
              <a:t>BirdFactory.createBird</a:t>
            </a:r>
            <a:r>
              <a:rPr lang="en-US" dirty="0"/>
              <a:t>("yellow");</a:t>
            </a:r>
          </a:p>
          <a:p>
            <a:pPr marL="0" indent="0">
              <a:buNone/>
            </a:pPr>
            <a:r>
              <a:rPr lang="en-US" dirty="0"/>
              <a:t>        Bird bird3 = </a:t>
            </a:r>
            <a:r>
              <a:rPr lang="en-US" dirty="0" err="1"/>
              <a:t>BirdFactory.createBird</a:t>
            </a:r>
            <a:r>
              <a:rPr lang="en-US" dirty="0"/>
              <a:t>("black");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Play the game</a:t>
            </a:r>
          </a:p>
          <a:p>
            <a:pPr marL="0" indent="0">
              <a:buNone/>
            </a:pPr>
            <a:r>
              <a:rPr lang="en-US" dirty="0"/>
              <a:t>        bird1.launch();</a:t>
            </a:r>
          </a:p>
          <a:p>
            <a:pPr marL="0" indent="0">
              <a:buNone/>
            </a:pPr>
            <a:r>
              <a:rPr lang="en-US" dirty="0"/>
              <a:t>        bird1.hitPig();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bird2.launch();</a:t>
            </a:r>
          </a:p>
          <a:p>
            <a:pPr marL="0" indent="0">
              <a:buNone/>
            </a:pPr>
            <a:r>
              <a:rPr lang="en-US" dirty="0"/>
              <a:t>        bird2.hitPig();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bird3.launch();</a:t>
            </a:r>
          </a:p>
          <a:p>
            <a:pPr marL="0" indent="0">
              <a:buNone/>
            </a:pPr>
            <a:r>
              <a:rPr lang="en-US" dirty="0"/>
              <a:t>        bird3.hitPig();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// Check final state (Singleton)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("Final Score: " + </a:t>
            </a:r>
            <a:r>
              <a:rPr lang="en-US" dirty="0" err="1"/>
              <a:t>game.getScore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9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1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19443</TotalTime>
  <Words>3294</Words>
  <Application>Microsoft Office PowerPoint</Application>
  <PresentationFormat>Widescreen</PresentationFormat>
  <Paragraphs>608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Arial Black</vt:lpstr>
      <vt:lpstr>Calibri</vt:lpstr>
      <vt:lpstr>quote-cjk-patch</vt:lpstr>
      <vt:lpstr>Office Theme</vt:lpstr>
      <vt:lpstr>Software Design and Analysis CS3004</vt:lpstr>
      <vt:lpstr>Lecture </vt:lpstr>
      <vt:lpstr>Singleton Pattern</vt:lpstr>
      <vt:lpstr>The Problem</vt:lpstr>
      <vt:lpstr>PowerPoint Presentation</vt:lpstr>
      <vt:lpstr>PowerPoint Presentation</vt:lpstr>
      <vt:lpstr>Why is this bad for Angry Birds?</vt:lpstr>
      <vt:lpstr>If multiple Game objects exist</vt:lpstr>
      <vt:lpstr>The Solution : Singleton</vt:lpstr>
      <vt:lpstr>The Angry Birds Singleton Implementation</vt:lpstr>
      <vt:lpstr>Complete Game Demo: Singleton in Angry Birds</vt:lpstr>
      <vt:lpstr>Probable output</vt:lpstr>
      <vt:lpstr>Why Singleton for Angry Birds</vt:lpstr>
      <vt:lpstr>Answer: Singleton gives you an OBJECT with full control!</vt:lpstr>
      <vt:lpstr>When does the game start?</vt:lpstr>
      <vt:lpstr>PowerPoint Presentation</vt:lpstr>
      <vt:lpstr>Complete code example</vt:lpstr>
      <vt:lpstr>PowerPoint Presentation</vt:lpstr>
      <vt:lpstr>PowerPoint Presentation</vt:lpstr>
      <vt:lpstr>PowerPoint Presentation</vt:lpstr>
      <vt:lpstr>Factory Pattern - Creating Different Birds</vt:lpstr>
      <vt:lpstr>The Angry Birds Problem</vt:lpstr>
      <vt:lpstr>Issues with hardcoding:</vt:lpstr>
      <vt:lpstr>مسئلہ حَل کرنا</vt:lpstr>
      <vt:lpstr>he Angry Birds Factory Implementation</vt:lpstr>
      <vt:lpstr>Levels using Factory</vt:lpstr>
      <vt:lpstr>Complete demo code</vt:lpstr>
      <vt:lpstr>Why not just use new RedBird() everywhere</vt:lpstr>
      <vt:lpstr>What if we add a new bird?</vt:lpstr>
      <vt:lpstr>When factory is not useful</vt:lpstr>
      <vt:lpstr>Advanced Factory - Parameterized Birds </vt:lpstr>
      <vt:lpstr>PowerPoint Presentation</vt:lpstr>
      <vt:lpstr>Both patterns together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Engr Muhammad Umer Haroon</dc:creator>
  <cp:lastModifiedBy>Dell 9410</cp:lastModifiedBy>
  <cp:revision>204</cp:revision>
  <dcterms:created xsi:type="dcterms:W3CDTF">2026-01-16T05:01:57Z</dcterms:created>
  <dcterms:modified xsi:type="dcterms:W3CDTF">2026-05-04T05:30:30Z</dcterms:modified>
</cp:coreProperties>
</file>