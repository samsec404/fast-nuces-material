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321" r:id="rId4"/>
    <p:sldId id="365" r:id="rId5"/>
    <p:sldId id="366" r:id="rId6"/>
    <p:sldId id="367" r:id="rId7"/>
    <p:sldId id="3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476" autoAdjust="0"/>
  </p:normalViewPr>
  <p:slideViewPr>
    <p:cSldViewPr snapToGrid="0">
      <p:cViewPr varScale="1">
        <p:scale>
          <a:sx n="54" d="100"/>
          <a:sy n="54" d="100"/>
        </p:scale>
        <p:origin x="11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25BB1E-7BD0-4EDB-8B93-54C4F735030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F07F15-511E-42B6-87B9-F823CFC13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68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9E94-90A1-4D8E-9DBA-4CBDDFEF3400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81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2157B-721A-4B32-933B-37F850A0BF01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latin typeface="Arial Black" panose="020B0A04020102020204" pitchFamily="34" charset="0"/>
              </a:defRPr>
            </a:lvl1pPr>
          </a:lstStyle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96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483F-910E-4F41-8EA5-E60A08BBBDEA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895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0382A-2D5E-47FD-9E3D-CAC8500BCB56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60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60E86-D13F-4C1E-BF6D-69D2CC69AC5D}" type="datetime1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33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6ED9-6E5B-40D1-A641-CD88D8E1F14F}" type="datetime1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65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5113-0E2E-4331-BAD3-4FEE8D872057}" type="datetime1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327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4E413-A667-4ACC-8054-065E23D8A533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258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52523-65B9-42AE-A752-FECD55F4A714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314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2C544-0A88-4771-91D8-7B5B1B065B47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15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C0C45-A6FE-4B6C-BB3C-31DFE35EAD46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8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EDB53-32E3-4E44-A94E-06B443D84359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51600"/>
            <a:ext cx="4114800" cy="269875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C00000"/>
                </a:solidFill>
              </a:defRPr>
            </a:lvl1pPr>
          </a:lstStyle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F56A2-C75C-4055-B942-4543DDA5E96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Half Frame 6"/>
          <p:cNvSpPr/>
          <p:nvPr userDrawn="1"/>
        </p:nvSpPr>
        <p:spPr>
          <a:xfrm>
            <a:off x="0" y="0"/>
            <a:ext cx="12192000" cy="6858000"/>
          </a:xfrm>
          <a:prstGeom prst="halfFrame">
            <a:avLst>
              <a:gd name="adj1" fmla="val 2939"/>
              <a:gd name="adj2" fmla="val 2652"/>
            </a:avLst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Half Frame 7"/>
          <p:cNvSpPr/>
          <p:nvPr userDrawn="1"/>
        </p:nvSpPr>
        <p:spPr>
          <a:xfrm rot="10800000">
            <a:off x="-1" y="17232"/>
            <a:ext cx="12192000" cy="6858000"/>
          </a:xfrm>
          <a:prstGeom prst="halfFrame">
            <a:avLst>
              <a:gd name="adj1" fmla="val 2939"/>
              <a:gd name="adj2" fmla="val 2652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226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F000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Design and Analysis CS3004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</a:p>
        </p:txBody>
      </p:sp>
    </p:spTree>
    <p:extLst>
      <p:ext uri="{BB962C8B-B14F-4D97-AF65-F5344CB8AC3E}">
        <p14:creationId xmlns:p14="http://schemas.microsoft.com/office/powerpoint/2010/main" val="2323160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7200" dirty="0" smtClean="0"/>
              <a:t>Abstract vs Interface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 lecture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25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252336"/>
              </p:ext>
            </p:extLst>
          </p:nvPr>
        </p:nvGraphicFramePr>
        <p:xfrm>
          <a:off x="660070" y="359132"/>
          <a:ext cx="10515600" cy="5669280"/>
        </p:xfrm>
        <a:graphic>
          <a:graphicData uri="http://schemas.openxmlformats.org/drawingml/2006/table">
            <a:tbl>
              <a:tblPr bandRow="1">
                <a:tableStyleId>{125E5076-3810-47DD-B79F-674D7AD40C01}</a:tableStyleId>
              </a:tblPr>
              <a:tblGrid>
                <a:gridCol w="2249385">
                  <a:extLst>
                    <a:ext uri="{9D8B030D-6E8A-4147-A177-3AD203B41FA5}">
                      <a16:colId xmlns:a16="http://schemas.microsoft.com/office/drawing/2014/main" val="4144131733"/>
                    </a:ext>
                  </a:extLst>
                </a:gridCol>
                <a:gridCol w="4761015">
                  <a:extLst>
                    <a:ext uri="{9D8B030D-6E8A-4147-A177-3AD203B41FA5}">
                      <a16:colId xmlns:a16="http://schemas.microsoft.com/office/drawing/2014/main" val="9209416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19905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Feature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Abstract Class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Interface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661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Purpose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Base class with partial implementation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Contract with only method signatures (no implementation until Java 8 default methods)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17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Methods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Can have abstract + concrete methods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Only abstract methods (plus default/static methods in modern Java)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226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Variables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Can have instance variables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Only constants (public static final)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877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Inheritance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A class can extend one abstract class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A class can implement multiple interfaces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72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Use Case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When classes share common state/behavior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When classes just need to follow the same contract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691504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987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we need them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3200" dirty="0"/>
              <a:t>Abstract class:  Use when you want to share common code among related classes but still enforce some abstract </a:t>
            </a:r>
            <a:r>
              <a:rPr lang="en-GB" sz="3200" dirty="0" err="1"/>
              <a:t>methods.Example</a:t>
            </a:r>
            <a:r>
              <a:rPr lang="en-GB" sz="3200" dirty="0"/>
              <a:t>: Shape abstract class with a </a:t>
            </a:r>
            <a:r>
              <a:rPr lang="en-GB" sz="3200" dirty="0" err="1"/>
              <a:t>color</a:t>
            </a:r>
            <a:r>
              <a:rPr lang="en-GB" sz="3200" dirty="0"/>
              <a:t> field and abstract draw() method</a:t>
            </a:r>
            <a:r>
              <a:rPr lang="en-GB" sz="3200" dirty="0" smtClean="0"/>
              <a:t>.</a:t>
            </a:r>
          </a:p>
          <a:p>
            <a:pPr marL="0" indent="0">
              <a:buNone/>
            </a:pPr>
            <a:endParaRPr lang="en-GB" sz="3200" dirty="0"/>
          </a:p>
          <a:p>
            <a:pPr marL="0" indent="0">
              <a:buNone/>
            </a:pPr>
            <a:r>
              <a:rPr lang="en-GB" sz="3200" dirty="0" smtClean="0"/>
              <a:t>Interface</a:t>
            </a:r>
            <a:r>
              <a:rPr lang="en-GB" sz="3200" dirty="0"/>
              <a:t>:  Use when you want different, unrelated classes to follow the same </a:t>
            </a:r>
            <a:r>
              <a:rPr lang="en-GB" sz="3200" dirty="0" err="1"/>
              <a:t>contract.Example</a:t>
            </a:r>
            <a:r>
              <a:rPr lang="en-GB" sz="3200" dirty="0"/>
              <a:t>: Comparable interface — both String and Integer implement it, even though they’re unrelated.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831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63138"/>
            <a:ext cx="10515600" cy="57138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abstract class Shape {</a:t>
            </a:r>
          </a:p>
          <a:p>
            <a:pPr marL="0" indent="0">
              <a:buNone/>
            </a:pPr>
            <a:r>
              <a:rPr lang="en-US" dirty="0"/>
              <a:t>    String color;</a:t>
            </a:r>
          </a:p>
          <a:p>
            <a:pPr marL="0" indent="0">
              <a:buNone/>
            </a:pPr>
            <a:r>
              <a:rPr lang="en-US" dirty="0"/>
              <a:t>    Shape(String color) { </a:t>
            </a:r>
            <a:r>
              <a:rPr lang="en-US" dirty="0" err="1"/>
              <a:t>this.color</a:t>
            </a:r>
            <a:r>
              <a:rPr lang="en-US" dirty="0"/>
              <a:t> = color; }</a:t>
            </a:r>
          </a:p>
          <a:p>
            <a:pPr marL="0" indent="0">
              <a:buNone/>
            </a:pPr>
            <a:r>
              <a:rPr lang="en-US" dirty="0"/>
              <a:t>    abstract void draw(); // must be implemented by child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Circle extends Shape {</a:t>
            </a:r>
          </a:p>
          <a:p>
            <a:pPr marL="0" indent="0">
              <a:buNone/>
            </a:pPr>
            <a:r>
              <a:rPr lang="en-US" dirty="0"/>
              <a:t>    Circle(String color) { super(color); }</a:t>
            </a:r>
          </a:p>
          <a:p>
            <a:pPr marL="0" indent="0">
              <a:buNone/>
            </a:pPr>
            <a:r>
              <a:rPr lang="en-US" dirty="0"/>
              <a:t>    void draw() { </a:t>
            </a:r>
            <a:r>
              <a:rPr lang="en-US" dirty="0" err="1"/>
              <a:t>System.out.println</a:t>
            </a:r>
            <a:r>
              <a:rPr lang="en-US" dirty="0"/>
              <a:t>("Drawing Circle in " + color); 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23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91886"/>
            <a:ext cx="10515600" cy="57850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interface </a:t>
            </a:r>
            <a:r>
              <a:rPr lang="en-US" dirty="0" err="1"/>
              <a:t>PaymentProcessor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void process(</a:t>
            </a:r>
            <a:r>
              <a:rPr lang="en-US" dirty="0" err="1"/>
              <a:t>int</a:t>
            </a:r>
            <a:r>
              <a:rPr lang="en-US" dirty="0"/>
              <a:t> amount); // contract only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CreditCardProcessor</a:t>
            </a:r>
            <a:r>
              <a:rPr lang="en-US" dirty="0"/>
              <a:t> implements </a:t>
            </a:r>
            <a:r>
              <a:rPr lang="en-US" dirty="0" err="1"/>
              <a:t>PaymentProcessor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void process(</a:t>
            </a:r>
            <a:r>
              <a:rPr lang="en-US" dirty="0" err="1"/>
              <a:t>int</a:t>
            </a:r>
            <a:r>
              <a:rPr lang="en-US" dirty="0"/>
              <a:t> amount)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("Charging credit card: " + amount);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489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5076</TotalTime>
  <Words>302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Software Design and Analysis CS3004</vt:lpstr>
      <vt:lpstr>Lecture </vt:lpstr>
      <vt:lpstr>Mini lecture</vt:lpstr>
      <vt:lpstr>PowerPoint Presentation</vt:lpstr>
      <vt:lpstr>Why we need them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Engr Muhammad Umer Haroon</dc:creator>
  <cp:lastModifiedBy>Dell 9410</cp:lastModifiedBy>
  <cp:revision>149</cp:revision>
  <dcterms:created xsi:type="dcterms:W3CDTF">2026-01-16T05:01:57Z</dcterms:created>
  <dcterms:modified xsi:type="dcterms:W3CDTF">2026-04-19T17:19:27Z</dcterms:modified>
</cp:coreProperties>
</file>