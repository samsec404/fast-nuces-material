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3"/>
  </p:notesMasterIdLst>
  <p:sldIdLst>
    <p:sldId id="256" r:id="rId3"/>
    <p:sldId id="258" r:id="rId4"/>
    <p:sldId id="264" r:id="rId5"/>
    <p:sldId id="299" r:id="rId6"/>
    <p:sldId id="265" r:id="rId7"/>
    <p:sldId id="298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0" r:id="rId26"/>
    <p:sldId id="284" r:id="rId27"/>
    <p:sldId id="285" r:id="rId28"/>
    <p:sldId id="286" r:id="rId29"/>
    <p:sldId id="287" r:id="rId30"/>
    <p:sldId id="291" r:id="rId31"/>
    <p:sldId id="288" r:id="rId32"/>
    <p:sldId id="289" r:id="rId33"/>
    <p:sldId id="290" r:id="rId34"/>
    <p:sldId id="292" r:id="rId35"/>
    <p:sldId id="293" r:id="rId36"/>
    <p:sldId id="294" r:id="rId37"/>
    <p:sldId id="295" r:id="rId38"/>
    <p:sldId id="296" r:id="rId39"/>
    <p:sldId id="297" r:id="rId40"/>
    <p:sldId id="300" r:id="rId41"/>
    <p:sldId id="301" r:id="rId42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Saleslineitem</a:t>
            </a:r>
            <a:r>
              <a:rPr lang="en-US" dirty="0" smtClean="0"/>
              <a:t> is actually an item in a cart or receipt with its quantity price etc…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  <a:r>
              <a:rPr lang="en-US" dirty="0"/>
              <a:t>7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Modeling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Week 2: Requirements </a:t>
            </a:r>
            <a:r>
              <a:rPr lang="en-GB" dirty="0" smtClean="0"/>
              <a:t>: </a:t>
            </a:r>
            <a:r>
              <a:rPr lang="en-GB" dirty="0"/>
              <a:t>WHAT to </a:t>
            </a:r>
            <a:r>
              <a:rPr lang="en-GB" dirty="0" smtClean="0"/>
              <a:t>build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Week 3: Use Cases </a:t>
            </a:r>
            <a:r>
              <a:rPr lang="en-GB" dirty="0" smtClean="0"/>
              <a:t>: </a:t>
            </a:r>
            <a:r>
              <a:rPr lang="en-GB" dirty="0"/>
              <a:t>WHO does WHAT </a:t>
            </a:r>
            <a:endParaRPr lang="en-GB" dirty="0" smtClean="0"/>
          </a:p>
          <a:p>
            <a:r>
              <a:rPr lang="en-GB" dirty="0" smtClean="0"/>
              <a:t>Week </a:t>
            </a:r>
            <a:r>
              <a:rPr lang="en-GB" dirty="0"/>
              <a:t>4: Domain Model </a:t>
            </a:r>
            <a:r>
              <a:rPr lang="en-GB" dirty="0" smtClean="0"/>
              <a:t>: </a:t>
            </a:r>
            <a:r>
              <a:rPr lang="en-GB" dirty="0"/>
              <a:t>WHAT THINGS exist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Domain? What is that?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 </a:t>
            </a:r>
            <a:r>
              <a:rPr lang="en-GB" dirty="0"/>
              <a:t>domain is a collection of related concepts, relationships, and </a:t>
            </a:r>
            <a:r>
              <a:rPr lang="en-GB" dirty="0" smtClean="0"/>
              <a:t>workflows . </a:t>
            </a:r>
            <a:r>
              <a:rPr lang="en-GB" dirty="0"/>
              <a:t>These are some examples of domains:</a:t>
            </a:r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pic>
        <p:nvPicPr>
          <p:cNvPr id="7170" name="Picture 2" descr="Circles with examples of domains: Science, Medicine, Education, business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27" t="4652" r="27822" b="3917"/>
          <a:stretch>
            <a:fillRect/>
          </a:stretch>
        </p:blipFill>
        <p:spPr bwMode="auto">
          <a:xfrm>
            <a:off x="4038600" y="2224075"/>
            <a:ext cx="4078828" cy="4227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visual representation of conceptual classes (real-world concepts) in the problem domain</a:t>
            </a:r>
            <a:r>
              <a:rPr lang="en-GB" dirty="0" smtClean="0"/>
              <a:t>, showing </a:t>
            </a:r>
            <a:r>
              <a:rPr lang="en-GB" dirty="0"/>
              <a:t>their attributes and associations</a:t>
            </a:r>
            <a:r>
              <a:rPr lang="en-GB" dirty="0" smtClean="0"/>
              <a:t>.</a:t>
            </a:r>
            <a:endParaRPr lang="en-GB" dirty="0" smtClean="0"/>
          </a:p>
          <a:p>
            <a:endParaRPr lang="en-GB" dirty="0"/>
          </a:p>
          <a:p>
            <a:r>
              <a:rPr lang="en-GB" dirty="0"/>
              <a:t>In </a:t>
            </a:r>
            <a:r>
              <a:rPr lang="en-GB" dirty="0" smtClean="0"/>
              <a:t>UML </a:t>
            </a:r>
            <a:r>
              <a:rPr lang="en-GB" dirty="0"/>
              <a:t>, </a:t>
            </a:r>
            <a:r>
              <a:rPr lang="en-GB" dirty="0" smtClean="0"/>
              <a:t>the Domain Model </a:t>
            </a:r>
            <a:r>
              <a:rPr lang="en-GB" dirty="0"/>
              <a:t>is </a:t>
            </a:r>
            <a:r>
              <a:rPr lang="en-GB" dirty="0" smtClean="0"/>
              <a:t>illustrated with </a:t>
            </a:r>
            <a:r>
              <a:rPr lang="en-GB" dirty="0"/>
              <a:t>a </a:t>
            </a:r>
            <a:r>
              <a:rPr lang="en-GB" dirty="0" smtClean="0"/>
              <a:t>set </a:t>
            </a:r>
            <a:r>
              <a:rPr lang="en-GB" dirty="0"/>
              <a:t>o f class </a:t>
            </a:r>
            <a:r>
              <a:rPr lang="en-GB" dirty="0" smtClean="0"/>
              <a:t>diagrams </a:t>
            </a:r>
            <a:r>
              <a:rPr lang="en-GB" dirty="0"/>
              <a:t>without </a:t>
            </a:r>
            <a:r>
              <a:rPr lang="en-GB" dirty="0" smtClean="0"/>
              <a:t>methods.</a:t>
            </a:r>
            <a:endParaRPr lang="en-GB" dirty="0"/>
          </a:p>
          <a:p>
            <a:r>
              <a:rPr lang="en-GB" dirty="0"/>
              <a:t>Also known as Visual </a:t>
            </a:r>
            <a:r>
              <a:rPr lang="en-GB" dirty="0" smtClean="0"/>
              <a:t>Dictionary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phrase “domain model” comes from software analysis and design practices, not from the UML specification itself</a:t>
            </a:r>
            <a:r>
              <a:rPr lang="en-GB" dirty="0" smtClean="0"/>
              <a:t>.</a:t>
            </a:r>
            <a:endParaRPr lang="en-GB" dirty="0" smtClean="0"/>
          </a:p>
          <a:p>
            <a:pPr algn="just"/>
            <a:r>
              <a:rPr lang="en-GB" dirty="0" smtClean="0"/>
              <a:t>UML </a:t>
            </a:r>
            <a:r>
              <a:rPr lang="en-GB" dirty="0"/>
              <a:t>doesn’t have a separate diagram called “Domain Model.” Instead, analysts use UML class diagrams to visualize the domain model.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Shows WHAT exists, not HOW it's implemented </a:t>
            </a:r>
            <a:endParaRPr lang="en-GB" dirty="0" smtClean="0"/>
          </a:p>
          <a:p>
            <a:r>
              <a:rPr lang="en-GB" dirty="0" smtClean="0"/>
              <a:t>Uses </a:t>
            </a:r>
            <a:r>
              <a:rPr lang="en-GB" dirty="0"/>
              <a:t>business vocabulary, not technical terms </a:t>
            </a:r>
            <a:endParaRPr lang="en-GB" dirty="0" smtClean="0"/>
          </a:p>
          <a:p>
            <a:r>
              <a:rPr lang="en-GB" dirty="0" smtClean="0"/>
              <a:t>Independent </a:t>
            </a:r>
            <a:r>
              <a:rPr lang="en-GB" dirty="0"/>
              <a:t>of any technology </a:t>
            </a:r>
            <a:endParaRPr lang="en-GB" dirty="0" smtClean="0"/>
          </a:p>
          <a:p>
            <a:r>
              <a:rPr lang="en-GB" dirty="0" smtClean="0"/>
              <a:t>Focus</a:t>
            </a:r>
            <a:r>
              <a:rPr lang="en-GB" dirty="0"/>
              <a:t>: understanding the problem, not solving 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Three Questions Domain Models 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WHAT concepts/things exist?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Customer</a:t>
            </a:r>
            <a:r>
              <a:rPr lang="en-GB" dirty="0"/>
              <a:t>, Order, Product, Payment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WHAT properties do they have?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Customer </a:t>
            </a:r>
            <a:r>
              <a:rPr lang="en-GB" dirty="0"/>
              <a:t>has name, address, phone </a:t>
            </a:r>
            <a:endParaRPr lang="en-GB" dirty="0" smtClean="0"/>
          </a:p>
          <a:p>
            <a:r>
              <a:rPr lang="en-GB" dirty="0" smtClean="0"/>
              <a:t>Order </a:t>
            </a:r>
            <a:r>
              <a:rPr lang="en-GB" dirty="0"/>
              <a:t>has date, total, status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HOW are they related?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Customer </a:t>
            </a:r>
            <a:r>
              <a:rPr lang="en-GB" dirty="0"/>
              <a:t>places </a:t>
            </a:r>
            <a:r>
              <a:rPr lang="en-GB" dirty="0" smtClean="0"/>
              <a:t>Order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Order contains Products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Domain Models DON'T </a:t>
            </a:r>
            <a:r>
              <a:rPr lang="en-GB" dirty="0" smtClean="0"/>
              <a:t>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What </a:t>
            </a:r>
            <a:r>
              <a:rPr lang="en-GB" dirty="0"/>
              <a:t>methods/functions exist? </a:t>
            </a:r>
            <a:endParaRPr lang="en-GB" dirty="0"/>
          </a:p>
          <a:p>
            <a:r>
              <a:rPr lang="en-GB" dirty="0" smtClean="0"/>
              <a:t>How </a:t>
            </a:r>
            <a:r>
              <a:rPr lang="en-GB" dirty="0"/>
              <a:t>data is stored (database design</a:t>
            </a:r>
            <a:r>
              <a:rPr lang="en-GB" dirty="0" smtClean="0"/>
              <a:t>)?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What programming language to use</a:t>
            </a:r>
            <a:r>
              <a:rPr lang="en-GB" dirty="0" smtClean="0"/>
              <a:t>?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User interface design?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 Library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4400" dirty="0"/>
              <a:t>A library lends books to members. Each book has a title, author, and ISBN. Members have a membership number and contact details. A member can borrow multiple books, but each book can only be borrowed by one member at a time.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Concepts in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Library </a:t>
            </a:r>
            <a:endParaRPr lang="en-GB" dirty="0" smtClean="0"/>
          </a:p>
          <a:p>
            <a:r>
              <a:rPr lang="en-GB" dirty="0" smtClean="0"/>
              <a:t>Book</a:t>
            </a:r>
            <a:endParaRPr lang="en-GB" dirty="0" smtClean="0"/>
          </a:p>
          <a:p>
            <a:r>
              <a:rPr lang="en-GB" dirty="0" smtClean="0"/>
              <a:t> Member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Loan (the act of </a:t>
            </a:r>
            <a:r>
              <a:rPr lang="en-GB" dirty="0" smtClean="0"/>
              <a:t>borrowing)</a:t>
            </a:r>
            <a:endParaRPr lang="en-GB" dirty="0" smtClean="0"/>
          </a:p>
          <a:p>
            <a:r>
              <a:rPr lang="en-GB" dirty="0" smtClean="0"/>
              <a:t>…………………………..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(Properties</a:t>
            </a:r>
            <a:r>
              <a:rPr lang="en-US" dirty="0" smtClean="0"/>
              <a:t>) in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Book: title, author, ISBN </a:t>
            </a:r>
            <a:endParaRPr lang="en-GB" dirty="0" smtClean="0"/>
          </a:p>
          <a:p>
            <a:r>
              <a:rPr lang="en-GB" dirty="0" smtClean="0"/>
              <a:t>Member</a:t>
            </a:r>
            <a:r>
              <a:rPr lang="en-GB" dirty="0"/>
              <a:t>: </a:t>
            </a:r>
            <a:r>
              <a:rPr lang="en-GB" dirty="0" err="1"/>
              <a:t>membershipNumber</a:t>
            </a:r>
            <a:r>
              <a:rPr lang="en-GB" dirty="0"/>
              <a:t>, name, </a:t>
            </a:r>
            <a:r>
              <a:rPr lang="en-GB" dirty="0" smtClean="0"/>
              <a:t>phone</a:t>
            </a:r>
            <a:endParaRPr lang="en-GB" dirty="0" smtClean="0"/>
          </a:p>
          <a:p>
            <a:r>
              <a:rPr lang="en-GB" dirty="0" smtClean="0"/>
              <a:t>……………..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Associations (Relationships)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Member borrows Book </a:t>
            </a:r>
            <a:endParaRPr lang="en-GB" dirty="0" smtClean="0"/>
          </a:p>
          <a:p>
            <a:r>
              <a:rPr lang="en-GB" dirty="0" smtClean="0"/>
              <a:t>Loan </a:t>
            </a:r>
            <a:r>
              <a:rPr lang="en-GB" dirty="0"/>
              <a:t>connects Member and Book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4400" dirty="0"/>
              <a:t>A domain model is NOT a class diagram with the methods removed. It's a completely different </a:t>
            </a:r>
            <a:r>
              <a:rPr lang="en-GB" sz="4400" dirty="0" err="1"/>
              <a:t>mindset</a:t>
            </a:r>
            <a:r>
              <a:rPr lang="en-GB" sz="4400" dirty="0"/>
              <a:t> - understanding BEFORE designing.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Conceptual Classes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Stop">
              <a:avLst/>
            </a:prstTxWarp>
          </a:bodyPr>
          <a:lstStyle/>
          <a:p>
            <a:r>
              <a:rPr lang="fr-FR" dirty="0" err="1"/>
              <a:t>Strategy</a:t>
            </a:r>
            <a:r>
              <a:rPr lang="fr-FR" dirty="0"/>
              <a:t> 1: Noun Phrase </a:t>
            </a:r>
            <a:r>
              <a:rPr lang="fr-FR" dirty="0" err="1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Technique: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1</a:t>
            </a:r>
            <a:r>
              <a:rPr lang="en-GB" dirty="0"/>
              <a:t>. Read problem </a:t>
            </a:r>
            <a:r>
              <a:rPr lang="en-GB" dirty="0" smtClean="0"/>
              <a:t>description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2</a:t>
            </a:r>
            <a:r>
              <a:rPr lang="en-GB" dirty="0"/>
              <a:t>. Underline all nouns and noun phrases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3</a:t>
            </a:r>
            <a:r>
              <a:rPr lang="en-GB" dirty="0"/>
              <a:t>. Filter out: Attributes (simple properties) Vague terms Redundant </a:t>
            </a:r>
            <a:r>
              <a:rPr lang="en-GB" dirty="0" smtClean="0"/>
              <a:t>terms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What remains = candidate conceptual classes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4000" dirty="0"/>
              <a:t>An online store allows customers to browse products and add them to a shopping cart</a:t>
            </a:r>
            <a:r>
              <a:rPr lang="en-GB" sz="4000" dirty="0" smtClean="0"/>
              <a:t>. When </a:t>
            </a:r>
            <a:r>
              <a:rPr lang="en-GB" sz="4000" dirty="0"/>
              <a:t>ready, the customer proceeds to checkout and enters shipping information. The system calculates the </a:t>
            </a:r>
            <a:r>
              <a:rPr lang="en-GB" sz="4000" dirty="0" smtClean="0"/>
              <a:t>total including </a:t>
            </a:r>
            <a:r>
              <a:rPr lang="en-GB" sz="4000" dirty="0"/>
              <a:t>taxes and shipping costs. Payment is processed through a credit card. Once confirmed, an order </a:t>
            </a:r>
            <a:r>
              <a:rPr lang="en-GB" sz="4000" dirty="0" smtClean="0"/>
              <a:t>is created </a:t>
            </a:r>
            <a:r>
              <a:rPr lang="en-GB" sz="4000" dirty="0"/>
              <a:t>and sent to </a:t>
            </a:r>
            <a:r>
              <a:rPr lang="en-GB" sz="4000" dirty="0" smtClean="0"/>
              <a:t>the warehouse </a:t>
            </a:r>
            <a:r>
              <a:rPr lang="en-GB" sz="4000" dirty="0"/>
              <a:t>for </a:t>
            </a:r>
            <a:r>
              <a:rPr lang="en-GB" sz="4000" dirty="0" err="1"/>
              <a:t>fulfillment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</a:t>
            </a:r>
            <a:r>
              <a:rPr lang="en-GB" dirty="0" smtClean="0"/>
              <a:t>:  </a:t>
            </a:r>
            <a:r>
              <a:rPr lang="en-GB" dirty="0"/>
              <a:t>Identify Nouns </a:t>
            </a:r>
            <a:r>
              <a:rPr lang="en-GB" dirty="0" smtClean="0"/>
              <a:t>Underlined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An online store allows </a:t>
            </a:r>
            <a:r>
              <a:rPr lang="en-GB" sz="3600" u="sng" dirty="0"/>
              <a:t>customers</a:t>
            </a:r>
            <a:r>
              <a:rPr lang="en-GB" sz="3600" dirty="0"/>
              <a:t> to browse </a:t>
            </a:r>
            <a:r>
              <a:rPr lang="en-GB" sz="3600" u="sng" dirty="0"/>
              <a:t>products</a:t>
            </a:r>
            <a:r>
              <a:rPr lang="en-GB" sz="3600" dirty="0"/>
              <a:t> and add them to a </a:t>
            </a:r>
            <a:r>
              <a:rPr lang="en-GB" sz="3600" u="sng" dirty="0"/>
              <a:t>shopping cart</a:t>
            </a:r>
            <a:r>
              <a:rPr lang="en-GB" sz="3600" dirty="0"/>
              <a:t>. When ready, the customer proceeds to checkout and enters </a:t>
            </a:r>
            <a:r>
              <a:rPr lang="en-GB" sz="3600" u="sng" dirty="0"/>
              <a:t>shipping information</a:t>
            </a:r>
            <a:r>
              <a:rPr lang="en-GB" sz="3600" dirty="0"/>
              <a:t>. The </a:t>
            </a:r>
            <a:r>
              <a:rPr lang="en-GB" sz="3600" u="sng" dirty="0"/>
              <a:t>system</a:t>
            </a:r>
            <a:r>
              <a:rPr lang="en-GB" sz="3600" dirty="0"/>
              <a:t> calculates the </a:t>
            </a:r>
            <a:r>
              <a:rPr lang="en-GB" sz="3600" u="sng" dirty="0"/>
              <a:t>total</a:t>
            </a:r>
            <a:r>
              <a:rPr lang="en-GB" sz="3600" dirty="0"/>
              <a:t> including </a:t>
            </a:r>
            <a:r>
              <a:rPr lang="en-GB" sz="3600" u="sng" dirty="0"/>
              <a:t>taxes</a:t>
            </a:r>
            <a:r>
              <a:rPr lang="en-GB" sz="3600" dirty="0"/>
              <a:t> and ship</a:t>
            </a:r>
            <a:r>
              <a:rPr lang="en-GB" sz="3600" u="sng" dirty="0"/>
              <a:t>ping costs</a:t>
            </a:r>
            <a:r>
              <a:rPr lang="en-GB" sz="3600" dirty="0"/>
              <a:t>. </a:t>
            </a:r>
            <a:r>
              <a:rPr lang="en-GB" sz="3600" u="sng" dirty="0"/>
              <a:t>Payment</a:t>
            </a:r>
            <a:r>
              <a:rPr lang="en-GB" sz="3600" dirty="0"/>
              <a:t> is processed through a </a:t>
            </a:r>
            <a:r>
              <a:rPr lang="en-GB" sz="3600" u="sng" dirty="0"/>
              <a:t>credit card</a:t>
            </a:r>
            <a:r>
              <a:rPr lang="en-GB" sz="3600" dirty="0"/>
              <a:t>. Once confirmed, an </a:t>
            </a:r>
            <a:r>
              <a:rPr lang="en-GB" sz="3600" u="sng" dirty="0"/>
              <a:t>order</a:t>
            </a:r>
            <a:r>
              <a:rPr lang="en-GB" sz="3600" dirty="0"/>
              <a:t> is created and sent to the </a:t>
            </a:r>
            <a:r>
              <a:rPr lang="en-GB" sz="3600" u="sng" dirty="0"/>
              <a:t>warehouse</a:t>
            </a:r>
            <a:r>
              <a:rPr lang="en-GB" sz="3600" dirty="0"/>
              <a:t> for </a:t>
            </a:r>
            <a:r>
              <a:rPr lang="en-GB" sz="3600" dirty="0" err="1"/>
              <a:t>fulfillment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Filter and Categorize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650434"/>
          <a:ext cx="10515600" cy="4705916"/>
        </p:xfrm>
        <a:graphic>
          <a:graphicData uri="http://schemas.openxmlformats.org/drawingml/2006/table">
            <a:tbl>
              <a:tblPr bandRow="1">
                <a:tableStyleId>{91EBBBCC-DAD2-459C-BE2E-F6DE35CF9A28}</a:tableStyleId>
              </a:tblPr>
              <a:tblGrid>
                <a:gridCol w="3505200"/>
                <a:gridCol w="3505200"/>
                <a:gridCol w="3505200"/>
              </a:tblGrid>
              <a:tr h="295006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Noun</a:t>
                      </a:r>
                      <a:endParaRPr lang="en-US" sz="2000" b="1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Conceptual Class?</a:t>
                      </a:r>
                      <a:endParaRPr lang="en-US" sz="2000" b="1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Reasoning</a:t>
                      </a:r>
                      <a:endParaRPr lang="en-US" sz="2000" b="1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Customer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Yes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Primary actor, has identity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Product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Yes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Thing being sold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Shopping Cart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Yes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Contains products, has behavior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Checkout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</a:rPr>
                        <a:t>It’s a process/use case, not a thing</a:t>
                      </a:r>
                      <a:endParaRPr lang="en-GB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Shipping Information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Likely attributes of Order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51626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System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</a:rPr>
                        <a:t>Too vague; that’s what we’re building</a:t>
                      </a:r>
                      <a:endParaRPr lang="en-GB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Total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</a:rPr>
                        <a:t>Calculated attribute, not a class</a:t>
                      </a:r>
                      <a:endParaRPr lang="en-GB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Taxes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Attribute or calculation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Shipping Costs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No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Attribute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Payment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Yes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Important concept, has details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Credit Card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Maybe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</a:rPr>
                        <a:t>Could be attribute of Payment</a:t>
                      </a:r>
                      <a:endParaRPr lang="en-GB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Order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Yes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Central concept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  <a:tr h="2950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Warehouse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effectLst/>
                        </a:rPr>
                        <a:t>Maybe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Depends on scope</a:t>
                      </a:r>
                      <a:endParaRPr lang="en-US" sz="1600" dirty="0">
                        <a:effectLst/>
                      </a:endParaRPr>
                    </a:p>
                  </a:txBody>
                  <a:tcPr marL="73751" marR="73751" marT="36876" marB="36876"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Engr. Muhammad </a:t>
            </a:r>
            <a:r>
              <a:rPr lang="en-US" dirty="0" err="1" smtClean="0"/>
              <a:t>Umer</a:t>
            </a:r>
            <a:r>
              <a:rPr lang="en-US" dirty="0" smtClean="0"/>
              <a:t>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Conceptual </a:t>
            </a:r>
            <a:r>
              <a:rPr lang="en-US" dirty="0" smtClean="0"/>
              <a:t>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Customer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Product </a:t>
            </a:r>
            <a:endParaRPr lang="en-GB" dirty="0" smtClean="0"/>
          </a:p>
          <a:p>
            <a:r>
              <a:rPr lang="en-GB" dirty="0" err="1" smtClean="0"/>
              <a:t>ShoppingCart</a:t>
            </a:r>
            <a:r>
              <a:rPr lang="en-GB" dirty="0" smtClean="0"/>
              <a:t> </a:t>
            </a:r>
            <a:endParaRPr lang="en-GB" dirty="0" smtClean="0"/>
          </a:p>
          <a:p>
            <a:r>
              <a:rPr lang="en-GB" dirty="0" smtClean="0"/>
              <a:t>Order </a:t>
            </a:r>
            <a:endParaRPr lang="en-GB" dirty="0" smtClean="0"/>
          </a:p>
          <a:p>
            <a:r>
              <a:rPr lang="en-GB" dirty="0" smtClean="0"/>
              <a:t>Payment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Stop">
              <a:avLst/>
            </a:prstTxWarp>
          </a:bodyPr>
          <a:lstStyle/>
          <a:p>
            <a:r>
              <a:rPr lang="en-GB" dirty="0"/>
              <a:t>Strategy 2: Use Category List (</a:t>
            </a:r>
            <a:r>
              <a:rPr lang="en-GB" dirty="0" err="1"/>
              <a:t>Larman's</a:t>
            </a:r>
            <a:r>
              <a:rPr lang="en-GB" dirty="0"/>
              <a:t> Common Categories)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Category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Examples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Physical/Tangible Objects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Book, Car, Product, ATM Machine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Transactions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Sale, Payment, Reservation, Registration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Lines of Transactions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SaleLineItem (item in a sale), OrderLine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Roles of People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Customer, Employee, Student, Patient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Places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Store, Warehouse, Airport, Room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Containers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Bin, </a:t>
                      </a:r>
                      <a:r>
                        <a:rPr lang="en-US" dirty="0" err="1">
                          <a:effectLst/>
                        </a:rPr>
                        <a:t>ShoppingCart</a:t>
                      </a:r>
                      <a:r>
                        <a:rPr lang="en-US" dirty="0">
                          <a:effectLst/>
                        </a:rPr>
                        <a:t>, Box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Category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Examples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Things in Containers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Item, Product, Passenger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Organizations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Company, Department, Team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Events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Flight, Concert, Meeting, Appointment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Processes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(Usually NOT classes)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Rules/Policies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effectLst/>
                        </a:rPr>
                        <a:t>RefundPolicy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err="1">
                          <a:effectLst/>
                        </a:rPr>
                        <a:t>CancellationRule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Catalogs/Descriptions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err="1">
                          <a:effectLst/>
                        </a:rPr>
                        <a:t>ProductSpecification</a:t>
                      </a:r>
                      <a:r>
                        <a:rPr lang="en-US" sz="1800" kern="1200" dirty="0">
                          <a:effectLst/>
                        </a:rPr>
                        <a:t>, </a:t>
                      </a:r>
                      <a:r>
                        <a:rPr lang="en-US" sz="1800" kern="1200" dirty="0" err="1">
                          <a:effectLst/>
                        </a:rPr>
                        <a:t>FlightDescription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effectLst/>
                        </a:rPr>
                        <a:t>Records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effectLst/>
                        </a:rPr>
                        <a:t>Receipt, Log, Ticket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</a:t>
            </a:r>
            <a:r>
              <a:rPr lang="en-GB" dirty="0" smtClean="0"/>
              <a:t>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4000" dirty="0" smtClean="0"/>
              <a:t>When </a:t>
            </a:r>
            <a:r>
              <a:rPr lang="en-GB" sz="4000" dirty="0" err="1"/>
              <a:t>analyzing</a:t>
            </a:r>
            <a:r>
              <a:rPr lang="en-GB" sz="4000" dirty="0"/>
              <a:t> a problem, mentally go through these categories: Are there any physical objects? Any transactions? Any roles? etc</a:t>
            </a:r>
            <a:r>
              <a:rPr lang="en-GB" sz="4000" dirty="0" smtClean="0"/>
              <a:t>.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smtClean="0"/>
              <a:t>Identify </a:t>
            </a:r>
            <a:r>
              <a:rPr lang="en-GB" dirty="0"/>
              <a:t>all nouns </a:t>
            </a:r>
            <a:endParaRPr lang="en-GB" dirty="0" smtClean="0"/>
          </a:p>
          <a:p>
            <a:pPr marL="514350" indent="-514350">
              <a:buAutoNum type="arabicPeriod"/>
            </a:pPr>
            <a:r>
              <a:rPr lang="en-GB" dirty="0" smtClean="0"/>
              <a:t> </a:t>
            </a:r>
            <a:r>
              <a:rPr lang="en-GB" dirty="0"/>
              <a:t>Apply filtering </a:t>
            </a:r>
            <a:endParaRPr lang="en-GB" dirty="0" smtClean="0"/>
          </a:p>
          <a:p>
            <a:pPr marL="514350" indent="-514350">
              <a:buAutoNum type="arabicPeriod"/>
            </a:pPr>
            <a:r>
              <a:rPr lang="en-GB" dirty="0" smtClean="0"/>
              <a:t> </a:t>
            </a:r>
            <a:r>
              <a:rPr lang="en-GB" dirty="0"/>
              <a:t>Categorize using </a:t>
            </a:r>
            <a:r>
              <a:rPr lang="en-GB" dirty="0" err="1"/>
              <a:t>Larman's</a:t>
            </a:r>
            <a:r>
              <a:rPr lang="en-GB" dirty="0"/>
              <a:t> list </a:t>
            </a:r>
            <a:endParaRPr lang="en-GB" dirty="0" smtClean="0"/>
          </a:p>
          <a:p>
            <a:pPr marL="514350" indent="-514350">
              <a:buAutoNum type="arabicPeriod"/>
            </a:pPr>
            <a:r>
              <a:rPr lang="en-GB" dirty="0" smtClean="0"/>
              <a:t> </a:t>
            </a:r>
            <a:r>
              <a:rPr lang="en-GB" dirty="0"/>
              <a:t>Propose final list of conceptual classes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A hospital manages patient appointments with doctors. Each doctor specializes in </a:t>
            </a:r>
            <a:r>
              <a:rPr lang="en-GB" dirty="0" smtClean="0"/>
              <a:t>a medical </a:t>
            </a:r>
            <a:r>
              <a:rPr lang="en-GB" dirty="0"/>
              <a:t>field (cardiology, neurology, etc.). Patients can book appointments through the reception desk or online</a:t>
            </a:r>
            <a:r>
              <a:rPr lang="en-GB" dirty="0" smtClean="0"/>
              <a:t>. The </a:t>
            </a:r>
            <a:r>
              <a:rPr lang="en-GB" dirty="0"/>
              <a:t>hospital maintains medical records for each patient, including diagnosis history and prescriptions. </a:t>
            </a:r>
            <a:r>
              <a:rPr lang="en-GB" dirty="0" smtClean="0"/>
              <a:t>Doctors can </a:t>
            </a:r>
            <a:r>
              <a:rPr lang="en-GB" dirty="0"/>
              <a:t>prescribe medications, which </a:t>
            </a:r>
            <a:r>
              <a:rPr lang="en-GB" dirty="0" smtClean="0"/>
              <a:t>are dispensed </a:t>
            </a:r>
            <a:r>
              <a:rPr lang="en-GB" dirty="0"/>
              <a:t>by the pharmacy. The hospital also manages </a:t>
            </a:r>
            <a:r>
              <a:rPr lang="en-GB" dirty="0" smtClean="0"/>
              <a:t>different departments </a:t>
            </a:r>
            <a:r>
              <a:rPr lang="en-GB" dirty="0"/>
              <a:t>like Emergency, </a:t>
            </a:r>
            <a:r>
              <a:rPr lang="en-GB" dirty="0" err="1"/>
              <a:t>Pediatrics</a:t>
            </a:r>
            <a:r>
              <a:rPr lang="en-GB" dirty="0"/>
              <a:t>, and Surgery.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81" y="372140"/>
            <a:ext cx="11642652" cy="607946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FFFF00"/>
                </a:solidFill>
              </a:rPr>
              <a:t>Conceptual Classes</a:t>
            </a:r>
            <a:r>
              <a:rPr lang="en-GB" b="1" dirty="0"/>
              <a:t>: </a:t>
            </a:r>
            <a:r>
              <a:rPr lang="en-GB" dirty="0"/>
              <a:t>Patient (Role) Doctor (Role) Appointment (Transaction) </a:t>
            </a:r>
            <a:r>
              <a:rPr lang="en-GB" dirty="0" err="1"/>
              <a:t>MedicalRecord</a:t>
            </a:r>
            <a:r>
              <a:rPr lang="en-GB" dirty="0"/>
              <a:t> (Record) Prescription (Transaction) Medication (Physical/</a:t>
            </a:r>
            <a:r>
              <a:rPr lang="en-GB" dirty="0" err="1"/>
              <a:t>Catalog</a:t>
            </a:r>
            <a:r>
              <a:rPr lang="en-GB" dirty="0"/>
              <a:t>) Department (Organization) Pharmacy (Place/Organization) Specialty (</a:t>
            </a:r>
            <a:r>
              <a:rPr lang="en-GB" dirty="0" err="1"/>
              <a:t>Catalog</a:t>
            </a:r>
            <a:r>
              <a:rPr lang="en-GB" dirty="0"/>
              <a:t>/Description) </a:t>
            </a:r>
            <a:endParaRPr lang="en-GB" dirty="0" smtClean="0"/>
          </a:p>
          <a:p>
            <a:pPr marL="0" indent="0">
              <a:buNone/>
            </a:pPr>
            <a:r>
              <a:rPr lang="en-GB" b="1" dirty="0" smtClean="0">
                <a:solidFill>
                  <a:srgbClr val="FFFF00"/>
                </a:solidFill>
              </a:rPr>
              <a:t>Classes </a:t>
            </a:r>
            <a:r>
              <a:rPr lang="en-GB" b="1" dirty="0">
                <a:solidFill>
                  <a:srgbClr val="FFFF00"/>
                </a:solidFill>
              </a:rPr>
              <a:t>to Exclude</a:t>
            </a:r>
            <a:r>
              <a:rPr lang="en-GB" b="1" dirty="0"/>
              <a:t>: </a:t>
            </a:r>
            <a:r>
              <a:rPr lang="en-GB" dirty="0" smtClean="0"/>
              <a:t>Reception </a:t>
            </a:r>
            <a:r>
              <a:rPr lang="en-GB" dirty="0"/>
              <a:t>desk (just a place to book, not a concept</a:t>
            </a:r>
            <a:r>
              <a:rPr lang="en-GB" dirty="0" smtClean="0"/>
              <a:t>)</a:t>
            </a: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 </a:t>
            </a:r>
            <a:r>
              <a:rPr lang="en-GB" dirty="0"/>
              <a:t>Diagnosis history (part of </a:t>
            </a:r>
            <a:r>
              <a:rPr lang="en-GB" dirty="0" err="1"/>
              <a:t>MedicalRecord</a:t>
            </a:r>
            <a:r>
              <a:rPr lang="en-GB" dirty="0"/>
              <a:t>)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dirty="0"/>
              <a:t>Online (delivery mechanism, not a concept) </a:t>
            </a:r>
            <a:endParaRPr lang="en-GB" dirty="0" smtClean="0"/>
          </a:p>
          <a:p>
            <a:pPr marL="0" indent="0">
              <a:buNone/>
            </a:pPr>
            <a:r>
              <a:rPr lang="en-GB" b="1" dirty="0" smtClean="0">
                <a:solidFill>
                  <a:srgbClr val="FFFF00"/>
                </a:solidFill>
              </a:rPr>
              <a:t>Point to Ponder </a:t>
            </a:r>
            <a:r>
              <a:rPr lang="en-GB" dirty="0" smtClean="0"/>
              <a:t>: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Why </a:t>
            </a:r>
            <a:r>
              <a:rPr lang="en-GB" dirty="0"/>
              <a:t>is "Appointment" a class but "booking" isn't? </a:t>
            </a:r>
            <a:r>
              <a:rPr lang="en-GB" dirty="0" smtClean="0"/>
              <a:t>…… </a:t>
            </a:r>
            <a:r>
              <a:rPr lang="en-GB" dirty="0"/>
              <a:t>Appointment is the THING created, booking is the </a:t>
            </a:r>
            <a:r>
              <a:rPr lang="en-GB" dirty="0" smtClean="0"/>
              <a:t>ACTION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dirty="0"/>
              <a:t>Is "Emergency" a class? </a:t>
            </a:r>
            <a:r>
              <a:rPr lang="en-GB" dirty="0" smtClean="0"/>
              <a:t>……No</a:t>
            </a:r>
            <a:r>
              <a:rPr lang="en-GB" dirty="0"/>
              <a:t>, it's a value/type of Department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Conceptual Classes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</a:t>
            </a:r>
            <a:r>
              <a:rPr lang="en-GB" dirty="0"/>
              <a:t>attribute is a logical data value of a conceptual </a:t>
            </a:r>
            <a:r>
              <a:rPr lang="en-GB" dirty="0" smtClean="0"/>
              <a:t>class.</a:t>
            </a:r>
            <a:endParaRPr lang="en-GB" dirty="0" smtClean="0"/>
          </a:p>
          <a:p>
            <a:endParaRPr lang="en-GB" dirty="0"/>
          </a:p>
          <a:p>
            <a:r>
              <a:rPr lang="en-GB" dirty="0"/>
              <a:t>Simple, primitive values (not complex objects) </a:t>
            </a:r>
            <a:endParaRPr lang="en-GB" dirty="0" smtClean="0"/>
          </a:p>
          <a:p>
            <a:r>
              <a:rPr lang="en-GB" dirty="0" smtClean="0"/>
              <a:t>Examples</a:t>
            </a:r>
            <a:r>
              <a:rPr lang="en-GB" dirty="0"/>
              <a:t>: name, date, amount, </a:t>
            </a:r>
            <a:r>
              <a:rPr lang="en-GB" dirty="0" smtClean="0"/>
              <a:t>status</a:t>
            </a:r>
            <a:endParaRPr lang="en-GB" dirty="0" smtClean="0"/>
          </a:p>
          <a:p>
            <a:r>
              <a:rPr lang="en-GB" dirty="0" smtClean="0"/>
              <a:t> </a:t>
            </a:r>
            <a:r>
              <a:rPr lang="en-GB" dirty="0"/>
              <a:t>In UML: written as </a:t>
            </a:r>
            <a:r>
              <a:rPr lang="en-GB" dirty="0" err="1"/>
              <a:t>attributeName</a:t>
            </a:r>
            <a:r>
              <a:rPr lang="en-GB" dirty="0"/>
              <a:t>: Type (type optional in domain models)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Critical Question: "Should X be an attribute or a separate conceptual class?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Thumb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GB" dirty="0"/>
              <a:t>If X has only simple data → Attribute </a:t>
            </a:r>
            <a:endParaRPr lang="en-GB" dirty="0"/>
          </a:p>
          <a:p>
            <a:r>
              <a:rPr lang="en-GB" dirty="0"/>
              <a:t>If X has its own identity or </a:t>
            </a:r>
            <a:r>
              <a:rPr lang="en-GB" dirty="0" err="1"/>
              <a:t>behavior</a:t>
            </a:r>
            <a:r>
              <a:rPr lang="en-GB" dirty="0"/>
              <a:t> → Conceptual Class </a:t>
            </a:r>
            <a:endParaRPr lang="en-GB" dirty="0"/>
          </a:p>
          <a:p>
            <a:r>
              <a:rPr lang="en-GB" dirty="0"/>
              <a:t>If X has multiple attributes of its own → Conceptual Class</a:t>
            </a:r>
            <a:endParaRPr lang="en-GB" dirty="0"/>
          </a:p>
          <a:p>
            <a:r>
              <a:rPr lang="en-GB" dirty="0"/>
              <a:t> If you need to track history/changes → Conceptual Class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Customer has name , has address : xyz street lane 4343</a:t>
            </a:r>
            <a:endParaRPr lang="en-US" dirty="0" smtClean="0"/>
          </a:p>
          <a:p>
            <a:r>
              <a:rPr lang="en-US" dirty="0" smtClean="0"/>
              <a:t>Customer has name , has address. Address will have </a:t>
            </a:r>
            <a:r>
              <a:rPr lang="en-US" dirty="0" err="1" smtClean="0"/>
              <a:t>streetno</a:t>
            </a:r>
            <a:r>
              <a:rPr lang="en-US" dirty="0" smtClean="0"/>
              <a:t> , city, postal code and country</a:t>
            </a:r>
            <a:endParaRPr lang="en-US" dirty="0" smtClean="0"/>
          </a:p>
          <a:p>
            <a:endParaRPr lang="en-US" dirty="0"/>
          </a:p>
          <a:p>
            <a:r>
              <a:rPr lang="en-GB" u="sng" dirty="0"/>
              <a:t>Need to validate by components (postal code format</a:t>
            </a:r>
            <a:r>
              <a:rPr lang="en-GB" u="sng" dirty="0" smtClean="0"/>
              <a:t>)</a:t>
            </a:r>
            <a:endParaRPr lang="en-GB" u="sng" dirty="0" smtClean="0"/>
          </a:p>
          <a:p>
            <a:r>
              <a:rPr lang="en-GB" u="sng" dirty="0" smtClean="0"/>
              <a:t> </a:t>
            </a:r>
            <a:r>
              <a:rPr lang="en-GB" u="sng" dirty="0"/>
              <a:t>Need to calculate shipping based on </a:t>
            </a:r>
            <a:r>
              <a:rPr lang="en-GB" u="sng" dirty="0" smtClean="0"/>
              <a:t>city/country</a:t>
            </a:r>
            <a:endParaRPr lang="en-GB" u="sng" dirty="0" smtClean="0"/>
          </a:p>
          <a:p>
            <a:r>
              <a:rPr lang="en-GB" u="sng" dirty="0" smtClean="0"/>
              <a:t>Multiple </a:t>
            </a:r>
            <a:r>
              <a:rPr lang="en-GB" u="sng" dirty="0"/>
              <a:t>people can share same address </a:t>
            </a:r>
            <a:endParaRPr lang="en-GB" u="sng" dirty="0"/>
          </a:p>
          <a:p>
            <a:r>
              <a:rPr lang="en-GB" u="sng" dirty="0" smtClean="0"/>
              <a:t>Need </a:t>
            </a:r>
            <a:r>
              <a:rPr lang="en-GB" u="sng" dirty="0"/>
              <a:t>to track address history</a:t>
            </a:r>
            <a:endParaRPr lang="en-US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91510" y="-118322"/>
            <a:ext cx="8148083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dirty="0" smtClean="0"/>
              <a:t>In </a:t>
            </a:r>
            <a:r>
              <a:rPr lang="en-GB" sz="3200" dirty="0"/>
              <a:t>early domain </a:t>
            </a:r>
            <a:r>
              <a:rPr lang="en-GB" sz="3200" dirty="0" err="1"/>
              <a:t>modeling</a:t>
            </a:r>
            <a:r>
              <a:rPr lang="en-GB" sz="3200" dirty="0"/>
              <a:t>, when in doubt, prefer attribute. You can always promote it to a class later if needed. Don't over-complicate early.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Guidelines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simple types: String, Integer, Date, Boolean </a:t>
            </a:r>
            <a:endParaRPr lang="en-GB" dirty="0" smtClean="0"/>
          </a:p>
          <a:p>
            <a:r>
              <a:rPr lang="en-GB" dirty="0" smtClean="0"/>
              <a:t>Use </a:t>
            </a:r>
            <a:r>
              <a:rPr lang="en-GB" dirty="0"/>
              <a:t>meaningful names: </a:t>
            </a:r>
            <a:r>
              <a:rPr lang="en-GB" dirty="0" err="1"/>
              <a:t>birthDate</a:t>
            </a:r>
            <a:r>
              <a:rPr lang="en-GB" dirty="0"/>
              <a:t> not </a:t>
            </a:r>
            <a:r>
              <a:rPr lang="en-GB" dirty="0" err="1" smtClean="0"/>
              <a:t>bd</a:t>
            </a:r>
            <a:endParaRPr lang="en-US" dirty="0"/>
          </a:p>
          <a:p>
            <a:r>
              <a:rPr lang="en-GB" dirty="0"/>
              <a:t>Be consistent: if one class uses </a:t>
            </a:r>
            <a:r>
              <a:rPr lang="en-GB" dirty="0" err="1"/>
              <a:t>emailAddress</a:t>
            </a:r>
            <a:r>
              <a:rPr lang="en-GB" dirty="0"/>
              <a:t> , don't </a:t>
            </a:r>
            <a:r>
              <a:rPr lang="en-GB" dirty="0" smtClean="0"/>
              <a:t>email </a:t>
            </a:r>
            <a:r>
              <a:rPr lang="en-GB" dirty="0"/>
              <a:t>elsewhere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Avoid a waterfall-</a:t>
            </a:r>
            <a:r>
              <a:rPr lang="en-GB" dirty="0" err="1"/>
              <a:t>mindset</a:t>
            </a:r>
            <a:r>
              <a:rPr lang="en-GB" dirty="0"/>
              <a:t> big-</a:t>
            </a:r>
            <a:r>
              <a:rPr lang="en-GB" dirty="0" err="1"/>
              <a:t>modeling</a:t>
            </a:r>
            <a:r>
              <a:rPr lang="en-GB" dirty="0"/>
              <a:t> effort to make a thorough or "correct" </a:t>
            </a:r>
            <a:r>
              <a:rPr lang="en-GB" dirty="0" smtClean="0"/>
              <a:t>domain </a:t>
            </a:r>
            <a:r>
              <a:rPr lang="en-GB" dirty="0" err="1" smtClean="0"/>
              <a:t>modelit</a:t>
            </a:r>
            <a:r>
              <a:rPr lang="en-GB" dirty="0" smtClean="0"/>
              <a:t> </a:t>
            </a:r>
            <a:r>
              <a:rPr lang="en-GB" dirty="0"/>
              <a:t>won't ever be either, and such over-</a:t>
            </a:r>
            <a:r>
              <a:rPr lang="en-GB" dirty="0" err="1"/>
              <a:t>modeling</a:t>
            </a:r>
            <a:r>
              <a:rPr lang="en-GB" dirty="0"/>
              <a:t> efforts lead to </a:t>
            </a:r>
            <a:r>
              <a:rPr lang="en-GB" dirty="0" smtClean="0"/>
              <a:t>analysis paralysis</a:t>
            </a:r>
            <a:r>
              <a:rPr lang="en-GB" dirty="0"/>
              <a:t>, with little or no return on the investment.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8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POS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Sale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Cashier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CashPayment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Customer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SalesLineItem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Store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Item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Register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Ledger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ProductDescription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ProductCatalog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no such thing as a "correct" list. It is a somewhat arbitrary collection of abstractions and domain vocabulary that the </a:t>
            </a:r>
            <a:r>
              <a:rPr lang="en-GB" dirty="0" err="1"/>
              <a:t>modelers</a:t>
            </a:r>
            <a:r>
              <a:rPr lang="en-GB" dirty="0"/>
              <a:t> consider noteworthy. Nevertheless, by following the identification strategies, different </a:t>
            </a:r>
            <a:r>
              <a:rPr lang="en-GB" dirty="0" err="1"/>
              <a:t>modelers</a:t>
            </a:r>
            <a:r>
              <a:rPr lang="en-GB" dirty="0"/>
              <a:t> will produce similar lists.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POS domain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5625"/>
            <a:ext cx="10052221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association is a relationship between conceptual classes that indicates some meaningful connection in the problem domain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 on Associations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 domain model, you do show multiplicity because it expresses domain </a:t>
            </a:r>
            <a:r>
              <a:rPr lang="en-GB" dirty="0" err="1"/>
              <a:t>rules:A</a:t>
            </a:r>
            <a:r>
              <a:rPr lang="en-GB" dirty="0"/>
              <a:t> Customer can place many Orders → Customer 1..* Order.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Step-by-Step: Creating Your Domain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1: List Conceptual </a:t>
            </a:r>
            <a:r>
              <a:rPr lang="en-GB" dirty="0" smtClean="0"/>
              <a:t>Classes</a:t>
            </a:r>
            <a:endParaRPr lang="en-GB" dirty="0" smtClean="0"/>
          </a:p>
          <a:p>
            <a:r>
              <a:rPr lang="en-US" dirty="0"/>
              <a:t>Step 2: Add </a:t>
            </a:r>
            <a:r>
              <a:rPr lang="en-US" dirty="0" smtClean="0"/>
              <a:t>Attributes</a:t>
            </a:r>
            <a:endParaRPr lang="en-US" dirty="0" smtClean="0"/>
          </a:p>
          <a:p>
            <a:r>
              <a:rPr lang="en-US" dirty="0"/>
              <a:t>Step 3: Identify </a:t>
            </a:r>
            <a:r>
              <a:rPr lang="en-US" dirty="0" smtClean="0"/>
              <a:t>Associations</a:t>
            </a:r>
            <a:endParaRPr lang="en-US" dirty="0" smtClean="0"/>
          </a:p>
          <a:p>
            <a:r>
              <a:rPr lang="en-US" dirty="0"/>
              <a:t>Step 4: Determine Multiplicity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3600" dirty="0"/>
              <a:t>An airline operates flights between cities. Passengers can book seats on flights. Each flight has </a:t>
            </a:r>
            <a:r>
              <a:rPr lang="en-GB" sz="3600" dirty="0" smtClean="0"/>
              <a:t>a flight </a:t>
            </a:r>
            <a:r>
              <a:rPr lang="en-GB" sz="3600" dirty="0"/>
              <a:t>number, departure/arrival times, and operates on a specific route. Passengers provide name and </a:t>
            </a:r>
            <a:r>
              <a:rPr lang="en-GB" sz="3600" dirty="0" smtClean="0"/>
              <a:t>contact information</a:t>
            </a:r>
            <a:r>
              <a:rPr lang="en-GB" sz="3600" dirty="0"/>
              <a:t>. Each booking includes a seat number and booking date.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Validation </a:t>
            </a:r>
            <a:r>
              <a:rPr lang="en-GB" dirty="0" smtClean="0"/>
              <a:t>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Case Walk-Through Take a use case and "walk through" the domain model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9618</Words>
  <Application>WPS Presentation</Application>
  <PresentationFormat>Widescreen</PresentationFormat>
  <Paragraphs>551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</vt:lpstr>
      <vt:lpstr>SimSun</vt:lpstr>
      <vt:lpstr>Wingdings</vt:lpstr>
      <vt:lpstr>Arial Black</vt:lpstr>
      <vt:lpstr>Calibri</vt:lpstr>
      <vt:lpstr>Microsoft YaHei</vt:lpstr>
      <vt:lpstr>Arial Unicode MS</vt:lpstr>
      <vt:lpstr>Office Theme</vt:lpstr>
      <vt:lpstr>Software Design and Analysis CS3004</vt:lpstr>
      <vt:lpstr>Lecture 7</vt:lpstr>
      <vt:lpstr>PowerPoint 演示文稿</vt:lpstr>
      <vt:lpstr>Domain? What is that?</vt:lpstr>
      <vt:lpstr>Domain Model</vt:lpstr>
      <vt:lpstr>confusion</vt:lpstr>
      <vt:lpstr>Characteristics</vt:lpstr>
      <vt:lpstr>The Three Questions Domain Models Answer</vt:lpstr>
      <vt:lpstr>1. WHAT concepts/things exist?</vt:lpstr>
      <vt:lpstr>2. WHAT properties do they have?</vt:lpstr>
      <vt:lpstr>3. HOW are they related?</vt:lpstr>
      <vt:lpstr>What Domain Models DON'T Answer</vt:lpstr>
      <vt:lpstr>Example of a Library System</vt:lpstr>
      <vt:lpstr>Concepts in example</vt:lpstr>
      <vt:lpstr>Attributes (Properties) in example</vt:lpstr>
      <vt:lpstr>Associations (Relationships)</vt:lpstr>
      <vt:lpstr>PowerPoint 演示文稿</vt:lpstr>
      <vt:lpstr>Identifying Conceptual Classes</vt:lpstr>
      <vt:lpstr>Strategy 1: Noun Phrase Analysis</vt:lpstr>
      <vt:lpstr>PowerPoint 演示文稿</vt:lpstr>
      <vt:lpstr>Step 1:  Identify Nouns Underlined</vt:lpstr>
      <vt:lpstr>PowerPoint 演示文稿</vt:lpstr>
      <vt:lpstr>Step 2: Filter and Categorize</vt:lpstr>
      <vt:lpstr>Final Conceptual Classes</vt:lpstr>
      <vt:lpstr>Strategy 2: Use Category List (Larman's Common Categories)</vt:lpstr>
      <vt:lpstr>PowerPoint 演示文稿</vt:lpstr>
      <vt:lpstr>PowerPoint 演示文稿</vt:lpstr>
      <vt:lpstr>How to Use</vt:lpstr>
      <vt:lpstr>Activity</vt:lpstr>
      <vt:lpstr>Scenario</vt:lpstr>
      <vt:lpstr>PowerPoint 演示文稿</vt:lpstr>
      <vt:lpstr>Attributes of Conceptual Classes</vt:lpstr>
      <vt:lpstr>Attribute</vt:lpstr>
      <vt:lpstr>The Critical Question: "Should X be an attribute or a separate conceptual class?</vt:lpstr>
      <vt:lpstr>Rule of Thumb</vt:lpstr>
      <vt:lpstr>example</vt:lpstr>
      <vt:lpstr>Attribute Guidelines</vt:lpstr>
      <vt:lpstr>PowerPoint 演示文稿</vt:lpstr>
      <vt:lpstr>Lecture 8</vt:lpstr>
      <vt:lpstr>Case Study: POS Domain</vt:lpstr>
      <vt:lpstr>PowerPoint 演示文稿</vt:lpstr>
      <vt:lpstr>Initial POS domain model</vt:lpstr>
      <vt:lpstr>Association</vt:lpstr>
      <vt:lpstr>Multiplicity on Associations</vt:lpstr>
      <vt:lpstr>Step-by-Step: Creating Your Domain Model</vt:lpstr>
      <vt:lpstr>Activity</vt:lpstr>
      <vt:lpstr>Validation Technique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lastModifiedBy>24P-0554 Malik Muhammad Sanaul</cp:lastModifiedBy>
  <cp:revision>67</cp:revision>
  <dcterms:created xsi:type="dcterms:W3CDTF">2026-01-16T05:01:00Z</dcterms:created>
  <dcterms:modified xsi:type="dcterms:W3CDTF">2026-05-21T00:42:00Z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54EA89D482FE4FCFABD8FB3AE9AD4DFC_12</vt:lpwstr>
  </property>
</Properties>
</file>