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321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80" r:id="rId14"/>
    <p:sldId id="375" r:id="rId15"/>
    <p:sldId id="376" r:id="rId16"/>
    <p:sldId id="377" r:id="rId17"/>
    <p:sldId id="381" r:id="rId18"/>
    <p:sldId id="383" r:id="rId19"/>
    <p:sldId id="378" r:id="rId20"/>
    <p:sldId id="379" r:id="rId21"/>
    <p:sldId id="384" r:id="rId22"/>
    <p:sldId id="385" r:id="rId23"/>
    <p:sldId id="387" r:id="rId24"/>
    <p:sldId id="388" r:id="rId25"/>
    <p:sldId id="389" r:id="rId26"/>
    <p:sldId id="386" r:id="rId27"/>
    <p:sldId id="390" r:id="rId28"/>
    <p:sldId id="391" r:id="rId29"/>
    <p:sldId id="392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402" r:id="rId40"/>
    <p:sldId id="36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3566" autoAdjust="0"/>
  </p:normalViewPr>
  <p:slideViewPr>
    <p:cSldViewPr snapToGrid="0">
      <p:cViewPr varScale="1">
        <p:scale>
          <a:sx n="60" d="100"/>
          <a:sy n="60" d="100"/>
        </p:scale>
        <p:origin x="11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7B0B90-D893-4214-8403-EEBDD481CFCC}" type="doc">
      <dgm:prSet loTypeId="urn:microsoft.com/office/officeart/2008/layout/Increasing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9F2387-2FFA-4D52-87EB-67C5FE95BD11}">
      <dgm:prSet custT="1"/>
      <dgm:spPr/>
      <dgm:t>
        <a:bodyPr/>
        <a:lstStyle/>
        <a:p>
          <a:r>
            <a:rPr lang="en-GB" sz="1800" dirty="0" smtClean="0"/>
            <a:t>Too Little Pattern: Spaghetti code, hard to maintain</a:t>
          </a:r>
          <a:endParaRPr lang="en-GB" sz="1800" dirty="0"/>
        </a:p>
      </dgm:t>
    </dgm:pt>
    <dgm:pt modelId="{7BF17D32-4EF4-41AC-B416-8065CD09B8DC}" type="parTrans" cxnId="{98F0A880-8154-467A-A0DD-A4AF56576002}">
      <dgm:prSet/>
      <dgm:spPr/>
      <dgm:t>
        <a:bodyPr/>
        <a:lstStyle/>
        <a:p>
          <a:endParaRPr lang="en-US" sz="2000"/>
        </a:p>
      </dgm:t>
    </dgm:pt>
    <dgm:pt modelId="{B39EEAD0-B280-43E6-8AFE-BF3E13D497AE}" type="sibTrans" cxnId="{98F0A880-8154-467A-A0DD-A4AF56576002}">
      <dgm:prSet/>
      <dgm:spPr/>
      <dgm:t>
        <a:bodyPr/>
        <a:lstStyle/>
        <a:p>
          <a:endParaRPr lang="en-US" sz="2000"/>
        </a:p>
      </dgm:t>
    </dgm:pt>
    <dgm:pt modelId="{A4BDF35F-4035-41B5-B4B3-997CED395BCE}">
      <dgm:prSet custT="1"/>
      <dgm:spPr/>
      <dgm:t>
        <a:bodyPr/>
        <a:lstStyle/>
        <a:p>
          <a:r>
            <a:rPr lang="en-GB" sz="1800" dirty="0" smtClean="0"/>
            <a:t> JUST RIGHT: </a:t>
          </a:r>
          <a:r>
            <a:rPr lang="en-US" sz="1800" dirty="0" smtClean="0"/>
            <a:t>Balanced use of patterns</a:t>
          </a:r>
          <a:endParaRPr lang="en-GB" sz="1800" dirty="0"/>
        </a:p>
      </dgm:t>
    </dgm:pt>
    <dgm:pt modelId="{F184D0E8-8976-4423-9E03-E79E3AFBF058}" type="parTrans" cxnId="{28970A20-FA5B-4282-8A40-9095E9C2BBA8}">
      <dgm:prSet/>
      <dgm:spPr/>
      <dgm:t>
        <a:bodyPr/>
        <a:lstStyle/>
        <a:p>
          <a:endParaRPr lang="en-US" sz="2000"/>
        </a:p>
      </dgm:t>
    </dgm:pt>
    <dgm:pt modelId="{110D9A30-A0E1-4197-8B5F-D6D7D2402281}" type="sibTrans" cxnId="{28970A20-FA5B-4282-8A40-9095E9C2BBA8}">
      <dgm:prSet/>
      <dgm:spPr/>
      <dgm:t>
        <a:bodyPr/>
        <a:lstStyle/>
        <a:p>
          <a:endParaRPr lang="en-US" sz="2000"/>
        </a:p>
      </dgm:t>
    </dgm:pt>
    <dgm:pt modelId="{2F9ECEB0-D958-42E5-8649-C6EE5E3EFAC7}">
      <dgm:prSet custT="1"/>
      <dgm:spPr/>
      <dgm:t>
        <a:bodyPr/>
        <a:lstStyle/>
        <a:p>
          <a:r>
            <a:rPr lang="en-GB" sz="1800" dirty="0" smtClean="0"/>
            <a:t> Too Much Pattern: Over-engineering, complexity</a:t>
          </a:r>
          <a:endParaRPr lang="en-GB" sz="1800" dirty="0"/>
        </a:p>
      </dgm:t>
    </dgm:pt>
    <dgm:pt modelId="{7C6848D9-A3DB-4816-A139-ACB3853B30C2}" type="parTrans" cxnId="{E863FFF0-4EA0-4AC9-9603-7EC197A698F7}">
      <dgm:prSet/>
      <dgm:spPr/>
      <dgm:t>
        <a:bodyPr/>
        <a:lstStyle/>
        <a:p>
          <a:endParaRPr lang="en-US" sz="2000"/>
        </a:p>
      </dgm:t>
    </dgm:pt>
    <dgm:pt modelId="{A0FC0475-FBC7-4E2C-AEAB-FEA6359D503E}" type="sibTrans" cxnId="{E863FFF0-4EA0-4AC9-9603-7EC197A698F7}">
      <dgm:prSet/>
      <dgm:spPr/>
      <dgm:t>
        <a:bodyPr/>
        <a:lstStyle/>
        <a:p>
          <a:endParaRPr lang="en-US" sz="2000"/>
        </a:p>
      </dgm:t>
    </dgm:pt>
    <dgm:pt modelId="{9B28092C-8202-4DFD-9D89-CFC3CC64D69B}" type="pres">
      <dgm:prSet presAssocID="{677B0B90-D893-4214-8403-EEBDD481CFCC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8700156C-00C5-418A-A37F-F41879B253CE}" type="pres">
      <dgm:prSet presAssocID="{309F2387-2FFA-4D52-87EB-67C5FE95BD11}" presName="composite" presStyleCnt="0"/>
      <dgm:spPr/>
    </dgm:pt>
    <dgm:pt modelId="{6E2FA6CC-C965-4F3F-99F2-DA05AAD2B039}" type="pres">
      <dgm:prSet presAssocID="{309F2387-2FFA-4D52-87EB-67C5FE95BD11}" presName="BackAccent" presStyleLbl="bgShp" presStyleIdx="0" presStyleCnt="3" custScaleX="259374" custScaleY="259374"/>
      <dgm:spPr>
        <a:solidFill>
          <a:srgbClr val="C00000"/>
        </a:solidFill>
      </dgm:spPr>
    </dgm:pt>
    <dgm:pt modelId="{F74D70B6-D7DC-4829-8D29-E995E269E215}" type="pres">
      <dgm:prSet presAssocID="{309F2387-2FFA-4D52-87EB-67C5FE95BD11}" presName="Accent" presStyleLbl="alignNode1" presStyleIdx="0" presStyleCnt="3" custScaleX="285311" custScaleY="285311"/>
      <dgm:spPr>
        <a:solidFill>
          <a:schemeClr val="tx1"/>
        </a:solidFill>
        <a:ln>
          <a:solidFill>
            <a:srgbClr val="FF0000"/>
          </a:solidFill>
        </a:ln>
      </dgm:spPr>
    </dgm:pt>
    <dgm:pt modelId="{D2B6DD59-F8C7-424A-A72F-312DF23C30C8}" type="pres">
      <dgm:prSet presAssocID="{309F2387-2FFA-4D52-87EB-67C5FE95BD11}" presName="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4AF56769-A283-4FC4-B15B-0901F995EBD9}" type="pres">
      <dgm:prSet presAssocID="{309F2387-2FFA-4D52-87EB-67C5FE95BD11}" presName="Parent" presStyleLbl="revTx" presStyleIdx="0" presStyleCnt="3" custLinFactY="100000" custLinFactNeighborX="-49264" custLinFactNeighborY="114056">
        <dgm:presLayoutVars>
          <dgm:chMax val="1"/>
          <dgm:chPref val="1"/>
          <dgm:bulletEnabled val="1"/>
        </dgm:presLayoutVars>
      </dgm:prSet>
      <dgm:spPr/>
    </dgm:pt>
    <dgm:pt modelId="{D7C6F696-688F-4C04-85B6-36C692F35E77}" type="pres">
      <dgm:prSet presAssocID="{B39EEAD0-B280-43E6-8AFE-BF3E13D497AE}" presName="sibTrans" presStyleCnt="0"/>
      <dgm:spPr/>
    </dgm:pt>
    <dgm:pt modelId="{40C02E7C-5D80-48B3-A62F-295A5D890BB6}" type="pres">
      <dgm:prSet presAssocID="{A4BDF35F-4035-41B5-B4B3-997CED395BCE}" presName="composite" presStyleCnt="0"/>
      <dgm:spPr/>
    </dgm:pt>
    <dgm:pt modelId="{B48771FC-DC2D-43DE-8AA5-E3CABC595126}" type="pres">
      <dgm:prSet presAssocID="{A4BDF35F-4035-41B5-B4B3-997CED395BCE}" presName="BackAccent" presStyleLbl="bgShp" presStyleIdx="1" presStyleCnt="3" custScaleX="268219" custScaleY="268219"/>
      <dgm:spPr>
        <a:solidFill>
          <a:srgbClr val="C00000"/>
        </a:solidFill>
      </dgm:spPr>
    </dgm:pt>
    <dgm:pt modelId="{4301E467-C694-4E09-AC78-6473759F8B38}" type="pres">
      <dgm:prSet presAssocID="{A4BDF35F-4035-41B5-B4B3-997CED395BCE}" presName="Accent" presStyleLbl="alignNode1" presStyleIdx="1" presStyleCnt="3" custScaleX="285494" custScaleY="285494"/>
      <dgm:spPr>
        <a:solidFill>
          <a:schemeClr val="tx1"/>
        </a:solidFill>
        <a:ln>
          <a:solidFill>
            <a:srgbClr val="FF0000"/>
          </a:solidFill>
        </a:ln>
      </dgm:spPr>
    </dgm:pt>
    <dgm:pt modelId="{2126D61D-F6DC-444D-9027-F1C6FFB10765}" type="pres">
      <dgm:prSet presAssocID="{A4BDF35F-4035-41B5-B4B3-997CED395BCE}" presName="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2A0ACB6-69CA-4C08-93D9-5FD61F20DAB3}" type="pres">
      <dgm:prSet presAssocID="{A4BDF35F-4035-41B5-B4B3-997CED395BCE}" presName="Parent" presStyleLbl="revTx" presStyleIdx="1" presStyleCnt="3" custLinFactY="100000" custLinFactNeighborX="-56449" custLinFactNeighborY="111020">
        <dgm:presLayoutVars>
          <dgm:chMax val="1"/>
          <dgm:chPref val="1"/>
          <dgm:bulletEnabled val="1"/>
        </dgm:presLayoutVars>
      </dgm:prSet>
      <dgm:spPr/>
    </dgm:pt>
    <dgm:pt modelId="{8C359520-95B3-45DF-8771-D02AA5609FEF}" type="pres">
      <dgm:prSet presAssocID="{110D9A30-A0E1-4197-8B5F-D6D7D2402281}" presName="sibTrans" presStyleCnt="0"/>
      <dgm:spPr/>
    </dgm:pt>
    <dgm:pt modelId="{E2AA1E6B-DFAB-4C42-AB08-2A5E82A8AEC5}" type="pres">
      <dgm:prSet presAssocID="{2F9ECEB0-D958-42E5-8649-C6EE5E3EFAC7}" presName="composite" presStyleCnt="0"/>
      <dgm:spPr/>
    </dgm:pt>
    <dgm:pt modelId="{EE328A18-B4E9-4DE5-AF5D-45F9032B0214}" type="pres">
      <dgm:prSet presAssocID="{2F9ECEB0-D958-42E5-8649-C6EE5E3EFAC7}" presName="BackAccent" presStyleLbl="bgShp" presStyleIdx="2" presStyleCnt="3" custScaleX="266667" custScaleY="266667"/>
      <dgm:spPr>
        <a:solidFill>
          <a:srgbClr val="C00000"/>
        </a:solidFill>
      </dgm:spPr>
    </dgm:pt>
    <dgm:pt modelId="{95964D53-BFE4-49A8-9865-1FFB4FE12C88}" type="pres">
      <dgm:prSet presAssocID="{2F9ECEB0-D958-42E5-8649-C6EE5E3EFAC7}" presName="Accent" presStyleLbl="alignNode1" presStyleIdx="2" presStyleCnt="3" custScaleX="301918" custScaleY="301918"/>
      <dgm:spPr>
        <a:solidFill>
          <a:schemeClr val="tx1"/>
        </a:solidFill>
        <a:ln>
          <a:solidFill>
            <a:srgbClr val="FF0000"/>
          </a:solidFill>
        </a:ln>
      </dgm:spPr>
    </dgm:pt>
    <dgm:pt modelId="{5FFE7CF4-45A7-4306-9E11-B7876ED94347}" type="pres">
      <dgm:prSet presAssocID="{2F9ECEB0-D958-42E5-8649-C6EE5E3EFAC7}" presName="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54A0018-F53E-4EB7-B7C6-4AB5C987260D}" type="pres">
      <dgm:prSet presAssocID="{2F9ECEB0-D958-42E5-8649-C6EE5E3EFAC7}" presName="Parent" presStyleLbl="revTx" presStyleIdx="2" presStyleCnt="3" custLinFactY="98875" custLinFactNeighborX="-60041" custLinFactNeighborY="100000">
        <dgm:presLayoutVars>
          <dgm:chMax val="1"/>
          <dgm:chPref val="1"/>
          <dgm:bulletEnabled val="1"/>
        </dgm:presLayoutVars>
      </dgm:prSet>
      <dgm:spPr/>
    </dgm:pt>
  </dgm:ptLst>
  <dgm:cxnLst>
    <dgm:cxn modelId="{28970A20-FA5B-4282-8A40-9095E9C2BBA8}" srcId="{677B0B90-D893-4214-8403-EEBDD481CFCC}" destId="{A4BDF35F-4035-41B5-B4B3-997CED395BCE}" srcOrd="1" destOrd="0" parTransId="{F184D0E8-8976-4423-9E03-E79E3AFBF058}" sibTransId="{110D9A30-A0E1-4197-8B5F-D6D7D2402281}"/>
    <dgm:cxn modelId="{4FF14D22-F3ED-459F-88B2-FCA9F3E97FC2}" type="presOf" srcId="{677B0B90-D893-4214-8403-EEBDD481CFCC}" destId="{9B28092C-8202-4DFD-9D89-CFC3CC64D69B}" srcOrd="0" destOrd="0" presId="urn:microsoft.com/office/officeart/2008/layout/IncreasingCircleProcess"/>
    <dgm:cxn modelId="{98F0A880-8154-467A-A0DD-A4AF56576002}" srcId="{677B0B90-D893-4214-8403-EEBDD481CFCC}" destId="{309F2387-2FFA-4D52-87EB-67C5FE95BD11}" srcOrd="0" destOrd="0" parTransId="{7BF17D32-4EF4-41AC-B416-8065CD09B8DC}" sibTransId="{B39EEAD0-B280-43E6-8AFE-BF3E13D497AE}"/>
    <dgm:cxn modelId="{AA7E1A21-F596-4FF4-BAED-F6605F20EC19}" type="presOf" srcId="{A4BDF35F-4035-41B5-B4B3-997CED395BCE}" destId="{72A0ACB6-69CA-4C08-93D9-5FD61F20DAB3}" srcOrd="0" destOrd="0" presId="urn:microsoft.com/office/officeart/2008/layout/IncreasingCircleProcess"/>
    <dgm:cxn modelId="{E863FFF0-4EA0-4AC9-9603-7EC197A698F7}" srcId="{677B0B90-D893-4214-8403-EEBDD481CFCC}" destId="{2F9ECEB0-D958-42E5-8649-C6EE5E3EFAC7}" srcOrd="2" destOrd="0" parTransId="{7C6848D9-A3DB-4816-A139-ACB3853B30C2}" sibTransId="{A0FC0475-FBC7-4E2C-AEAB-FEA6359D503E}"/>
    <dgm:cxn modelId="{42CCEAFF-AD92-451F-B446-F966D599AC18}" type="presOf" srcId="{2F9ECEB0-D958-42E5-8649-C6EE5E3EFAC7}" destId="{154A0018-F53E-4EB7-B7C6-4AB5C987260D}" srcOrd="0" destOrd="0" presId="urn:microsoft.com/office/officeart/2008/layout/IncreasingCircleProcess"/>
    <dgm:cxn modelId="{9D7D39BE-18CF-4EF8-B1F8-0A85BF3817D7}" type="presOf" srcId="{309F2387-2FFA-4D52-87EB-67C5FE95BD11}" destId="{4AF56769-A283-4FC4-B15B-0901F995EBD9}" srcOrd="0" destOrd="0" presId="urn:microsoft.com/office/officeart/2008/layout/IncreasingCircleProcess"/>
    <dgm:cxn modelId="{3F88C8E6-DD46-46FB-B365-A19778B70112}" type="presParOf" srcId="{9B28092C-8202-4DFD-9D89-CFC3CC64D69B}" destId="{8700156C-00C5-418A-A37F-F41879B253CE}" srcOrd="0" destOrd="0" presId="urn:microsoft.com/office/officeart/2008/layout/IncreasingCircleProcess"/>
    <dgm:cxn modelId="{882765F0-49DF-41ED-BE33-5FA61F2B3E78}" type="presParOf" srcId="{8700156C-00C5-418A-A37F-F41879B253CE}" destId="{6E2FA6CC-C965-4F3F-99F2-DA05AAD2B039}" srcOrd="0" destOrd="0" presId="urn:microsoft.com/office/officeart/2008/layout/IncreasingCircleProcess"/>
    <dgm:cxn modelId="{D6ED6ABD-7950-4DFA-A1DF-96C4C8D2EB3D}" type="presParOf" srcId="{8700156C-00C5-418A-A37F-F41879B253CE}" destId="{F74D70B6-D7DC-4829-8D29-E995E269E215}" srcOrd="1" destOrd="0" presId="urn:microsoft.com/office/officeart/2008/layout/IncreasingCircleProcess"/>
    <dgm:cxn modelId="{5EEBFE7F-F73B-4DF8-BC64-F707B4C1D1FF}" type="presParOf" srcId="{8700156C-00C5-418A-A37F-F41879B253CE}" destId="{D2B6DD59-F8C7-424A-A72F-312DF23C30C8}" srcOrd="2" destOrd="0" presId="urn:microsoft.com/office/officeart/2008/layout/IncreasingCircleProcess"/>
    <dgm:cxn modelId="{83F2B053-E32A-4340-94FD-A06B09CE5AA5}" type="presParOf" srcId="{8700156C-00C5-418A-A37F-F41879B253CE}" destId="{4AF56769-A283-4FC4-B15B-0901F995EBD9}" srcOrd="3" destOrd="0" presId="urn:microsoft.com/office/officeart/2008/layout/IncreasingCircleProcess"/>
    <dgm:cxn modelId="{D610A93C-A182-45A1-9E01-35632BC929D6}" type="presParOf" srcId="{9B28092C-8202-4DFD-9D89-CFC3CC64D69B}" destId="{D7C6F696-688F-4C04-85B6-36C692F35E77}" srcOrd="1" destOrd="0" presId="urn:microsoft.com/office/officeart/2008/layout/IncreasingCircleProcess"/>
    <dgm:cxn modelId="{A82484C6-265C-48F6-8521-918B00C2440C}" type="presParOf" srcId="{9B28092C-8202-4DFD-9D89-CFC3CC64D69B}" destId="{40C02E7C-5D80-48B3-A62F-295A5D890BB6}" srcOrd="2" destOrd="0" presId="urn:microsoft.com/office/officeart/2008/layout/IncreasingCircleProcess"/>
    <dgm:cxn modelId="{FE7A889F-63CF-4A5A-A39D-86E40C6A9094}" type="presParOf" srcId="{40C02E7C-5D80-48B3-A62F-295A5D890BB6}" destId="{B48771FC-DC2D-43DE-8AA5-E3CABC595126}" srcOrd="0" destOrd="0" presId="urn:microsoft.com/office/officeart/2008/layout/IncreasingCircleProcess"/>
    <dgm:cxn modelId="{5C892429-E6E2-4F37-8479-3B3672D72B71}" type="presParOf" srcId="{40C02E7C-5D80-48B3-A62F-295A5D890BB6}" destId="{4301E467-C694-4E09-AC78-6473759F8B38}" srcOrd="1" destOrd="0" presId="urn:microsoft.com/office/officeart/2008/layout/IncreasingCircleProcess"/>
    <dgm:cxn modelId="{BC142821-F58C-4569-A192-3D9C957B6300}" type="presParOf" srcId="{40C02E7C-5D80-48B3-A62F-295A5D890BB6}" destId="{2126D61D-F6DC-444D-9027-F1C6FFB10765}" srcOrd="2" destOrd="0" presId="urn:microsoft.com/office/officeart/2008/layout/IncreasingCircleProcess"/>
    <dgm:cxn modelId="{9E1B9248-6D82-4461-AB6B-CE45B1D247FB}" type="presParOf" srcId="{40C02E7C-5D80-48B3-A62F-295A5D890BB6}" destId="{72A0ACB6-69CA-4C08-93D9-5FD61F20DAB3}" srcOrd="3" destOrd="0" presId="urn:microsoft.com/office/officeart/2008/layout/IncreasingCircleProcess"/>
    <dgm:cxn modelId="{B8F79AA9-4760-4F34-8862-B71C22079467}" type="presParOf" srcId="{9B28092C-8202-4DFD-9D89-CFC3CC64D69B}" destId="{8C359520-95B3-45DF-8771-D02AA5609FEF}" srcOrd="3" destOrd="0" presId="urn:microsoft.com/office/officeart/2008/layout/IncreasingCircleProcess"/>
    <dgm:cxn modelId="{2E4868E9-7BC6-42C3-AA6C-D23CDE9DDB48}" type="presParOf" srcId="{9B28092C-8202-4DFD-9D89-CFC3CC64D69B}" destId="{E2AA1E6B-DFAB-4C42-AB08-2A5E82A8AEC5}" srcOrd="4" destOrd="0" presId="urn:microsoft.com/office/officeart/2008/layout/IncreasingCircleProcess"/>
    <dgm:cxn modelId="{D12E1122-E4FE-4A28-9FFD-EAEA202B7450}" type="presParOf" srcId="{E2AA1E6B-DFAB-4C42-AB08-2A5E82A8AEC5}" destId="{EE328A18-B4E9-4DE5-AF5D-45F9032B0214}" srcOrd="0" destOrd="0" presId="urn:microsoft.com/office/officeart/2008/layout/IncreasingCircleProcess"/>
    <dgm:cxn modelId="{0E0B9C15-6441-42B8-AEA6-FA16915D4CB9}" type="presParOf" srcId="{E2AA1E6B-DFAB-4C42-AB08-2A5E82A8AEC5}" destId="{95964D53-BFE4-49A8-9865-1FFB4FE12C88}" srcOrd="1" destOrd="0" presId="urn:microsoft.com/office/officeart/2008/layout/IncreasingCircleProcess"/>
    <dgm:cxn modelId="{1EC9DF12-6908-4265-9D52-93B9AF80456D}" type="presParOf" srcId="{E2AA1E6B-DFAB-4C42-AB08-2A5E82A8AEC5}" destId="{5FFE7CF4-45A7-4306-9E11-B7876ED94347}" srcOrd="2" destOrd="0" presId="urn:microsoft.com/office/officeart/2008/layout/IncreasingCircleProcess"/>
    <dgm:cxn modelId="{FB099639-A296-403B-9913-235D103B41CD}" type="presParOf" srcId="{E2AA1E6B-DFAB-4C42-AB08-2A5E82A8AEC5}" destId="{154A0018-F53E-4EB7-B7C6-4AB5C987260D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FA6CC-C965-4F3F-99F2-DA05AAD2B039}">
      <dsp:nvSpPr>
        <dsp:cNvPr id="0" name=""/>
        <dsp:cNvSpPr/>
      </dsp:nvSpPr>
      <dsp:spPr>
        <a:xfrm>
          <a:off x="6299" y="15487"/>
          <a:ext cx="1816586" cy="1816586"/>
        </a:xfrm>
        <a:prstGeom prst="ellipse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4D70B6-D7DC-4829-8D29-E995E269E215}">
      <dsp:nvSpPr>
        <dsp:cNvPr id="0" name=""/>
        <dsp:cNvSpPr/>
      </dsp:nvSpPr>
      <dsp:spPr>
        <a:xfrm>
          <a:off x="115296" y="124483"/>
          <a:ext cx="1598593" cy="1598593"/>
        </a:xfrm>
        <a:prstGeom prst="chord">
          <a:avLst>
            <a:gd name="adj1" fmla="val 1168272"/>
            <a:gd name="adj2" fmla="val 9631728"/>
          </a:avLst>
        </a:prstGeom>
        <a:solidFill>
          <a:schemeClr val="tx1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56769-A283-4FC4-B15B-0901F995EBD9}">
      <dsp:nvSpPr>
        <dsp:cNvPr id="0" name=""/>
        <dsp:cNvSpPr/>
      </dsp:nvSpPr>
      <dsp:spPr>
        <a:xfrm>
          <a:off x="389971" y="2072784"/>
          <a:ext cx="2071937" cy="700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Too Little Pattern: Spaghetti code, hard to maintain</a:t>
          </a:r>
          <a:endParaRPr lang="en-GB" sz="1800" kern="1200" dirty="0"/>
        </a:p>
      </dsp:txBody>
      <dsp:txXfrm>
        <a:off x="389971" y="2072784"/>
        <a:ext cx="2071937" cy="700373"/>
      </dsp:txXfrm>
    </dsp:sp>
    <dsp:sp modelId="{B48771FC-DC2D-43DE-8AA5-E3CABC595126}">
      <dsp:nvSpPr>
        <dsp:cNvPr id="0" name=""/>
        <dsp:cNvSpPr/>
      </dsp:nvSpPr>
      <dsp:spPr>
        <a:xfrm>
          <a:off x="3628539" y="0"/>
          <a:ext cx="1878534" cy="1878534"/>
        </a:xfrm>
        <a:prstGeom prst="ellipse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1E467-C694-4E09-AC78-6473759F8B38}">
      <dsp:nvSpPr>
        <dsp:cNvPr id="0" name=""/>
        <dsp:cNvSpPr/>
      </dsp:nvSpPr>
      <dsp:spPr>
        <a:xfrm>
          <a:off x="3767996" y="139457"/>
          <a:ext cx="1599618" cy="1599618"/>
        </a:xfrm>
        <a:prstGeom prst="chord">
          <a:avLst>
            <a:gd name="adj1" fmla="val 20431728"/>
            <a:gd name="adj2" fmla="val 11968272"/>
          </a:avLst>
        </a:prstGeom>
        <a:solidFill>
          <a:schemeClr val="tx1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0ACB6-69CA-4C08-93D9-5FD61F20DAB3}">
      <dsp:nvSpPr>
        <dsp:cNvPr id="0" name=""/>
        <dsp:cNvSpPr/>
      </dsp:nvSpPr>
      <dsp:spPr>
        <a:xfrm>
          <a:off x="3894316" y="2067008"/>
          <a:ext cx="2071937" cy="700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 JUST RIGHT: </a:t>
          </a:r>
          <a:r>
            <a:rPr lang="en-US" sz="1800" kern="1200" dirty="0" smtClean="0"/>
            <a:t>Balanced use of patterns</a:t>
          </a:r>
          <a:endParaRPr lang="en-GB" sz="1800" kern="1200" dirty="0"/>
        </a:p>
      </dsp:txBody>
      <dsp:txXfrm>
        <a:off x="3894316" y="2067008"/>
        <a:ext cx="2071937" cy="700373"/>
      </dsp:txXfrm>
    </dsp:sp>
    <dsp:sp modelId="{EE328A18-B4E9-4DE5-AF5D-45F9032B0214}">
      <dsp:nvSpPr>
        <dsp:cNvPr id="0" name=""/>
        <dsp:cNvSpPr/>
      </dsp:nvSpPr>
      <dsp:spPr>
        <a:xfrm>
          <a:off x="7281752" y="2717"/>
          <a:ext cx="1867664" cy="1867664"/>
        </a:xfrm>
        <a:prstGeom prst="ellipse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964D53-BFE4-49A8-9865-1FFB4FE12C88}">
      <dsp:nvSpPr>
        <dsp:cNvPr id="0" name=""/>
        <dsp:cNvSpPr/>
      </dsp:nvSpPr>
      <dsp:spPr>
        <a:xfrm>
          <a:off x="7369763" y="90728"/>
          <a:ext cx="1691642" cy="1691642"/>
        </a:xfrm>
        <a:prstGeom prst="chord">
          <a:avLst>
            <a:gd name="adj1" fmla="val 16200000"/>
            <a:gd name="adj2" fmla="val 16200000"/>
          </a:avLst>
        </a:prstGeom>
        <a:solidFill>
          <a:schemeClr val="tx1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4A0018-F53E-4EB7-B7C6-4AB5C987260D}">
      <dsp:nvSpPr>
        <dsp:cNvPr id="0" name=""/>
        <dsp:cNvSpPr/>
      </dsp:nvSpPr>
      <dsp:spPr>
        <a:xfrm>
          <a:off x="7467670" y="1979230"/>
          <a:ext cx="2071937" cy="700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 Too Much Pattern: Over-engineering, complexity</a:t>
          </a:r>
          <a:endParaRPr lang="en-GB" sz="1800" kern="1200" dirty="0"/>
        </a:p>
      </dsp:txBody>
      <dsp:txXfrm>
        <a:off x="7467670" y="1979230"/>
        <a:ext cx="2071937" cy="700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BB1E-7BD0-4EDB-8B93-54C4F735030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07F15-511E-42B6-87B9-F823CFC13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>
                <a:effectLst/>
              </a:rPr>
              <a:t>When your code depends on interfaces, you can easily substitute the real implementation with a </a:t>
            </a:r>
            <a:r>
              <a:rPr lang="en-GB" i="1" dirty="0" smtClean="0">
                <a:effectLst/>
              </a:rPr>
              <a:t>mock</a:t>
            </a:r>
            <a:r>
              <a:rPr lang="en-GB" dirty="0" smtClean="0">
                <a:effectLst/>
              </a:rPr>
              <a:t> or </a:t>
            </a:r>
            <a:r>
              <a:rPr lang="en-GB" i="1" dirty="0" smtClean="0">
                <a:effectLst/>
              </a:rPr>
              <a:t>stub</a:t>
            </a:r>
            <a:r>
              <a:rPr lang="en-GB" dirty="0" smtClean="0">
                <a:effectLst/>
              </a:rPr>
              <a:t> during unit testing. For example, if a </a:t>
            </a:r>
            <a:r>
              <a:rPr lang="en-GB" dirty="0" err="1" smtClean="0">
                <a:effectLst/>
              </a:rPr>
              <a:t>PaymentProcessor</a:t>
            </a:r>
            <a:r>
              <a:rPr lang="en-GB" dirty="0" smtClean="0">
                <a:effectLst/>
              </a:rPr>
              <a:t> depends on an </a:t>
            </a:r>
            <a:r>
              <a:rPr lang="en-GB" dirty="0" err="1" smtClean="0">
                <a:effectLst/>
              </a:rPr>
              <a:t>IPaymentMethod</a:t>
            </a:r>
            <a:r>
              <a:rPr lang="en-GB" dirty="0" smtClean="0">
                <a:effectLst/>
              </a:rPr>
              <a:t> interface, you can inject a fake </a:t>
            </a:r>
            <a:r>
              <a:rPr lang="en-GB" dirty="0" err="1" smtClean="0">
                <a:effectLst/>
              </a:rPr>
              <a:t>MockPaymentMethod</a:t>
            </a:r>
            <a:r>
              <a:rPr lang="en-GB" dirty="0" smtClean="0">
                <a:effectLst/>
              </a:rPr>
              <a:t> in tests instead of calling a real credit card API.</a:t>
            </a:r>
            <a:endParaRPr lang="en-GB" dirty="0" smtClean="0"/>
          </a:p>
          <a:p>
            <a:r>
              <a:rPr lang="en-GB" b="1" dirty="0" smtClean="0">
                <a:effectLst/>
              </a:rPr>
              <a:t>“Making mocking trivial”:</a:t>
            </a:r>
            <a:r>
              <a:rPr lang="en-GB" dirty="0" smtClean="0">
                <a:effectLst/>
              </a:rPr>
              <a:t> Because the dependency is abstract, mocking frameworks (like </a:t>
            </a:r>
            <a:r>
              <a:rPr lang="en-GB" dirty="0" err="1" smtClean="0">
                <a:effectLst/>
              </a:rPr>
              <a:t>Mockito</a:t>
            </a:r>
            <a:r>
              <a:rPr lang="en-GB" dirty="0" smtClean="0">
                <a:effectLst/>
              </a:rPr>
              <a:t> in Java or Google Test in C++) can quickly generate fake objects that behave like the interface. This makes it straightforward to isolate the unit under test and verify its </a:t>
            </a:r>
            <a:r>
              <a:rPr lang="en-GB" dirty="0" err="1" smtClean="0">
                <a:effectLst/>
              </a:rPr>
              <a:t>behavior</a:t>
            </a:r>
            <a:r>
              <a:rPr lang="en-GB" dirty="0" smtClean="0">
                <a:effectLst/>
              </a:rPr>
              <a:t> without relying on external systems.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39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9E94-90A1-4D8E-9DBA-4CBDDFEF340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8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157B-721A-4B32-933B-37F850A0BF0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rial Black" panose="020B0A04020102020204" pitchFamily="34" charset="0"/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483F-910E-4F41-8EA5-E60A08BBBDE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9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82A-2D5E-47FD-9E3D-CAC8500BCB56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6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0E86-D13F-4C1E-BF6D-69D2CC69AC5D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6ED9-6E5B-40D1-A641-CD88D8E1F14F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6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113-0E2E-4331-BAD3-4FEE8D872057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2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E413-A667-4ACC-8054-065E23D8A533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523-65B9-42AE-A752-FECD55F4A714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C544-0A88-4771-91D8-7B5B1B065B47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1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0C45-A6FE-4B6C-BB3C-31DFE35EAD4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DB53-32E3-4E44-A94E-06B443D84359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1600"/>
            <a:ext cx="4114800" cy="26987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56A2-C75C-4055-B942-4543DDA5E96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Half Frame 6"/>
          <p:cNvSpPr/>
          <p:nvPr userDrawn="1"/>
        </p:nvSpPr>
        <p:spPr>
          <a:xfrm>
            <a:off x="0" y="0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 userDrawn="1"/>
        </p:nvSpPr>
        <p:spPr>
          <a:xfrm rot="10800000">
            <a:off x="-1" y="17232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22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and Analysis CS3004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</p:spTree>
    <p:extLst>
      <p:ext uri="{BB962C8B-B14F-4D97-AF65-F5344CB8AC3E}">
        <p14:creationId xmlns:p14="http://schemas.microsoft.com/office/powerpoint/2010/main" val="232316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Design Patterns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DESIGN PATTERNS?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/>
              <a:t>You have already mastered SOLID </a:t>
            </a:r>
            <a:r>
              <a:rPr lang="en-US" sz="3200" dirty="0" smtClean="0"/>
              <a:t>principles; </a:t>
            </a:r>
            <a:r>
              <a:rPr lang="en-US" sz="3200" dirty="0"/>
              <a:t>the rules for writing good classes. </a:t>
            </a:r>
            <a:endParaRPr lang="en-US" sz="3200" dirty="0" smtClean="0"/>
          </a:p>
          <a:p>
            <a:pPr marL="0" indent="0" algn="just">
              <a:buNone/>
            </a:pPr>
            <a:r>
              <a:rPr lang="en-US" sz="3200" dirty="0" smtClean="0"/>
              <a:t>You </a:t>
            </a:r>
            <a:r>
              <a:rPr lang="en-US" sz="3200" dirty="0"/>
              <a:t>know how to draw UML class diagrams, trace execution with sequence diagrams, model workflows with activity diagrams, and capture state transitions with state machines. </a:t>
            </a:r>
            <a:endParaRPr lang="en-US" sz="3200" dirty="0" smtClean="0"/>
          </a:p>
          <a:p>
            <a:pPr marL="0" indent="0" algn="just">
              <a:buNone/>
            </a:pPr>
            <a:r>
              <a:rPr lang="en-US" sz="3200" dirty="0" smtClean="0"/>
              <a:t>So </a:t>
            </a:r>
            <a:r>
              <a:rPr lang="en-US" sz="3200" dirty="0"/>
              <a:t>why introduce yet another layer of knowledge?</a:t>
            </a:r>
          </a:p>
          <a:p>
            <a:pPr marL="0" indent="0" algn="just">
              <a:buNone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1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The answer is simple: principles tell you what to aim for; patterns show you how to get there.</a:t>
            </a:r>
            <a:endParaRPr lang="en-US" sz="5400" dirty="0"/>
          </a:p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9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 of Recurring Design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 large software system faces a small set of recurring problems:</a:t>
            </a:r>
          </a:p>
          <a:p>
            <a:pPr lvl="0"/>
            <a:r>
              <a:rPr lang="en-US" dirty="0"/>
              <a:t>How should objects be created without hard-coding their exact classes?</a:t>
            </a:r>
          </a:p>
          <a:p>
            <a:pPr lvl="0"/>
            <a:r>
              <a:rPr lang="en-US" dirty="0"/>
              <a:t>How can two incompatible interfaces be made to work together?</a:t>
            </a:r>
          </a:p>
          <a:p>
            <a:pPr lvl="0"/>
            <a:r>
              <a:rPr lang="en-US" dirty="0"/>
              <a:t>How can an object change its behavior at runtime without using giant if-else trees?</a:t>
            </a:r>
          </a:p>
          <a:p>
            <a:pPr lvl="0"/>
            <a:r>
              <a:rPr lang="en-US" dirty="0"/>
              <a:t>How can one part of the system be notified when another part changes?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1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Experienced engineers solved these problems decades ago. Design patterns are their reusable, named, peer-reviewed solutions — a shared vocabulary that makes collaboration faster and code reviews more meaningful.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1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scenario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You're working on a project and need to create 100 similar objects efficiently. You write code, but later discover it's slow and hard to maintain. Your colleague says, 'Why didn't you just use a Factory Pattern?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Every developer faces similar problems repeatedly</a:t>
            </a:r>
          </a:p>
          <a:p>
            <a:r>
              <a:rPr lang="en-GB" dirty="0"/>
              <a:t>Without patterns, we create </a:t>
            </a:r>
            <a:r>
              <a:rPr lang="en-GB" b="1" dirty="0"/>
              <a:t>ad-hoc solutions</a:t>
            </a:r>
            <a:r>
              <a:rPr lang="en-GB" dirty="0"/>
              <a:t> that are:</a:t>
            </a:r>
          </a:p>
          <a:p>
            <a:pPr lvl="1"/>
            <a:r>
              <a:rPr lang="en-GB" dirty="0"/>
              <a:t>Hard to understand</a:t>
            </a:r>
          </a:p>
          <a:p>
            <a:pPr lvl="1"/>
            <a:r>
              <a:rPr lang="en-GB" dirty="0"/>
              <a:t>Difficult to maintain</a:t>
            </a:r>
          </a:p>
          <a:p>
            <a:pPr lvl="1"/>
            <a:r>
              <a:rPr lang="en-GB" dirty="0"/>
              <a:t>Prone to errors</a:t>
            </a:r>
          </a:p>
          <a:p>
            <a:pPr lvl="1"/>
            <a:r>
              <a:rPr lang="en-GB" dirty="0"/>
              <a:t>Not reusable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3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Design Pattern?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design pattern is a general, reusable solution to a commonly occurring problem within a given context in software </a:t>
            </a:r>
            <a:r>
              <a:rPr lang="en-GB" dirty="0" smtClean="0"/>
              <a:t>design.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6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Cookbook Recipe vs. Improvisation</a:t>
            </a:r>
            <a:r>
              <a:rPr lang="en-GB" dirty="0" smtClean="0"/>
              <a:t>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286" y="1430854"/>
            <a:ext cx="4883427" cy="488342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7031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of Design Patterns (The "Why")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12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Maintainability — Change one class without touching others</a:t>
            </a:r>
          </a:p>
          <a:p>
            <a:pPr lvl="0"/>
            <a:r>
              <a:rPr lang="en-US" dirty="0"/>
              <a:t>Scalability — Add new features by adding new classes, not editing old ones</a:t>
            </a:r>
          </a:p>
          <a:p>
            <a:pPr lvl="0"/>
            <a:r>
              <a:rPr lang="en-US" dirty="0"/>
              <a:t>Flexibility — Swap algorithms, implementations, or behaviors at runtime</a:t>
            </a:r>
          </a:p>
          <a:p>
            <a:pPr lvl="0"/>
            <a:r>
              <a:rPr lang="en-US" dirty="0"/>
              <a:t>Communication — Say "use a Strategy here" instead of a 10-minute explanation</a:t>
            </a:r>
          </a:p>
          <a:p>
            <a:pPr lvl="0"/>
            <a:r>
              <a:rPr lang="en-US" dirty="0"/>
              <a:t>Testability — Patterns encourage coding to interfaces, making mocking trivial</a:t>
            </a:r>
          </a:p>
        </p:txBody>
      </p:sp>
    </p:spTree>
    <p:extLst>
      <p:ext uri="{BB962C8B-B14F-4D97-AF65-F5344CB8AC3E}">
        <p14:creationId xmlns:p14="http://schemas.microsoft.com/office/powerpoint/2010/main" val="420621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9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Three Categories of Problems Patterns Solve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447809"/>
              </p:ext>
            </p:extLst>
          </p:nvPr>
        </p:nvGraphicFramePr>
        <p:xfrm>
          <a:off x="838199" y="1818167"/>
          <a:ext cx="10515600" cy="408304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010081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695659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62312125"/>
                    </a:ext>
                  </a:extLst>
                </a:gridCol>
              </a:tblGrid>
              <a:tr h="725996">
                <a:tc>
                  <a:txBody>
                    <a:bodyPr/>
                    <a:lstStyle/>
                    <a:p>
                      <a:pPr algn="l"/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Problem Type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Example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Pattern Solution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586648"/>
                  </a:ext>
                </a:extLst>
              </a:tr>
              <a:tr h="1315527">
                <a:tc>
                  <a:txBody>
                    <a:bodyPr/>
                    <a:lstStyle/>
                    <a:p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Creation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How to create objects flexibly?</a:t>
                      </a:r>
                      <a:endParaRPr lang="en-GB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Factory, Singleton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71886"/>
                  </a:ext>
                </a:extLst>
              </a:tr>
              <a:tr h="1020762">
                <a:tc>
                  <a:txBody>
                    <a:bodyPr/>
                    <a:lstStyle/>
                    <a:p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Structure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How to compose objects?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Adapter, Decorator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02785"/>
                  </a:ext>
                </a:extLst>
              </a:tr>
              <a:tr h="1020762">
                <a:tc>
                  <a:txBody>
                    <a:bodyPr/>
                    <a:lstStyle/>
                    <a:p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Behavior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cap="none" spc="5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How objects communicate?</a:t>
                      </a:r>
                      <a:endParaRPr lang="en-US" b="1" cap="none" spc="5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R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cap="none" spc="50" dirty="0">
                          <a:ln w="9525" cmpd="sng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70AD47">
                              <a:tint val="1000"/>
                            </a:srgbClr>
                          </a:solidFill>
                          <a:effectLst>
                            <a:glow rad="38100">
                              <a:schemeClr val="accent1">
                                <a:alpha val="40000"/>
                              </a:schemeClr>
                            </a:glow>
                          </a:effectLst>
                        </a:rPr>
                        <a:t>Observer, Strategy</a:t>
                      </a:r>
                      <a:endParaRPr lang="en-US" b="1" cap="none" spc="50" dirty="0">
                        <a:ln w="9525" cmpd="sng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70AD47">
                            <a:tint val="1000"/>
                          </a:srgbClr>
                        </a:solidFill>
                        <a:effectLst>
                          <a:glow rad="38100">
                            <a:schemeClr val="accent1">
                              <a:alpha val="40000"/>
                            </a:schemeClr>
                          </a:glow>
                        </a:effectLst>
                        <a:latin typeface="quote-cjk-patch"/>
                      </a:endParaRPr>
                    </a:p>
                  </a:txBody>
                  <a:tcPr marL="101600" marT="63500" marB="63500" anchor="ctr">
                    <a:cell3D prstMaterial="dkEdge">
                      <a:bevel prst="artDeco"/>
                      <a:lightRig rig="flood" dir="t"/>
                    </a:cell3D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291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81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Signs You Need Design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Code in next slide ..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6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935" y="414670"/>
            <a:ext cx="10917865" cy="57622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00" dirty="0"/>
              <a:t>// ❌ WITHOUT Pattern - Code Smells</a:t>
            </a:r>
          </a:p>
          <a:p>
            <a:pPr marL="0" indent="0">
              <a:buNone/>
            </a:pPr>
            <a:r>
              <a:rPr lang="en-US" sz="900" dirty="0"/>
              <a:t>class </a:t>
            </a:r>
            <a:r>
              <a:rPr lang="en-US" sz="900" dirty="0" err="1"/>
              <a:t>BadExample</a:t>
            </a:r>
            <a:r>
              <a:rPr lang="en-US" sz="900" dirty="0"/>
              <a:t> {</a:t>
            </a:r>
          </a:p>
          <a:p>
            <a:pPr marL="0" indent="0">
              <a:buNone/>
            </a:pPr>
            <a:r>
              <a:rPr lang="en-US" sz="900" dirty="0"/>
              <a:t>    // Problem 1: Hard-coded object creation</a:t>
            </a:r>
          </a:p>
          <a:p>
            <a:pPr marL="0" indent="0">
              <a:buNone/>
            </a:pPr>
            <a:r>
              <a:rPr lang="en-US" sz="900" dirty="0"/>
              <a:t>    </a:t>
            </a:r>
            <a:r>
              <a:rPr lang="en-US" sz="900" dirty="0" err="1"/>
              <a:t>DatabaseConnection</a:t>
            </a:r>
            <a:r>
              <a:rPr lang="en-US" sz="900" dirty="0"/>
              <a:t> db1 = new </a:t>
            </a:r>
            <a:r>
              <a:rPr lang="en-US" sz="900" dirty="0" err="1"/>
              <a:t>DatabaseConnection</a:t>
            </a:r>
            <a:r>
              <a:rPr lang="en-US" sz="900" dirty="0"/>
              <a:t>("localhost");</a:t>
            </a:r>
          </a:p>
          <a:p>
            <a:pPr marL="0" indent="0">
              <a:buNone/>
            </a:pPr>
            <a:r>
              <a:rPr lang="en-US" sz="900" dirty="0"/>
              <a:t>    </a:t>
            </a:r>
            <a:r>
              <a:rPr lang="en-US" sz="900" dirty="0" err="1"/>
              <a:t>DatabaseConnection</a:t>
            </a:r>
            <a:r>
              <a:rPr lang="en-US" sz="900" dirty="0"/>
              <a:t> db2 = new </a:t>
            </a:r>
            <a:r>
              <a:rPr lang="en-US" sz="900" dirty="0" err="1"/>
              <a:t>DatabaseConnection</a:t>
            </a:r>
            <a:r>
              <a:rPr lang="en-US" sz="900" dirty="0"/>
              <a:t>("localhost");</a:t>
            </a:r>
          </a:p>
          <a:p>
            <a:pPr marL="0" indent="0">
              <a:buNone/>
            </a:pPr>
            <a:r>
              <a:rPr lang="en-US" sz="900" dirty="0"/>
              <a:t>    </a:t>
            </a:r>
            <a:r>
              <a:rPr lang="en-US" sz="900" dirty="0" err="1"/>
              <a:t>DatabaseConnection</a:t>
            </a:r>
            <a:r>
              <a:rPr lang="en-US" sz="900" dirty="0"/>
              <a:t> db3 = new </a:t>
            </a:r>
            <a:r>
              <a:rPr lang="en-US" sz="900" dirty="0" err="1"/>
              <a:t>DatabaseConnection</a:t>
            </a:r>
            <a:r>
              <a:rPr lang="en-US" sz="900" dirty="0"/>
              <a:t>("localhost");</a:t>
            </a:r>
          </a:p>
          <a:p>
            <a:pPr marL="0" indent="0">
              <a:buNone/>
            </a:pPr>
            <a:r>
              <a:rPr lang="en-US" sz="900" dirty="0"/>
              <a:t>    </a:t>
            </a:r>
          </a:p>
          <a:p>
            <a:pPr marL="0" indent="0">
              <a:buNone/>
            </a:pPr>
            <a:r>
              <a:rPr lang="en-US" sz="900" dirty="0"/>
              <a:t>    // Problem 2: Tight coupling</a:t>
            </a:r>
          </a:p>
          <a:p>
            <a:pPr marL="0" indent="0">
              <a:buNone/>
            </a:pPr>
            <a:r>
              <a:rPr lang="en-US" sz="900" dirty="0"/>
              <a:t>    </a:t>
            </a:r>
            <a:r>
              <a:rPr lang="en-US" sz="900" dirty="0" err="1"/>
              <a:t>PayPalPayment</a:t>
            </a:r>
            <a:r>
              <a:rPr lang="en-US" sz="900" dirty="0"/>
              <a:t> payment = new </a:t>
            </a:r>
            <a:r>
              <a:rPr lang="en-US" sz="900" dirty="0" err="1"/>
              <a:t>PayPalPayment</a:t>
            </a:r>
            <a:r>
              <a:rPr lang="en-US" sz="900" dirty="0"/>
              <a:t>();</a:t>
            </a:r>
          </a:p>
          <a:p>
            <a:pPr marL="0" indent="0">
              <a:buNone/>
            </a:pPr>
            <a:r>
              <a:rPr lang="en-US" sz="900" dirty="0"/>
              <a:t>    </a:t>
            </a:r>
          </a:p>
          <a:p>
            <a:pPr marL="0" indent="0">
              <a:buNone/>
            </a:pPr>
            <a:r>
              <a:rPr lang="en-US" sz="900" dirty="0"/>
              <a:t>    // Problem 3: No flexibility</a:t>
            </a:r>
          </a:p>
          <a:p>
            <a:pPr marL="0" indent="0">
              <a:buNone/>
            </a:pPr>
            <a:r>
              <a:rPr lang="en-US" sz="900" dirty="0"/>
              <a:t>    if(</a:t>
            </a:r>
            <a:r>
              <a:rPr lang="en-US" sz="900" dirty="0" err="1"/>
              <a:t>userType.equals</a:t>
            </a:r>
            <a:r>
              <a:rPr lang="en-US" sz="900" dirty="0"/>
              <a:t>("admin")) {</a:t>
            </a:r>
          </a:p>
          <a:p>
            <a:pPr marL="0" indent="0">
              <a:buNone/>
            </a:pPr>
            <a:r>
              <a:rPr lang="en-US" sz="900" dirty="0"/>
              <a:t>        // Duplicate code everywhere</a:t>
            </a:r>
          </a:p>
          <a:p>
            <a:pPr marL="0" indent="0">
              <a:buNone/>
            </a:pPr>
            <a:r>
              <a:rPr lang="en-US" sz="900" dirty="0"/>
              <a:t>    }</a:t>
            </a:r>
          </a:p>
          <a:p>
            <a:pPr marL="0" indent="0">
              <a:buNone/>
            </a:pPr>
            <a:r>
              <a:rPr lang="en-US" sz="900" dirty="0"/>
              <a:t>}</a:t>
            </a:r>
          </a:p>
          <a:p>
            <a:endParaRPr lang="en-US" sz="900" dirty="0"/>
          </a:p>
          <a:p>
            <a:pPr marL="0" indent="0">
              <a:buNone/>
            </a:pPr>
            <a:r>
              <a:rPr lang="en-US" sz="900" dirty="0" smtClean="0"/>
              <a:t>// </a:t>
            </a:r>
            <a:r>
              <a:rPr lang="en-US" sz="900" dirty="0"/>
              <a:t>WITH Pattern - Clean Solution</a:t>
            </a:r>
          </a:p>
          <a:p>
            <a:pPr marL="0" indent="0">
              <a:buNone/>
            </a:pPr>
            <a:r>
              <a:rPr lang="en-US" sz="900" dirty="0"/>
              <a:t>class </a:t>
            </a:r>
            <a:r>
              <a:rPr lang="en-US" sz="900" dirty="0" err="1"/>
              <a:t>GoodExample</a:t>
            </a:r>
            <a:r>
              <a:rPr lang="en-US" sz="900" dirty="0"/>
              <a:t> {</a:t>
            </a:r>
          </a:p>
          <a:p>
            <a:pPr marL="0" indent="0">
              <a:buNone/>
            </a:pPr>
            <a:r>
              <a:rPr lang="en-US" sz="900" dirty="0"/>
              <a:t>    // Singleton Pattern - One connection</a:t>
            </a:r>
          </a:p>
          <a:p>
            <a:pPr marL="0" indent="0">
              <a:buNone/>
            </a:pPr>
            <a:r>
              <a:rPr lang="en-US" sz="900" dirty="0"/>
              <a:t>    </a:t>
            </a:r>
            <a:r>
              <a:rPr lang="en-US" sz="900" dirty="0" err="1"/>
              <a:t>DatabaseConnection</a:t>
            </a:r>
            <a:r>
              <a:rPr lang="en-US" sz="900" dirty="0"/>
              <a:t> </a:t>
            </a:r>
            <a:r>
              <a:rPr lang="en-US" sz="900" dirty="0" err="1"/>
              <a:t>db</a:t>
            </a:r>
            <a:r>
              <a:rPr lang="en-US" sz="900" dirty="0"/>
              <a:t> = </a:t>
            </a:r>
            <a:r>
              <a:rPr lang="en-US" sz="900" dirty="0" err="1"/>
              <a:t>DatabaseConnection.getInstance</a:t>
            </a:r>
            <a:r>
              <a:rPr lang="en-US" sz="900" dirty="0"/>
              <a:t>();</a:t>
            </a:r>
          </a:p>
          <a:p>
            <a:pPr marL="0" indent="0">
              <a:buNone/>
            </a:pPr>
            <a:r>
              <a:rPr lang="en-US" sz="900" dirty="0"/>
              <a:t>    </a:t>
            </a:r>
          </a:p>
          <a:p>
            <a:pPr marL="0" indent="0">
              <a:buNone/>
            </a:pPr>
            <a:r>
              <a:rPr lang="en-US" sz="900" dirty="0"/>
              <a:t>    // Strategy Pattern - Flexible payment</a:t>
            </a:r>
          </a:p>
          <a:p>
            <a:pPr marL="0" indent="0">
              <a:buNone/>
            </a:pPr>
            <a:r>
              <a:rPr lang="en-US" sz="900" dirty="0"/>
              <a:t>    </a:t>
            </a:r>
            <a:r>
              <a:rPr lang="en-US" sz="900" dirty="0" err="1"/>
              <a:t>PaymentStrategy</a:t>
            </a:r>
            <a:r>
              <a:rPr lang="en-US" sz="900" dirty="0"/>
              <a:t> payment = </a:t>
            </a:r>
            <a:r>
              <a:rPr lang="en-US" sz="900" dirty="0" err="1"/>
              <a:t>PaymentFactory.getPayment</a:t>
            </a:r>
            <a:r>
              <a:rPr lang="en-US" sz="900" dirty="0"/>
              <a:t>("</a:t>
            </a:r>
            <a:r>
              <a:rPr lang="en-US" sz="900" dirty="0" err="1"/>
              <a:t>paypal</a:t>
            </a:r>
            <a:r>
              <a:rPr lang="en-US" sz="900" dirty="0"/>
              <a:t>");</a:t>
            </a:r>
          </a:p>
          <a:p>
            <a:pPr marL="0" indent="0">
              <a:buNone/>
            </a:pPr>
            <a:r>
              <a:rPr lang="en-US" sz="900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9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Gang of Four (</a:t>
            </a:r>
            <a:r>
              <a:rPr lang="en-GB" dirty="0" err="1"/>
              <a:t>GoF</a:t>
            </a:r>
            <a:r>
              <a:rPr lang="en-GB" dirty="0"/>
              <a:t>) Design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Who Are the Gang of Four</a:t>
            </a:r>
          </a:p>
          <a:p>
            <a:r>
              <a:rPr lang="en-GB" b="1" dirty="0"/>
              <a:t>The Authors:</a:t>
            </a:r>
            <a:endParaRPr lang="en-GB" dirty="0"/>
          </a:p>
          <a:p>
            <a:r>
              <a:rPr lang="en-GB" dirty="0"/>
              <a:t>Erich </a:t>
            </a:r>
            <a:r>
              <a:rPr lang="en-GB" dirty="0" smtClean="0"/>
              <a:t>Gamma ,Richard </a:t>
            </a:r>
            <a:r>
              <a:rPr lang="en-GB" dirty="0" err="1" smtClean="0"/>
              <a:t>Helm,Ralph</a:t>
            </a:r>
            <a:r>
              <a:rPr lang="en-GB" dirty="0" smtClean="0"/>
              <a:t> Johnson , John </a:t>
            </a:r>
            <a:r>
              <a:rPr lang="en-GB" dirty="0" err="1"/>
              <a:t>Vlissides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Their Book:</a:t>
            </a:r>
            <a:r>
              <a:rPr lang="en-GB" dirty="0"/>
              <a:t> "Design Patterns: Elements of Reusable Object-Oriented Software" (1994)</a:t>
            </a:r>
          </a:p>
          <a:p>
            <a:r>
              <a:rPr lang="en-GB" b="1" dirty="0"/>
              <a:t>Impact:</a:t>
            </a:r>
            <a:endParaRPr lang="en-GB" dirty="0"/>
          </a:p>
          <a:p>
            <a:pPr lvl="1"/>
            <a:r>
              <a:rPr lang="en-GB" dirty="0"/>
              <a:t>500,000+ copies sold</a:t>
            </a:r>
          </a:p>
          <a:p>
            <a:pPr lvl="1"/>
            <a:r>
              <a:rPr lang="en-GB" dirty="0"/>
              <a:t>Cited in 50,000+ research papers</a:t>
            </a:r>
          </a:p>
          <a:p>
            <a:pPr lvl="1"/>
            <a:r>
              <a:rPr lang="en-GB" dirty="0"/>
              <a:t>Foundation of modern software </a:t>
            </a:r>
            <a:r>
              <a:rPr lang="en-GB" dirty="0" smtClean="0"/>
              <a:t>solutions</a:t>
            </a:r>
            <a:endParaRPr lang="en-GB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2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036395"/>
              </p:ext>
            </p:extLst>
          </p:nvPr>
        </p:nvGraphicFramePr>
        <p:xfrm>
          <a:off x="1446026" y="791654"/>
          <a:ext cx="10545726" cy="5659946"/>
        </p:xfrm>
        <a:graphic>
          <a:graphicData uri="http://schemas.openxmlformats.org/drawingml/2006/table">
            <a:tbl>
              <a:tblPr firstRow="1" firstCol="1" bandRow="1" bandCol="1">
                <a:tableStyleId>{C083E6E3-FA7D-4D7B-A595-EF9225AFEA82}</a:tableStyleId>
              </a:tblPr>
              <a:tblGrid>
                <a:gridCol w="3515242">
                  <a:extLst>
                    <a:ext uri="{9D8B030D-6E8A-4147-A177-3AD203B41FA5}">
                      <a16:colId xmlns:a16="http://schemas.microsoft.com/office/drawing/2014/main" val="978655634"/>
                    </a:ext>
                  </a:extLst>
                </a:gridCol>
                <a:gridCol w="3515242">
                  <a:extLst>
                    <a:ext uri="{9D8B030D-6E8A-4147-A177-3AD203B41FA5}">
                      <a16:colId xmlns:a16="http://schemas.microsoft.com/office/drawing/2014/main" val="2970568122"/>
                    </a:ext>
                  </a:extLst>
                </a:gridCol>
                <a:gridCol w="3515242">
                  <a:extLst>
                    <a:ext uri="{9D8B030D-6E8A-4147-A177-3AD203B41FA5}">
                      <a16:colId xmlns:a16="http://schemas.microsoft.com/office/drawing/2014/main" val="2761074406"/>
                    </a:ext>
                  </a:extLst>
                </a:gridCol>
              </a:tblGrid>
              <a:tr h="9409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800" dirty="0">
                          <a:effectLst/>
                        </a:rPr>
                        <a:t>CREATIONAL</a:t>
                      </a:r>
                    </a:p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How objects are created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800">
                          <a:effectLst/>
                        </a:rPr>
                        <a:t>STRUCTURAL</a:t>
                      </a:r>
                    </a:p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</a:rPr>
                        <a:t>How objects are composed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800" dirty="0">
                          <a:effectLst/>
                        </a:rPr>
                        <a:t>BEHAVIORAL</a:t>
                      </a:r>
                    </a:p>
                    <a:p>
                      <a:pPr marL="0" marR="0" algn="ctr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</a:rPr>
                        <a:t>How objects communicate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34137"/>
                  </a:ext>
                </a:extLst>
              </a:tr>
              <a:tr h="4704906"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Singleton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Factory Method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Abstract Factory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Builder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Prototype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• Adapter</a:t>
                      </a:r>
                      <a:endParaRPr lang="en-US" sz="28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• Bridge</a:t>
                      </a:r>
                      <a:endParaRPr lang="en-US" sz="28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• Composite</a:t>
                      </a:r>
                      <a:endParaRPr lang="en-US" sz="28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• Decorator</a:t>
                      </a:r>
                      <a:endParaRPr lang="en-US" sz="28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• Facade</a:t>
                      </a:r>
                      <a:endParaRPr lang="en-US" sz="28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• Flyweight</a:t>
                      </a:r>
                      <a:endParaRPr lang="en-US" sz="28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• Proxy</a:t>
                      </a:r>
                      <a:endParaRPr lang="en-US" sz="28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Chain of Responsibility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Command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Iterator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Mediator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Memento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Observer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State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Strategy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Template Method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Visitor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• Interpreter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230150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18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6705" y="95250"/>
            <a:ext cx="1160721" cy="6356350"/>
          </a:xfrm>
        </p:spPr>
        <p:txBody>
          <a:bodyPr vert="vert270">
            <a:normAutofit fontScale="90000"/>
          </a:bodyPr>
          <a:lstStyle/>
          <a:p>
            <a:r>
              <a:rPr lang="en-GB" dirty="0"/>
              <a:t>The 23 </a:t>
            </a:r>
            <a:r>
              <a:rPr lang="en-GB" dirty="0" err="1"/>
              <a:t>GoF</a:t>
            </a:r>
            <a:r>
              <a:rPr lang="en-GB" dirty="0"/>
              <a:t> Patterns - Complete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2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When </a:t>
            </a:r>
            <a:r>
              <a:rPr lang="en-GB" dirty="0"/>
              <a:t>to Use (and NOT Use) Patterns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5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Signs You SHOULD Use a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You've solved the same problem before</a:t>
            </a:r>
          </a:p>
          <a:p>
            <a:r>
              <a:rPr lang="en-GB" dirty="0"/>
              <a:t>Code is becoming hard to change</a:t>
            </a:r>
          </a:p>
          <a:p>
            <a:r>
              <a:rPr lang="en-GB" dirty="0"/>
              <a:t>You need flexibility for future requirements</a:t>
            </a:r>
          </a:p>
          <a:p>
            <a:r>
              <a:rPr lang="en-GB" dirty="0"/>
              <a:t>Multiple developers will work on the code</a:t>
            </a:r>
          </a:p>
          <a:p>
            <a:r>
              <a:rPr lang="en-GB" dirty="0"/>
              <a:t>You hear yourself saying "There must be a better way"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4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Signs You Should NOT Use a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problem is trivial (3 lines of code)</a:t>
            </a:r>
          </a:p>
          <a:p>
            <a:r>
              <a:rPr lang="en-GB" dirty="0"/>
              <a:t>You're "pattern hunting" (forcing patterns where not needed)</a:t>
            </a:r>
          </a:p>
          <a:p>
            <a:r>
              <a:rPr lang="en-GB" dirty="0"/>
              <a:t>The solution adds more complexity than value</a:t>
            </a:r>
          </a:p>
          <a:p>
            <a:r>
              <a:rPr lang="en-GB" dirty="0"/>
              <a:t>The requirements are 100% fixed forever (rare!)</a:t>
            </a:r>
          </a:p>
          <a:p>
            <a:r>
              <a:rPr lang="en-GB" dirty="0"/>
              <a:t>Your team doesn't understand the pattern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5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"Goldilocks" Rule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888196"/>
              </p:ext>
            </p:extLst>
          </p:nvPr>
        </p:nvGraphicFramePr>
        <p:xfrm>
          <a:off x="838200" y="1846262"/>
          <a:ext cx="1078992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3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2FA6CC-C965-4F3F-99F2-DA05AAD2B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6E2FA6CC-C965-4F3F-99F2-DA05AAD2B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6E2FA6CC-C965-4F3F-99F2-DA05AAD2B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4D70B6-D7DC-4829-8D29-E995E269E2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graphicEl>
                                              <a:dgm id="{F74D70B6-D7DC-4829-8D29-E995E269E2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F74D70B6-D7DC-4829-8D29-E995E269E2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AF56769-A283-4FC4-B15B-0901F995EB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graphicEl>
                                              <a:dgm id="{4AF56769-A283-4FC4-B15B-0901F995EB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graphicEl>
                                              <a:dgm id="{4AF56769-A283-4FC4-B15B-0901F995EB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8771FC-DC2D-43DE-8AA5-E3CABC595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graphicEl>
                                              <a:dgm id="{B48771FC-DC2D-43DE-8AA5-E3CABC595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B48771FC-DC2D-43DE-8AA5-E3CABC595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301E467-C694-4E09-AC78-6473759F8B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graphicEl>
                                              <a:dgm id="{4301E467-C694-4E09-AC78-6473759F8B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graphicEl>
                                              <a:dgm id="{4301E467-C694-4E09-AC78-6473759F8B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A0ACB6-69CA-4C08-93D9-5FD61F20D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graphicEl>
                                              <a:dgm id="{72A0ACB6-69CA-4C08-93D9-5FD61F20D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graphicEl>
                                              <a:dgm id="{72A0ACB6-69CA-4C08-93D9-5FD61F20DA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5964D53-BFE4-49A8-9865-1FFB4FE12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graphicEl>
                                              <a:dgm id="{95964D53-BFE4-49A8-9865-1FFB4FE12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graphicEl>
                                              <a:dgm id="{95964D53-BFE4-49A8-9865-1FFB4FE12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E328A18-B4E9-4DE5-AF5D-45F9032B02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graphicEl>
                                              <a:dgm id="{EE328A18-B4E9-4DE5-AF5D-45F9032B02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graphicEl>
                                              <a:dgm id="{EE328A18-B4E9-4DE5-AF5D-45F9032B02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4A0018-F53E-4EB7-B7C6-4AB5C98726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graphicEl>
                                              <a:dgm id="{154A0018-F53E-4EB7-B7C6-4AB5C98726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graphicEl>
                                              <a:dgm id="{154A0018-F53E-4EB7-B7C6-4AB5C98726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interest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The Goldilocks Rule states that humans experience peak motivation when working on tasks that are neither too easy nor too hard, but </a:t>
            </a:r>
            <a:r>
              <a:rPr lang="en-GB" dirty="0" smtClean="0"/>
              <a:t>just</a:t>
            </a:r>
            <a:r>
              <a:rPr lang="en-GB" dirty="0"/>
              <a:t> right</a:t>
            </a:r>
            <a:r>
              <a:rPr lang="en-GB" dirty="0" smtClean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dirty="0" smtClean="0"/>
              <a:t>Will add a link ………….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6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Checklist for Your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Have I solved this problem before?</a:t>
            </a:r>
          </a:p>
          <a:p>
            <a:r>
              <a:rPr lang="en-GB" dirty="0"/>
              <a:t>Is there a </a:t>
            </a:r>
            <a:r>
              <a:rPr lang="en-GB" dirty="0" err="1"/>
              <a:t>GoF</a:t>
            </a:r>
            <a:r>
              <a:rPr lang="en-GB" dirty="0"/>
              <a:t> pattern for this?</a:t>
            </a:r>
          </a:p>
          <a:p>
            <a:r>
              <a:rPr lang="en-GB" dirty="0"/>
              <a:t>Will this code need to change in the future?</a:t>
            </a:r>
          </a:p>
          <a:p>
            <a:r>
              <a:rPr lang="en-GB" dirty="0"/>
              <a:t>Is the pattern adding value, not complexity?</a:t>
            </a:r>
          </a:p>
          <a:p>
            <a:r>
              <a:rPr lang="en-GB" dirty="0"/>
              <a:t>Does my team understand the pattern?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7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there a problem or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MessyOrderSystem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processOrder</a:t>
            </a:r>
            <a:r>
              <a:rPr lang="en-US" dirty="0"/>
              <a:t>(String </a:t>
            </a:r>
            <a:r>
              <a:rPr lang="en-US" dirty="0" err="1"/>
              <a:t>paymentType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paymentType.equals</a:t>
            </a:r>
            <a:r>
              <a:rPr lang="en-US" dirty="0"/>
              <a:t>("credit"))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CreditCardProcessor</a:t>
            </a:r>
            <a:r>
              <a:rPr lang="en-US" dirty="0"/>
              <a:t> cc = new </a:t>
            </a:r>
            <a:r>
              <a:rPr lang="en-US" dirty="0" err="1"/>
              <a:t>CreditCardProcessor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cc.charge</a:t>
            </a:r>
            <a:r>
              <a:rPr lang="en-US" dirty="0"/>
              <a:t>(100);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cc.sendReceipt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} else if(</a:t>
            </a:r>
            <a:r>
              <a:rPr lang="en-US" dirty="0" err="1"/>
              <a:t>paymentType.equals</a:t>
            </a:r>
            <a:r>
              <a:rPr lang="en-US" dirty="0"/>
              <a:t>("</a:t>
            </a:r>
            <a:r>
              <a:rPr lang="en-US" dirty="0" err="1"/>
              <a:t>paypal</a:t>
            </a:r>
            <a:r>
              <a:rPr lang="en-US" dirty="0"/>
              <a:t>"))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PayPalAPI</a:t>
            </a:r>
            <a:r>
              <a:rPr lang="en-US" dirty="0"/>
              <a:t> pp = new </a:t>
            </a:r>
            <a:r>
              <a:rPr lang="en-US" dirty="0" err="1"/>
              <a:t>PayPalAPI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pp.makePayment</a:t>
            </a:r>
            <a:r>
              <a:rPr lang="en-US" dirty="0"/>
              <a:t>(100);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pp.emailConfirmation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} else if(</a:t>
            </a:r>
            <a:r>
              <a:rPr lang="en-US" dirty="0" err="1"/>
              <a:t>paymentType.equals</a:t>
            </a:r>
            <a:r>
              <a:rPr lang="en-US" dirty="0"/>
              <a:t>("crypto"))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BitcoinWallet</a:t>
            </a:r>
            <a:r>
              <a:rPr lang="en-US" dirty="0"/>
              <a:t> </a:t>
            </a:r>
            <a:r>
              <a:rPr lang="en-US" dirty="0" err="1"/>
              <a:t>btc</a:t>
            </a:r>
            <a:r>
              <a:rPr lang="en-US" dirty="0"/>
              <a:t> = new </a:t>
            </a:r>
            <a:r>
              <a:rPr lang="en-US" dirty="0" err="1"/>
              <a:t>BitcoinWallet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btc.transfer</a:t>
            </a:r>
            <a:r>
              <a:rPr lang="en-US" dirty="0"/>
              <a:t>(100);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btc.logTransaction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5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Tight </a:t>
            </a:r>
            <a:r>
              <a:rPr lang="en-GB" dirty="0" smtClean="0"/>
              <a:t>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dirty="0" err="1" smtClean="0"/>
              <a:t>processOrder</a:t>
            </a:r>
            <a:r>
              <a:rPr lang="en-GB" dirty="0" smtClean="0"/>
              <a:t> </a:t>
            </a:r>
            <a:r>
              <a:rPr lang="en-GB" dirty="0"/>
              <a:t>method directly instantiates </a:t>
            </a:r>
            <a:r>
              <a:rPr lang="en-GB" dirty="0" err="1"/>
              <a:t>CreditCardProcessor</a:t>
            </a:r>
            <a:r>
              <a:rPr lang="en-GB" dirty="0"/>
              <a:t>, </a:t>
            </a:r>
            <a:r>
              <a:rPr lang="en-GB" dirty="0" err="1"/>
              <a:t>PayPalAPI</a:t>
            </a:r>
            <a:r>
              <a:rPr lang="en-GB" dirty="0"/>
              <a:t>, and </a:t>
            </a:r>
            <a:r>
              <a:rPr lang="en-GB" dirty="0" err="1"/>
              <a:t>BitcoinWallet.This</a:t>
            </a:r>
            <a:r>
              <a:rPr lang="en-GB" dirty="0"/>
              <a:t> ties your code to specific payment implementations, making it hard to extend or replace them later.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4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Violation of the Open/Closed 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 time you add a new payment type (e.g., </a:t>
            </a:r>
            <a:r>
              <a:rPr lang="en-GB" dirty="0" err="1"/>
              <a:t>ApplePay</a:t>
            </a:r>
            <a:r>
              <a:rPr lang="en-GB" dirty="0"/>
              <a:t>), you’ll need to modify </a:t>
            </a:r>
            <a:r>
              <a:rPr lang="en-GB" dirty="0" err="1"/>
              <a:t>processOrder</a:t>
            </a:r>
            <a:r>
              <a:rPr lang="en-GB" dirty="0"/>
              <a:t> and add another else </a:t>
            </a:r>
            <a:r>
              <a:rPr lang="en-GB" dirty="0" err="1"/>
              <a:t>if.The</a:t>
            </a:r>
            <a:r>
              <a:rPr lang="en-GB" dirty="0"/>
              <a:t> class is not “open for extension, closed for modification.”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0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There’s no common interface for payment processors. Each branch uses different method names (charge, </a:t>
            </a:r>
            <a:r>
              <a:rPr lang="en-GB" dirty="0" err="1"/>
              <a:t>makePayment</a:t>
            </a:r>
            <a:r>
              <a:rPr lang="en-GB" dirty="0"/>
              <a:t>, transfer), so the calling code must know the details of each </a:t>
            </a:r>
            <a:r>
              <a:rPr lang="en-GB" dirty="0" err="1"/>
              <a:t>API.This</a:t>
            </a:r>
            <a:r>
              <a:rPr lang="en-GB" dirty="0"/>
              <a:t> defeats polymorphism and makes the code brittle.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0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Hard‑Coded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Payment types are checked with string comparisons ("credit", "</a:t>
            </a:r>
            <a:r>
              <a:rPr lang="en-GB" dirty="0" err="1"/>
              <a:t>paypal</a:t>
            </a:r>
            <a:r>
              <a:rPr lang="en-GB" dirty="0"/>
              <a:t>", "crypto").This is error‑prone (typos break logic) and not type‑safe.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5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Poor 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Adding new payment methods means editing this method, risking regressions</a:t>
            </a:r>
            <a:r>
              <a:rPr lang="en-GB" dirty="0" smtClean="0"/>
              <a:t>. Testing </a:t>
            </a:r>
            <a:r>
              <a:rPr lang="en-GB" dirty="0"/>
              <a:t>becomes harder because you can’t easily mock or substitute payment processors.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9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 a </a:t>
            </a:r>
            <a:r>
              <a:rPr lang="en-GB" dirty="0" err="1"/>
              <a:t>PaymentProcessor</a:t>
            </a:r>
            <a:r>
              <a:rPr lang="en-GB" dirty="0"/>
              <a:t> interface with a common method (e.g., </a:t>
            </a:r>
            <a:r>
              <a:rPr lang="en-GB" dirty="0" err="1"/>
              <a:t>processPayment</a:t>
            </a:r>
            <a:r>
              <a:rPr lang="en-GB" dirty="0"/>
              <a:t>(amount</a:t>
            </a:r>
            <a:r>
              <a:rPr lang="en-GB" dirty="0" smtClean="0"/>
              <a:t>)).</a:t>
            </a:r>
          </a:p>
          <a:p>
            <a:r>
              <a:rPr lang="en-GB" dirty="0" smtClean="0"/>
              <a:t>Implement </a:t>
            </a:r>
            <a:r>
              <a:rPr lang="en-GB" dirty="0"/>
              <a:t>concrete classes (</a:t>
            </a:r>
            <a:r>
              <a:rPr lang="en-GB" dirty="0" err="1"/>
              <a:t>CreditCardProcessor</a:t>
            </a:r>
            <a:r>
              <a:rPr lang="en-GB" dirty="0"/>
              <a:t>, </a:t>
            </a:r>
            <a:r>
              <a:rPr lang="en-GB" dirty="0" err="1"/>
              <a:t>PayPalProcessor</a:t>
            </a:r>
            <a:r>
              <a:rPr lang="en-GB" dirty="0"/>
              <a:t>, </a:t>
            </a:r>
            <a:r>
              <a:rPr lang="en-GB" dirty="0" err="1"/>
              <a:t>CryptoProcessor</a:t>
            </a:r>
            <a:r>
              <a:rPr lang="en-GB" dirty="0"/>
              <a:t>) that adhere to this interface</a:t>
            </a:r>
            <a:r>
              <a:rPr lang="en-GB" dirty="0" smtClean="0"/>
              <a:t>.</a:t>
            </a:r>
          </a:p>
          <a:p>
            <a:r>
              <a:rPr lang="en-GB" dirty="0" smtClean="0"/>
              <a:t>Use </a:t>
            </a:r>
            <a:r>
              <a:rPr lang="en-GB" dirty="0"/>
              <a:t>a Factory or Strategy Pattern to select the right processor at runtime without if‑else </a:t>
            </a:r>
            <a:r>
              <a:rPr lang="en-GB" dirty="0" smtClean="0"/>
              <a:t>chains.</a:t>
            </a:r>
          </a:p>
          <a:p>
            <a:r>
              <a:rPr lang="en-GB" dirty="0" smtClean="0"/>
              <a:t>This </a:t>
            </a:r>
            <a:r>
              <a:rPr lang="en-GB" dirty="0"/>
              <a:t>way, </a:t>
            </a:r>
            <a:r>
              <a:rPr lang="en-GB" dirty="0" err="1"/>
              <a:t>MessyOrderSystem</a:t>
            </a:r>
            <a:r>
              <a:rPr lang="en-GB" dirty="0"/>
              <a:t> only depends on the abstraction, not the concrete classes.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3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 design patterns just for Java?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No! Patterns are language-agnostic. They work in Python, C++, JavaScript, </a:t>
            </a:r>
            <a:r>
              <a:rPr lang="en-GB" dirty="0" err="1"/>
              <a:t>etc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7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 I need to memorize all </a:t>
            </a:r>
            <a:r>
              <a:rPr lang="en-GB" dirty="0" smtClean="0"/>
              <a:t>23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No! Start with 5-6 common ones. You'll learn others as </a:t>
            </a:r>
            <a:r>
              <a:rPr lang="en-GB" dirty="0" smtClean="0"/>
              <a:t>needed.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9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 patterns make my code slower?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Slightly, but maintainability gains far outweigh tiny performance costs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4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04587"/>
          </a:xfrm>
        </p:spPr>
        <p:txBody>
          <a:bodyPr>
            <a:normAutofit/>
          </a:bodyPr>
          <a:lstStyle/>
          <a:p>
            <a:r>
              <a:rPr lang="en-GB" dirty="0" smtClean="0"/>
              <a:t>Why </a:t>
            </a:r>
            <a:r>
              <a:rPr lang="en-GB" dirty="0"/>
              <a:t>companies like Google, Netflix, and Amazon rely on these patterns to build software that serves billions of </a:t>
            </a:r>
            <a:r>
              <a:rPr lang="en-GB" dirty="0" smtClean="0"/>
              <a:t>users 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2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Industry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Case 1: Netflix</a:t>
            </a:r>
            <a:endParaRPr lang="en-US" dirty="0"/>
          </a:p>
          <a:p>
            <a:r>
              <a:rPr lang="en-US" b="1" dirty="0"/>
              <a:t>Pattern Used:</a:t>
            </a:r>
            <a:r>
              <a:rPr lang="en-US" dirty="0"/>
              <a:t> Strategy Pattern</a:t>
            </a:r>
          </a:p>
          <a:p>
            <a:r>
              <a:rPr lang="en-US" b="1" dirty="0"/>
              <a:t>Problem:</a:t>
            </a:r>
            <a:r>
              <a:rPr lang="en-US" dirty="0"/>
              <a:t> Different video quality based on bandwidth</a:t>
            </a:r>
          </a:p>
          <a:p>
            <a:r>
              <a:rPr lang="en-US" b="1" dirty="0"/>
              <a:t>Solution:</a:t>
            </a:r>
            <a:r>
              <a:rPr lang="en-US" dirty="0"/>
              <a:t> Swap compression algorithm at runtime</a:t>
            </a:r>
          </a:p>
          <a:p>
            <a:r>
              <a:rPr lang="en-US" b="1" dirty="0"/>
              <a:t>Result:</a:t>
            </a:r>
            <a:r>
              <a:rPr lang="en-US" dirty="0"/>
              <a:t> 200+ million users, seamless streaming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0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Case 2: Amazon</a:t>
            </a:r>
            <a:endParaRPr lang="en-GB" dirty="0"/>
          </a:p>
          <a:p>
            <a:r>
              <a:rPr lang="en-GB" b="1" dirty="0"/>
              <a:t>Pattern Used:</a:t>
            </a:r>
            <a:r>
              <a:rPr lang="en-GB" dirty="0"/>
              <a:t> Observer Pattern</a:t>
            </a:r>
          </a:p>
          <a:p>
            <a:r>
              <a:rPr lang="en-GB" b="1" dirty="0"/>
              <a:t>Problem:</a:t>
            </a:r>
            <a:r>
              <a:rPr lang="en-GB" dirty="0"/>
              <a:t> Notify millions of customers about price drops</a:t>
            </a:r>
          </a:p>
          <a:p>
            <a:r>
              <a:rPr lang="en-GB" b="1" dirty="0"/>
              <a:t>Solution:</a:t>
            </a:r>
            <a:r>
              <a:rPr lang="en-GB" dirty="0"/>
              <a:t> Subscribe/notify architecture</a:t>
            </a:r>
          </a:p>
          <a:p>
            <a:r>
              <a:rPr lang="en-GB" b="1" dirty="0"/>
              <a:t>Result:</a:t>
            </a:r>
            <a:r>
              <a:rPr lang="en-GB" dirty="0"/>
              <a:t> Real-time price alerts, increased sales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1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Case 3: Spotify</a:t>
            </a:r>
            <a:endParaRPr lang="en-GB" dirty="0"/>
          </a:p>
          <a:p>
            <a:r>
              <a:rPr lang="en-GB" b="1" dirty="0"/>
              <a:t>Pattern Used:</a:t>
            </a:r>
            <a:r>
              <a:rPr lang="en-GB" dirty="0"/>
              <a:t> Factory Pattern</a:t>
            </a:r>
          </a:p>
          <a:p>
            <a:r>
              <a:rPr lang="en-GB" b="1" dirty="0"/>
              <a:t>Problem:</a:t>
            </a:r>
            <a:r>
              <a:rPr lang="en-GB" dirty="0"/>
              <a:t> Support multiple audio formats (MP3, AAC, OGG)</a:t>
            </a:r>
          </a:p>
          <a:p>
            <a:r>
              <a:rPr lang="en-GB" b="1" dirty="0"/>
              <a:t>Solution:</a:t>
            </a:r>
            <a:r>
              <a:rPr lang="en-GB" dirty="0"/>
              <a:t> Factory creates appropriate decoder</a:t>
            </a:r>
          </a:p>
          <a:p>
            <a:r>
              <a:rPr lang="en-GB" b="1" dirty="0"/>
              <a:t>Result:</a:t>
            </a:r>
            <a:r>
              <a:rPr lang="en-GB" dirty="0"/>
              <a:t> 400+ million users, any format 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7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9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8223"/>
            <a:ext cx="10515600" cy="4351338"/>
          </a:xfrm>
          <a:prstGeom prst="flowChartDocument">
            <a:avLst/>
          </a:prstGeo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5400" dirty="0" smtClean="0">
                <a:latin typeface="Mistral" panose="03090702030407020403" pitchFamily="66" charset="0"/>
              </a:rPr>
              <a:t>If you were like any one else ,why were you created then ?</a:t>
            </a:r>
            <a:endParaRPr lang="en-US" sz="5400" dirty="0">
              <a:latin typeface="Mistral" panose="03090702030407020403" pitchFamily="66" charset="0"/>
            </a:endParaRPr>
          </a:p>
          <a:p>
            <a:pPr marL="0" indent="0" algn="ctr">
              <a:buNone/>
            </a:pPr>
            <a:r>
              <a:rPr lang="en-US" sz="5400" dirty="0" smtClean="0">
                <a:latin typeface="Mistral" panose="03090702030407020403" pitchFamily="66" charset="0"/>
              </a:rPr>
              <a:t>You have got a purpose , find it before its late …too late.</a:t>
            </a:r>
          </a:p>
          <a:p>
            <a:pPr marL="0" indent="0" algn="ctr">
              <a:buNone/>
            </a:pPr>
            <a:r>
              <a:rPr lang="en-US" sz="1600" dirty="0" smtClean="0">
                <a:latin typeface="Segoe Script" panose="030B0504020000000003" pitchFamily="66" charset="0"/>
              </a:rPr>
              <a:t>REMEMBER IN PRAYERS </a:t>
            </a:r>
            <a:endParaRPr lang="en-US" sz="1600" dirty="0">
              <a:latin typeface="Segoe Script" panose="030B0504020000000003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40</a:t>
            </a:fld>
            <a:endParaRPr lang="en-US"/>
          </a:p>
        </p:txBody>
      </p:sp>
      <p:sp>
        <p:nvSpPr>
          <p:cNvPr id="7" name="Flowchart: Document 6"/>
          <p:cNvSpPr/>
          <p:nvPr/>
        </p:nvSpPr>
        <p:spPr>
          <a:xfrm flipH="1">
            <a:off x="2817628" y="5228464"/>
            <a:ext cx="6809543" cy="1031915"/>
          </a:xfrm>
          <a:prstGeom prst="flowChartDocumen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tral" panose="03090702030407020403" pitchFamily="66" charset="0"/>
              </a:rPr>
              <a:t>Engr. Muhammad </a:t>
            </a:r>
            <a:r>
              <a:rPr lang="en-US" sz="4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tral" panose="03090702030407020403" pitchFamily="66" charset="0"/>
              </a:rPr>
              <a:t>Umer</a:t>
            </a:r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Mistral" panose="03090702030407020403" pitchFamily="66" charset="0"/>
              </a:rPr>
              <a:t> Haroon</a:t>
            </a:r>
            <a:endParaRPr lang="en-US" sz="4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istral" panose="030907020304070204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62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9655</TotalTime>
  <Words>1600</Words>
  <Application>Microsoft Office PowerPoint</Application>
  <PresentationFormat>Widescreen</PresentationFormat>
  <Paragraphs>278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Arial Black</vt:lpstr>
      <vt:lpstr>Calibri</vt:lpstr>
      <vt:lpstr>Mistral</vt:lpstr>
      <vt:lpstr>quote-cjk-patch</vt:lpstr>
      <vt:lpstr>Segoe Script</vt:lpstr>
      <vt:lpstr>Office Theme</vt:lpstr>
      <vt:lpstr>Software Design and Analysis CS3004</vt:lpstr>
      <vt:lpstr>Lecture </vt:lpstr>
      <vt:lpstr>WHY DESIGN PATTERNS?</vt:lpstr>
      <vt:lpstr>PowerPoint Presentation</vt:lpstr>
      <vt:lpstr>PowerPoint Presentation</vt:lpstr>
      <vt:lpstr>The Problem of Recurring Design Problems</vt:lpstr>
      <vt:lpstr>PowerPoint Presentation</vt:lpstr>
      <vt:lpstr>Example scenario</vt:lpstr>
      <vt:lpstr>PowerPoint Presentation</vt:lpstr>
      <vt:lpstr>What is a Design Pattern?</vt:lpstr>
      <vt:lpstr>Cookbook Recipe vs. Improvisation:</vt:lpstr>
      <vt:lpstr>Benefits of Design Patterns (The "Why")</vt:lpstr>
      <vt:lpstr>PowerPoint Presentation</vt:lpstr>
      <vt:lpstr>The Three Categories of Problems Patterns Solve</vt:lpstr>
      <vt:lpstr>Signs You Need Design Patterns</vt:lpstr>
      <vt:lpstr>PowerPoint Presentation</vt:lpstr>
      <vt:lpstr>The Gang of Four (GoF) Design Patterns</vt:lpstr>
      <vt:lpstr>The 23 GoF Patterns - Complete Map</vt:lpstr>
      <vt:lpstr>When to Use (and NOT Use) Patterns</vt:lpstr>
      <vt:lpstr>Signs You SHOULD Use a Pattern</vt:lpstr>
      <vt:lpstr>Signs You Should NOT Use a Pattern</vt:lpstr>
      <vt:lpstr>The "Goldilocks" Rule</vt:lpstr>
      <vt:lpstr>For interest only</vt:lpstr>
      <vt:lpstr>Final Checklist for Your Projects</vt:lpstr>
      <vt:lpstr>Is there a problem or problems</vt:lpstr>
      <vt:lpstr>Tight Coupling</vt:lpstr>
      <vt:lpstr>Violation of the Open/Closed Principle</vt:lpstr>
      <vt:lpstr>Lack of Abstraction</vt:lpstr>
      <vt:lpstr>Hard‑Coded Logic</vt:lpstr>
      <vt:lpstr>Poor Maintainability</vt:lpstr>
      <vt:lpstr>Possible improvements</vt:lpstr>
      <vt:lpstr>Are design patterns just for Java?</vt:lpstr>
      <vt:lpstr>Do I need to memorize all 23 ?</vt:lpstr>
      <vt:lpstr>Can patterns make my code slower?</vt:lpstr>
      <vt:lpstr>Why companies like Google, Netflix, and Amazon rely on these patterns to build software that serves billions of users ?</vt:lpstr>
      <vt:lpstr>Industry Case Studies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 Muhammad Umer Haroon</dc:creator>
  <cp:keywords>Umer Haroon</cp:keywords>
  <cp:lastModifiedBy>Dell 9410</cp:lastModifiedBy>
  <cp:revision>169</cp:revision>
  <dcterms:created xsi:type="dcterms:W3CDTF">2026-01-16T05:01:57Z</dcterms:created>
  <dcterms:modified xsi:type="dcterms:W3CDTF">2026-04-19T12:50:25Z</dcterms:modified>
</cp:coreProperties>
</file>