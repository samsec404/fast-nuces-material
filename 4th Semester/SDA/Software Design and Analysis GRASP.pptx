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5"/>
  </p:notesMasterIdLst>
  <p:sldIdLst>
    <p:sldId id="256" r:id="rId3"/>
    <p:sldId id="258" r:id="rId4"/>
    <p:sldId id="321" r:id="rId5"/>
    <p:sldId id="309" r:id="rId6"/>
    <p:sldId id="313" r:id="rId7"/>
    <p:sldId id="310" r:id="rId8"/>
    <p:sldId id="311" r:id="rId9"/>
    <p:sldId id="312" r:id="rId10"/>
    <p:sldId id="314" r:id="rId11"/>
    <p:sldId id="315" r:id="rId12"/>
    <p:sldId id="316" r:id="rId13"/>
    <p:sldId id="320" r:id="rId14"/>
    <p:sldId id="317" r:id="rId15"/>
    <p:sldId id="318" r:id="rId16"/>
    <p:sldId id="319" r:id="rId17"/>
    <p:sldId id="322" r:id="rId18"/>
    <p:sldId id="323" r:id="rId19"/>
    <p:sldId id="324" r:id="rId20"/>
    <p:sldId id="325" r:id="rId21"/>
    <p:sldId id="326" r:id="rId22"/>
    <p:sldId id="327" r:id="rId23"/>
    <p:sldId id="328" r:id="rId24"/>
    <p:sldId id="366" r:id="rId26"/>
    <p:sldId id="329" r:id="rId27"/>
    <p:sldId id="330" r:id="rId28"/>
    <p:sldId id="331" r:id="rId29"/>
    <p:sldId id="332" r:id="rId30"/>
    <p:sldId id="333" r:id="rId31"/>
    <p:sldId id="334" r:id="rId32"/>
    <p:sldId id="335" r:id="rId33"/>
    <p:sldId id="336" r:id="rId34"/>
    <p:sldId id="337" r:id="rId35"/>
    <p:sldId id="338" r:id="rId36"/>
    <p:sldId id="339" r:id="rId37"/>
    <p:sldId id="340" r:id="rId38"/>
    <p:sldId id="368" r:id="rId39"/>
    <p:sldId id="369" r:id="rId40"/>
    <p:sldId id="341" r:id="rId41"/>
    <p:sldId id="342" r:id="rId42"/>
    <p:sldId id="343" r:id="rId43"/>
    <p:sldId id="370" r:id="rId44"/>
    <p:sldId id="344" r:id="rId45"/>
    <p:sldId id="345" r:id="rId46"/>
    <p:sldId id="346" r:id="rId47"/>
    <p:sldId id="347" r:id="rId48"/>
    <p:sldId id="348" r:id="rId49"/>
    <p:sldId id="349" r:id="rId50"/>
    <p:sldId id="371" r:id="rId51"/>
    <p:sldId id="350" r:id="rId52"/>
    <p:sldId id="351" r:id="rId53"/>
    <p:sldId id="352" r:id="rId54"/>
    <p:sldId id="353" r:id="rId55"/>
    <p:sldId id="354" r:id="rId56"/>
    <p:sldId id="355" r:id="rId57"/>
    <p:sldId id="356" r:id="rId58"/>
    <p:sldId id="357" r:id="rId59"/>
    <p:sldId id="358" r:id="rId60"/>
    <p:sldId id="359" r:id="rId61"/>
    <p:sldId id="360" r:id="rId62"/>
    <p:sldId id="361" r:id="rId63"/>
    <p:sldId id="367" r:id="rId64"/>
    <p:sldId id="362" r:id="rId65"/>
    <p:sldId id="364" r:id="rId6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中度样式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5BE263C-DBD7-4A20-BB59-AAB30ACAA65A}" styleName="中度样式 3 - 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476" autoAdjust="0"/>
  </p:normalViewPr>
  <p:slideViewPr>
    <p:cSldViewPr snapToGrid="0">
      <p:cViewPr varScale="1">
        <p:scale>
          <a:sx n="54" d="100"/>
          <a:sy n="54" d="100"/>
        </p:scale>
        <p:origin x="112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9" Type="http://schemas.openxmlformats.org/officeDocument/2006/relationships/tableStyles" Target="tableStyles.xml"/><Relationship Id="rId68" Type="http://schemas.openxmlformats.org/officeDocument/2006/relationships/viewProps" Target="viewProps.xml"/><Relationship Id="rId67" Type="http://schemas.openxmlformats.org/officeDocument/2006/relationships/presProps" Target="presProps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4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3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slide" Target="slides/slide2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25BB1E-7BD0-4EDB-8B93-54C4F7350306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F07F15-511E-42B6-87B9-F823CFC13C3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>
                <a:effectLst/>
              </a:rPr>
              <a:t>A Library keeps a list of Book objects. Since the Library already contains and manages Books, it makes sense for the Library to create new Book instances.</a:t>
            </a:r>
            <a:endParaRPr lang="en-GB" dirty="0" smtClean="0"/>
          </a:p>
          <a:p>
            <a:r>
              <a:rPr lang="en-GB" dirty="0" smtClean="0">
                <a:effectLst/>
              </a:rPr>
              <a:t>A Team class that stores Player objects should be responsible for creating Players, because it records and manages them.</a:t>
            </a:r>
            <a:endParaRPr lang="en-GB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07F15-511E-42B6-87B9-F823CFC13C3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Make a special class (a </a:t>
            </a:r>
            <a:r>
              <a:rPr lang="en-GB" i="1" dirty="0" smtClean="0"/>
              <a:t>Controller</a:t>
            </a:r>
            <a:r>
              <a:rPr lang="en-GB" dirty="0" smtClean="0"/>
              <a:t>) that acts like the </a:t>
            </a:r>
            <a:r>
              <a:rPr lang="en-GB" b="1" dirty="0" smtClean="0"/>
              <a:t>traffic police</a:t>
            </a:r>
            <a:r>
              <a:rPr lang="en-GB" dirty="0" smtClean="0"/>
              <a:t> or </a:t>
            </a:r>
            <a:r>
              <a:rPr lang="en-GB" b="1" dirty="0" smtClean="0"/>
              <a:t>manager</a:t>
            </a:r>
            <a:r>
              <a:rPr lang="en-GB" dirty="0" smtClean="0"/>
              <a:t> of the system. It doesn’t do the detailed work itself — instead, it receives a request (like “place order”) and then tells the right objects to do their jobs.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07F15-511E-42B6-87B9-F823CFC13C3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 smtClean="0">
                <a:effectLst/>
              </a:rPr>
              <a:t>OrderController</a:t>
            </a:r>
            <a:r>
              <a:rPr lang="en-GB" dirty="0" smtClean="0">
                <a:effectLst/>
              </a:rPr>
              <a:t> = the </a:t>
            </a:r>
            <a:r>
              <a:rPr lang="en-GB" b="1" dirty="0" smtClean="0">
                <a:effectLst/>
              </a:rPr>
              <a:t>Controller</a:t>
            </a:r>
            <a:r>
              <a:rPr lang="en-GB" dirty="0" smtClean="0">
                <a:effectLst/>
              </a:rPr>
              <a:t> (represents the overall “place order” use case).</a:t>
            </a:r>
            <a:endParaRPr lang="en-GB" dirty="0" smtClean="0"/>
          </a:p>
          <a:p>
            <a:r>
              <a:rPr lang="en-GB" dirty="0" err="1" smtClean="0">
                <a:effectLst/>
              </a:rPr>
              <a:t>PaymentProcessor</a:t>
            </a:r>
            <a:r>
              <a:rPr lang="en-GB" dirty="0" smtClean="0">
                <a:effectLst/>
              </a:rPr>
              <a:t> classes = the workers that do the actual job.</a:t>
            </a:r>
            <a:endParaRPr lang="en-GB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07F15-511E-42B6-87B9-F823CFC13C3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If no natural class fits the job, make a new helper class just for that job.”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07F15-511E-42B6-87B9-F823CFC13C3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/>
              <a:t>Put a middle helper in between two classes so they don’t depend directly on each other.</a:t>
            </a:r>
            <a:endParaRPr lang="en-GB" dirty="0" smtClean="0"/>
          </a:p>
          <a:p>
            <a:r>
              <a:rPr lang="en-GB" dirty="0" smtClean="0">
                <a:effectLst/>
              </a:rPr>
              <a:t>Sometimes two classes shouldn’t talk to each other directly, because that makes them tightly connected.</a:t>
            </a:r>
            <a:endParaRPr lang="en-GB" dirty="0" smtClean="0"/>
          </a:p>
          <a:p>
            <a:r>
              <a:rPr lang="en-GB" dirty="0" smtClean="0">
                <a:effectLst/>
              </a:rPr>
              <a:t>Instead, you add a </a:t>
            </a:r>
            <a:r>
              <a:rPr lang="en-GB" b="1" dirty="0" smtClean="0">
                <a:effectLst/>
              </a:rPr>
              <a:t>third class</a:t>
            </a:r>
            <a:r>
              <a:rPr lang="en-GB" dirty="0" smtClean="0">
                <a:effectLst/>
              </a:rPr>
              <a:t> (an intermediary) that passes the messages between them.</a:t>
            </a:r>
            <a:endParaRPr lang="en-GB" dirty="0" smtClean="0"/>
          </a:p>
          <a:p>
            <a:r>
              <a:rPr lang="en-GB" dirty="0" smtClean="0">
                <a:effectLst/>
              </a:rPr>
              <a:t>This reduces coupling and makes it easier to change one side without breaking the other.</a:t>
            </a:r>
            <a:endParaRPr lang="en-GB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07F15-511E-42B6-87B9-F823CFC13C3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smtClean="0">
                <a:effectLst/>
              </a:rPr>
              <a:t>Think of it like putting a </a:t>
            </a:r>
            <a:r>
              <a:rPr lang="en-GB" b="1" dirty="0" smtClean="0">
                <a:effectLst/>
              </a:rPr>
              <a:t>cover</a:t>
            </a:r>
            <a:r>
              <a:rPr lang="en-GB" dirty="0" smtClean="0">
                <a:effectLst/>
              </a:rPr>
              <a:t> or </a:t>
            </a:r>
            <a:r>
              <a:rPr lang="en-GB" b="1" dirty="0" smtClean="0">
                <a:effectLst/>
              </a:rPr>
              <a:t>shield</a:t>
            </a:r>
            <a:r>
              <a:rPr lang="en-GB" dirty="0" smtClean="0">
                <a:effectLst/>
              </a:rPr>
              <a:t> over something that might change.</a:t>
            </a:r>
            <a:endParaRPr lang="en-GB" dirty="0" smtClean="0"/>
          </a:p>
          <a:p>
            <a:r>
              <a:rPr lang="en-GB" dirty="0" smtClean="0">
                <a:effectLst/>
              </a:rPr>
              <a:t>Other parts of the program only talk to the shield, not the changing thing directly.</a:t>
            </a:r>
            <a:endParaRPr lang="en-GB" dirty="0" smtClean="0"/>
          </a:p>
          <a:p>
            <a:r>
              <a:rPr lang="en-GB" dirty="0" smtClean="0">
                <a:effectLst/>
              </a:rPr>
              <a:t>If the inside changes, the outside doesn’t break — because the shield/interface stays the same.</a:t>
            </a:r>
            <a:endParaRPr lang="en-GB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F07F15-511E-42B6-87B9-F823CFC13C3B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AB9E94-90A1-4D8E-9DBA-4CBDDFEF3400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52157B-721A-4B32-933B-37F850A0BF01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>
                <a:latin typeface="Arial Black" panose="020B0A04020102020204" pitchFamily="34" charset="0"/>
              </a:defRPr>
            </a:lvl1pPr>
          </a:lstStyle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0483F-910E-4F41-8EA5-E60A08BBBDEA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0382A-2D5E-47FD-9E3D-CAC8500BCB56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60E86-D13F-4C1E-BF6D-69D2CC69AC5D}" type="datetime1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46ED9-6E5B-40D1-A641-CD88D8E1F14F}" type="datetime1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FA5113-0E2E-4331-BAD3-4FEE8D872057}" type="datetime1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84E413-A667-4ACC-8054-065E23D8A533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2523-65B9-42AE-A752-FECD55F4A714}" type="datetime1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D2C544-0A88-4771-91D8-7B5B1B065B47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6C0C45-A6FE-4B6C-BB3C-31DFE35EAD46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EEDB53-32E3-4E44-A94E-06B443D84359}" type="datetime1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451600"/>
            <a:ext cx="4114800" cy="269875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C00000"/>
                </a:solidFill>
              </a:defRPr>
            </a:lvl1pPr>
          </a:lstStyle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6F56A2-C75C-4055-B942-4543DDA5E96F}" type="slidenum">
              <a:rPr lang="en-US" smtClean="0"/>
            </a:fld>
            <a:endParaRPr lang="en-US" dirty="0"/>
          </a:p>
        </p:txBody>
      </p:sp>
      <p:sp>
        <p:nvSpPr>
          <p:cNvPr id="7" name="Half Frame 6"/>
          <p:cNvSpPr/>
          <p:nvPr userDrawn="1"/>
        </p:nvSpPr>
        <p:spPr>
          <a:xfrm>
            <a:off x="0" y="0"/>
            <a:ext cx="12192000" cy="6858000"/>
          </a:xfrm>
          <a:prstGeom prst="halfFrame">
            <a:avLst>
              <a:gd name="adj1" fmla="val 2939"/>
              <a:gd name="adj2" fmla="val 2652"/>
            </a:avLst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Half Frame 7"/>
          <p:cNvSpPr/>
          <p:nvPr userDrawn="1"/>
        </p:nvSpPr>
        <p:spPr>
          <a:xfrm rot="10800000">
            <a:off x="-1" y="17232"/>
            <a:ext cx="12192000" cy="6858000"/>
          </a:xfrm>
          <a:prstGeom prst="halfFrame">
            <a:avLst>
              <a:gd name="adj1" fmla="val 2939"/>
              <a:gd name="adj2" fmla="val 2652"/>
            </a:avLst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FF0000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Software Design and Analysis CS3004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Engr. Muhammad </a:t>
            </a:r>
            <a:r>
              <a:rPr lang="en-US" dirty="0" err="1"/>
              <a:t>Umer</a:t>
            </a:r>
            <a:r>
              <a:rPr lang="en-US" dirty="0"/>
              <a:t> Haroon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Lecture 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7200" dirty="0" smtClean="0"/>
              <a:t>GRASP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should do WHAT?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GRASP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GRASP is an acronym that stands for:</a:t>
            </a:r>
            <a:endParaRPr lang="en-GB" dirty="0"/>
          </a:p>
          <a:p>
            <a:endParaRPr lang="en-GB" dirty="0"/>
          </a:p>
          <a:p>
            <a:r>
              <a:rPr lang="en-GB" dirty="0"/>
              <a:t>General Responsibility Assignment Software Patterns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800" dirty="0"/>
              <a:t> </a:t>
            </a:r>
            <a:r>
              <a:rPr lang="en-GB" sz="4800" dirty="0" smtClean="0"/>
              <a:t>Call </a:t>
            </a:r>
            <a:r>
              <a:rPr lang="en-GB" sz="4800" dirty="0"/>
              <a:t>them "GRASP principles" instead of "GRASP patterns."</a:t>
            </a:r>
            <a:endParaRPr lang="en-US" sz="48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GRASP is the Umbrella, Principles are the Contents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1. Information Expert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2</a:t>
            </a:r>
            <a:r>
              <a:rPr lang="en-US" dirty="0"/>
              <a:t>. Creator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3. Controller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4. Low Coupling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5. High Cohesion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6. Polymorphism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7. Pure Fabrication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8. Indirection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  <a:r>
              <a:rPr lang="en-US" dirty="0"/>
              <a:t>9. Protected Variations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GRASP:A </a:t>
            </a:r>
            <a:r>
              <a:rPr lang="en-US" dirty="0"/>
              <a:t>collection/classification system for responsibility assignment </a:t>
            </a:r>
            <a:r>
              <a:rPr lang="en-US" dirty="0" smtClean="0"/>
              <a:t>principles</a:t>
            </a:r>
            <a:endParaRPr lang="en-US" dirty="0" smtClean="0"/>
          </a:p>
          <a:p>
            <a:endParaRPr lang="en-US" dirty="0"/>
          </a:p>
          <a:p>
            <a:r>
              <a:rPr lang="en-GB" b="1" dirty="0"/>
              <a:t>GRASP is a set of </a:t>
            </a:r>
            <a:r>
              <a:rPr lang="en-GB" b="1" i="1" dirty="0"/>
              <a:t>design principles</a:t>
            </a:r>
            <a:r>
              <a:rPr lang="en-GB" b="1" dirty="0"/>
              <a:t> and a </a:t>
            </a:r>
            <a:r>
              <a:rPr lang="en-GB" b="1" i="1" dirty="0"/>
              <a:t>learning aid</a:t>
            </a:r>
            <a:r>
              <a:rPr lang="en-GB" b="1" dirty="0"/>
              <a:t> for assigning </a:t>
            </a:r>
            <a:r>
              <a:rPr lang="en-GB" sz="4000" b="1" dirty="0">
                <a:solidFill>
                  <a:srgbClr val="FFFF00"/>
                </a:solidFill>
              </a:rPr>
              <a:t>responsibilities</a:t>
            </a:r>
            <a:r>
              <a:rPr lang="en-GB" b="1" dirty="0"/>
              <a:t> to classes.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QUICK OVERVIEW TO GET STARTED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4400" dirty="0"/>
              <a:t>Problem: Where should I put the </a:t>
            </a:r>
            <a:r>
              <a:rPr lang="en-GB" sz="4400" dirty="0" err="1"/>
              <a:t>calculateTotal</a:t>
            </a:r>
            <a:r>
              <a:rPr lang="en-GB" sz="4400" dirty="0"/>
              <a:t>() method</a:t>
            </a:r>
            <a:r>
              <a:rPr lang="en-GB" sz="4400" dirty="0" smtClean="0"/>
              <a:t>?</a:t>
            </a:r>
            <a:endParaRPr lang="en-GB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GB" sz="4000" dirty="0"/>
              <a:t>GRASP says: Apply the Information Expert principle.</a:t>
            </a:r>
            <a:endParaRPr lang="en-GB" sz="4000" dirty="0"/>
          </a:p>
          <a:p>
            <a:pPr marL="0" indent="0" algn="just">
              <a:buNone/>
            </a:pPr>
            <a:r>
              <a:rPr lang="en-GB" sz="4000" dirty="0"/>
              <a:t>Result: Put it in the class that has the line item data (e.g., Order class).</a:t>
            </a:r>
            <a:endParaRPr lang="en-GB" sz="4000" dirty="0"/>
          </a:p>
          <a:p>
            <a:pPr marL="0" indent="0" algn="just">
              <a:buNone/>
            </a:pPr>
            <a:r>
              <a:rPr lang="en-GB" sz="4000" dirty="0"/>
              <a:t>You didn't use all of GRASP. You used one principle within GRASP (Information Expert) to solve your problem.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All GRASP principles can be used or some or one , it depends on need/scenario.</a:t>
            </a:r>
            <a:endParaRPr lang="en-GB" dirty="0" smtClean="0"/>
          </a:p>
          <a:p>
            <a:r>
              <a:rPr lang="en-GB" dirty="0"/>
              <a:t>Good designers use </a:t>
            </a:r>
            <a:r>
              <a:rPr lang="en-GB" b="1" dirty="0"/>
              <a:t>multiple GRASP principles at once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Analogy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SOLID</a:t>
            </a:r>
            <a:r>
              <a:rPr lang="en-GB" dirty="0"/>
              <a:t> = The building codes and architectural philosophy (e.g., "load-bearing walls must be continuous").</a:t>
            </a:r>
            <a:endParaRPr lang="en-GB" dirty="0"/>
          </a:p>
          <a:p>
            <a:r>
              <a:rPr lang="en-GB" b="1" dirty="0"/>
              <a:t>GRASP</a:t>
            </a:r>
            <a:r>
              <a:rPr lang="en-GB" dirty="0"/>
              <a:t> = The general rules for assigning tasks to different trades (e.g., "The plumber is responsible for pipes, the electrician for wires</a:t>
            </a:r>
            <a:r>
              <a:rPr lang="en-GB" dirty="0" smtClean="0"/>
              <a:t>").</a:t>
            </a:r>
            <a:endParaRPr lang="en-GB" dirty="0" smtClean="0"/>
          </a:p>
          <a:p>
            <a:r>
              <a:rPr lang="en-GB" b="1" dirty="0"/>
              <a:t>Design Patterns</a:t>
            </a:r>
            <a:r>
              <a:rPr lang="en-GB" dirty="0"/>
              <a:t> = Specific, proven blueprints (e.g., "Here's a blueprint for a circuit breaker </a:t>
            </a:r>
            <a:r>
              <a:rPr lang="en-GB" dirty="0" smtClean="0"/>
              <a:t>panel ………….."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SOLID VS GRASP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You use GRASP's Information Expert to decide that the </a:t>
            </a:r>
            <a:r>
              <a:rPr lang="en-GB" sz="4000" dirty="0" err="1"/>
              <a:t>BankAccount</a:t>
            </a:r>
            <a:r>
              <a:rPr lang="en-GB" sz="4000" dirty="0"/>
              <a:t> class should be responsible for calculating </a:t>
            </a:r>
            <a:r>
              <a:rPr lang="en-GB" sz="4000" dirty="0" smtClean="0"/>
              <a:t>profit. </a:t>
            </a:r>
            <a:r>
              <a:rPr lang="en-GB" sz="4000" dirty="0"/>
              <a:t>Then, you use SOLID's Open/Closed Principle to design the </a:t>
            </a:r>
            <a:r>
              <a:rPr lang="en-GB" sz="4000" dirty="0" err="1"/>
              <a:t>BankAccount</a:t>
            </a:r>
            <a:r>
              <a:rPr lang="en-GB" sz="4000" dirty="0"/>
              <a:t> class so that you can add new </a:t>
            </a:r>
            <a:r>
              <a:rPr lang="en-GB" sz="4000" dirty="0" smtClean="0"/>
              <a:t>profit </a:t>
            </a:r>
            <a:r>
              <a:rPr lang="en-GB" sz="4000" dirty="0"/>
              <a:t>calculation methods without modifying the existing code.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000" dirty="0"/>
              <a:t>The goal of GRASP is to answer the single most important question in object-oriented design: </a:t>
            </a:r>
            <a:r>
              <a:rPr lang="en-GB" sz="4000" b="1" dirty="0"/>
              <a:t>"Given a set of requirements, which class should be responsible for doing this task?"</a:t>
            </a:r>
            <a:endParaRPr lang="en-US" sz="40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RESPONSIBILITY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Responsibility = an obligation to </a:t>
            </a:r>
            <a:r>
              <a:rPr lang="en-GB" b="1" dirty="0">
                <a:solidFill>
                  <a:srgbClr val="FFFF00"/>
                </a:solidFill>
              </a:rPr>
              <a:t>do something </a:t>
            </a:r>
            <a:r>
              <a:rPr lang="en-GB" b="1" dirty="0"/>
              <a:t>or </a:t>
            </a:r>
            <a:r>
              <a:rPr lang="en-GB" b="1" dirty="0">
                <a:solidFill>
                  <a:srgbClr val="FFFF00"/>
                </a:solidFill>
              </a:rPr>
              <a:t>know </a:t>
            </a:r>
            <a:r>
              <a:rPr lang="en-GB" b="1" dirty="0" smtClean="0">
                <a:solidFill>
                  <a:srgbClr val="FFFF00"/>
                </a:solidFill>
              </a:rPr>
              <a:t>something</a:t>
            </a:r>
            <a:endParaRPr lang="en-GB" b="1" dirty="0" smtClean="0">
              <a:solidFill>
                <a:srgbClr val="FFFF00"/>
              </a:solidFill>
            </a:endParaRPr>
          </a:p>
          <a:p>
            <a:endParaRPr lang="en-GB" b="1" dirty="0">
              <a:solidFill>
                <a:srgbClr val="FFFF00"/>
              </a:solidFill>
            </a:endParaRPr>
          </a:p>
          <a:p>
            <a:endParaRPr lang="en-GB" b="1" dirty="0" smtClean="0">
              <a:solidFill>
                <a:srgbClr val="FFFF00"/>
              </a:solidFill>
            </a:endParaRPr>
          </a:p>
          <a:p>
            <a:r>
              <a:rPr lang="en-GB" b="1" dirty="0"/>
              <a:t>GRASP helps you avoid the "God Class"</a:t>
            </a:r>
            <a:r>
              <a:rPr lang="en-GB" dirty="0"/>
              <a:t> – one class that does everything</a:t>
            </a:r>
            <a:endParaRPr lang="en-US" dirty="0">
              <a:solidFill>
                <a:srgbClr val="FFFF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dirty="0"/>
              <a:t>Information Expert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Assign </a:t>
            </a:r>
            <a:r>
              <a:rPr lang="en-GB" dirty="0"/>
              <a:t>responsibility to the class that has the information needed to </a:t>
            </a:r>
            <a:r>
              <a:rPr lang="en-GB" dirty="0" err="1"/>
              <a:t>fulfill</a:t>
            </a:r>
            <a:r>
              <a:rPr lang="en-GB" dirty="0"/>
              <a:t> it. </a:t>
            </a:r>
            <a:endParaRPr lang="en-GB" dirty="0" smtClean="0"/>
          </a:p>
          <a:p>
            <a:r>
              <a:rPr lang="en-GB" dirty="0" smtClean="0"/>
              <a:t>In other words: The </a:t>
            </a:r>
            <a:r>
              <a:rPr lang="en-GB" dirty="0"/>
              <a:t>class that KNOWS the data should DO the work with that data</a:t>
            </a:r>
            <a:r>
              <a:rPr lang="en-GB" dirty="0" smtClean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4400" dirty="0"/>
              <a:t>"WHO should calculate a student's GPA?"</a:t>
            </a:r>
            <a:endParaRPr lang="en-US" sz="44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995" y="361506"/>
            <a:ext cx="10832805" cy="609009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// BAD: Main class calculates GPA</a:t>
            </a:r>
            <a:endParaRPr lang="en-US" sz="2000" dirty="0"/>
          </a:p>
          <a:p>
            <a:pPr marL="0" indent="0">
              <a:buNone/>
            </a:pPr>
            <a:r>
              <a:rPr lang="en-US" dirty="0"/>
              <a:t>class Main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Student </a:t>
            </a:r>
            <a:r>
              <a:rPr lang="en-US" dirty="0" err="1"/>
              <a:t>student</a:t>
            </a:r>
            <a:r>
              <a:rPr lang="en-US" dirty="0"/>
              <a:t> = new Student("Ali", "CS001</a:t>
            </a:r>
            <a:r>
              <a:rPr lang="en-US" dirty="0" smtClean="0"/>
              <a:t>");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// Main has to know about courses and grades - NOT ITS JOB!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double total = 0;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total += 3.5; // Course 1 grade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total += 4.0; // Course 2 grade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total += 3.0; // Course 3 grade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double </a:t>
            </a:r>
            <a:r>
              <a:rPr lang="en-US" dirty="0" err="1"/>
              <a:t>gpa</a:t>
            </a:r>
            <a:r>
              <a:rPr lang="en-US" dirty="0"/>
              <a:t> = total / 3</a:t>
            </a:r>
            <a:r>
              <a:rPr lang="en-US" dirty="0" smtClean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("GPA: " + </a:t>
            </a:r>
            <a:r>
              <a:rPr lang="en-US" dirty="0" err="1"/>
              <a:t>gpa</a:t>
            </a:r>
            <a:r>
              <a:rPr lang="en-US" dirty="0"/>
              <a:t>);</a:t>
            </a:r>
            <a:endParaRPr lang="en-US" dirty="0"/>
          </a:p>
          <a:p>
            <a:pPr marL="0" indent="0">
              <a:buNone/>
            </a:pPr>
            <a:r>
              <a:rPr lang="en-US" sz="2200" dirty="0"/>
              <a:t>    }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}</a:t>
            </a:r>
            <a:endParaRPr lang="en-US" sz="2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Why Bad?</a:t>
            </a:r>
            <a:r>
              <a:rPr lang="en-GB" dirty="0"/>
              <a:t> Main class doesn't know which student has which grades. Student class knows!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Solution: Information Expert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Who has the information</a:t>
            </a:r>
            <a:r>
              <a:rPr lang="en-GB" b="1" dirty="0" smtClean="0"/>
              <a:t>?</a:t>
            </a:r>
            <a:endParaRPr lang="en-GB" b="1" dirty="0" smtClean="0"/>
          </a:p>
          <a:p>
            <a:r>
              <a:rPr lang="en-GB" dirty="0" smtClean="0"/>
              <a:t> </a:t>
            </a:r>
            <a:r>
              <a:rPr lang="en-GB" dirty="0"/>
              <a:t>Student class has the grades! </a:t>
            </a:r>
            <a:r>
              <a:rPr lang="en-GB" b="1" dirty="0"/>
              <a:t>Who should calculate?</a:t>
            </a:r>
            <a:r>
              <a:rPr lang="en-GB" dirty="0"/>
              <a:t> Student class!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25302"/>
            <a:ext cx="10515600" cy="5751661"/>
          </a:xfrm>
        </p:spPr>
        <p:txBody>
          <a:bodyPr>
            <a:normAutofit fontScale="25000" lnSpcReduction="2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Course {</a:t>
            </a:r>
            <a:endParaRPr lang="en-US" dirty="0"/>
          </a:p>
          <a:p>
            <a:r>
              <a:rPr lang="en-US" dirty="0"/>
              <a:t>    String </a:t>
            </a:r>
            <a:r>
              <a:rPr lang="en-US" dirty="0" err="1"/>
              <a:t>courseCode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String </a:t>
            </a:r>
            <a:r>
              <a:rPr lang="en-US" dirty="0" err="1"/>
              <a:t>courseName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double grade;  // 0.0 to 4.0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Course(String code, String name, double grade) 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this.courseCode</a:t>
            </a:r>
            <a:r>
              <a:rPr lang="en-US" dirty="0"/>
              <a:t> = code;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this.courseName</a:t>
            </a:r>
            <a:r>
              <a:rPr lang="en-US" dirty="0"/>
              <a:t> = name;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this.grade</a:t>
            </a:r>
            <a:r>
              <a:rPr lang="en-US" dirty="0"/>
              <a:t> = grade;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Student {</a:t>
            </a:r>
            <a:endParaRPr lang="en-US" dirty="0"/>
          </a:p>
          <a:p>
            <a:r>
              <a:rPr lang="en-US" dirty="0"/>
              <a:t>    String name;</a:t>
            </a:r>
            <a:endParaRPr lang="en-US" dirty="0"/>
          </a:p>
          <a:p>
            <a:r>
              <a:rPr lang="en-US" dirty="0"/>
              <a:t>    String </a:t>
            </a:r>
            <a:r>
              <a:rPr lang="en-US" dirty="0" err="1"/>
              <a:t>studentId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ArrayList</a:t>
            </a:r>
            <a:r>
              <a:rPr lang="en-US" dirty="0"/>
              <a:t>&lt;Course&gt; courses;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Student(String name, String </a:t>
            </a:r>
            <a:r>
              <a:rPr lang="en-US" dirty="0" err="1"/>
              <a:t>studentId</a:t>
            </a:r>
            <a:r>
              <a:rPr lang="en-US" dirty="0"/>
              <a:t>) {</a:t>
            </a:r>
            <a:endParaRPr lang="en-US" dirty="0"/>
          </a:p>
          <a:p>
            <a:r>
              <a:rPr lang="en-US" dirty="0"/>
              <a:t>        this.name = name;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this.studentId</a:t>
            </a:r>
            <a:r>
              <a:rPr lang="en-US" dirty="0"/>
              <a:t> = </a:t>
            </a:r>
            <a:r>
              <a:rPr lang="en-US" dirty="0" err="1"/>
              <a:t>studentId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this.courses</a:t>
            </a:r>
            <a:r>
              <a:rPr lang="en-US" dirty="0"/>
              <a:t>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addCourse</a:t>
            </a:r>
            <a:r>
              <a:rPr lang="en-US" dirty="0"/>
              <a:t>(Course course) 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courses.add</a:t>
            </a:r>
            <a:r>
              <a:rPr lang="en-US" dirty="0"/>
              <a:t>(course);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// INFORMATION EXPERT: Student HAS the grades, Student CALCULATES GPA</a:t>
            </a:r>
            <a:endParaRPr lang="en-US" dirty="0"/>
          </a:p>
          <a:p>
            <a:r>
              <a:rPr lang="en-US" dirty="0"/>
              <a:t>    double </a:t>
            </a:r>
            <a:r>
              <a:rPr lang="en-US" dirty="0" err="1"/>
              <a:t>calculateGPA</a:t>
            </a:r>
            <a:r>
              <a:rPr lang="en-US" dirty="0"/>
              <a:t>() {</a:t>
            </a:r>
            <a:endParaRPr lang="en-US" dirty="0"/>
          </a:p>
          <a:p>
            <a:r>
              <a:rPr lang="en-US" dirty="0"/>
              <a:t>        if (</a:t>
            </a:r>
            <a:r>
              <a:rPr lang="en-US" dirty="0" err="1"/>
              <a:t>courses.size</a:t>
            </a:r>
            <a:r>
              <a:rPr lang="en-US" dirty="0"/>
              <a:t>() == 0) return 0.0;</a:t>
            </a:r>
            <a:endParaRPr lang="en-US" dirty="0"/>
          </a:p>
          <a:p>
            <a:r>
              <a:rPr lang="en-US" dirty="0"/>
              <a:t>        </a:t>
            </a:r>
            <a:endParaRPr lang="en-US" dirty="0"/>
          </a:p>
          <a:p>
            <a:r>
              <a:rPr lang="en-US" dirty="0"/>
              <a:t>        double total = 0;</a:t>
            </a:r>
            <a:endParaRPr lang="en-US" dirty="0"/>
          </a:p>
          <a:p>
            <a:r>
              <a:rPr lang="en-US" dirty="0"/>
              <a:t>        for (Course </a:t>
            </a:r>
            <a:r>
              <a:rPr lang="en-US" dirty="0" err="1"/>
              <a:t>course</a:t>
            </a:r>
            <a:r>
              <a:rPr lang="en-US" dirty="0"/>
              <a:t> : courses) {</a:t>
            </a:r>
            <a:endParaRPr lang="en-US" dirty="0"/>
          </a:p>
          <a:p>
            <a:r>
              <a:rPr lang="en-US" dirty="0"/>
              <a:t>            total += </a:t>
            </a:r>
            <a:r>
              <a:rPr lang="en-US" dirty="0" err="1"/>
              <a:t>course.grade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    }</a:t>
            </a:r>
            <a:endParaRPr lang="en-US" dirty="0"/>
          </a:p>
          <a:p>
            <a:r>
              <a:rPr lang="en-US" dirty="0"/>
              <a:t>        return total / </a:t>
            </a:r>
            <a:r>
              <a:rPr lang="en-US" dirty="0" err="1"/>
              <a:t>courses.size</a:t>
            </a:r>
            <a:r>
              <a:rPr lang="en-US" dirty="0"/>
              <a:t>();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// EXECUTABLE CODE</a:t>
            </a:r>
            <a:endParaRPr lang="en-US" dirty="0"/>
          </a:p>
          <a:p>
            <a:r>
              <a:rPr lang="en-US" dirty="0"/>
              <a:t>class Main {</a:t>
            </a:r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endParaRPr lang="en-US" dirty="0"/>
          </a:p>
          <a:p>
            <a:r>
              <a:rPr lang="en-US" dirty="0"/>
              <a:t>        Student </a:t>
            </a:r>
            <a:r>
              <a:rPr lang="en-US" dirty="0" err="1"/>
              <a:t>student</a:t>
            </a:r>
            <a:r>
              <a:rPr lang="en-US" dirty="0"/>
              <a:t> = new Student("Ali Khan", "CS001");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student.addCourse</a:t>
            </a:r>
            <a:r>
              <a:rPr lang="en-US" dirty="0"/>
              <a:t>(new Course("CS101", "Programming", 3.5));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student.addCourse</a:t>
            </a:r>
            <a:r>
              <a:rPr lang="en-US" dirty="0"/>
              <a:t>(new Course("CS102", "Data Structures", 4.0));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student.addCourse</a:t>
            </a:r>
            <a:r>
              <a:rPr lang="en-US" dirty="0"/>
              <a:t>(new Course("MATH201", "Calculus", 3.0));</a:t>
            </a:r>
            <a:endParaRPr lang="en-US" dirty="0"/>
          </a:p>
          <a:p>
            <a:r>
              <a:rPr lang="en-US" dirty="0"/>
              <a:t>        </a:t>
            </a:r>
            <a:endParaRPr lang="en-US" dirty="0"/>
          </a:p>
          <a:p>
            <a:r>
              <a:rPr lang="en-US" dirty="0"/>
              <a:t>        // Just ASK the expert!</a:t>
            </a:r>
            <a:endParaRPr lang="en-US" dirty="0"/>
          </a:p>
          <a:p>
            <a:r>
              <a:rPr lang="en-US" dirty="0"/>
              <a:t>        double </a:t>
            </a:r>
            <a:r>
              <a:rPr lang="en-US" dirty="0" err="1"/>
              <a:t>gpa</a:t>
            </a:r>
            <a:r>
              <a:rPr lang="en-US" dirty="0"/>
              <a:t> = </a:t>
            </a:r>
            <a:r>
              <a:rPr lang="en-US" dirty="0" err="1"/>
              <a:t>student.calculateGPA</a:t>
            </a:r>
            <a:r>
              <a:rPr lang="en-US" dirty="0"/>
              <a:t>();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(student.name + "'s GPA: " + </a:t>
            </a:r>
            <a:r>
              <a:rPr lang="en-US" dirty="0" err="1"/>
              <a:t>gpa</a:t>
            </a:r>
            <a:r>
              <a:rPr lang="en-US" dirty="0"/>
              <a:t>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Principle Applied:</a:t>
            </a:r>
            <a:r>
              <a:rPr lang="en-GB" dirty="0"/>
              <a:t> Student class knows the grades, so Student calculates GPA.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2: Creator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Assign class B the responsibility to create class A if B contains, records, or closely uses A.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Creator </a:t>
            </a:r>
            <a:r>
              <a:rPr lang="en-GB" dirty="0" smtClean="0"/>
              <a:t>: </a:t>
            </a:r>
            <a:r>
              <a:rPr lang="en-GB" dirty="0"/>
              <a:t>decides who makes the object</a:t>
            </a:r>
            <a:r>
              <a:rPr lang="en-GB" dirty="0" smtClean="0"/>
              <a:t>.</a:t>
            </a:r>
            <a:endParaRPr lang="en-GB" dirty="0" smtClean="0"/>
          </a:p>
          <a:p>
            <a:r>
              <a:rPr lang="en-GB" dirty="0" smtClean="0"/>
              <a:t>Information </a:t>
            </a:r>
            <a:r>
              <a:rPr lang="en-GB" dirty="0"/>
              <a:t>Expert </a:t>
            </a:r>
            <a:r>
              <a:rPr lang="en-GB" dirty="0" smtClean="0"/>
              <a:t>: </a:t>
            </a:r>
            <a:r>
              <a:rPr lang="en-GB" dirty="0"/>
              <a:t>decides who performs the work because they have the data.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The Question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"</a:t>
            </a:r>
            <a:r>
              <a:rPr lang="en-GB" dirty="0"/>
              <a:t>WHO should create Course objects?"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GB" dirty="0"/>
              <a:t>// BAD: Main creates everything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class Main {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public static void main(String[] </a:t>
            </a:r>
            <a:r>
              <a:rPr lang="en-GB" dirty="0" err="1"/>
              <a:t>args</a:t>
            </a:r>
            <a:r>
              <a:rPr lang="en-GB" dirty="0"/>
              <a:t>) {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    Student </a:t>
            </a:r>
            <a:r>
              <a:rPr lang="en-GB" dirty="0" err="1"/>
              <a:t>student</a:t>
            </a:r>
            <a:r>
              <a:rPr lang="en-GB" dirty="0"/>
              <a:t> = new Student("Ali", "CS001");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 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    // Main creates courses - but student should own this!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    Course c1 = new Course("CS101", "Programming", 3.5);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    Course c2 = new Course("CS102", "Data Structures", 4.0);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    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student.addCourse</a:t>
            </a:r>
            <a:r>
              <a:rPr lang="en-GB" dirty="0"/>
              <a:t>(c1);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    </a:t>
            </a:r>
            <a:r>
              <a:rPr lang="en-GB" dirty="0" err="1"/>
              <a:t>student.addCourse</a:t>
            </a:r>
            <a:r>
              <a:rPr lang="en-GB" dirty="0"/>
              <a:t>(c2);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    }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Why Bad?</a:t>
            </a:r>
            <a:r>
              <a:rPr lang="en-GB" dirty="0"/>
              <a:t> Main shouldn't know about creating courses. Student manages courses!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The Solution: Creator</a:t>
            </a:r>
            <a:endParaRPr lang="en-GB" b="1" dirty="0"/>
          </a:p>
          <a:p>
            <a:r>
              <a:rPr lang="en-GB" b="1" dirty="0"/>
              <a:t>Who contains courses?</a:t>
            </a:r>
            <a:r>
              <a:rPr lang="en-GB" dirty="0"/>
              <a:t> Student contains courses! </a:t>
            </a:r>
            <a:r>
              <a:rPr lang="en-GB" b="1" dirty="0"/>
              <a:t>Who should create them?</a:t>
            </a:r>
            <a:r>
              <a:rPr lang="en-GB" dirty="0"/>
              <a:t> Student should!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018" y="411494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Course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String </a:t>
            </a:r>
            <a:r>
              <a:rPr lang="en-US" dirty="0" err="1"/>
              <a:t>courseCode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String </a:t>
            </a:r>
            <a:r>
              <a:rPr lang="en-US" dirty="0" err="1"/>
              <a:t>courseName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double grade;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Course(String code, String name, double grade)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this.courseCode</a:t>
            </a:r>
            <a:r>
              <a:rPr lang="en-US" dirty="0"/>
              <a:t> = code;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this.courseName</a:t>
            </a:r>
            <a:r>
              <a:rPr lang="en-US" dirty="0"/>
              <a:t> = name;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this.grade</a:t>
            </a:r>
            <a:r>
              <a:rPr lang="en-US" dirty="0"/>
              <a:t> = grade;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Student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String name;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String </a:t>
            </a:r>
            <a:r>
              <a:rPr lang="en-US" dirty="0" err="1"/>
              <a:t>studentId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ArrayList</a:t>
            </a:r>
            <a:r>
              <a:rPr lang="en-US" dirty="0"/>
              <a:t>&lt;Course&gt; courses;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Student(String name, String </a:t>
            </a:r>
            <a:r>
              <a:rPr lang="en-US" dirty="0" err="1"/>
              <a:t>studentId</a:t>
            </a:r>
            <a:r>
              <a:rPr lang="en-US" dirty="0"/>
              <a:t>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this.name = name;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this.studentId</a:t>
            </a:r>
            <a:r>
              <a:rPr lang="en-US" dirty="0"/>
              <a:t> = </a:t>
            </a:r>
            <a:r>
              <a:rPr lang="en-US" dirty="0" err="1"/>
              <a:t>studentId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this.courses</a:t>
            </a:r>
            <a:r>
              <a:rPr lang="en-US" dirty="0"/>
              <a:t>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// CREATOR: Student CREATES courses because Student CONTAINS courses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enrollInCourse</a:t>
            </a:r>
            <a:r>
              <a:rPr lang="en-US" dirty="0"/>
              <a:t>(String code, String name, double grade)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Course </a:t>
            </a:r>
            <a:r>
              <a:rPr lang="en-US" dirty="0" err="1"/>
              <a:t>newCourse</a:t>
            </a:r>
            <a:r>
              <a:rPr lang="en-US" dirty="0"/>
              <a:t> = new Course(code, name, grade);  // Student creates!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courses.add</a:t>
            </a:r>
            <a:r>
              <a:rPr lang="en-US" dirty="0"/>
              <a:t>(</a:t>
            </a:r>
            <a:r>
              <a:rPr lang="en-US" dirty="0" err="1"/>
              <a:t>newCourse</a:t>
            </a:r>
            <a:r>
              <a:rPr lang="en-US" dirty="0"/>
              <a:t>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double </a:t>
            </a:r>
            <a:r>
              <a:rPr lang="en-US" dirty="0" err="1"/>
              <a:t>calculateGPA</a:t>
            </a:r>
            <a:r>
              <a:rPr lang="en-US" dirty="0"/>
              <a:t>()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courses.size</a:t>
            </a:r>
            <a:r>
              <a:rPr lang="en-US" dirty="0"/>
              <a:t>() == 0) return 0.0;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double total = 0;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for (Course </a:t>
            </a:r>
            <a:r>
              <a:rPr lang="en-US" dirty="0" err="1"/>
              <a:t>course</a:t>
            </a:r>
            <a:r>
              <a:rPr lang="en-US" dirty="0"/>
              <a:t> : courses)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total += </a:t>
            </a:r>
            <a:r>
              <a:rPr lang="en-US" dirty="0" err="1"/>
              <a:t>course.grade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return total / </a:t>
            </a:r>
            <a:r>
              <a:rPr lang="en-US" dirty="0" err="1"/>
              <a:t>courses.size</a:t>
            </a:r>
            <a:r>
              <a:rPr lang="en-US" dirty="0"/>
              <a:t>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EXECUTABLE CODE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Main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Student </a:t>
            </a:r>
            <a:r>
              <a:rPr lang="en-US" dirty="0" err="1"/>
              <a:t>student</a:t>
            </a:r>
            <a:r>
              <a:rPr lang="en-US" dirty="0"/>
              <a:t> = new Student("Ali Khan", "CS001");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// Clean! Student creates its own courses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student.enrollInCourse</a:t>
            </a:r>
            <a:r>
              <a:rPr lang="en-US" dirty="0"/>
              <a:t>("CS101", "Programming", 3.5);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student.enrollInCourse</a:t>
            </a:r>
            <a:r>
              <a:rPr lang="en-US" dirty="0"/>
              <a:t>("CS102", "Data Structures", 4.0);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student.enrollInCourse</a:t>
            </a:r>
            <a:r>
              <a:rPr lang="en-US" dirty="0"/>
              <a:t>("MATH201", "Calculus", 3.0);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(student.name + "'s GPA: " + </a:t>
            </a:r>
            <a:r>
              <a:rPr lang="en-US" dirty="0" err="1"/>
              <a:t>student.calculateGPA</a:t>
            </a:r>
            <a:r>
              <a:rPr lang="en-US" dirty="0"/>
              <a:t>());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Principle Applied:</a:t>
            </a:r>
            <a:r>
              <a:rPr lang="en-GB" dirty="0"/>
              <a:t> Student creates Course objects because Student contains and manages courses.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</a:t>
            </a:r>
            <a:r>
              <a:rPr lang="en-US" dirty="0"/>
              <a:t>: Controller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Assign responsibility to a class that represents the overall system or a use case scenario.</a:t>
            </a:r>
            <a:endParaRPr lang="en-GB" dirty="0"/>
          </a:p>
          <a:p>
            <a:r>
              <a:rPr lang="en-GB" b="1" dirty="0"/>
              <a:t>The Question</a:t>
            </a:r>
            <a:endParaRPr lang="en-GB" b="1" dirty="0"/>
          </a:p>
          <a:p>
            <a:r>
              <a:rPr lang="en-GB" dirty="0"/>
              <a:t>"WHO should handle the 'Generate Grade Report' operation?"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// BAD: Main does everything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Main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Student </a:t>
            </a:r>
            <a:r>
              <a:rPr lang="en-US" dirty="0" err="1"/>
              <a:t>student</a:t>
            </a:r>
            <a:r>
              <a:rPr lang="en-US" dirty="0"/>
              <a:t> = new Student("Ali", "CS001");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student.enrollInCourse</a:t>
            </a:r>
            <a:r>
              <a:rPr lang="en-US" dirty="0"/>
              <a:t>("CS101", "Programming", 3.5);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// Main does the work - messy!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("=== GRADE REPORT ===");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("Student: " + student.name);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("ID: " + </a:t>
            </a:r>
            <a:r>
              <a:rPr lang="en-US" dirty="0" err="1"/>
              <a:t>student.studentId</a:t>
            </a:r>
            <a:r>
              <a:rPr lang="en-US" dirty="0"/>
              <a:t>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("GPA: " + </a:t>
            </a:r>
            <a:r>
              <a:rPr lang="en-US" dirty="0" err="1"/>
              <a:t>student.calculateGPA</a:t>
            </a:r>
            <a:r>
              <a:rPr lang="en-US" dirty="0"/>
              <a:t>());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Why Bad?</a:t>
            </a:r>
            <a:r>
              <a:rPr lang="en-GB" dirty="0"/>
              <a:t> Main is cluttered with system operations. Need a coordinator!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The Solution: Controller</a:t>
            </a:r>
            <a:endParaRPr lang="en-GB" b="1" dirty="0"/>
          </a:p>
          <a:p>
            <a:r>
              <a:rPr lang="en-GB" b="1" dirty="0"/>
              <a:t>Who should coordinate system operations?</a:t>
            </a:r>
            <a:r>
              <a:rPr lang="en-GB" dirty="0"/>
              <a:t> A dedicated controller class!</a:t>
            </a:r>
            <a:endParaRPr lang="en-GB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Course {</a:t>
            </a:r>
            <a:endParaRPr lang="en-US" dirty="0"/>
          </a:p>
          <a:p>
            <a:r>
              <a:rPr lang="en-US" dirty="0"/>
              <a:t>    String </a:t>
            </a:r>
            <a:r>
              <a:rPr lang="en-US" dirty="0" err="1"/>
              <a:t>courseCode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String </a:t>
            </a:r>
            <a:r>
              <a:rPr lang="en-US" dirty="0" err="1"/>
              <a:t>courseName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double grade;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Course(String code, String name, double grade) 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this.courseCode</a:t>
            </a:r>
            <a:r>
              <a:rPr lang="en-US" dirty="0"/>
              <a:t> = code;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this.courseName</a:t>
            </a:r>
            <a:r>
              <a:rPr lang="en-US" dirty="0"/>
              <a:t> = name;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this.grade</a:t>
            </a:r>
            <a:r>
              <a:rPr lang="en-US" dirty="0"/>
              <a:t> = grade;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Student {</a:t>
            </a:r>
            <a:endParaRPr lang="en-US" dirty="0"/>
          </a:p>
          <a:p>
            <a:r>
              <a:rPr lang="en-US" dirty="0"/>
              <a:t>    String name;</a:t>
            </a:r>
            <a:endParaRPr lang="en-US" dirty="0"/>
          </a:p>
          <a:p>
            <a:r>
              <a:rPr lang="en-US" dirty="0"/>
              <a:t>    String </a:t>
            </a:r>
            <a:r>
              <a:rPr lang="en-US" dirty="0" err="1"/>
              <a:t>studentId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ArrayList</a:t>
            </a:r>
            <a:r>
              <a:rPr lang="en-US" dirty="0"/>
              <a:t>&lt;Course&gt; courses;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Student(String name, String </a:t>
            </a:r>
            <a:r>
              <a:rPr lang="en-US" dirty="0" err="1"/>
              <a:t>studentId</a:t>
            </a:r>
            <a:r>
              <a:rPr lang="en-US" dirty="0"/>
              <a:t>) {</a:t>
            </a:r>
            <a:endParaRPr lang="en-US" dirty="0"/>
          </a:p>
          <a:p>
            <a:r>
              <a:rPr lang="en-US" dirty="0"/>
              <a:t>        this.name = name;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this.studentId</a:t>
            </a:r>
            <a:r>
              <a:rPr lang="en-US" dirty="0"/>
              <a:t> = </a:t>
            </a:r>
            <a:r>
              <a:rPr lang="en-US" dirty="0" err="1"/>
              <a:t>studentId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this.courses</a:t>
            </a:r>
            <a:r>
              <a:rPr lang="en-US" dirty="0"/>
              <a:t>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enrollInCourse</a:t>
            </a:r>
            <a:r>
              <a:rPr lang="en-US" dirty="0"/>
              <a:t>(String code, String name, double grade) {</a:t>
            </a:r>
            <a:endParaRPr lang="en-US" dirty="0"/>
          </a:p>
          <a:p>
            <a:r>
              <a:rPr lang="en-US" dirty="0"/>
              <a:t>        Course </a:t>
            </a:r>
            <a:r>
              <a:rPr lang="en-US" dirty="0" err="1"/>
              <a:t>newCourse</a:t>
            </a:r>
            <a:r>
              <a:rPr lang="en-US" dirty="0"/>
              <a:t> = new Course(code, name, grade);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courses.add</a:t>
            </a:r>
            <a:r>
              <a:rPr lang="en-US" dirty="0"/>
              <a:t>(</a:t>
            </a:r>
            <a:r>
              <a:rPr lang="en-US" dirty="0" err="1"/>
              <a:t>newCourse</a:t>
            </a:r>
            <a:r>
              <a:rPr lang="en-US" dirty="0"/>
              <a:t>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double </a:t>
            </a:r>
            <a:r>
              <a:rPr lang="en-US" dirty="0" err="1"/>
              <a:t>calculateGPA</a:t>
            </a:r>
            <a:r>
              <a:rPr lang="en-US" dirty="0"/>
              <a:t>() {</a:t>
            </a:r>
            <a:endParaRPr lang="en-US" dirty="0"/>
          </a:p>
          <a:p>
            <a:r>
              <a:rPr lang="en-US" dirty="0"/>
              <a:t>        if (</a:t>
            </a:r>
            <a:r>
              <a:rPr lang="en-US" dirty="0" err="1"/>
              <a:t>courses.size</a:t>
            </a:r>
            <a:r>
              <a:rPr lang="en-US" dirty="0"/>
              <a:t>() == 0) return 0.0;</a:t>
            </a:r>
            <a:endParaRPr lang="en-US" dirty="0"/>
          </a:p>
          <a:p>
            <a:r>
              <a:rPr lang="en-US" dirty="0"/>
              <a:t>        double total = 0;</a:t>
            </a:r>
            <a:endParaRPr lang="en-US" dirty="0"/>
          </a:p>
          <a:p>
            <a:r>
              <a:rPr lang="en-US" dirty="0"/>
              <a:t>        for (Course </a:t>
            </a:r>
            <a:r>
              <a:rPr lang="en-US" dirty="0" err="1"/>
              <a:t>course</a:t>
            </a:r>
            <a:r>
              <a:rPr lang="en-US" dirty="0"/>
              <a:t> : courses) {</a:t>
            </a:r>
            <a:endParaRPr lang="en-US" dirty="0"/>
          </a:p>
          <a:p>
            <a:r>
              <a:rPr lang="en-US" dirty="0"/>
              <a:t>            total += </a:t>
            </a:r>
            <a:r>
              <a:rPr lang="en-US" dirty="0" err="1"/>
              <a:t>course.grade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    }</a:t>
            </a:r>
            <a:endParaRPr lang="en-US" dirty="0"/>
          </a:p>
          <a:p>
            <a:r>
              <a:rPr lang="en-US" dirty="0"/>
              <a:t>        return total / </a:t>
            </a:r>
            <a:r>
              <a:rPr lang="en-US" dirty="0" err="1"/>
              <a:t>courses.size</a:t>
            </a:r>
            <a:r>
              <a:rPr lang="en-US" dirty="0"/>
              <a:t>();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ArrayList</a:t>
            </a:r>
            <a:r>
              <a:rPr lang="en-US" dirty="0"/>
              <a:t>&lt;Course&gt; </a:t>
            </a:r>
            <a:r>
              <a:rPr lang="en-US" dirty="0" err="1"/>
              <a:t>getCourses</a:t>
            </a:r>
            <a:r>
              <a:rPr lang="en-US" dirty="0"/>
              <a:t>() {</a:t>
            </a:r>
            <a:endParaRPr lang="en-US" dirty="0"/>
          </a:p>
          <a:p>
            <a:r>
              <a:rPr lang="en-US" dirty="0"/>
              <a:t>        return courses;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// CONTROLLER: Handles system operations</a:t>
            </a:r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GradeSystem</a:t>
            </a:r>
            <a:r>
              <a:rPr lang="en-US" dirty="0"/>
              <a:t> {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// Controller coordinates the "Generate Report" use case</a:t>
            </a:r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generateReport</a:t>
            </a:r>
            <a:r>
              <a:rPr lang="en-US" dirty="0"/>
              <a:t>(Student student) 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("\n=== GRADE REPORT ===");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("Student: " + student.name);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("ID: " + </a:t>
            </a:r>
            <a:r>
              <a:rPr lang="en-US" dirty="0" err="1"/>
              <a:t>student.studentId</a:t>
            </a:r>
            <a:r>
              <a:rPr lang="en-US" dirty="0"/>
              <a:t>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</a:t>
            </a:r>
            <a:r>
              <a:rPr lang="en-US" dirty="0" err="1"/>
              <a:t>nCourses</a:t>
            </a:r>
            <a:r>
              <a:rPr lang="en-US" dirty="0"/>
              <a:t>:");</a:t>
            </a:r>
            <a:endParaRPr lang="en-US" dirty="0"/>
          </a:p>
          <a:p>
            <a:r>
              <a:rPr lang="en-US" dirty="0"/>
              <a:t>        </a:t>
            </a:r>
            <a:endParaRPr lang="en-US" dirty="0"/>
          </a:p>
          <a:p>
            <a:r>
              <a:rPr lang="en-US" dirty="0"/>
              <a:t>        for (Course </a:t>
            </a:r>
            <a:r>
              <a:rPr lang="en-US" dirty="0" err="1"/>
              <a:t>course</a:t>
            </a:r>
            <a:r>
              <a:rPr lang="en-US" dirty="0"/>
              <a:t> : </a:t>
            </a:r>
            <a:r>
              <a:rPr lang="en-US" dirty="0" err="1"/>
              <a:t>student.getCourses</a:t>
            </a:r>
            <a:r>
              <a:rPr lang="en-US" dirty="0"/>
              <a:t>()) {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  " + </a:t>
            </a:r>
            <a:r>
              <a:rPr lang="en-US" dirty="0" err="1"/>
              <a:t>course.courseCode</a:t>
            </a:r>
            <a:r>
              <a:rPr lang="en-US" dirty="0"/>
              <a:t> + ": " + </a:t>
            </a:r>
            <a:r>
              <a:rPr lang="en-US" dirty="0" err="1"/>
              <a:t>course.grade</a:t>
            </a:r>
            <a:r>
              <a:rPr lang="en-US" dirty="0"/>
              <a:t>);</a:t>
            </a:r>
            <a:endParaRPr lang="en-US" dirty="0"/>
          </a:p>
          <a:p>
            <a:r>
              <a:rPr lang="en-US" dirty="0"/>
              <a:t>        }</a:t>
            </a:r>
            <a:endParaRPr lang="en-US" dirty="0"/>
          </a:p>
          <a:p>
            <a:r>
              <a:rPr lang="en-US" dirty="0"/>
              <a:t>        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</a:t>
            </a:r>
            <a:r>
              <a:rPr lang="en-US" dirty="0" err="1"/>
              <a:t>nGPA</a:t>
            </a:r>
            <a:r>
              <a:rPr lang="en-US" dirty="0"/>
              <a:t>: " + </a:t>
            </a:r>
            <a:r>
              <a:rPr lang="en-US" dirty="0" err="1"/>
              <a:t>student.calculateGPA</a:t>
            </a:r>
            <a:r>
              <a:rPr lang="en-US" dirty="0"/>
              <a:t>());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("===================\n");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// Controller coordinates the "Enroll Student" use case</a:t>
            </a:r>
            <a:endParaRPr lang="en-US" dirty="0"/>
          </a:p>
          <a:p>
            <a:r>
              <a:rPr lang="en-US" dirty="0"/>
              <a:t>    Student </a:t>
            </a:r>
            <a:r>
              <a:rPr lang="en-US" dirty="0" err="1"/>
              <a:t>enrollNewStudent</a:t>
            </a:r>
            <a:r>
              <a:rPr lang="en-US" dirty="0"/>
              <a:t>(String name, String id) {</a:t>
            </a:r>
            <a:endParaRPr lang="en-US" dirty="0"/>
          </a:p>
          <a:p>
            <a:r>
              <a:rPr lang="en-US" dirty="0"/>
              <a:t>        Student </a:t>
            </a:r>
            <a:r>
              <a:rPr lang="en-US" dirty="0" err="1"/>
              <a:t>student</a:t>
            </a:r>
            <a:r>
              <a:rPr lang="en-US" dirty="0"/>
              <a:t> = new Student(name, id);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("Student enrolled: " + name);</a:t>
            </a:r>
            <a:endParaRPr lang="en-US" dirty="0"/>
          </a:p>
          <a:p>
            <a:r>
              <a:rPr lang="en-US" dirty="0"/>
              <a:t>        return student;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// EXECUTABLE CODE</a:t>
            </a:r>
            <a:endParaRPr lang="en-US" dirty="0"/>
          </a:p>
          <a:p>
            <a:r>
              <a:rPr lang="en-US" dirty="0"/>
              <a:t>class Main {</a:t>
            </a:r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GradeSystem</a:t>
            </a:r>
            <a:r>
              <a:rPr lang="en-US" dirty="0"/>
              <a:t> system = new </a:t>
            </a:r>
            <a:r>
              <a:rPr lang="en-US" dirty="0" err="1"/>
              <a:t>GradeSystem</a:t>
            </a:r>
            <a:r>
              <a:rPr lang="en-US" dirty="0"/>
              <a:t>();</a:t>
            </a:r>
            <a:endParaRPr lang="en-US" dirty="0"/>
          </a:p>
          <a:p>
            <a:r>
              <a:rPr lang="en-US" dirty="0"/>
              <a:t>        </a:t>
            </a:r>
            <a:endParaRPr lang="en-US" dirty="0"/>
          </a:p>
          <a:p>
            <a:r>
              <a:rPr lang="en-US" dirty="0"/>
              <a:t>        // Controller handles system operations</a:t>
            </a:r>
            <a:endParaRPr lang="en-US" dirty="0"/>
          </a:p>
          <a:p>
            <a:r>
              <a:rPr lang="en-US" dirty="0"/>
              <a:t>        Student </a:t>
            </a:r>
            <a:r>
              <a:rPr lang="en-US" dirty="0" err="1"/>
              <a:t>student</a:t>
            </a:r>
            <a:r>
              <a:rPr lang="en-US" dirty="0"/>
              <a:t> = </a:t>
            </a:r>
            <a:r>
              <a:rPr lang="en-US" dirty="0" err="1"/>
              <a:t>system.enrollNewStudent</a:t>
            </a:r>
            <a:r>
              <a:rPr lang="en-US" dirty="0"/>
              <a:t>("Ali Khan", "CS001");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student.enrollInCourse</a:t>
            </a:r>
            <a:r>
              <a:rPr lang="en-US" dirty="0"/>
              <a:t>("CS101", "Programming", 3.5);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student.enrollInCourse</a:t>
            </a:r>
            <a:r>
              <a:rPr lang="en-US" dirty="0"/>
              <a:t>("CS102", "Data Structures", 4.0);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student.enrollInCourse</a:t>
            </a:r>
            <a:r>
              <a:rPr lang="en-US" dirty="0"/>
              <a:t>("MATH201", "Calculus", 3.0);</a:t>
            </a:r>
            <a:endParaRPr lang="en-US" dirty="0"/>
          </a:p>
          <a:p>
            <a:r>
              <a:rPr lang="en-US" dirty="0"/>
              <a:t>        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system.generateReport</a:t>
            </a:r>
            <a:r>
              <a:rPr lang="en-US" dirty="0"/>
              <a:t>(student);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Principle Applied:</a:t>
            </a:r>
            <a:r>
              <a:rPr lang="en-GB" dirty="0"/>
              <a:t> </a:t>
            </a:r>
            <a:r>
              <a:rPr lang="en-GB" dirty="0" err="1"/>
              <a:t>GradeSystem</a:t>
            </a:r>
            <a:r>
              <a:rPr lang="en-GB" dirty="0"/>
              <a:t> controller coordinates system-level operations.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Further example of controller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1785465"/>
            <a:ext cx="5147930" cy="2585323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int</a:t>
            </a:r>
            <a:r>
              <a:rPr lang="en-US" dirty="0">
                <a:solidFill>
                  <a:schemeClr val="bg1"/>
                </a:solidFill>
              </a:rPr>
              <a:t> main() {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cout</a:t>
            </a:r>
            <a:r>
              <a:rPr lang="en-US" dirty="0">
                <a:solidFill>
                  <a:schemeClr val="bg1"/>
                </a:solidFill>
              </a:rPr>
              <a:t> &lt;&lt; "Enter payment type: ";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string type;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</a:t>
            </a:r>
            <a:r>
              <a:rPr lang="en-US" dirty="0" err="1">
                <a:solidFill>
                  <a:schemeClr val="bg1"/>
                </a:solidFill>
              </a:rPr>
              <a:t>cin</a:t>
            </a:r>
            <a:r>
              <a:rPr lang="en-US" dirty="0">
                <a:solidFill>
                  <a:schemeClr val="bg1"/>
                </a:solidFill>
              </a:rPr>
              <a:t> &gt;&gt; type;</a:t>
            </a: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// Messy: main does everything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if(type == "credit") { /* process credit */ }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else if(type == "</a:t>
            </a:r>
            <a:r>
              <a:rPr lang="en-US" dirty="0" err="1">
                <a:solidFill>
                  <a:schemeClr val="bg1"/>
                </a:solidFill>
              </a:rPr>
              <a:t>paypal</a:t>
            </a:r>
            <a:r>
              <a:rPr lang="en-US" dirty="0">
                <a:solidFill>
                  <a:schemeClr val="bg1"/>
                </a:solidFill>
              </a:rPr>
              <a:t>") { /* process </a:t>
            </a:r>
            <a:r>
              <a:rPr lang="en-US" dirty="0" err="1">
                <a:solidFill>
                  <a:schemeClr val="bg1"/>
                </a:solidFill>
              </a:rPr>
              <a:t>paypal</a:t>
            </a:r>
            <a:r>
              <a:rPr lang="en-US" dirty="0">
                <a:solidFill>
                  <a:schemeClr val="bg1"/>
                </a:solidFill>
              </a:rPr>
              <a:t> */ }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368902" y="1853458"/>
            <a:ext cx="5624624" cy="2308324"/>
          </a:xfrm>
          <a:prstGeom prst="rect">
            <a:avLst/>
          </a:prstGeom>
          <a:solidFill>
            <a:srgbClr val="C0000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class </a:t>
            </a:r>
            <a:r>
              <a:rPr lang="en-US" dirty="0" err="1">
                <a:solidFill>
                  <a:schemeClr val="bg1"/>
                </a:solidFill>
              </a:rPr>
              <a:t>OrderController</a:t>
            </a:r>
            <a:r>
              <a:rPr lang="en-US" dirty="0">
                <a:solidFill>
                  <a:schemeClr val="bg1"/>
                </a:solidFill>
              </a:rPr>
              <a:t> {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void </a:t>
            </a:r>
            <a:r>
              <a:rPr lang="en-US" dirty="0" err="1">
                <a:solidFill>
                  <a:schemeClr val="bg1"/>
                </a:solidFill>
              </a:rPr>
              <a:t>placeOrder</a:t>
            </a:r>
            <a:r>
              <a:rPr lang="en-US" dirty="0">
                <a:solidFill>
                  <a:schemeClr val="bg1"/>
                </a:solidFill>
              </a:rPr>
              <a:t>(String </a:t>
            </a:r>
            <a:r>
              <a:rPr lang="en-US" dirty="0" err="1">
                <a:solidFill>
                  <a:schemeClr val="bg1"/>
                </a:solidFill>
              </a:rPr>
              <a:t>paymentType</a:t>
            </a:r>
            <a:r>
              <a:rPr lang="en-US" dirty="0">
                <a:solidFill>
                  <a:schemeClr val="bg1"/>
                </a:solidFill>
              </a:rPr>
              <a:t>) {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  // Controller delegates work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PaymentProcessor</a:t>
            </a:r>
            <a:r>
              <a:rPr lang="en-US" dirty="0">
                <a:solidFill>
                  <a:schemeClr val="bg1"/>
                </a:solidFill>
              </a:rPr>
              <a:t> processor = </a:t>
            </a:r>
            <a:r>
              <a:rPr lang="en-US" dirty="0" err="1">
                <a:solidFill>
                  <a:schemeClr val="bg1"/>
                </a:solidFill>
              </a:rPr>
              <a:t>PaymentFactory.getProcessor</a:t>
            </a:r>
            <a:r>
              <a:rPr lang="en-US" dirty="0">
                <a:solidFill>
                  <a:schemeClr val="bg1"/>
                </a:solidFill>
              </a:rPr>
              <a:t>(</a:t>
            </a:r>
            <a:r>
              <a:rPr lang="en-US" dirty="0" err="1">
                <a:solidFill>
                  <a:schemeClr val="bg1"/>
                </a:solidFill>
              </a:rPr>
              <a:t>paymentType</a:t>
            </a:r>
            <a:r>
              <a:rPr lang="en-US" dirty="0">
                <a:solidFill>
                  <a:schemeClr val="bg1"/>
                </a:solidFill>
              </a:rPr>
              <a:t>);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    </a:t>
            </a:r>
            <a:r>
              <a:rPr lang="en-US" dirty="0" err="1">
                <a:solidFill>
                  <a:schemeClr val="bg1"/>
                </a:solidFill>
              </a:rPr>
              <a:t>processor.process</a:t>
            </a:r>
            <a:r>
              <a:rPr lang="en-US" dirty="0">
                <a:solidFill>
                  <a:schemeClr val="bg1"/>
                </a:solidFill>
              </a:rPr>
              <a:t>(100);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    }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}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744279" y="4662307"/>
            <a:ext cx="10609521" cy="10772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Java, instead of putting all logic in </a:t>
            </a:r>
            <a:r>
              <a:rPr kumimoji="0" lang="en-US" alt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main</a:t>
            </a:r>
            <a:r>
              <a:rPr kumimoji="0" lang="en-US" alt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you create a </a:t>
            </a:r>
            <a:r>
              <a:rPr kumimoji="0" lang="en-US" altLang="en-US" sz="32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Controller class </a:t>
            </a:r>
            <a:endParaRPr kumimoji="0" lang="en-US" altLang="en-US" sz="32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 Controller is like the manager of the program. It receives the request (like ‘place order’) and then tells the right classes to do the actual work.”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r>
              <a:rPr lang="en-US" dirty="0"/>
              <a:t>: Low Coupling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5: High Cohesion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6: Polymorphism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Use inheritance/interfaces to handle variations in </a:t>
            </a:r>
            <a:r>
              <a:rPr lang="en-GB" dirty="0" err="1"/>
              <a:t>behavior</a:t>
            </a:r>
            <a:r>
              <a:rPr lang="en-GB" dirty="0"/>
              <a:t> based on type.</a:t>
            </a:r>
            <a:endParaRPr lang="en-GB" dirty="0"/>
          </a:p>
          <a:p>
            <a:r>
              <a:rPr lang="en-GB" b="1" dirty="0"/>
              <a:t>The Question</a:t>
            </a:r>
            <a:endParaRPr lang="en-GB" b="1" dirty="0"/>
          </a:p>
          <a:p>
            <a:r>
              <a:rPr lang="en-GB" dirty="0"/>
              <a:t>"Different students (undergrad, grad) calculate GPA differently. How to handle this?"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7: Pure Fabrication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/>
              <a:t>Sometimes none of your existing classes should take on a responsibility (like saving data to a file or talking to a database).Instead of forcing Book or Library to do it, you invent a new class whose only purpose is to handle that task</a:t>
            </a:r>
            <a:r>
              <a:rPr lang="en-GB" dirty="0" smtClean="0"/>
              <a:t>.</a:t>
            </a:r>
            <a:endParaRPr lang="en-GB" dirty="0" smtClean="0"/>
          </a:p>
          <a:p>
            <a:pPr algn="just"/>
            <a:r>
              <a:rPr lang="en-GB" dirty="0" smtClean="0"/>
              <a:t>This </a:t>
            </a:r>
            <a:r>
              <a:rPr lang="en-GB" dirty="0"/>
              <a:t>class is fabricated (made up), not part of the real‑world domain, but it keeps your design clean.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Pure </a:t>
            </a:r>
            <a:r>
              <a:rPr lang="en-US" dirty="0"/>
              <a:t>Fabrication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Create a "helper" class that doesn't represent a real-world concept but solves a design problem.</a:t>
            </a:r>
            <a:endParaRPr lang="en-GB" dirty="0"/>
          </a:p>
          <a:p>
            <a:r>
              <a:rPr lang="en-GB" b="1" dirty="0"/>
              <a:t>The Question</a:t>
            </a:r>
            <a:endParaRPr lang="en-GB" b="1" dirty="0"/>
          </a:p>
          <a:p>
            <a:r>
              <a:rPr lang="en-GB" dirty="0"/>
              <a:t>"Where should GPA calculation rules/formulas be stored?"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// BAD: GPA formula hardcoded everywhere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UndergradStudent</a:t>
            </a:r>
            <a:r>
              <a:rPr lang="en-US" dirty="0"/>
              <a:t>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double </a:t>
            </a:r>
            <a:r>
              <a:rPr lang="en-US" dirty="0" err="1"/>
              <a:t>calculateGPA</a:t>
            </a:r>
            <a:r>
              <a:rPr lang="en-US" dirty="0"/>
              <a:t>()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return total / count;  // Formula here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GraduateStudent</a:t>
            </a:r>
            <a:r>
              <a:rPr lang="en-US" dirty="0"/>
              <a:t>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double </a:t>
            </a:r>
            <a:r>
              <a:rPr lang="en-US" dirty="0" err="1"/>
              <a:t>calculateGPA</a:t>
            </a:r>
            <a:r>
              <a:rPr lang="en-US" dirty="0"/>
              <a:t>()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return (total * 1.2) / count;  // Formula here too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The Solution: Pure Fabrication</a:t>
            </a:r>
            <a:endParaRPr lang="en-GB" b="1" dirty="0"/>
          </a:p>
          <a:p>
            <a:r>
              <a:rPr lang="en-GB" b="1" dirty="0"/>
              <a:t>How?</a:t>
            </a:r>
            <a:r>
              <a:rPr lang="en-GB" dirty="0"/>
              <a:t> Create a </a:t>
            </a:r>
            <a:r>
              <a:rPr lang="en-GB" dirty="0" err="1"/>
              <a:t>GPACalculator</a:t>
            </a:r>
            <a:r>
              <a:rPr lang="en-GB" dirty="0"/>
              <a:t> class (not a real-world thing, just a helper).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Course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String </a:t>
            </a:r>
            <a:r>
              <a:rPr lang="en-US" dirty="0" err="1"/>
              <a:t>courseCode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double grade;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Course(String code, double grade)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this.courseCode</a:t>
            </a:r>
            <a:r>
              <a:rPr lang="en-US" dirty="0"/>
              <a:t> = code;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this.grade</a:t>
            </a:r>
            <a:r>
              <a:rPr lang="en-US" dirty="0"/>
              <a:t> = grade;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PURE FABRICATION: Helper class for GPA calculation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// (</a:t>
            </a:r>
            <a:r>
              <a:rPr lang="en-US" dirty="0" err="1"/>
              <a:t>GPACalculator</a:t>
            </a:r>
            <a:r>
              <a:rPr lang="en-US" dirty="0"/>
              <a:t> is not a real-world thing, it's fabricated to solve a problem)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GPACalculator</a:t>
            </a:r>
            <a:r>
              <a:rPr lang="en-US" dirty="0"/>
              <a:t>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static double </a:t>
            </a:r>
            <a:r>
              <a:rPr lang="en-US" dirty="0" err="1"/>
              <a:t>calculateUndergradGPA</a:t>
            </a:r>
            <a:r>
              <a:rPr lang="en-US" dirty="0"/>
              <a:t>(</a:t>
            </a:r>
            <a:r>
              <a:rPr lang="en-US" dirty="0" err="1"/>
              <a:t>ArrayList</a:t>
            </a:r>
            <a:r>
              <a:rPr lang="en-US" dirty="0"/>
              <a:t>&lt;Course&gt; courses)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courses.size</a:t>
            </a:r>
            <a:r>
              <a:rPr lang="en-US" dirty="0"/>
              <a:t>() == 0) return 0.0;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double total = 0;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for (Course </a:t>
            </a:r>
            <a:r>
              <a:rPr lang="en-US" dirty="0" err="1"/>
              <a:t>course</a:t>
            </a:r>
            <a:r>
              <a:rPr lang="en-US" dirty="0"/>
              <a:t> : courses)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total += </a:t>
            </a:r>
            <a:r>
              <a:rPr lang="en-US" dirty="0" err="1"/>
              <a:t>course.grade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return total / </a:t>
            </a:r>
            <a:r>
              <a:rPr lang="en-US" dirty="0" err="1"/>
              <a:t>courses.size</a:t>
            </a:r>
            <a:r>
              <a:rPr lang="en-US" dirty="0"/>
              <a:t>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static double </a:t>
            </a:r>
            <a:r>
              <a:rPr lang="en-US" dirty="0" err="1"/>
              <a:t>calculateGradGPA</a:t>
            </a:r>
            <a:r>
              <a:rPr lang="en-US" dirty="0"/>
              <a:t>(</a:t>
            </a:r>
            <a:r>
              <a:rPr lang="en-US" dirty="0" err="1"/>
              <a:t>ArrayList</a:t>
            </a:r>
            <a:r>
              <a:rPr lang="en-US" dirty="0"/>
              <a:t>&lt;Course&gt; courses)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courses.size</a:t>
            </a:r>
            <a:r>
              <a:rPr lang="en-US" dirty="0"/>
              <a:t>() == 0) return 0.0;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double total = 0;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for (Course </a:t>
            </a:r>
            <a:r>
              <a:rPr lang="en-US" dirty="0" err="1"/>
              <a:t>course</a:t>
            </a:r>
            <a:r>
              <a:rPr lang="en-US" dirty="0"/>
              <a:t> : courses)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total += </a:t>
            </a:r>
            <a:r>
              <a:rPr lang="en-US" dirty="0" err="1"/>
              <a:t>course.grade</a:t>
            </a:r>
            <a:r>
              <a:rPr lang="en-US" dirty="0"/>
              <a:t> * 1.2;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Math.min</a:t>
            </a:r>
            <a:r>
              <a:rPr lang="en-US" dirty="0"/>
              <a:t>(4.0, total / </a:t>
            </a:r>
            <a:r>
              <a:rPr lang="en-US" dirty="0" err="1"/>
              <a:t>courses.size</a:t>
            </a:r>
            <a:r>
              <a:rPr lang="en-US" dirty="0"/>
              <a:t>());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abstract class Student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String name;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ArrayList</a:t>
            </a:r>
            <a:r>
              <a:rPr lang="en-US" dirty="0"/>
              <a:t>&lt;Course&gt; courses;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Student(String name)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this.name = name;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this.courses</a:t>
            </a:r>
            <a:r>
              <a:rPr lang="en-US" dirty="0"/>
              <a:t>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enrollInCourse</a:t>
            </a:r>
            <a:r>
              <a:rPr lang="en-US" dirty="0"/>
              <a:t>(String code, double grade)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courses.add</a:t>
            </a:r>
            <a:r>
              <a:rPr lang="en-US" dirty="0"/>
              <a:t>(new Course(code, grade));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abstract double </a:t>
            </a:r>
            <a:r>
              <a:rPr lang="en-US" dirty="0" err="1"/>
              <a:t>calculateGPA</a:t>
            </a:r>
            <a:r>
              <a:rPr lang="en-US" dirty="0"/>
              <a:t>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UndergradStudent</a:t>
            </a:r>
            <a:r>
              <a:rPr lang="en-US" dirty="0"/>
              <a:t> extends Student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UndergradStudent</a:t>
            </a:r>
            <a:r>
              <a:rPr lang="en-US" dirty="0"/>
              <a:t>(String name)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super(name);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// Uses the fabricated helper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double </a:t>
            </a:r>
            <a:r>
              <a:rPr lang="en-US" dirty="0" err="1"/>
              <a:t>calculateGPA</a:t>
            </a:r>
            <a:r>
              <a:rPr lang="en-US" dirty="0"/>
              <a:t>()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GPACalculator.calculateUndergradGPA</a:t>
            </a:r>
            <a:r>
              <a:rPr lang="en-US" dirty="0"/>
              <a:t>(courses);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GraduateStudent</a:t>
            </a:r>
            <a:r>
              <a:rPr lang="en-US" dirty="0"/>
              <a:t> extends Student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GraduateStudent</a:t>
            </a:r>
            <a:r>
              <a:rPr lang="en-US" dirty="0"/>
              <a:t>(String name)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super(name);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// Uses the fabricated helper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double </a:t>
            </a:r>
            <a:r>
              <a:rPr lang="en-US" dirty="0" err="1"/>
              <a:t>calculateGPA</a:t>
            </a:r>
            <a:r>
              <a:rPr lang="en-US" dirty="0"/>
              <a:t>()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GPACalculator.calculateGradGPA</a:t>
            </a:r>
            <a:r>
              <a:rPr lang="en-US" dirty="0"/>
              <a:t>(courses);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EXECUTABLE CODE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Main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Student undergrad = new </a:t>
            </a:r>
            <a:r>
              <a:rPr lang="en-US" dirty="0" err="1"/>
              <a:t>UndergradStudent</a:t>
            </a:r>
            <a:r>
              <a:rPr lang="en-US" dirty="0"/>
              <a:t>("Ali Khan");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undergrad.enrollInCourse</a:t>
            </a:r>
            <a:r>
              <a:rPr lang="en-US" dirty="0"/>
              <a:t>("CS101", 3.5);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undergrad.enrollInCourse</a:t>
            </a:r>
            <a:r>
              <a:rPr lang="en-US" dirty="0"/>
              <a:t>("CS102", 3.5);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Student grad = new </a:t>
            </a:r>
            <a:r>
              <a:rPr lang="en-US" dirty="0" err="1"/>
              <a:t>GraduateStudent</a:t>
            </a:r>
            <a:r>
              <a:rPr lang="en-US" dirty="0"/>
              <a:t>("Sara Ahmed");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grad.enrollInCourse</a:t>
            </a:r>
            <a:r>
              <a:rPr lang="en-US" dirty="0"/>
              <a:t>("CS501", 3.5);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grad.enrollInCourse</a:t>
            </a:r>
            <a:r>
              <a:rPr lang="en-US" dirty="0"/>
              <a:t>("CS502", 3.5);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(undergrad.name + " GPA: " + </a:t>
            </a:r>
            <a:r>
              <a:rPr lang="en-US" dirty="0" err="1"/>
              <a:t>undergrad.calculateGPA</a:t>
            </a:r>
            <a:r>
              <a:rPr lang="en-US" dirty="0"/>
              <a:t>());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(grad.name + " GPA: " + </a:t>
            </a:r>
            <a:r>
              <a:rPr lang="en-US" dirty="0" err="1"/>
              <a:t>grad.calculateGPA</a:t>
            </a:r>
            <a:r>
              <a:rPr lang="en-US" dirty="0"/>
              <a:t>());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Principle Applied:</a:t>
            </a:r>
            <a:r>
              <a:rPr lang="en-GB" dirty="0"/>
              <a:t> </a:t>
            </a:r>
            <a:r>
              <a:rPr lang="en-GB" dirty="0" err="1"/>
              <a:t>GPACalculator</a:t>
            </a:r>
            <a:r>
              <a:rPr lang="en-GB" dirty="0"/>
              <a:t> is a "fabricated" helper class that centralizes GPA formulas.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8: Indirection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Assign responsibility to an intermediate object to mediate between components.</a:t>
            </a:r>
            <a:endParaRPr lang="en-GB" dirty="0"/>
          </a:p>
          <a:p>
            <a:r>
              <a:rPr lang="en-GB" b="1" dirty="0"/>
              <a:t>The Question</a:t>
            </a:r>
            <a:endParaRPr lang="en-GB" b="1" dirty="0"/>
          </a:p>
          <a:p>
            <a:r>
              <a:rPr lang="en-GB" dirty="0"/>
              <a:t>"How do we notify students without Student class knowing about email, SMS, etc.?"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33547" y="333706"/>
            <a:ext cx="6096000" cy="3693319"/>
          </a:xfrm>
          <a:prstGeom prst="rect">
            <a:avLst/>
          </a:prstGeom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r>
              <a:rPr lang="en-US" dirty="0" smtClean="0"/>
              <a:t>//without indirection</a:t>
            </a:r>
            <a:endParaRPr lang="en-US" dirty="0" smtClean="0"/>
          </a:p>
          <a:p>
            <a:r>
              <a:rPr lang="en-US" dirty="0" smtClean="0"/>
              <a:t>class </a:t>
            </a:r>
            <a:r>
              <a:rPr lang="en-US" dirty="0" err="1"/>
              <a:t>CreditCardProcessor</a:t>
            </a:r>
            <a:r>
              <a:rPr lang="en-US" dirty="0"/>
              <a:t> {</a:t>
            </a:r>
            <a:endParaRPr lang="en-US" dirty="0"/>
          </a:p>
          <a:p>
            <a:r>
              <a:rPr lang="en-US" dirty="0"/>
              <a:t>    void charge(</a:t>
            </a:r>
            <a:r>
              <a:rPr lang="en-US" dirty="0" err="1"/>
              <a:t>int</a:t>
            </a:r>
            <a:r>
              <a:rPr lang="en-US" dirty="0"/>
              <a:t> amount) 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("Charging credit card: " + amount);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OrderController</a:t>
            </a:r>
            <a:r>
              <a:rPr lang="en-US" dirty="0"/>
              <a:t> {</a:t>
            </a:r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placeOrder</a:t>
            </a:r>
            <a:r>
              <a:rPr lang="en-US" dirty="0"/>
              <a:t>() 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CreditCardProcessor</a:t>
            </a:r>
            <a:r>
              <a:rPr lang="en-US" dirty="0"/>
              <a:t> cc = new </a:t>
            </a:r>
            <a:r>
              <a:rPr lang="en-US" dirty="0" err="1"/>
              <a:t>CreditCardProcessor</a:t>
            </a:r>
            <a:r>
              <a:rPr lang="en-US" dirty="0"/>
              <a:t>();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cc.charge</a:t>
            </a:r>
            <a:r>
              <a:rPr lang="en-US" dirty="0"/>
              <a:t>(100); // Direct call, no middle helper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6329546" y="333706"/>
            <a:ext cx="5862453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// Middle helper = Indirection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PaymentGateway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{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void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processCredit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CreditCardProcessor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cc,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amount) {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cc.charge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(amount);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}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CreditCardProcessor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{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void charge(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int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amount) {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System.out.println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("Charging credit card: " + amount);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}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class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OrderController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{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void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placeOrder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 {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CreditCardProcessor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cc = new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CreditCardProcessor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();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PaymentGateway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gateway = new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PaymentGateway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();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</a:t>
            </a:r>
            <a:r>
              <a:rPr lang="en-US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gateway.processCredit</a:t>
            </a:r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(cc, 100); // Indirection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}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}</a:t>
            </a:r>
            <a:endParaRPr lang="en-US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2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25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" dur="25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8" dur="25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2" dur="25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" dur="25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0" dur="25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4" dur="25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8" dur="25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2" dur="25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6" dur="25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25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2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4" dur="25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249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build="p"/>
      <p:bldP spid="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// BAD: Student directly sends email</a:t>
            </a:r>
            <a:endParaRPr lang="en-US" dirty="0"/>
          </a:p>
          <a:p>
            <a:r>
              <a:rPr lang="en-US" dirty="0"/>
              <a:t>class Student {</a:t>
            </a:r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notifyGrade</a:t>
            </a:r>
            <a:r>
              <a:rPr lang="en-US" dirty="0"/>
              <a:t>() {</a:t>
            </a:r>
            <a:endParaRPr lang="en-US" dirty="0"/>
          </a:p>
          <a:p>
            <a:r>
              <a:rPr lang="en-US" dirty="0"/>
              <a:t>        // Student knows about email details - tight coupling!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EmailServer.connect</a:t>
            </a:r>
            <a:r>
              <a:rPr lang="en-US" dirty="0"/>
              <a:t>();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EmailServer.send</a:t>
            </a:r>
            <a:r>
              <a:rPr lang="en-US" dirty="0"/>
              <a:t>(</a:t>
            </a:r>
            <a:r>
              <a:rPr lang="en-US" dirty="0" err="1"/>
              <a:t>this.email</a:t>
            </a:r>
            <a:r>
              <a:rPr lang="en-US" dirty="0"/>
              <a:t>, "Grade posted");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Why Bad?</a:t>
            </a:r>
            <a:r>
              <a:rPr lang="en-GB" dirty="0"/>
              <a:t> Student is coupled to </a:t>
            </a:r>
            <a:r>
              <a:rPr lang="en-GB" dirty="0" err="1"/>
              <a:t>EmailServer</a:t>
            </a:r>
            <a:r>
              <a:rPr lang="en-GB" dirty="0"/>
              <a:t>. What if we add SMS?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The Solution: Indirection</a:t>
            </a:r>
            <a:endParaRPr lang="en-GB" b="1" dirty="0"/>
          </a:p>
          <a:p>
            <a:r>
              <a:rPr lang="en-GB" b="1" dirty="0"/>
              <a:t>How?</a:t>
            </a:r>
            <a:r>
              <a:rPr lang="en-GB" dirty="0"/>
              <a:t> Create a </a:t>
            </a:r>
            <a:r>
              <a:rPr lang="en-GB" dirty="0" err="1"/>
              <a:t>Notifier</a:t>
            </a:r>
            <a:r>
              <a:rPr lang="en-GB" dirty="0"/>
              <a:t> intermediary.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Course {</a:t>
            </a:r>
            <a:endParaRPr lang="en-US" dirty="0"/>
          </a:p>
          <a:p>
            <a:r>
              <a:rPr lang="en-US" dirty="0"/>
              <a:t>    String </a:t>
            </a:r>
            <a:r>
              <a:rPr lang="en-US" dirty="0" err="1"/>
              <a:t>courseCode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double grade;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Course(String code, double grade) 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this.courseCode</a:t>
            </a:r>
            <a:r>
              <a:rPr lang="en-US" dirty="0"/>
              <a:t> = code;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this.grade</a:t>
            </a:r>
            <a:r>
              <a:rPr lang="en-US" dirty="0"/>
              <a:t> = grade;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Student {</a:t>
            </a:r>
            <a:endParaRPr lang="en-US" dirty="0"/>
          </a:p>
          <a:p>
            <a:r>
              <a:rPr lang="en-US" dirty="0"/>
              <a:t>    String name;</a:t>
            </a:r>
            <a:endParaRPr lang="en-US" dirty="0"/>
          </a:p>
          <a:p>
            <a:r>
              <a:rPr lang="en-US" dirty="0"/>
              <a:t>    String email;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ArrayList</a:t>
            </a:r>
            <a:r>
              <a:rPr lang="en-US" dirty="0"/>
              <a:t>&lt;Course&gt; courses;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Student(String name, String email) {</a:t>
            </a:r>
            <a:endParaRPr lang="en-US" dirty="0"/>
          </a:p>
          <a:p>
            <a:r>
              <a:rPr lang="en-US" dirty="0"/>
              <a:t>        this.name = name;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this.email</a:t>
            </a:r>
            <a:r>
              <a:rPr lang="en-US" dirty="0"/>
              <a:t> = email;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this.courses</a:t>
            </a:r>
            <a:r>
              <a:rPr lang="en-US" dirty="0"/>
              <a:t>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enrollInCourse</a:t>
            </a:r>
            <a:r>
              <a:rPr lang="en-US" dirty="0"/>
              <a:t>(String code, double grade) 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courses.add</a:t>
            </a:r>
            <a:r>
              <a:rPr lang="en-US" dirty="0"/>
              <a:t>(new Course(code, grade));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double </a:t>
            </a:r>
            <a:r>
              <a:rPr lang="en-US" dirty="0" err="1"/>
              <a:t>calculateGPA</a:t>
            </a:r>
            <a:r>
              <a:rPr lang="en-US" dirty="0"/>
              <a:t>() {</a:t>
            </a:r>
            <a:endParaRPr lang="en-US" dirty="0"/>
          </a:p>
          <a:p>
            <a:r>
              <a:rPr lang="en-US" dirty="0"/>
              <a:t>        if (</a:t>
            </a:r>
            <a:r>
              <a:rPr lang="en-US" dirty="0" err="1"/>
              <a:t>courses.size</a:t>
            </a:r>
            <a:r>
              <a:rPr lang="en-US" dirty="0"/>
              <a:t>() == 0) return 0.0;</a:t>
            </a:r>
            <a:endParaRPr lang="en-US" dirty="0"/>
          </a:p>
          <a:p>
            <a:r>
              <a:rPr lang="en-US" dirty="0"/>
              <a:t>        double total = 0;</a:t>
            </a:r>
            <a:endParaRPr lang="en-US" dirty="0"/>
          </a:p>
          <a:p>
            <a:r>
              <a:rPr lang="en-US" dirty="0"/>
              <a:t>        for (Course </a:t>
            </a:r>
            <a:r>
              <a:rPr lang="en-US" dirty="0" err="1"/>
              <a:t>course</a:t>
            </a:r>
            <a:r>
              <a:rPr lang="en-US" dirty="0"/>
              <a:t> : courses) {</a:t>
            </a:r>
            <a:endParaRPr lang="en-US" dirty="0"/>
          </a:p>
          <a:p>
            <a:r>
              <a:rPr lang="en-US" dirty="0"/>
              <a:t>            total += </a:t>
            </a:r>
            <a:r>
              <a:rPr lang="en-US" dirty="0" err="1"/>
              <a:t>course.grade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    }</a:t>
            </a:r>
            <a:endParaRPr lang="en-US" dirty="0"/>
          </a:p>
          <a:p>
            <a:r>
              <a:rPr lang="en-US" dirty="0"/>
              <a:t>        return total / </a:t>
            </a:r>
            <a:r>
              <a:rPr lang="en-US" dirty="0" err="1"/>
              <a:t>courses.size</a:t>
            </a:r>
            <a:r>
              <a:rPr lang="en-US" dirty="0"/>
              <a:t>();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// INDIRECTION: </a:t>
            </a:r>
            <a:r>
              <a:rPr lang="en-US" dirty="0" err="1"/>
              <a:t>Notifier</a:t>
            </a:r>
            <a:r>
              <a:rPr lang="en-US" dirty="0"/>
              <a:t> mediates between Student and actual notification methods</a:t>
            </a:r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Notifier</a:t>
            </a:r>
            <a:r>
              <a:rPr lang="en-US" dirty="0"/>
              <a:t> {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notifyStudent</a:t>
            </a:r>
            <a:r>
              <a:rPr lang="en-US" dirty="0"/>
              <a:t>(Student </a:t>
            </a:r>
            <a:r>
              <a:rPr lang="en-US" dirty="0" err="1"/>
              <a:t>student</a:t>
            </a:r>
            <a:r>
              <a:rPr lang="en-US" dirty="0"/>
              <a:t>, String message) {</a:t>
            </a:r>
            <a:endParaRPr lang="en-US" dirty="0"/>
          </a:p>
          <a:p>
            <a:r>
              <a:rPr lang="en-US" dirty="0"/>
              <a:t>        // </a:t>
            </a:r>
            <a:r>
              <a:rPr lang="en-US" dirty="0" err="1"/>
              <a:t>Notifier</a:t>
            </a:r>
            <a:r>
              <a:rPr lang="en-US" dirty="0"/>
              <a:t> handles the details, Student doesn't know how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sendEmail</a:t>
            </a:r>
            <a:r>
              <a:rPr lang="en-US" dirty="0"/>
              <a:t>(</a:t>
            </a:r>
            <a:r>
              <a:rPr lang="en-US" dirty="0" err="1"/>
              <a:t>student.email</a:t>
            </a:r>
            <a:r>
              <a:rPr lang="en-US" dirty="0"/>
              <a:t>, message);</a:t>
            </a:r>
            <a:endParaRPr lang="en-US" dirty="0"/>
          </a:p>
          <a:p>
            <a:r>
              <a:rPr lang="en-US" dirty="0"/>
              <a:t>        // Could also send SMS, push notification, etc.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private void </a:t>
            </a:r>
            <a:r>
              <a:rPr lang="en-US" dirty="0" err="1"/>
              <a:t>sendEmail</a:t>
            </a:r>
            <a:r>
              <a:rPr lang="en-US" dirty="0"/>
              <a:t>(String email, String message) 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("--- EMAIL ---");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("To: " + email);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("Message: " + message);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("--- SENT ---");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// EXECUTABLE CODE</a:t>
            </a:r>
            <a:endParaRPr lang="en-US" dirty="0"/>
          </a:p>
          <a:p>
            <a:r>
              <a:rPr lang="en-US" dirty="0"/>
              <a:t>class Main {</a:t>
            </a:r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endParaRPr lang="en-US" dirty="0"/>
          </a:p>
          <a:p>
            <a:r>
              <a:rPr lang="en-US" dirty="0"/>
              <a:t>        Student </a:t>
            </a:r>
            <a:r>
              <a:rPr lang="en-US" dirty="0" err="1"/>
              <a:t>student</a:t>
            </a:r>
            <a:r>
              <a:rPr lang="en-US" dirty="0"/>
              <a:t> = new Student("Ali Khan", "ali@uni.edu");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student.enrollInCourse</a:t>
            </a:r>
            <a:r>
              <a:rPr lang="en-US" dirty="0"/>
              <a:t>("CS101", 3.5);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student.enrollInCourse</a:t>
            </a:r>
            <a:r>
              <a:rPr lang="en-US" dirty="0"/>
              <a:t>("CS102", 4.0);</a:t>
            </a:r>
            <a:endParaRPr lang="en-US" dirty="0"/>
          </a:p>
          <a:p>
            <a:r>
              <a:rPr lang="en-US" dirty="0"/>
              <a:t>        </a:t>
            </a:r>
            <a:endParaRPr lang="en-US" dirty="0"/>
          </a:p>
          <a:p>
            <a:r>
              <a:rPr lang="en-US" dirty="0"/>
              <a:t>        // INDIRECTION: </a:t>
            </a:r>
            <a:r>
              <a:rPr lang="en-US" dirty="0" err="1"/>
              <a:t>Notifier</a:t>
            </a:r>
            <a:r>
              <a:rPr lang="en-US" dirty="0"/>
              <a:t> acts as intermediary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Notifier</a:t>
            </a:r>
            <a:r>
              <a:rPr lang="en-US" dirty="0"/>
              <a:t> </a:t>
            </a:r>
            <a:r>
              <a:rPr lang="en-US" dirty="0" err="1"/>
              <a:t>notifier</a:t>
            </a:r>
            <a:r>
              <a:rPr lang="en-US" dirty="0"/>
              <a:t> = new </a:t>
            </a:r>
            <a:r>
              <a:rPr lang="en-US" dirty="0" err="1"/>
              <a:t>Notifier</a:t>
            </a:r>
            <a:r>
              <a:rPr lang="en-US" dirty="0"/>
              <a:t>();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notifier.notifyStudent</a:t>
            </a:r>
            <a:r>
              <a:rPr lang="en-US" dirty="0"/>
              <a:t>(student, "Your GPA is: " + </a:t>
            </a:r>
            <a:r>
              <a:rPr lang="en-US" dirty="0" err="1"/>
              <a:t>student.calculateGPA</a:t>
            </a:r>
            <a:r>
              <a:rPr lang="en-US" dirty="0"/>
              <a:t>());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Principle Applied:</a:t>
            </a:r>
            <a:r>
              <a:rPr lang="en-GB" dirty="0"/>
              <a:t> </a:t>
            </a:r>
            <a:r>
              <a:rPr lang="en-GB" dirty="0" err="1"/>
              <a:t>Notifier</a:t>
            </a:r>
            <a:r>
              <a:rPr lang="en-GB" dirty="0"/>
              <a:t> mediates between Student and email/SMS systems.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9: Protected Variations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Protect elements from variations in other elements by wrapping them with a stable interface.</a:t>
            </a:r>
            <a:endParaRPr lang="en-GB" dirty="0"/>
          </a:p>
          <a:p>
            <a:r>
              <a:rPr lang="en-GB" b="1" dirty="0"/>
              <a:t>The Question</a:t>
            </a:r>
            <a:endParaRPr lang="en-GB" b="1" dirty="0"/>
          </a:p>
          <a:p>
            <a:r>
              <a:rPr lang="en-GB" dirty="0"/>
              <a:t>"What if the storage method changes (file </a:t>
            </a:r>
            <a:r>
              <a:rPr lang="en-GB" dirty="0" smtClean="0"/>
              <a:t>to.. </a:t>
            </a:r>
            <a:r>
              <a:rPr lang="en-GB" dirty="0"/>
              <a:t>database)? How to protect Student class?"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// BAD: Student directly uses </a:t>
            </a:r>
            <a:r>
              <a:rPr lang="en-GB" dirty="0" err="1"/>
              <a:t>FileStorage</a:t>
            </a:r>
            <a:endParaRPr lang="en-GB" dirty="0"/>
          </a:p>
          <a:p>
            <a:r>
              <a:rPr lang="en-GB" dirty="0"/>
              <a:t>class Student {</a:t>
            </a:r>
            <a:endParaRPr lang="en-GB" dirty="0"/>
          </a:p>
          <a:p>
            <a:r>
              <a:rPr lang="en-GB" dirty="0"/>
              <a:t>    void save() {</a:t>
            </a:r>
            <a:endParaRPr lang="en-GB" dirty="0"/>
          </a:p>
          <a:p>
            <a:r>
              <a:rPr lang="en-GB" dirty="0"/>
              <a:t>        </a:t>
            </a:r>
            <a:r>
              <a:rPr lang="en-GB" dirty="0" err="1"/>
              <a:t>FileStorage.save</a:t>
            </a:r>
            <a:r>
              <a:rPr lang="en-GB" dirty="0"/>
              <a:t>(this);  // What if we switch to database?</a:t>
            </a:r>
            <a:endParaRPr lang="en-GB" dirty="0"/>
          </a:p>
          <a:p>
            <a:r>
              <a:rPr lang="en-GB" dirty="0"/>
              <a:t>    }</a:t>
            </a:r>
            <a:endParaRPr lang="en-GB" dirty="0"/>
          </a:p>
          <a:p>
            <a:r>
              <a:rPr lang="en-GB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Why Bad?</a:t>
            </a:r>
            <a:r>
              <a:rPr lang="en-GB" dirty="0"/>
              <a:t> If storage changes, Student must change!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The Solution: Protected Variations</a:t>
            </a:r>
            <a:endParaRPr lang="en-GB" b="1" dirty="0"/>
          </a:p>
          <a:p>
            <a:r>
              <a:rPr lang="en-GB" b="1" dirty="0"/>
              <a:t>How?</a:t>
            </a:r>
            <a:r>
              <a:rPr lang="en-GB" dirty="0"/>
              <a:t> Create a Storage interface. Wrap variations behind it.</a:t>
            </a:r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dirty="0"/>
              <a:t>import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import java.io.*;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Course {</a:t>
            </a:r>
            <a:endParaRPr lang="en-US" dirty="0"/>
          </a:p>
          <a:p>
            <a:r>
              <a:rPr lang="en-US" dirty="0"/>
              <a:t>    String </a:t>
            </a:r>
            <a:r>
              <a:rPr lang="en-US" dirty="0" err="1"/>
              <a:t>courseCode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double grade;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Course(String code, double grade) 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this.courseCode</a:t>
            </a:r>
            <a:r>
              <a:rPr lang="en-US" dirty="0"/>
              <a:t> = code;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this.grade</a:t>
            </a:r>
            <a:r>
              <a:rPr lang="en-US" dirty="0"/>
              <a:t> = grade;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class Student {</a:t>
            </a:r>
            <a:endParaRPr lang="en-US" dirty="0"/>
          </a:p>
          <a:p>
            <a:r>
              <a:rPr lang="en-US" dirty="0"/>
              <a:t>    String name;</a:t>
            </a:r>
            <a:endParaRPr lang="en-US" dirty="0"/>
          </a:p>
          <a:p>
            <a:r>
              <a:rPr lang="en-US" dirty="0"/>
              <a:t>    String </a:t>
            </a:r>
            <a:r>
              <a:rPr lang="en-US" dirty="0" err="1"/>
              <a:t>studentId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ArrayList</a:t>
            </a:r>
            <a:r>
              <a:rPr lang="en-US" dirty="0"/>
              <a:t>&lt;Course&gt; courses;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Student(String name, String </a:t>
            </a:r>
            <a:r>
              <a:rPr lang="en-US" dirty="0" err="1"/>
              <a:t>studentId</a:t>
            </a:r>
            <a:r>
              <a:rPr lang="en-US" dirty="0"/>
              <a:t>) {</a:t>
            </a:r>
            <a:endParaRPr lang="en-US" dirty="0"/>
          </a:p>
          <a:p>
            <a:r>
              <a:rPr lang="en-US" dirty="0"/>
              <a:t>        this.name = name;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this.studentId</a:t>
            </a:r>
            <a:r>
              <a:rPr lang="en-US" dirty="0"/>
              <a:t> = </a:t>
            </a:r>
            <a:r>
              <a:rPr lang="en-US" dirty="0" err="1"/>
              <a:t>studentId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this.courses</a:t>
            </a:r>
            <a:r>
              <a:rPr lang="en-US" dirty="0"/>
              <a:t>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enrollInCourse</a:t>
            </a:r>
            <a:r>
              <a:rPr lang="en-US" dirty="0"/>
              <a:t>(String code, double grade) 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courses.add</a:t>
            </a:r>
            <a:r>
              <a:rPr lang="en-US" dirty="0"/>
              <a:t>(new Course(code, grade));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double </a:t>
            </a:r>
            <a:r>
              <a:rPr lang="en-US" dirty="0" err="1"/>
              <a:t>calculateGPA</a:t>
            </a:r>
            <a:r>
              <a:rPr lang="en-US" dirty="0"/>
              <a:t>() {</a:t>
            </a:r>
            <a:endParaRPr lang="en-US" dirty="0"/>
          </a:p>
          <a:p>
            <a:r>
              <a:rPr lang="en-US" dirty="0"/>
              <a:t>        if (</a:t>
            </a:r>
            <a:r>
              <a:rPr lang="en-US" dirty="0" err="1"/>
              <a:t>courses.size</a:t>
            </a:r>
            <a:r>
              <a:rPr lang="en-US" dirty="0"/>
              <a:t>() == 0) return 0.0;</a:t>
            </a:r>
            <a:endParaRPr lang="en-US" dirty="0"/>
          </a:p>
          <a:p>
            <a:r>
              <a:rPr lang="en-US" dirty="0"/>
              <a:t>        double total = 0;</a:t>
            </a:r>
            <a:endParaRPr lang="en-US" dirty="0"/>
          </a:p>
          <a:p>
            <a:r>
              <a:rPr lang="en-US" dirty="0"/>
              <a:t>        for (Course </a:t>
            </a:r>
            <a:r>
              <a:rPr lang="en-US" dirty="0" err="1"/>
              <a:t>course</a:t>
            </a:r>
            <a:r>
              <a:rPr lang="en-US" dirty="0"/>
              <a:t> : courses) {</a:t>
            </a:r>
            <a:endParaRPr lang="en-US" dirty="0"/>
          </a:p>
          <a:p>
            <a:r>
              <a:rPr lang="en-US" dirty="0"/>
              <a:t>            total += </a:t>
            </a:r>
            <a:r>
              <a:rPr lang="en-US" dirty="0" err="1"/>
              <a:t>course.grade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    }</a:t>
            </a:r>
            <a:endParaRPr lang="en-US" dirty="0"/>
          </a:p>
          <a:p>
            <a:r>
              <a:rPr lang="en-US" dirty="0"/>
              <a:t>        return total / </a:t>
            </a:r>
            <a:r>
              <a:rPr lang="en-US" dirty="0" err="1"/>
              <a:t>courses.size</a:t>
            </a:r>
            <a:r>
              <a:rPr lang="en-US" dirty="0"/>
              <a:t>();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// PROTECTED VARIATIONS: Interface protects against storage changes</a:t>
            </a:r>
            <a:endParaRPr lang="en-US" dirty="0"/>
          </a:p>
          <a:p>
            <a:r>
              <a:rPr lang="en-US" dirty="0"/>
              <a:t>interface Storage {</a:t>
            </a:r>
            <a:endParaRPr lang="en-US" dirty="0"/>
          </a:p>
          <a:p>
            <a:r>
              <a:rPr lang="en-US" dirty="0"/>
              <a:t>    void save(Student student);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// File implementation</a:t>
            </a:r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FileStorage</a:t>
            </a:r>
            <a:r>
              <a:rPr lang="en-US" dirty="0"/>
              <a:t> implements Storage {</a:t>
            </a:r>
            <a:endParaRPr lang="en-US" dirty="0"/>
          </a:p>
          <a:p>
            <a:r>
              <a:rPr lang="en-US" dirty="0"/>
              <a:t>    public void save(Student student) {</a:t>
            </a:r>
            <a:endParaRPr lang="en-US" dirty="0"/>
          </a:p>
          <a:p>
            <a:r>
              <a:rPr lang="en-US" dirty="0"/>
              <a:t>        try {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FileWriter</a:t>
            </a:r>
            <a:r>
              <a:rPr lang="en-US" dirty="0"/>
              <a:t> writer = new </a:t>
            </a:r>
            <a:r>
              <a:rPr lang="en-US" dirty="0" err="1"/>
              <a:t>FileWriter</a:t>
            </a:r>
            <a:r>
              <a:rPr lang="en-US" dirty="0"/>
              <a:t>("student.txt");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writer.write</a:t>
            </a:r>
            <a:r>
              <a:rPr lang="en-US" dirty="0"/>
              <a:t>("Name: " + student.name + "\n");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writer.write</a:t>
            </a:r>
            <a:r>
              <a:rPr lang="en-US" dirty="0"/>
              <a:t>("GPA: " + </a:t>
            </a:r>
            <a:r>
              <a:rPr lang="en-US" dirty="0" err="1"/>
              <a:t>student.calculateGPA</a:t>
            </a:r>
            <a:r>
              <a:rPr lang="en-US" dirty="0"/>
              <a:t>() + "\n");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writer.close</a:t>
            </a:r>
            <a:r>
              <a:rPr lang="en-US" dirty="0"/>
              <a:t>();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("Saved to FILE");</a:t>
            </a:r>
            <a:endParaRPr lang="en-US" dirty="0"/>
          </a:p>
          <a:p>
            <a:r>
              <a:rPr lang="en-US" dirty="0"/>
              <a:t>        } catch (</a:t>
            </a:r>
            <a:r>
              <a:rPr lang="en-US" dirty="0" err="1"/>
              <a:t>IOException</a:t>
            </a:r>
            <a:r>
              <a:rPr lang="en-US" dirty="0"/>
              <a:t> e) {</a:t>
            </a:r>
            <a:endParaRPr lang="en-US" dirty="0"/>
          </a:p>
          <a:p>
            <a:r>
              <a:rPr lang="en-US" dirty="0"/>
              <a:t>            </a:t>
            </a:r>
            <a:r>
              <a:rPr lang="en-US" dirty="0" err="1"/>
              <a:t>System.out.println</a:t>
            </a:r>
            <a:r>
              <a:rPr lang="en-US" dirty="0"/>
              <a:t>("Error: " + </a:t>
            </a:r>
            <a:r>
              <a:rPr lang="en-US" dirty="0" err="1"/>
              <a:t>e.getMessage</a:t>
            </a:r>
            <a:r>
              <a:rPr lang="en-US" dirty="0"/>
              <a:t>());</a:t>
            </a:r>
            <a:endParaRPr lang="en-US" dirty="0"/>
          </a:p>
          <a:p>
            <a:r>
              <a:rPr lang="en-US" dirty="0"/>
              <a:t>        }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// Database implementation (simulated)</a:t>
            </a:r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DatabaseStorage</a:t>
            </a:r>
            <a:r>
              <a:rPr lang="en-US" dirty="0"/>
              <a:t> implements Storage {</a:t>
            </a:r>
            <a:endParaRPr lang="en-US" dirty="0"/>
          </a:p>
          <a:p>
            <a:r>
              <a:rPr lang="en-US" dirty="0"/>
              <a:t>    public void save(Student student) {</a:t>
            </a:r>
            <a:endParaRPr lang="en-US" dirty="0"/>
          </a:p>
          <a:p>
            <a:r>
              <a:rPr lang="en-US" dirty="0"/>
              <a:t>        // Simulate database save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("Saved to DATABASE");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("INSERT INTO students VALUES ('" + student.name + "', " + </a:t>
            </a:r>
            <a:r>
              <a:rPr lang="en-US" dirty="0" err="1"/>
              <a:t>student.calculateGPA</a:t>
            </a:r>
            <a:r>
              <a:rPr lang="en-US" dirty="0"/>
              <a:t>() + ")");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// System uses Storage interface - protected from variations</a:t>
            </a:r>
            <a:endParaRPr lang="en-US" dirty="0"/>
          </a:p>
          <a:p>
            <a:r>
              <a:rPr lang="en-US" dirty="0"/>
              <a:t>class </a:t>
            </a:r>
            <a:r>
              <a:rPr lang="en-US" dirty="0" err="1"/>
              <a:t>GradeSystem</a:t>
            </a:r>
            <a:r>
              <a:rPr lang="en-US" dirty="0"/>
              <a:t> {</a:t>
            </a:r>
            <a:endParaRPr lang="en-US" dirty="0"/>
          </a:p>
          <a:p>
            <a:r>
              <a:rPr lang="en-US" dirty="0"/>
              <a:t>    private Storage </a:t>
            </a:r>
            <a:r>
              <a:rPr lang="en-US" dirty="0" err="1"/>
              <a:t>storage</a:t>
            </a:r>
            <a:r>
              <a:rPr lang="en-US" dirty="0"/>
              <a:t>;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</a:t>
            </a:r>
            <a:r>
              <a:rPr lang="en-US" dirty="0" err="1"/>
              <a:t>GradeSystem</a:t>
            </a:r>
            <a:r>
              <a:rPr lang="en-US" dirty="0"/>
              <a:t>(Storage storage) {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this.storage</a:t>
            </a:r>
            <a:r>
              <a:rPr lang="en-US" dirty="0"/>
              <a:t> = storage;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    </a:t>
            </a:r>
            <a:endParaRPr lang="en-US" dirty="0"/>
          </a:p>
          <a:p>
            <a:r>
              <a:rPr lang="en-US" dirty="0"/>
              <a:t>    void </a:t>
            </a:r>
            <a:r>
              <a:rPr lang="en-US" dirty="0" err="1"/>
              <a:t>saveStudent</a:t>
            </a:r>
            <a:r>
              <a:rPr lang="en-US" dirty="0"/>
              <a:t>(Student student) {</a:t>
            </a:r>
            <a:endParaRPr lang="en-US" dirty="0"/>
          </a:p>
          <a:p>
            <a:r>
              <a:rPr lang="en-US" dirty="0"/>
              <a:t>        // Don't care if it's file or database!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storage.save</a:t>
            </a:r>
            <a:r>
              <a:rPr lang="en-US" dirty="0"/>
              <a:t>(student);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// EXECUTABLE CODE</a:t>
            </a:r>
            <a:endParaRPr lang="en-US" dirty="0"/>
          </a:p>
          <a:p>
            <a:r>
              <a:rPr lang="en-US" dirty="0"/>
              <a:t>class Main {</a:t>
            </a:r>
            <a:endParaRPr lang="en-US" dirty="0"/>
          </a:p>
          <a:p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endParaRPr lang="en-US" dirty="0"/>
          </a:p>
          <a:p>
            <a:r>
              <a:rPr lang="en-US" dirty="0"/>
              <a:t>        Student </a:t>
            </a:r>
            <a:r>
              <a:rPr lang="en-US" dirty="0" err="1"/>
              <a:t>student</a:t>
            </a:r>
            <a:r>
              <a:rPr lang="en-US" dirty="0"/>
              <a:t> = new Student("Ali Khan", "CS001");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student.enrollInCourse</a:t>
            </a:r>
            <a:r>
              <a:rPr lang="en-US" dirty="0"/>
              <a:t>("CS101", 3.5);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student.enrollInCourse</a:t>
            </a:r>
            <a:r>
              <a:rPr lang="en-US" dirty="0"/>
              <a:t>("CS102", 4.0);</a:t>
            </a:r>
            <a:endParaRPr lang="en-US" dirty="0"/>
          </a:p>
          <a:p>
            <a:r>
              <a:rPr lang="en-US" dirty="0"/>
              <a:t>        </a:t>
            </a:r>
            <a:endParaRPr lang="en-US" dirty="0"/>
          </a:p>
          <a:p>
            <a:r>
              <a:rPr lang="en-US" dirty="0"/>
              <a:t>        // Can easily switch between file and database!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("Using File Storage:");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GradeSystem</a:t>
            </a:r>
            <a:r>
              <a:rPr lang="en-US" dirty="0"/>
              <a:t> system1 = new </a:t>
            </a:r>
            <a:r>
              <a:rPr lang="en-US" dirty="0" err="1"/>
              <a:t>GradeSystem</a:t>
            </a:r>
            <a:r>
              <a:rPr lang="en-US" dirty="0"/>
              <a:t>(new </a:t>
            </a:r>
            <a:r>
              <a:rPr lang="en-US" dirty="0" err="1"/>
              <a:t>FileStorage</a:t>
            </a:r>
            <a:r>
              <a:rPr lang="en-US" dirty="0"/>
              <a:t>());</a:t>
            </a:r>
            <a:endParaRPr lang="en-US" dirty="0"/>
          </a:p>
          <a:p>
            <a:r>
              <a:rPr lang="en-US" dirty="0"/>
              <a:t>        system1.saveStudent(student);</a:t>
            </a:r>
            <a:endParaRPr lang="en-US" dirty="0"/>
          </a:p>
          <a:p>
            <a:r>
              <a:rPr lang="en-US" dirty="0"/>
              <a:t>        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("\</a:t>
            </a:r>
            <a:r>
              <a:rPr lang="en-US" dirty="0" err="1"/>
              <a:t>nUsing</a:t>
            </a:r>
            <a:r>
              <a:rPr lang="en-US" dirty="0"/>
              <a:t> Database Storage:");</a:t>
            </a:r>
            <a:endParaRPr lang="en-US" dirty="0"/>
          </a:p>
          <a:p>
            <a:r>
              <a:rPr lang="en-US" dirty="0"/>
              <a:t>        </a:t>
            </a:r>
            <a:r>
              <a:rPr lang="en-US" dirty="0" err="1"/>
              <a:t>GradeSystem</a:t>
            </a:r>
            <a:r>
              <a:rPr lang="en-US" dirty="0"/>
              <a:t> system2 = new </a:t>
            </a:r>
            <a:r>
              <a:rPr lang="en-US" dirty="0" err="1"/>
              <a:t>GradeSystem</a:t>
            </a:r>
            <a:r>
              <a:rPr lang="en-US" dirty="0"/>
              <a:t>(new </a:t>
            </a:r>
            <a:r>
              <a:rPr lang="en-US" dirty="0" err="1"/>
              <a:t>DatabaseStorage</a:t>
            </a:r>
            <a:r>
              <a:rPr lang="en-US" dirty="0"/>
              <a:t>());</a:t>
            </a:r>
            <a:endParaRPr lang="en-US" dirty="0"/>
          </a:p>
          <a:p>
            <a:r>
              <a:rPr lang="en-US" dirty="0"/>
              <a:t>        system2.saveStudent(student);</a:t>
            </a:r>
            <a:endParaRPr lang="en-US" dirty="0"/>
          </a:p>
          <a:p>
            <a:r>
              <a:rPr lang="en-US" dirty="0"/>
              <a:t>    }</a:t>
            </a:r>
            <a:endParaRPr lang="en-US" dirty="0"/>
          </a:p>
          <a:p>
            <a:r>
              <a:rPr lang="en-US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Principle Applied:</a:t>
            </a:r>
            <a:r>
              <a:rPr lang="en-GB" dirty="0"/>
              <a:t> Storage interface protects </a:t>
            </a:r>
            <a:r>
              <a:rPr lang="en-GB" dirty="0" err="1"/>
              <a:t>GradeSystem</a:t>
            </a:r>
            <a:r>
              <a:rPr lang="en-GB" dirty="0"/>
              <a:t> from changes in storage implementation.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506267" y="372611"/>
          <a:ext cx="10847532" cy="5751742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610152"/>
                <a:gridCol w="2945218"/>
                <a:gridCol w="3306726"/>
                <a:gridCol w="3985436"/>
              </a:tblGrid>
              <a:tr h="396196">
                <a:tc>
                  <a:txBody>
                    <a:bodyPr/>
                    <a:lstStyle/>
                    <a:p>
                      <a:r>
                        <a:rPr lang="en-US" sz="1800"/>
                        <a:t>#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Principle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What It Solves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Example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</a:tr>
              <a:tr h="694493"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  <a:endParaRPr lang="en-US" sz="18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Information Expert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Who does the work?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Student calculates own GPA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</a:tr>
              <a:tr h="396196">
                <a:tc>
                  <a:txBody>
                    <a:bodyPr/>
                    <a:lstStyle/>
                    <a:p>
                      <a:r>
                        <a:rPr lang="en-US" sz="1800"/>
                        <a:t>2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Creator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Who creates objects?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Student creates Courses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</a:tr>
              <a:tr h="694493">
                <a:tc>
                  <a:txBody>
                    <a:bodyPr/>
                    <a:lstStyle/>
                    <a:p>
                      <a:r>
                        <a:rPr lang="en-US" sz="1800"/>
                        <a:t>3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Controller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Who coordinates?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GradeSystem coordinates operations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</a:tr>
              <a:tr h="694493"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  <a:endParaRPr lang="en-US" sz="1800" dirty="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Low Coupling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Reduce dependencies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Separate StudentStorage class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</a:tr>
              <a:tr h="694493">
                <a:tc>
                  <a:txBody>
                    <a:bodyPr/>
                    <a:lstStyle/>
                    <a:p>
                      <a:r>
                        <a:rPr lang="en-US" sz="1800"/>
                        <a:t>5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High Cohesion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Keep class focused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GradeNotifier only notifies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</a:tr>
              <a:tr h="694493">
                <a:tc>
                  <a:txBody>
                    <a:bodyPr/>
                    <a:lstStyle/>
                    <a:p>
                      <a:r>
                        <a:rPr lang="en-US" sz="1800"/>
                        <a:t>6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Polymorphism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Handle variations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UndergradStudent vs GraduateStudent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</a:tr>
              <a:tr h="396196">
                <a:tc>
                  <a:txBody>
                    <a:bodyPr/>
                    <a:lstStyle/>
                    <a:p>
                      <a:r>
                        <a:rPr lang="en-US" sz="1800"/>
                        <a:t>7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Pure Fabrication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Helper classes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GPACalculator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</a:tr>
              <a:tr h="694493">
                <a:tc>
                  <a:txBody>
                    <a:bodyPr/>
                    <a:lstStyle/>
                    <a:p>
                      <a:r>
                        <a:rPr lang="en-US" sz="1800"/>
                        <a:t>8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Indirection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Mediator between components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Notifier mediates notifications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</a:tr>
              <a:tr h="396196">
                <a:tc>
                  <a:txBody>
                    <a:bodyPr/>
                    <a:lstStyle/>
                    <a:p>
                      <a:r>
                        <a:rPr lang="en-US" sz="1800"/>
                        <a:t>9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Protected Variations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Shield from changes</a:t>
                      </a:r>
                      <a:endParaRPr lang="en-US" sz="1800"/>
                    </a:p>
                  </a:txBody>
                  <a:tcPr marL="75023" marR="75023" marT="37512" marB="37512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Storage interface</a:t>
                      </a:r>
                      <a:endParaRPr lang="en-US" sz="1800" dirty="0"/>
                    </a:p>
                  </a:txBody>
                  <a:tcPr marL="75023" marR="75023" marT="37512" marB="37512" anchor="ctr"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40417" y="230658"/>
          <a:ext cx="11610580" cy="6125691"/>
        </p:xfrm>
        <a:graphic>
          <a:graphicData uri="http://schemas.openxmlformats.org/drawingml/2006/table">
            <a:tbl>
              <a:tblPr>
                <a:tableStyleId>{85BE263C-DBD7-4A20-BB59-AAB30ACAA65A}</a:tableStyleId>
              </a:tblPr>
              <a:tblGrid>
                <a:gridCol w="1711667"/>
                <a:gridCol w="2530549"/>
                <a:gridCol w="4465719"/>
                <a:gridCol w="2902645"/>
              </a:tblGrid>
              <a:tr h="428799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chemeClr val="bg1"/>
                          </a:solidFill>
                        </a:rPr>
                        <a:t>Principle</a:t>
                      </a:r>
                      <a:endParaRPr lang="en-US" sz="2000" b="1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chemeClr val="bg1"/>
                          </a:solidFill>
                        </a:rPr>
                        <a:t>Question it Answers</a:t>
                      </a:r>
                      <a:endParaRPr lang="en-US" sz="2000" b="1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1" dirty="0">
                          <a:solidFill>
                            <a:schemeClr val="bg1"/>
                          </a:solidFill>
                        </a:rPr>
                        <a:t>Easy </a:t>
                      </a:r>
                      <a:r>
                        <a:rPr lang="en-GB" sz="2000" b="1" dirty="0" smtClean="0">
                          <a:solidFill>
                            <a:schemeClr val="bg1"/>
                          </a:solidFill>
                        </a:rPr>
                        <a:t>words</a:t>
                      </a:r>
                      <a:endParaRPr lang="en-GB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1" dirty="0">
                          <a:solidFill>
                            <a:schemeClr val="bg1"/>
                          </a:solidFill>
                        </a:rPr>
                        <a:t>Example</a:t>
                      </a:r>
                      <a:endParaRPr lang="en-US" sz="2000" b="1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>
                    <a:solidFill>
                      <a:schemeClr val="tx1"/>
                    </a:solidFill>
                  </a:tcPr>
                </a:tc>
              </a:tr>
              <a:tr h="612569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Information Expert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Who should do the work?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Give responsibility to the class that has the data/knowledge.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Book calculates its own cost because it knows price + quantity.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</a:tr>
              <a:tr h="79634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Creator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Who should create objects?</a:t>
                      </a:r>
                      <a:endParaRPr lang="en-US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The class that owns, records, or closely uses another class should create it.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Library creates Book objects it stores.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</a:tr>
              <a:tr h="612569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Controller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Who handles system events?</a:t>
                      </a:r>
                      <a:endParaRPr lang="en-US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Assign a class to coordinate tasks when input comes in.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OrderController handles “place order” requests.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</a:tr>
              <a:tr h="612569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Low Coupling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How to reduce dependencies?</a:t>
                      </a:r>
                      <a:endParaRPr lang="en-US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Keep classes independent so changes don’t break everything.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Payment logic separated from OrderSystem.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</a:tr>
              <a:tr h="612569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High Cohesion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How to keep classes focused?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Each class should do one clear job, not too many unrelated things.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Invoice only handles billing, not shipping.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</a:tr>
              <a:tr h="612569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Polymorphism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How to handle variations?</a:t>
                      </a:r>
                      <a:endParaRPr lang="en-US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Use a common interface so different types can be treated the same.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PaymentProcessor interface for CreditCard, PayPal, Crypto.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</a:tr>
              <a:tr h="612569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Pure Fabrication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What if no class fits?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Create a helper class to take responsibility when no natural class exists.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PersistenceService to handle saving data.</a:t>
                      </a:r>
                      <a:endParaRPr lang="en-US" sz="1400"/>
                    </a:p>
                  </a:txBody>
                  <a:tcPr marL="43513" marR="43513" marT="21757" marB="21757" anchor="ctr"/>
                </a:tc>
              </a:tr>
              <a:tr h="612569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chemeClr val="bg1"/>
                          </a:solidFill>
                        </a:rPr>
                        <a:t>Indirection</a:t>
                      </a:r>
                      <a:endParaRPr lang="en-US" sz="140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How to avoid direct coupling?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Put a middleman between classes to reduce dependency.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PaymentGateway sits between OrderSystem and payment APIs.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</a:tr>
              <a:tr h="612569">
                <a:tc>
                  <a:txBody>
                    <a:bodyPr/>
                    <a:lstStyle/>
                    <a:p>
                      <a:r>
                        <a:rPr lang="en-US" sz="1400" dirty="0">
                          <a:solidFill>
                            <a:schemeClr val="bg1"/>
                          </a:solidFill>
                        </a:rPr>
                        <a:t>Protected Variations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43513" marR="43513" marT="21757" marB="21757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How to protect from change?</a:t>
                      </a:r>
                      <a:endParaRPr lang="en-GB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Hide unstable parts behind stable interfaces.</a:t>
                      </a:r>
                      <a:endParaRPr lang="en-US" sz="1400"/>
                    </a:p>
                  </a:txBody>
                  <a:tcPr marL="43513" marR="43513" marT="21757" marB="21757" anchor="ctr"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Use an interface so adding </a:t>
                      </a:r>
                      <a:r>
                        <a:rPr lang="en-GB" sz="1400" dirty="0" err="1"/>
                        <a:t>ApplePay</a:t>
                      </a:r>
                      <a:r>
                        <a:rPr lang="en-GB" sz="1400" dirty="0"/>
                        <a:t> doesn’t break existing code.</a:t>
                      </a:r>
                      <a:endParaRPr lang="en-GB" sz="1400" dirty="0"/>
                    </a:p>
                  </a:txBody>
                  <a:tcPr marL="43513" marR="43513" marT="21757" marB="21757" anchor="ctr"/>
                </a:tc>
              </a:tr>
            </a:tbl>
          </a:graphicData>
        </a:graphic>
      </p:graphicFrame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Complete example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dirty="0"/>
              <a:t>import </a:t>
            </a:r>
            <a:r>
              <a:rPr lang="en-US" dirty="0" err="1"/>
              <a:t>java.util.ArrayList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Domain classes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Course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String </a:t>
            </a:r>
            <a:r>
              <a:rPr lang="en-US" dirty="0" err="1"/>
              <a:t>courseCode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double grade;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Course(String code, double grade)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this.courseCode</a:t>
            </a:r>
            <a:r>
              <a:rPr lang="en-US" dirty="0"/>
              <a:t> = code;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this.grade</a:t>
            </a:r>
            <a:r>
              <a:rPr lang="en-US" dirty="0"/>
              <a:t> = grade;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abstract class Student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String name;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String </a:t>
            </a:r>
            <a:r>
              <a:rPr lang="en-US" dirty="0" err="1"/>
              <a:t>studentId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String email;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ArrayList</a:t>
            </a:r>
            <a:r>
              <a:rPr lang="en-US" dirty="0"/>
              <a:t>&lt;Course&gt; courses;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Student(String name, String </a:t>
            </a:r>
            <a:r>
              <a:rPr lang="en-US" dirty="0" err="1"/>
              <a:t>studentId</a:t>
            </a:r>
            <a:r>
              <a:rPr lang="en-US" dirty="0"/>
              <a:t>, String email)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this.name = name;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this.studentId</a:t>
            </a:r>
            <a:r>
              <a:rPr lang="en-US" dirty="0"/>
              <a:t> = </a:t>
            </a:r>
            <a:r>
              <a:rPr lang="en-US" dirty="0" err="1"/>
              <a:t>studentId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this.email</a:t>
            </a:r>
            <a:r>
              <a:rPr lang="en-US" dirty="0"/>
              <a:t> = email;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this.courses</a:t>
            </a:r>
            <a:r>
              <a:rPr lang="en-US" dirty="0"/>
              <a:t> = new </a:t>
            </a:r>
            <a:r>
              <a:rPr lang="en-US" dirty="0" err="1"/>
              <a:t>ArrayList</a:t>
            </a:r>
            <a:r>
              <a:rPr lang="en-US" dirty="0"/>
              <a:t>&lt;&gt;();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enrollInCourse</a:t>
            </a:r>
            <a:r>
              <a:rPr lang="en-US" dirty="0"/>
              <a:t>(String code, double grade)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courses.add</a:t>
            </a:r>
            <a:r>
              <a:rPr lang="en-US" dirty="0"/>
              <a:t>(new Course(code, grade));  // CREATOR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abstract double </a:t>
            </a:r>
            <a:r>
              <a:rPr lang="en-US" dirty="0" err="1"/>
              <a:t>calculateGPA</a:t>
            </a:r>
            <a:r>
              <a:rPr lang="en-US" dirty="0"/>
              <a:t>();  // POLYMORPHISM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UndergradStudent</a:t>
            </a:r>
            <a:r>
              <a:rPr lang="en-US" dirty="0"/>
              <a:t> extends Student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UndergradStudent</a:t>
            </a:r>
            <a:r>
              <a:rPr lang="en-US" dirty="0"/>
              <a:t>(String name, String </a:t>
            </a:r>
            <a:r>
              <a:rPr lang="en-US" dirty="0" err="1"/>
              <a:t>studentId</a:t>
            </a:r>
            <a:r>
              <a:rPr lang="en-US" dirty="0"/>
              <a:t>, String email)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super(name, </a:t>
            </a:r>
            <a:r>
              <a:rPr lang="en-US" dirty="0" err="1"/>
              <a:t>studentId</a:t>
            </a:r>
            <a:r>
              <a:rPr lang="en-US" dirty="0"/>
              <a:t>, email);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double </a:t>
            </a:r>
            <a:r>
              <a:rPr lang="en-US" dirty="0" err="1"/>
              <a:t>calculateGPA</a:t>
            </a:r>
            <a:r>
              <a:rPr lang="en-US" dirty="0"/>
              <a:t>() {  // INFORMATION EXPERT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return </a:t>
            </a:r>
            <a:r>
              <a:rPr lang="en-US" dirty="0" err="1"/>
              <a:t>GPACalculator.calculateUndergradGPA</a:t>
            </a:r>
            <a:r>
              <a:rPr lang="en-US" dirty="0"/>
              <a:t>(courses);  // PURE FABRICATION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PURE FABRICATION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GPACalculator</a:t>
            </a:r>
            <a:r>
              <a:rPr lang="en-US" dirty="0"/>
              <a:t>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static double </a:t>
            </a:r>
            <a:r>
              <a:rPr lang="en-US" dirty="0" err="1"/>
              <a:t>calculateUndergradGPA</a:t>
            </a:r>
            <a:r>
              <a:rPr lang="en-US" dirty="0"/>
              <a:t>(</a:t>
            </a:r>
            <a:r>
              <a:rPr lang="en-US" dirty="0" err="1"/>
              <a:t>ArrayList</a:t>
            </a:r>
            <a:r>
              <a:rPr lang="en-US" dirty="0"/>
              <a:t>&lt;Course&gt; courses)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if (</a:t>
            </a:r>
            <a:r>
              <a:rPr lang="en-US" dirty="0" err="1"/>
              <a:t>courses.size</a:t>
            </a:r>
            <a:r>
              <a:rPr lang="en-US" dirty="0"/>
              <a:t>() == 0) return 0.0;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double total = 0;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for (Course </a:t>
            </a:r>
            <a:r>
              <a:rPr lang="en-US" dirty="0" err="1"/>
              <a:t>course</a:t>
            </a:r>
            <a:r>
              <a:rPr lang="en-US" dirty="0"/>
              <a:t> : courses)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    total += </a:t>
            </a:r>
            <a:r>
              <a:rPr lang="en-US" dirty="0" err="1"/>
              <a:t>course.grade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return total / </a:t>
            </a:r>
            <a:r>
              <a:rPr lang="en-US" dirty="0" err="1"/>
              <a:t>courses.size</a:t>
            </a:r>
            <a:r>
              <a:rPr lang="en-US" dirty="0"/>
              <a:t>();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INDIRECTION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Notifier</a:t>
            </a:r>
            <a:r>
              <a:rPr lang="en-US" dirty="0"/>
              <a:t>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notifyStudent</a:t>
            </a:r>
            <a:r>
              <a:rPr lang="en-US" dirty="0"/>
              <a:t>(Student </a:t>
            </a:r>
            <a:r>
              <a:rPr lang="en-US" dirty="0" err="1"/>
              <a:t>student</a:t>
            </a:r>
            <a:r>
              <a:rPr lang="en-US" dirty="0"/>
              <a:t>, String message)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("Email to " + </a:t>
            </a:r>
            <a:r>
              <a:rPr lang="en-US" dirty="0" err="1"/>
              <a:t>student.email</a:t>
            </a:r>
            <a:r>
              <a:rPr lang="en-US" dirty="0"/>
              <a:t> + ": " + message);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PROTECTED VARIATIONS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interface Storage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void save(Student student);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ConsoleStorage</a:t>
            </a:r>
            <a:r>
              <a:rPr lang="en-US" dirty="0"/>
              <a:t> implements Storage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public void save(Student student)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System.out.println</a:t>
            </a:r>
            <a:r>
              <a:rPr lang="en-US" dirty="0"/>
              <a:t>("Saved: " + student.name + ", GPA: " + </a:t>
            </a:r>
            <a:r>
              <a:rPr lang="en-US" dirty="0" err="1"/>
              <a:t>student.calculateGPA</a:t>
            </a:r>
            <a:r>
              <a:rPr lang="en-US" dirty="0"/>
              <a:t>());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CONTROLLER + LOW COUPLING + HIGH COHESION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</a:t>
            </a:r>
            <a:r>
              <a:rPr lang="en-US" dirty="0" err="1"/>
              <a:t>GradeSystem</a:t>
            </a:r>
            <a:r>
              <a:rPr lang="en-US" dirty="0"/>
              <a:t>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private Storage </a:t>
            </a:r>
            <a:r>
              <a:rPr lang="en-US" dirty="0" err="1"/>
              <a:t>storage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private </a:t>
            </a:r>
            <a:r>
              <a:rPr lang="en-US" dirty="0" err="1"/>
              <a:t>Notifier</a:t>
            </a:r>
            <a:r>
              <a:rPr lang="en-US" dirty="0"/>
              <a:t> </a:t>
            </a:r>
            <a:r>
              <a:rPr lang="en-US" dirty="0" err="1"/>
              <a:t>notifier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GradeSystem</a:t>
            </a:r>
            <a:r>
              <a:rPr lang="en-US" dirty="0"/>
              <a:t>(Storage </a:t>
            </a:r>
            <a:r>
              <a:rPr lang="en-US" dirty="0" err="1"/>
              <a:t>storage</a:t>
            </a:r>
            <a:r>
              <a:rPr lang="en-US" dirty="0"/>
              <a:t>, </a:t>
            </a:r>
            <a:r>
              <a:rPr lang="en-US" dirty="0" err="1"/>
              <a:t>Notifier</a:t>
            </a:r>
            <a:r>
              <a:rPr lang="en-US" dirty="0"/>
              <a:t> </a:t>
            </a:r>
            <a:r>
              <a:rPr lang="en-US" dirty="0" err="1"/>
              <a:t>notifier</a:t>
            </a:r>
            <a:r>
              <a:rPr lang="en-US" dirty="0"/>
              <a:t>) {  // LOW COUPLING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this.storage</a:t>
            </a:r>
            <a:r>
              <a:rPr lang="en-US" dirty="0"/>
              <a:t> = storage;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this.notifier</a:t>
            </a:r>
            <a:r>
              <a:rPr lang="en-US" dirty="0"/>
              <a:t> = </a:t>
            </a:r>
            <a:r>
              <a:rPr lang="en-US" dirty="0" err="1"/>
              <a:t>notifier</a:t>
            </a:r>
            <a:r>
              <a:rPr lang="en-US" dirty="0"/>
              <a:t>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void </a:t>
            </a:r>
            <a:r>
              <a:rPr lang="en-US" dirty="0" err="1"/>
              <a:t>processGrades</a:t>
            </a:r>
            <a:r>
              <a:rPr lang="en-US" dirty="0"/>
              <a:t>(Student student) {  // CONTROLLER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storage.save</a:t>
            </a:r>
            <a:r>
              <a:rPr lang="en-US" dirty="0"/>
              <a:t>(student);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notifier.notifyStudent</a:t>
            </a:r>
            <a:r>
              <a:rPr lang="en-US" dirty="0"/>
              <a:t>(student, "Your GPA is " + </a:t>
            </a:r>
            <a:r>
              <a:rPr lang="en-US" dirty="0" err="1"/>
              <a:t>student.calculateGPA</a:t>
            </a:r>
            <a:r>
              <a:rPr lang="en-US" dirty="0"/>
              <a:t>());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// Main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class Main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public static void main(String[] </a:t>
            </a:r>
            <a:r>
              <a:rPr lang="en-US" dirty="0" err="1"/>
              <a:t>args</a:t>
            </a:r>
            <a:r>
              <a:rPr lang="en-US" dirty="0"/>
              <a:t>) {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Student </a:t>
            </a:r>
            <a:r>
              <a:rPr lang="en-US" dirty="0" err="1"/>
              <a:t>student</a:t>
            </a:r>
            <a:r>
              <a:rPr lang="en-US" dirty="0"/>
              <a:t> = new </a:t>
            </a:r>
            <a:r>
              <a:rPr lang="en-US" dirty="0" err="1"/>
              <a:t>UndergradStudent</a:t>
            </a:r>
            <a:r>
              <a:rPr lang="en-US" dirty="0"/>
              <a:t>("Ali Khan", "CS001", "ali@uni.edu");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student.enrollInCourse</a:t>
            </a:r>
            <a:r>
              <a:rPr lang="en-US" dirty="0"/>
              <a:t>("CS101", 3.5);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student.enrollInCourse</a:t>
            </a:r>
            <a:r>
              <a:rPr lang="en-US" dirty="0"/>
              <a:t>("CS102", 4.0);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GradeSystem</a:t>
            </a:r>
            <a:r>
              <a:rPr lang="en-US" dirty="0"/>
              <a:t> system = new </a:t>
            </a:r>
            <a:r>
              <a:rPr lang="en-US" dirty="0" err="1"/>
              <a:t>GradeSystem</a:t>
            </a:r>
            <a:r>
              <a:rPr lang="en-US" dirty="0"/>
              <a:t>(new </a:t>
            </a:r>
            <a:r>
              <a:rPr lang="en-US" dirty="0" err="1"/>
              <a:t>ConsoleStorage</a:t>
            </a:r>
            <a:r>
              <a:rPr lang="en-US" dirty="0"/>
              <a:t>(), new </a:t>
            </a:r>
            <a:r>
              <a:rPr lang="en-US" dirty="0" err="1"/>
              <a:t>Notifier</a:t>
            </a:r>
            <a:r>
              <a:rPr lang="en-US" dirty="0"/>
              <a:t>());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system.processGrades</a:t>
            </a:r>
            <a:r>
              <a:rPr lang="en-US" dirty="0"/>
              <a:t>(student);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}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1055"/>
          </a:xfrm>
        </p:spPr>
        <p:txBody>
          <a:bodyPr/>
          <a:lstStyle/>
          <a:p>
            <a:r>
              <a:rPr lang="en-US"/>
              <a:t>Complete Life Code: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6815"/>
            <a:ext cx="10515600" cy="499046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Engr. Muhammad Umer Haroon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6F56A2-C75C-4055-B942-4543DDA5E96F}" type="slidenum">
              <a:rPr lang="en-US" smtClean="0"/>
            </a:fld>
            <a:endParaRPr lang="en-US"/>
          </a:p>
        </p:txBody>
      </p:sp>
      <p:pic>
        <p:nvPicPr>
          <p:cNvPr id="3074" name="Picture 2" descr="CDN media"/>
          <p:cNvPicPr>
            <a:picLocks noChangeAspect="1" noChangeArrowheads="1"/>
          </p:cNvPicPr>
          <p:nvPr/>
        </p:nvPicPr>
        <p:blipFill rotWithShape="1">
          <a:blip r:embed="rId1">
            <a:duotone>
              <a:prstClr val="black"/>
              <a:srgbClr val="C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49" b="33616"/>
          <a:stretch>
            <a:fillRect/>
          </a:stretch>
        </p:blipFill>
        <p:spPr bwMode="auto">
          <a:xfrm>
            <a:off x="838200" y="1186815"/>
            <a:ext cx="10515600" cy="49904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26631</Words>
  <Application>WPS Presentation</Application>
  <PresentationFormat>Widescreen</PresentationFormat>
  <Paragraphs>1266</Paragraphs>
  <Slides>63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72" baseType="lpstr">
      <vt:lpstr>Arial</vt:lpstr>
      <vt:lpstr>SimSun</vt:lpstr>
      <vt:lpstr>Wingdings</vt:lpstr>
      <vt:lpstr>Arial Black</vt:lpstr>
      <vt:lpstr>Calibri</vt:lpstr>
      <vt:lpstr>Microsoft YaHei</vt:lpstr>
      <vt:lpstr>Arial Unicode MS</vt:lpstr>
      <vt:lpstr>Arial Unicode MS</vt:lpstr>
      <vt:lpstr>Office Theme</vt:lpstr>
      <vt:lpstr>Software Design and Analysis CS3004</vt:lpstr>
      <vt:lpstr>Lecture </vt:lpstr>
      <vt:lpstr>WHO should do WHAT?</vt:lpstr>
      <vt:lpstr>GRASP</vt:lpstr>
      <vt:lpstr>PowerPoint 演示文稿</vt:lpstr>
      <vt:lpstr>GRASP is the Umbrella, Principles are the Contents</vt:lpstr>
      <vt:lpstr>PowerPoint 演示文稿</vt:lpstr>
      <vt:lpstr>QUICK OVERVIEW TO GET STARTED</vt:lpstr>
      <vt:lpstr>PowerPoint 演示文稿</vt:lpstr>
      <vt:lpstr>PowerPoint 演示文稿</vt:lpstr>
      <vt:lpstr>Analogy</vt:lpstr>
      <vt:lpstr>SOLID VS GRASP</vt:lpstr>
      <vt:lpstr>PowerPoint 演示文稿</vt:lpstr>
      <vt:lpstr>RESPONSIBILITY</vt:lpstr>
      <vt:lpstr> Information Expert</vt:lpstr>
      <vt:lpstr>The problem</vt:lpstr>
      <vt:lpstr>PowerPoint 演示文稿</vt:lpstr>
      <vt:lpstr>PowerPoint 演示文稿</vt:lpstr>
      <vt:lpstr>The Solution: Information Expert</vt:lpstr>
      <vt:lpstr>PowerPoint 演示文稿</vt:lpstr>
      <vt:lpstr>PowerPoint 演示文稿</vt:lpstr>
      <vt:lpstr>2: Creator</vt:lpstr>
      <vt:lpstr>PowerPoint 演示文稿</vt:lpstr>
      <vt:lpstr>The Question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3: Controller</vt:lpstr>
      <vt:lpstr>problem</vt:lpstr>
      <vt:lpstr>PowerPoint 演示文稿</vt:lpstr>
      <vt:lpstr>PowerPoint 演示文稿</vt:lpstr>
      <vt:lpstr>PowerPoint 演示文稿</vt:lpstr>
      <vt:lpstr>PowerPoint 演示文稿</vt:lpstr>
      <vt:lpstr>Further example of controller</vt:lpstr>
      <vt:lpstr>PowerPoint 演示文稿</vt:lpstr>
      <vt:lpstr>4: Low Coupling</vt:lpstr>
      <vt:lpstr>5: High Cohesion</vt:lpstr>
      <vt:lpstr>6: Polymorphism</vt:lpstr>
      <vt:lpstr>7: Pure Fabrication</vt:lpstr>
      <vt:lpstr>Pure Fabrication</vt:lpstr>
      <vt:lpstr>problem</vt:lpstr>
      <vt:lpstr>PowerPoint 演示文稿</vt:lpstr>
      <vt:lpstr>PowerPoint 演示文稿</vt:lpstr>
      <vt:lpstr>PowerPoint 演示文稿</vt:lpstr>
      <vt:lpstr>8: Indirection</vt:lpstr>
      <vt:lpstr>PowerPoint 演示文稿</vt:lpstr>
      <vt:lpstr>problem</vt:lpstr>
      <vt:lpstr>PowerPoint 演示文稿</vt:lpstr>
      <vt:lpstr>PowerPoint 演示文稿</vt:lpstr>
      <vt:lpstr>PowerPoint 演示文稿</vt:lpstr>
      <vt:lpstr>PowerPoint 演示文稿</vt:lpstr>
      <vt:lpstr>9: Protected Variations</vt:lpstr>
      <vt:lpstr>problem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Complete example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Engr Muhammad Umer Haroon</dc:creator>
  <cp:lastModifiedBy>24P-0554 Malik Muhammad Sanaul</cp:lastModifiedBy>
  <cp:revision>146</cp:revision>
  <dcterms:created xsi:type="dcterms:W3CDTF">2026-01-16T05:01:00Z</dcterms:created>
  <dcterms:modified xsi:type="dcterms:W3CDTF">2026-05-21T00:04:11Z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F3C5E152C01F4AA995B7D7FE10F45B41_12</vt:lpwstr>
  </property>
</Properties>
</file>