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4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H A P T E R   1 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03272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Linear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 &amp; Correlation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63931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593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regression?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8795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4223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diagrams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2511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squares method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5371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0799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b and 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3659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9087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error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737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40156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63931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400507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9593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correlation?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418795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414223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Pearson r — formula &amp; example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437083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32511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Interpreting 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455371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450799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Properties of 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473659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469087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vs Causation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4919472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8737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Regression?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a prediction equation from known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1234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371600"/>
            <a:ext cx="82296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have known data — pairs of (X, Y) values. Regression finds the best straight line through that data. Once you have the line, you can plug in any value of X and predict the expected value of Y, even for observations not in your original dataset.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27432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4048" y="3246120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Variable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3566160"/>
            <a:ext cx="254203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known variable we use to predict. Fixed and non-random. Example: hours of study.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8688" y="23774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2377440"/>
            <a:ext cx="27432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23774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28416" y="3246120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Dependent Variable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28416" y="3566160"/>
            <a:ext cx="254203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unknown variable we want to predict. Random. Example: exam score.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3056" y="23774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2377440"/>
            <a:ext cx="27432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23774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72784" y="3246120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3566160"/>
            <a:ext cx="254203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value the regression line gives for Y at a specific X. Our best estimate.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Regression 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 = a + bX — what each part means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8412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  =  a  +  b 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38528"/>
            <a:ext cx="804672" cy="11155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38528"/>
            <a:ext cx="804672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202996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2340864"/>
            <a:ext cx="31272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estimated value of Y for a given X. It sits on the regression line — our best prediction, not a guarantee.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00400"/>
            <a:ext cx="804672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00400"/>
            <a:ext cx="804672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Y-Intercept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3602736"/>
            <a:ext cx="31272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the line crosses the Y-axis (value of Ŷ when X = 0). Just anchors the line — often has no real-world meaning.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9385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38528"/>
            <a:ext cx="804672" cy="11155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938528"/>
            <a:ext cx="804672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23560" y="202996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Slope (Regression Coefficient)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23560" y="2340864"/>
            <a:ext cx="31272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important part. For every 1-unit increase in X, Y changes by b units. If b = 5, each extra study hour adds 5 marks.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20040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200400"/>
            <a:ext cx="804672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200400"/>
            <a:ext cx="804672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23560" y="3291840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Variable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23560" y="3602736"/>
            <a:ext cx="31272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known value we plug in to get our prediction. Fixed and non-random.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10.3  Scatter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 the data first — see if a relationship exists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fitting any line, plot each (X, Y) pair as a dot on a graph. The pattern of dots reveals whether a relationship exists — and what kind.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19659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920240"/>
            <a:ext cx="0" cy="233172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4251960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558" y="372618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2571" y="3376422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3026664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4597" y="2676906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610" y="2327148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48970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Linear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471830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Dots rise left to 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0592" y="1783080"/>
            <a:ext cx="19659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51760" y="1920240"/>
            <a:ext cx="0" cy="233172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4251960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57830" y="232714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88843" y="2676906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19856" y="302666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0869" y="3376422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81882" y="372618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448970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Linear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50592" y="471830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Dots fall left to right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1783080"/>
            <a:ext cx="19659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1920240"/>
            <a:ext cx="0" cy="233172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4251960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4102" y="3493008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65115" y="279349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96128" y="2327148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7141" y="279349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8154" y="3493008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448970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Curvilinear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26864" y="471830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but not a straight 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03136" y="1783080"/>
            <a:ext cx="19659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004304" y="1920240"/>
            <a:ext cx="0" cy="233172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04304" y="4251960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0374" y="2560320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41387" y="3726180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0" y="2327148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03413" y="3493008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34426" y="2793492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03136" y="448970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Relationship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803136" y="471830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pattern — random scatter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Diagram — Examples (1 of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and Negative Linear Relationships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605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Positive: Study Hours vs. Exam Score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" y="1554480"/>
            <a:ext cx="0" cy="2551176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4105656"/>
            <a:ext cx="384962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6018" y="3604016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984" y="3365906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5949" y="3195828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5915" y="2923703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5881" y="2685593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5847" y="2515514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5813" y="2379452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5779" y="2175358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5744" y="2005279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15710" y="1801185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475488" y="1649724"/>
            <a:ext cx="3849624" cy="2319869"/>
          </a:xfrm>
          <a:prstGeom prst="line">
            <a:avLst/>
          </a:prstGeom>
          <a:noFill/>
          <a:ln w="3175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33425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study hours increase, exam scores go up.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Dots rise left to right — slope b &gt; 0 (positive).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02412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24128"/>
            <a:ext cx="41605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3327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Negative: Absences vs. Exam Score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10328" y="1554480"/>
            <a:ext cx="0" cy="2551176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0328" y="4105656"/>
            <a:ext cx="384962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34207" y="1835201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00838" y="2005279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7469" y="2243389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34100" y="2447483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0731" y="2685593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67362" y="2855671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33993" y="3059765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623" y="3263859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67254" y="3501969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3885" y="3706063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0328" y="1790889"/>
            <a:ext cx="3849624" cy="2178704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33425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absences increase, exam scores fall.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Dots drop left to right — slope b &lt; 0 (negative).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Diagram — Examples (2 of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Curvilinear and No Relationship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60520" cy="32918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Curvilinear: Speed vs. Fuel Efficiency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" y="1554480"/>
            <a:ext cx="0" cy="2551176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4105656"/>
            <a:ext cx="384962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1025" y="3384804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0971" y="2817876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90918" y="2345436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0864" y="206197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90810" y="2345436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0757" y="2912364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90703" y="3573780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33425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Efficiency rises then falls. A straight line cannot capture this. Simple linear regression would be wrong to use here.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02412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24128"/>
            <a:ext cx="4160520" cy="32918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3327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Relationship: Shoe Size vs. IQ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10328" y="1554480"/>
            <a:ext cx="0" cy="2551176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4105656"/>
            <a:ext cx="384962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0858" y="2923703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824" y="2260397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0789" y="3127797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0755" y="2005279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0721" y="2668585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50687" y="3484961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00653" y="2362444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50619" y="2770632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0584" y="2107326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50550" y="3076773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433425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Dots scattered with no pattern. Knowing shoe size tells you nothing about IQ. No relationship exists.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 — Which Line is Best?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lines can pass through the same scattered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19204"/>
            <a:ext cx="50292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61288"/>
            <a:ext cx="0" cy="361188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4773168"/>
            <a:ext cx="471830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292" y="3871077"/>
            <a:ext cx="137160" cy="1371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9676" y="3315403"/>
            <a:ext cx="137160" cy="1371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6060" y="2759730"/>
            <a:ext cx="137160" cy="1371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2444" y="2204056"/>
            <a:ext cx="137160" cy="1371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828" y="1648382"/>
            <a:ext cx="137160" cy="1371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75488" y="1161288"/>
            <a:ext cx="4718304" cy="3334043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12649" y="1073364"/>
            <a:ext cx="4581142" cy="3699799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75488" y="1272423"/>
            <a:ext cx="4718304" cy="2667234"/>
          </a:xfrm>
          <a:prstGeom prst="line">
            <a:avLst/>
          </a:prstGeom>
          <a:noFill/>
          <a:ln w="3175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" y="1886829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A (b=5)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9" y="2071115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B (b=6.2)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" y="2292331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C (b=4)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024128"/>
            <a:ext cx="33375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1024128"/>
            <a:ext cx="50292" cy="39136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11556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42432" y="150876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lines pass through the scattered data in some way.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42432" y="216712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gives different predictions for the same X.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42432" y="282549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a rule, everyone picks a different line.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42432" y="3483864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need ONE objective method — always the same answer.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42432" y="414223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method is called Least Squares.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Squares — Finding the Best 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Minimise the prediction errors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527048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2704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115568"/>
            <a:ext cx="3218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 any 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435608"/>
            <a:ext cx="3218688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a line through the data. For each point, it will be either above or below the 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24912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3227832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22783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816352"/>
            <a:ext cx="3218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the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136392"/>
            <a:ext cx="3218688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gap between actual Y and predicted Ŷ is called a residual:  eᵢ = Yᵢ − Ŷᵢ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24128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18888" y="1527048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52704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1115568"/>
            <a:ext cx="3218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Square the gaps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1435608"/>
            <a:ext cx="3218688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gaps are positive, some negative — they cancel if added directly. Squaring makes all positive.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724912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3227832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22783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2816352"/>
            <a:ext cx="32186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Minimise the total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136392"/>
            <a:ext cx="3218688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BEST line has the smallest total squared gaps: Σ(Yᵢ−Ŷᵢ)². Only one line achieves this minimum.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370832"/>
            <a:ext cx="84490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square? → Makes all errors positive  |  Punishes large errors more  |  Allows calculus to find the exact minimum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 b  and 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least squares formulas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8686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=  [ </a:t>
            </a:r>
            <a:r>
              <a:rPr lang="en-US" sz="1900" b="1" dirty="0" err="1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nΣXY</a:t>
            </a:r>
            <a:r>
              <a:rPr lang="en-US" sz="19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− ΣX·ΣY ]  /  [ nΣX² − (ΣX)² ]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12064" y="1508760"/>
            <a:ext cx="8321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Then:   a  =  Ȳ  −  b·X̄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29968"/>
            <a:ext cx="41605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243230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how X and Y move together. Large positive → positive slope. Large negative → negative slope.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21868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18688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2783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Denominator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4048" y="362102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the total spread of X values. Converts co-movement into a per-unit rate of change.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0299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029968"/>
            <a:ext cx="41605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03911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Intercept a = Ȳ − bX̄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18888" y="243230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b is found, a is calculated from the sample means. The line always passes through (X̄, Ȳ).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21868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218688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2783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of b tells direction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18888" y="362102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&gt; 0 → line goes up. b &lt; 0 → line goes down. b = 0 → no relationship.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 — Finding the Regression 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Hours (X) vs. Exam Score (Y),  n = 5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1024128"/>
          <a:ext cx="3657600" cy="3584448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X²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240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ΣX=30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ΣY=350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ΣX²=220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ΣXY=2300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206240" y="1024128"/>
            <a:ext cx="466344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06240" y="1024128"/>
            <a:ext cx="50292" cy="35844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5696" y="111556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25696" y="148132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n=5, ΣX=30, ΣY=350, ΣX²=220, ΣXY=2300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25696" y="199339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— Find b:</a:t>
            </a:r>
            <a:endParaRPr lang="en-US" sz="1200" dirty="0"/>
          </a:p>
        </p:txBody>
      </p:sp>
      <p:sp>
        <p:nvSpPr>
          <p:cNvPr id="5" name="Text 8"/>
          <p:cNvSpPr/>
          <p:nvPr/>
        </p:nvSpPr>
        <p:spPr>
          <a:xfrm>
            <a:off x="4425696" y="2249424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= [5(2300)−30(350)] / [5(220)−30²]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25696" y="2505456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= [11500−10500] / [1100−900]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25696" y="276148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= 1000 / 200  =  5.0  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25696" y="327355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Find X̄ and Ȳ: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25696" y="3529584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X̄ = 30/5 = 6,   Ȳ = 350/5 = 70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425696" y="404164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— Find a: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25696" y="4297680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= 70 − 5(6) = 40  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4279392"/>
            <a:ext cx="466344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428853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 = 40 + 5X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Fitted Regression 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 = 40 + 5X — scatter plot with clean regression 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4864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61288"/>
            <a:ext cx="0" cy="361188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4773168"/>
            <a:ext cx="517550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75488" y="1161288"/>
            <a:ext cx="5175504" cy="3334043"/>
          </a:xfrm>
          <a:prstGeom prst="line">
            <a:avLst/>
          </a:prstGeom>
          <a:noFill/>
          <a:ln w="31750">
            <a:solidFill>
              <a:srgbClr val="E8A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9492" y="3871077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2076" y="3315403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4660" y="2759730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57244" y="2204056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19828" y="1648382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553712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53542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4608576"/>
            <a:ext cx="365760" cy="914"/>
          </a:xfrm>
          <a:prstGeom prst="line">
            <a:avLst/>
          </a:prstGeom>
          <a:noFill/>
          <a:ln w="3175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45354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 = 40 + 5X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024128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024128"/>
            <a:ext cx="50292" cy="8412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097280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= 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99632" y="1371600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extra study hour adds 5 marks to the predicted score.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9320" y="1993392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993392"/>
            <a:ext cx="50292" cy="8412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066544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= 40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99632" y="2340864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student studying 0 hours is predicted to score 40.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2962656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2962656"/>
            <a:ext cx="50292" cy="8412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035808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X = 7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99632" y="3310128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 = 40 + 5(7) = 75 marks expected.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9320" y="3931920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3931920"/>
            <a:ext cx="50292" cy="8412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4005072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(X̄,Ȳ) = (6,70)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99632" y="4279392"/>
            <a:ext cx="25786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line always passes through the point of sample means.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Property — Sum of Residuals Always Equals Zero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regression line is perfectly balanced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7332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09" y="978662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Σeᵢ = Σ(Yᵢ − Ŷᵢ) = 0   —   Positive and negative residuals cancel exactly. The line never consistently over-predicts or under-predicts.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72463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72463"/>
            <a:ext cx="42976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485" y="1672717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means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218" y="2032254"/>
            <a:ext cx="4069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every point the line over-predicts (actual below line), there is a matching amount where it under-predicts (actual above line). They balance perfectly.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39640" y="1672463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9640" y="1672463"/>
            <a:ext cx="429768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6800" y="1672717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it as a check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753" y="1997329"/>
            <a:ext cx="4069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fitting your line, compute every residual eᵢ = Yᵢ − Ŷᵢ and sum them. If total is not zero, you made an arithmetic error somewhere.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3273425"/>
            <a:ext cx="8465820" cy="157289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1932"/>
            <a:ext cx="8595360" cy="32918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1551"/>
            <a:ext cx="8458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— Ŷ = 40 + 5X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274447" y="3335655"/>
          <a:ext cx="8449056" cy="1866900"/>
        </p:xfrm>
        <a:graphic>
          <a:graphicData uri="http://schemas.openxmlformats.org/drawingml/2006/table">
            <a:tbl>
              <a:tblPr/>
              <a:tblGrid>
                <a:gridCol w="868680"/>
                <a:gridCol w="1600200"/>
                <a:gridCol w="1600200"/>
                <a:gridCol w="1600200"/>
                <a:gridCol w="2779776"/>
              </a:tblGrid>
              <a:tr h="163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Ŷ=40+5X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eᵢ=Y−Ŷ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Comment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163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the line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the line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163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the line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the line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163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the line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2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Σeᵢ=0 ✓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" y="547014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Error of Estimate  (Sᵧ·ₓ)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far off are our predictions, on average?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371600"/>
            <a:ext cx="8321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the best regression line does not predict perfectly. Each data point has some gap between its actual Y and the predicted Ŷ. Sᵧ·ₓ measures the typical size of those gaps — in the same units as 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274320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13432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Sᵧ·ₓ  →  Good Fit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2706624"/>
            <a:ext cx="2523744" cy="2029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Points cluster tightly around the line. Predictions are reliable. Example: Sᵧ·ₓ = 3 marks means you are typically off by only 3 marks.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2304288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2304288"/>
            <a:ext cx="27432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313432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Sᵧ·ₓ  →  Poor Fit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28416" y="2706624"/>
            <a:ext cx="2523744" cy="2029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Points are widely scattered. Predictions are unreliable. The regression equation has little practical value for estimation.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2304288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2304288"/>
            <a:ext cx="27432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2313432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divide by (n−2)?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72784" y="2706624"/>
            <a:ext cx="2523744" cy="2029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estimated 2 parameters — a and b. Each costs one degree of freedom. So honest averaging uses (n−2) not n. This prevents underestimating the error.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Error — Two Formulas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give the same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859536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8458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 1 — Definition (shows the concept clearly)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Sᵧ·ₓ  =  √[  Σ(Yᵢ − Ŷᵢ)²  /  (n − 2)  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859536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12264"/>
            <a:ext cx="8458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 2 — Computational Shortcut (faster for exam use)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2505456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Sᵧ·ₓ  =  √[  ( ΣY² − a·ΣY − b·ΣXY )  /  (n − 2)  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" y="3182112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82112"/>
            <a:ext cx="41605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9125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Formula 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4048" y="3584448"/>
            <a:ext cx="393192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 you want to show each individual residual clearly. Good for understanding and teaching the concept step by step.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3182112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82112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19125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Formula 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18888" y="3584448"/>
            <a:ext cx="393192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 you already have ΣY, ΣY², ΣXY, a and b from your regression calculation. No need to compute each residual. Much faster.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Visualising Standard Error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Dashed lines show residuals — Sᵧ·ₓ measures their typical size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394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61288"/>
            <a:ext cx="0" cy="361188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4773168"/>
            <a:ext cx="5084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502920" y="1522476"/>
            <a:ext cx="5056632" cy="2592324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0176" y="2967228"/>
            <a:ext cx="914" cy="288950"/>
          </a:xfrm>
          <a:prstGeom prst="line">
            <a:avLst/>
          </a:prstGeom>
          <a:noFill/>
          <a:ln w="22860">
            <a:solidFill>
              <a:srgbClr val="C0392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017520" y="2822753"/>
            <a:ext cx="914" cy="505663"/>
          </a:xfrm>
          <a:prstGeom prst="line">
            <a:avLst/>
          </a:prstGeom>
          <a:noFill/>
          <a:ln w="22860">
            <a:solidFill>
              <a:srgbClr val="C0392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864864" y="2244852"/>
            <a:ext cx="914" cy="144475"/>
          </a:xfrm>
          <a:prstGeom prst="line">
            <a:avLst/>
          </a:prstGeom>
          <a:noFill/>
          <a:ln w="22860">
            <a:solidFill>
              <a:srgbClr val="C0392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712208" y="1883664"/>
            <a:ext cx="914" cy="72238"/>
          </a:xfrm>
          <a:prstGeom prst="line">
            <a:avLst/>
          </a:prstGeom>
          <a:noFill/>
          <a:ln w="22860">
            <a:solidFill>
              <a:srgbClr val="C0392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54252" y="3621024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1596" y="289864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48940" y="3259836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6284" y="2176272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628" y="1815084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553712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53542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4608576"/>
            <a:ext cx="320040" cy="914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453542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Fitted Ŷ=1.8+1.2X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4553712"/>
            <a:ext cx="914" cy="16459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773168" y="453542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 gap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1024128"/>
            <a:ext cx="2971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97880" y="1024128"/>
            <a:ext cx="50292" cy="39136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11155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the Chart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08192" y="1508760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dots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08192" y="1764792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observed Y values.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08192" y="2313432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Teal 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08192" y="2569464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Fitted regression line — the best straight line through the data.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08192" y="311810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Dashed red lines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08192" y="3374136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Residuals eᵢ = Yᵢ − Ŷᵢ. Each is the vertical gap from a point to the line.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08192" y="392277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Sᵧ·ₓ ≈ 0.97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08192" y="4178808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typical size of these gaps. On average, predictions miss by about 0.97 units.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Error — Worked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Ŷ = 1.8 + 1.2X,  n = 5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274320" y="1024128"/>
          <a:ext cx="3474720" cy="3063242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Y²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977640" y="1024128"/>
            <a:ext cx="4892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977640" y="1024128"/>
            <a:ext cx="50292" cy="3063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87952" y="11155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Applying Formula 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87952" y="148132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ΣY²=163,  a·ΣY=1.8×27=48.6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87952" y="182880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b·ΣXY=1.2×93=111.6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87952" y="252374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Numerator = 163−48.6−111.6 = 2.8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87952" y="290753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Sᵧ·ₓ = √[ 2.8/(5−2) ] = √0.933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87952" y="3291205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= 0.966 ≈ 0.97  ✓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977640" y="3767328"/>
            <a:ext cx="489204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3360" y="3776472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Sᵧ·ₓ ≈ 0.97  →  typical prediction error is about 0.97 units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Coefficient of Determination  (r²)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percentage of Y's variation does X explain?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9875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371600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regression, your best guess for Y is just Ȳ (the mean). Regression improves this by using X. r² tells you what fraction of Y's total variation is explained by the regression.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27432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57984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Variation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Σ(Yᵢ−Ȳ)²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852928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Y varies from its mean overall. The 'problem' we want to explain.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18688" y="21488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2148840"/>
            <a:ext cx="274320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157984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Explained Variation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10128" y="254203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Σ(Ŷᵢ−Ȳ)²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2852928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part of Y's variation captured by the regression line. Larger = better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3056" y="21488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2148840"/>
            <a:ext cx="27432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2157984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Unexplained Variation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54496" y="254203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Σ(Yᵢ−Ŷᵢ)²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54496" y="2852928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remaining residual variation. What X could not explain — random noise.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859536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822192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 =  Explained  +  Unexplained      →      Σ(Yᵢ−Ȳ)²  =  Σ(Ŷᵢ−Ȳ)²  +  Σ(Yᵢ−Ŷᵢ)²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— Formula, Interpretation &amp;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8412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 =  Explained Variation / Total Variation  =  Σ(Ŷᵢ−Ȳ)²  /  Σ(Yᵢ−Ȳ)²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19659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r²=0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1792224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explains nothing. Model is useless.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50592" y="182880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828800"/>
            <a:ext cx="196596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r²=0.50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2267712"/>
            <a:ext cx="1792224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explains 50% of Y's variation. Moderate fit.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26864" y="182880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828800"/>
            <a:ext cx="196596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r²=0.85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18304" y="2267712"/>
            <a:ext cx="1792224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85% explained. Strong, useful model.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03136" y="182880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828800"/>
            <a:ext cx="19659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8288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r²=1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94576" y="2267712"/>
            <a:ext cx="1792224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fit. All points on the line.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273552"/>
            <a:ext cx="85953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73552"/>
            <a:ext cx="8595360" cy="32918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82696"/>
            <a:ext cx="8458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— Ŷ = 1.8 + 1.2X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1480" y="3703320"/>
            <a:ext cx="3200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Σ(Ŷᵢ−Ȳ)² = 14.40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03320" y="3703320"/>
            <a:ext cx="5029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Explained Variation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977640"/>
            <a:ext cx="3200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Σ(Yᵢ−Ŷᵢ)² = 2.80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03320" y="3977640"/>
            <a:ext cx="5029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Unexplained Variation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251960"/>
            <a:ext cx="3200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Σ(Yᵢ−Ȳ)² = 17.20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03320" y="4251960"/>
            <a:ext cx="5029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Total Variation  (14.40 + 2.80 = 17.20 ✓)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526280"/>
            <a:ext cx="3200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= 14.40 / 17.20 = 0.837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703320" y="4526280"/>
            <a:ext cx="5029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X explains 83.7% of the variation in 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4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E C T I O N  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F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Measuring the strength and direction of the relationship between two variables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8872" cy="118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70332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correlation?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42232"/>
            <a:ext cx="118872" cy="118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405079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Pearson r — concept &amp; formula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9704"/>
            <a:ext cx="118872" cy="118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39826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Interpreting 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3794760"/>
            <a:ext cx="118872" cy="118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370332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Properties of 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142232"/>
            <a:ext cx="118872" cy="118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405079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vs Causation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4489704"/>
            <a:ext cx="118872" cy="118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439826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Correlation (Spearman)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Correlation?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Measuring relationship strength — without prediction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11155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371600"/>
            <a:ext cx="8321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 asks: Can I predict Y from X? Correlation asks something simpler: Are X and Y related? And if yes, how strongly and in which direction? No prediction equation is needed — just a single number that summarises the relationship.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4297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429768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13432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816352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Gives a prediction equation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one variable to be dependent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a and 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 forecasting and estimation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2304288"/>
            <a:ext cx="4297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304288"/>
            <a:ext cx="42976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313432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2816352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Gives a single number 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74920" y="3291840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variables treated equally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74920" y="3767328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always between −1 and +1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4242816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 measure relationship strength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Pearson Correlation Coefficient  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measures and what the value means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measures the strength and direction of the LINEAR relationship between two variables. It is always between −1 and +1. It does not depend on the units of measurement.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542032"/>
            <a:ext cx="8028432" cy="914"/>
          </a:xfrm>
          <a:prstGeom prst="line">
            <a:avLst/>
          </a:prstGeom>
          <a:noFill/>
          <a:ln w="19050">
            <a:solidFill>
              <a:srgbClr val="5A6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2432304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9933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" y="2697480"/>
            <a:ext cx="8778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39112" y="2432304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9933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64792" y="2697480"/>
            <a:ext cx="8778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0" y="2432304"/>
            <a:ext cx="219456" cy="219456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19933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697480"/>
            <a:ext cx="8778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Linear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45352" y="2432304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9933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71032" y="2697480"/>
            <a:ext cx="8778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74152" y="2432304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19933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99832" y="2697480"/>
            <a:ext cx="8778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31012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10128"/>
            <a:ext cx="19659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31012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+1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712464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points fall on a perfect upward line. Knowing X tells you Y exactly.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50592" y="331012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50592" y="3310128"/>
            <a:ext cx="19659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31012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−1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42032" y="3712464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points fall on a perfect downward line. Perfect negative relationship.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26864" y="331012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26864" y="3310128"/>
            <a:ext cx="1965960" cy="347472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331012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18304" y="3712464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linear relationship. X tells you nothing about Y. (Curve may still exist.)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03136" y="331012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03136" y="3310128"/>
            <a:ext cx="19659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331012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0&lt;|r|&lt;1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94576" y="3712464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 relationship. Closer to ±1 = stronger. Closer to 0 = weaker.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Pearson r — The Formula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from the same quantities as regression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8412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 =  Σ(Xᵢ−X̄)(Yᵢ−Ȳ)  /  √[ Σ(Xᵢ−X̄)²  ×  Σ(Yᵢ−Ȳ)²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01952"/>
            <a:ext cx="50292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9568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Easier calculation form (use this in exams):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31136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 =  [ nΣXY − ΣX·ΣY ]  /  √{ [ nΣX² − (ΣX)² ]  ×  [ nΣY² − (ΣY)² ] 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907792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07792"/>
            <a:ext cx="41605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1693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Numerator — same as in 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331012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nΣXY − ΣX·ΣY measures how X and Y move together. Identical to the numerator of the slope b.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913632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913632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2277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Denominator — removes units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" y="43159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Dividing by √[...X...] × √[...Y...] cancels the units completely — keeping r between −1 and +1.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2126" y="349300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2126" y="3493008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92277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sign as 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61914" y="38496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Whatever sign b has, r will always have the same sign. They can never contradict each other.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Pearson r — Worked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Hours (X) vs. Exam Score (Y),  n = 5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274320" y="1024128"/>
          <a:ext cx="5029200" cy="3584448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1280160"/>
                <a:gridCol w="1554480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X²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Y²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240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4900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25500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2300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024128"/>
            <a:ext cx="33375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32120" y="1024128"/>
            <a:ext cx="50292" cy="35844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42432" y="111556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42432" y="148132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n=5, ΣX=30, ΣY=350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42432" y="1728216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ΣX²=220, ΣY²=25500, ΣXY=2300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42432" y="222199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Numerator: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42432" y="24688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5(2300)−30(350) = 1000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42432" y="2962656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Denominator: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742432" y="320954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√[5(220)−900] × √[5(25500)−122500]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42432" y="345643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√1000 × √5000 = 2236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42432" y="395020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1000/2236 = 1.0  ✓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532120" y="4297680"/>
            <a:ext cx="333756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4306824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1.0  →  Perfect positive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(r=1 because this data lies perfectly on the line. In real data r &lt; 1.)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Interpreting the Value of  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different values of r look like in a scatter plot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196596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+1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545336"/>
            <a:ext cx="0" cy="237744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3922776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75488" y="1545336"/>
            <a:ext cx="1655064" cy="2377440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896" y="346710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" y="307086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267462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9428" y="227838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95272" y="188214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16052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straight line going up. Every point on the 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50592" y="1024128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024128"/>
            <a:ext cx="196596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0241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+0.7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1545336"/>
            <a:ext cx="0" cy="237744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3922776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651760" y="2080260"/>
            <a:ext cx="1655064" cy="1545336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68168" y="326898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44012" y="297180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9856" y="287274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5700" y="247650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1544" y="2278380"/>
            <a:ext cx="118872" cy="1188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416052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upward trend. Points cluster close to line.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26864" y="1024128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1024128"/>
            <a:ext cx="1965960" cy="32918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0241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28032" y="1545336"/>
            <a:ext cx="0" cy="237744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3922776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44440" y="2674620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20284" y="3467100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96128" y="2278380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71972" y="3268980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7816" y="2476500"/>
            <a:ext cx="118872" cy="1188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416052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pattern. Dots randomly scattered — no line fits.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03136" y="1024128"/>
            <a:ext cx="1965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1024128"/>
            <a:ext cx="196596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10241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−0.7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04304" y="1545336"/>
            <a:ext cx="0" cy="237744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04304" y="3922776"/>
            <a:ext cx="1655064" cy="0"/>
          </a:xfrm>
          <a:prstGeom prst="line">
            <a:avLst/>
          </a:prstGeom>
          <a:noFill/>
          <a:ln w="15240">
            <a:solidFill>
              <a:srgbClr val="5A6A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04304" y="1743456"/>
            <a:ext cx="1655064" cy="2020824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0712" y="208026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6556" y="237744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0" y="267462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8244" y="307086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4088" y="336804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03136" y="4160520"/>
            <a:ext cx="1965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downward trend. Points cluster close to line.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Properties of Correlation Coefficient  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mathematical properties to remember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35024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350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08176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always lies between −1 and +1 inclusive.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 ≤ r ≤ +1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660904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6090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of Units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34056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Changing the unit of measurement does not change r. It is dimensionless.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675888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986784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98678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= Direction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059936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r → both variables increase together.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r → one increases as other decreases.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90872" y="1755648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1993392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8888" y="1993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19385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0 ≠ No Relationship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18260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0 means no LINEAR relationship only. A strong curve may still exist.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118104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3380466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3558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24330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Sign as 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354787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always has the same sign as the regression slope b. They cannot contradict each other.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Does NOT Mean Causation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important warning in statistics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0704"/>
            <a:ext cx="83759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A high value of r only tells you the two variables move together — it never tells you WHY.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01952"/>
            <a:ext cx="26060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20240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Ice cream sales ↔ Drowning rates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4505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≈ +0.9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9232" y="1993392"/>
            <a:ext cx="57058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rise in summer. Hot weather drives both. Ice cream does NOT cause drowning.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9504"/>
            <a:ext cx="26060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907792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Shoe size ↔ Reading 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34381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≈ +0.8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99232" y="2980944"/>
            <a:ext cx="57058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increase with age in children. Age is the hidden variable — bigger feet do not cause better reading.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877056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77056"/>
            <a:ext cx="26060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895344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visits ↔ Deaths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442569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≈ +0.7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99232" y="3968496"/>
            <a:ext cx="57058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Sick people go to hospitals more. Hospitals do not cause death — illness does.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663440"/>
            <a:ext cx="8321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ask: Is there a logical mechanism? Could a third hidden variable be driving both X and Y?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Correlation — Spearman's  rₛ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85800"/>
            <a:ext cx="8503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your data is ranked, not measured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" cy="3794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rₛ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508760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" y="1764792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already in the form of ranks (1st, 2nd, 3rd...) rather than actual measurements.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313432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Ordinal variables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2064" y="2569464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like 'strongly agree / agree / disagree' — ordered but not numerically scaled.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3118104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Non-normal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" y="3374136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cannot assume the normal distribution that Pearson r requires.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3922776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Outliers present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" y="4178808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Extreme values distort Pearson r. Rank correlation is more robust against outliers.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24128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24128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3327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 &amp; Example (n = 5)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18888" y="1444752"/>
            <a:ext cx="3931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rₛ  =  1  −  6Σdᵢ²  /  n(n²−1)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18888" y="188366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dᵢ = difference between the two ranks for each item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4773168" y="2212848"/>
          <a:ext cx="4005072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804672"/>
                <a:gridCol w="804672"/>
                <a:gridCol w="786384"/>
                <a:gridCol w="786384"/>
              </a:tblGrid>
              <a:tr h="2717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Student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Rank 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Rank 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d²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717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7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2717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7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5"/>
                    </a:solidFill>
                  </a:tcPr>
                </a:tc>
              </a:tr>
              <a:tr h="2717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7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Σd²=4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818888" y="416966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rₛ = 1 − 6(4)/[5(24)] = 1 − 0.2 = 0.80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18888" y="446227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positive rank agreement between the two judges.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10  ·  Regression &amp; Correlation   |   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14788</Words>
  <Application>WPS Presentation</Application>
  <PresentationFormat>On-screen Show (16:9)</PresentationFormat>
  <Paragraphs>1052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24P-0554 Malik Muhammad Sanaul</cp:lastModifiedBy>
  <cp:revision>9</cp:revision>
  <dcterms:created xsi:type="dcterms:W3CDTF">2026-05-04T05:55:00Z</dcterms:created>
  <dcterms:modified xsi:type="dcterms:W3CDTF">2026-05-15T18:56:18Z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0CB452DB6A704C129619A819B66F4D0B_12</vt:lpwstr>
  </property>
</Properties>
</file>